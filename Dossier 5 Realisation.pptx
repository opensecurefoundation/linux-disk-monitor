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25"/>
  </p:notesMasterIdLst>
  <p:sldIdLst>
    <p:sldId id="257" r:id="rId2"/>
    <p:sldId id="258" r:id="rId3"/>
    <p:sldId id="259" r:id="rId4"/>
    <p:sldId id="267" r:id="rId5"/>
    <p:sldId id="279" r:id="rId6"/>
    <p:sldId id="280" r:id="rId7"/>
    <p:sldId id="281" r:id="rId8"/>
    <p:sldId id="269" r:id="rId9"/>
    <p:sldId id="282" r:id="rId10"/>
    <p:sldId id="284" r:id="rId11"/>
    <p:sldId id="283" r:id="rId12"/>
    <p:sldId id="285" r:id="rId13"/>
    <p:sldId id="286" r:id="rId14"/>
    <p:sldId id="287" r:id="rId15"/>
    <p:sldId id="277" r:id="rId16"/>
    <p:sldId id="288" r:id="rId17"/>
    <p:sldId id="278" r:id="rId18"/>
    <p:sldId id="289" r:id="rId19"/>
    <p:sldId id="290" r:id="rId20"/>
    <p:sldId id="291" r:id="rId21"/>
    <p:sldId id="292" r:id="rId22"/>
    <p:sldId id="263" r:id="rId23"/>
    <p:sldId id="27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0" d="100"/>
          <a:sy n="50" d="100"/>
        </p:scale>
        <p:origin x="141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C4F76A-13AE-446D-ADA9-35A317D0A816}" type="datetimeFigureOut">
              <a:rPr lang="fr-FR" smtClean="0"/>
              <a:t>03/03/2026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0F66D-0E8E-412F-9E40-1FC819F6B49E}" type="slidenum">
              <a:rPr lang="fr-FR" smtClean="0"/>
              <a:t>‹N°›</a:t>
            </a:fld>
            <a:endParaRPr lang="fr-FR"/>
          </a:p>
        </p:txBody>
      </p:sp>
    </p:spTree>
    <p:extLst>
      <p:ext uri="{BB962C8B-B14F-4D97-AF65-F5344CB8AC3E}">
        <p14:creationId xmlns:p14="http://schemas.microsoft.com/office/powerpoint/2010/main" val="1552210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Pour bien mener</a:t>
            </a:r>
            <a:r>
              <a:rPr lang="fr-FR" baseline="0" dirty="0"/>
              <a:t> à notre travail nous avons élaborer notre plan de travail comme suite</a:t>
            </a:r>
            <a:endParaRPr lang="fr-FR" dirty="0"/>
          </a:p>
        </p:txBody>
      </p:sp>
      <p:sp>
        <p:nvSpPr>
          <p:cNvPr id="4" name="Espace réservé du numéro de diapositive 3"/>
          <p:cNvSpPr>
            <a:spLocks noGrp="1"/>
          </p:cNvSpPr>
          <p:nvPr>
            <p:ph type="sldNum" sz="quarter" idx="10"/>
          </p:nvPr>
        </p:nvSpPr>
        <p:spPr/>
        <p:txBody>
          <a:bodyPr/>
          <a:lstStyle/>
          <a:p>
            <a:fld id="{37C0F66D-0E8E-412F-9E40-1FC819F6B49E}" type="slidenum">
              <a:rPr lang="fr-FR" smtClean="0"/>
              <a:t>2</a:t>
            </a:fld>
            <a:endParaRPr lang="fr-FR"/>
          </a:p>
        </p:txBody>
      </p:sp>
    </p:spTree>
    <p:extLst>
      <p:ext uri="{BB962C8B-B14F-4D97-AF65-F5344CB8AC3E}">
        <p14:creationId xmlns:p14="http://schemas.microsoft.com/office/powerpoint/2010/main" val="4080919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1216F-F0D2-4F8F-091B-6E7C405ACE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3F8977-B310-4DA2-C7FA-15D13B28C4C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107915D7-6229-6D8A-8BA9-A3473E57CFF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EAF74FE-BF7B-9E6A-4B60-38ACBE39E30F}"/>
              </a:ext>
            </a:extLst>
          </p:cNvPr>
          <p:cNvSpPr>
            <a:spLocks noGrp="1"/>
          </p:cNvSpPr>
          <p:nvPr>
            <p:ph type="sldNum" sz="quarter" idx="10"/>
          </p:nvPr>
        </p:nvSpPr>
        <p:spPr/>
        <p:txBody>
          <a:bodyPr/>
          <a:lstStyle/>
          <a:p>
            <a:fld id="{37C0F66D-0E8E-412F-9E40-1FC819F6B49E}" type="slidenum">
              <a:rPr lang="fr-FR" smtClean="0"/>
              <a:t>15</a:t>
            </a:fld>
            <a:endParaRPr lang="fr-FR"/>
          </a:p>
        </p:txBody>
      </p:sp>
    </p:spTree>
    <p:extLst>
      <p:ext uri="{BB962C8B-B14F-4D97-AF65-F5344CB8AC3E}">
        <p14:creationId xmlns:p14="http://schemas.microsoft.com/office/powerpoint/2010/main" val="2515207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92F01-C790-6F37-9DF3-C48BB47D5C5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9DE41F2-B24F-930A-D2D6-B403F95B3D2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6D20FE06-F42E-B06F-5229-25C32047C28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0BF3B57-91A7-D43F-08E5-02EE4EBBF9CB}"/>
              </a:ext>
            </a:extLst>
          </p:cNvPr>
          <p:cNvSpPr>
            <a:spLocks noGrp="1"/>
          </p:cNvSpPr>
          <p:nvPr>
            <p:ph type="sldNum" sz="quarter" idx="10"/>
          </p:nvPr>
        </p:nvSpPr>
        <p:spPr/>
        <p:txBody>
          <a:bodyPr/>
          <a:lstStyle/>
          <a:p>
            <a:fld id="{37C0F66D-0E8E-412F-9E40-1FC819F6B49E}" type="slidenum">
              <a:rPr lang="fr-FR" smtClean="0"/>
              <a:t>17</a:t>
            </a:fld>
            <a:endParaRPr lang="fr-FR"/>
          </a:p>
        </p:txBody>
      </p:sp>
    </p:spTree>
    <p:extLst>
      <p:ext uri="{BB962C8B-B14F-4D97-AF65-F5344CB8AC3E}">
        <p14:creationId xmlns:p14="http://schemas.microsoft.com/office/powerpoint/2010/main" val="302148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A3968-AEDB-8DC0-E7D7-45DE8FE4A80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ADF6FFE-59B7-34D7-20E8-50B049E3C236}"/>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4ECC635D-1943-5778-3796-5E326310C7E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826BE66-2608-E0A8-D97D-EF7C9CCBAD24}"/>
              </a:ext>
            </a:extLst>
          </p:cNvPr>
          <p:cNvSpPr>
            <a:spLocks noGrp="1"/>
          </p:cNvSpPr>
          <p:nvPr>
            <p:ph type="sldNum" sz="quarter" idx="10"/>
          </p:nvPr>
        </p:nvSpPr>
        <p:spPr/>
        <p:txBody>
          <a:bodyPr/>
          <a:lstStyle/>
          <a:p>
            <a:fld id="{37C0F66D-0E8E-412F-9E40-1FC819F6B49E}" type="slidenum">
              <a:rPr lang="fr-FR" smtClean="0"/>
              <a:t>18</a:t>
            </a:fld>
            <a:endParaRPr lang="fr-FR"/>
          </a:p>
        </p:txBody>
      </p:sp>
    </p:spTree>
    <p:extLst>
      <p:ext uri="{BB962C8B-B14F-4D97-AF65-F5344CB8AC3E}">
        <p14:creationId xmlns:p14="http://schemas.microsoft.com/office/powerpoint/2010/main" val="313019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66AE2-D41E-5275-DEEE-FE7367235A0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E1C9371-660D-4A58-202C-44F5A48506E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BA9590E-1BBD-FA12-403A-C1286333FA0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A6BC1D4-C547-E437-6585-238483C43815}"/>
              </a:ext>
            </a:extLst>
          </p:cNvPr>
          <p:cNvSpPr>
            <a:spLocks noGrp="1"/>
          </p:cNvSpPr>
          <p:nvPr>
            <p:ph type="sldNum" sz="quarter" idx="10"/>
          </p:nvPr>
        </p:nvSpPr>
        <p:spPr/>
        <p:txBody>
          <a:bodyPr/>
          <a:lstStyle/>
          <a:p>
            <a:fld id="{37C0F66D-0E8E-412F-9E40-1FC819F6B49E}" type="slidenum">
              <a:rPr lang="fr-FR" smtClean="0"/>
              <a:t>19</a:t>
            </a:fld>
            <a:endParaRPr lang="fr-FR"/>
          </a:p>
        </p:txBody>
      </p:sp>
    </p:spTree>
    <p:extLst>
      <p:ext uri="{BB962C8B-B14F-4D97-AF65-F5344CB8AC3E}">
        <p14:creationId xmlns:p14="http://schemas.microsoft.com/office/powerpoint/2010/main" val="4287825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E84D1-B9E5-065C-43E5-28C909A31C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A79808A-DD58-9336-E7FE-D519FF0A0A5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D2359C46-A92C-E062-47A1-D283105FBF3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012917B-F6FA-B3F0-097A-EB5678978324}"/>
              </a:ext>
            </a:extLst>
          </p:cNvPr>
          <p:cNvSpPr>
            <a:spLocks noGrp="1"/>
          </p:cNvSpPr>
          <p:nvPr>
            <p:ph type="sldNum" sz="quarter" idx="10"/>
          </p:nvPr>
        </p:nvSpPr>
        <p:spPr/>
        <p:txBody>
          <a:bodyPr/>
          <a:lstStyle/>
          <a:p>
            <a:fld id="{37C0F66D-0E8E-412F-9E40-1FC819F6B49E}" type="slidenum">
              <a:rPr lang="fr-FR" smtClean="0"/>
              <a:t>20</a:t>
            </a:fld>
            <a:endParaRPr lang="fr-FR"/>
          </a:p>
        </p:txBody>
      </p:sp>
    </p:spTree>
    <p:extLst>
      <p:ext uri="{BB962C8B-B14F-4D97-AF65-F5344CB8AC3E}">
        <p14:creationId xmlns:p14="http://schemas.microsoft.com/office/powerpoint/2010/main" val="5337528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DF401-0F91-6EDF-6B86-DEAB5DA9403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015A2CC-1699-07B5-6B67-456002319F0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C070718-BBD3-6D72-4F8A-4275159F5CE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319E5C0-51EA-3085-3D57-70A8C60258A1}"/>
              </a:ext>
            </a:extLst>
          </p:cNvPr>
          <p:cNvSpPr>
            <a:spLocks noGrp="1"/>
          </p:cNvSpPr>
          <p:nvPr>
            <p:ph type="sldNum" sz="quarter" idx="10"/>
          </p:nvPr>
        </p:nvSpPr>
        <p:spPr/>
        <p:txBody>
          <a:bodyPr/>
          <a:lstStyle/>
          <a:p>
            <a:fld id="{37C0F66D-0E8E-412F-9E40-1FC819F6B49E}" type="slidenum">
              <a:rPr lang="fr-FR" smtClean="0"/>
              <a:t>21</a:t>
            </a:fld>
            <a:endParaRPr lang="fr-FR"/>
          </a:p>
        </p:txBody>
      </p:sp>
    </p:spTree>
    <p:extLst>
      <p:ext uri="{BB962C8B-B14F-4D97-AF65-F5344CB8AC3E}">
        <p14:creationId xmlns:p14="http://schemas.microsoft.com/office/powerpoint/2010/main" val="1058026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171A7-F445-4F61-BA73-47538832A9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16EBD2-7D1E-4BEA-BF41-6451A7DA55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280EA1-84AC-4F6C-871A-F8B08501FF9F}"/>
              </a:ext>
            </a:extLst>
          </p:cNvPr>
          <p:cNvSpPr>
            <a:spLocks noGrp="1"/>
          </p:cNvSpPr>
          <p:nvPr>
            <p:ph type="dt" sz="half" idx="10"/>
          </p:nvPr>
        </p:nvSpPr>
        <p:spPr/>
        <p:txBody>
          <a:bodyPr/>
          <a:lstStyle/>
          <a:p>
            <a:fld id="{FA232FFB-8376-4DB3-A1E5-8F070361AEC0}" type="datetimeFigureOut">
              <a:rPr lang="en-US" smtClean="0"/>
              <a:t>3/3/2026</a:t>
            </a:fld>
            <a:endParaRPr lang="en-US"/>
          </a:p>
        </p:txBody>
      </p:sp>
      <p:sp>
        <p:nvSpPr>
          <p:cNvPr id="5" name="Footer Placeholder 4">
            <a:extLst>
              <a:ext uri="{FF2B5EF4-FFF2-40B4-BE49-F238E27FC236}">
                <a16:creationId xmlns:a16="http://schemas.microsoft.com/office/drawing/2014/main" id="{E76D1E61-D4F5-423F-AD89-54BFBD591A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48FAF5-63D5-4524-A454-243750EAD923}"/>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2127588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E6177-373C-43CF-A81F-46D832E3B9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C82EEC-9D99-4055-A049-36D25CE705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620C1-205E-4357-8F82-3B18185C0D59}"/>
              </a:ext>
            </a:extLst>
          </p:cNvPr>
          <p:cNvSpPr>
            <a:spLocks noGrp="1"/>
          </p:cNvSpPr>
          <p:nvPr>
            <p:ph type="dt" sz="half" idx="10"/>
          </p:nvPr>
        </p:nvSpPr>
        <p:spPr/>
        <p:txBody>
          <a:bodyPr/>
          <a:lstStyle/>
          <a:p>
            <a:fld id="{FA232FFB-8376-4DB3-A1E5-8F070361AEC0}" type="datetimeFigureOut">
              <a:rPr lang="en-US" smtClean="0"/>
              <a:t>3/3/2026</a:t>
            </a:fld>
            <a:endParaRPr lang="en-US"/>
          </a:p>
        </p:txBody>
      </p:sp>
      <p:sp>
        <p:nvSpPr>
          <p:cNvPr id="5" name="Footer Placeholder 4">
            <a:extLst>
              <a:ext uri="{FF2B5EF4-FFF2-40B4-BE49-F238E27FC236}">
                <a16:creationId xmlns:a16="http://schemas.microsoft.com/office/drawing/2014/main" id="{CC0670E6-A1E4-4A87-8D70-16E4D45D4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E94A96-E414-40C5-9C42-5B313AC8A4DC}"/>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102563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0DE5A-A3C4-4246-AC83-4B02A5AF67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506A27-CBE5-4DE1-9A3B-1DCA2875D2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D4C7CF-D265-42EE-BC07-C5CA4DD576C9}"/>
              </a:ext>
            </a:extLst>
          </p:cNvPr>
          <p:cNvSpPr>
            <a:spLocks noGrp="1"/>
          </p:cNvSpPr>
          <p:nvPr>
            <p:ph type="dt" sz="half" idx="10"/>
          </p:nvPr>
        </p:nvSpPr>
        <p:spPr/>
        <p:txBody>
          <a:bodyPr/>
          <a:lstStyle/>
          <a:p>
            <a:fld id="{FA232FFB-8376-4DB3-A1E5-8F070361AEC0}" type="datetimeFigureOut">
              <a:rPr lang="en-US" smtClean="0"/>
              <a:t>3/3/2026</a:t>
            </a:fld>
            <a:endParaRPr lang="en-US"/>
          </a:p>
        </p:txBody>
      </p:sp>
      <p:sp>
        <p:nvSpPr>
          <p:cNvPr id="5" name="Footer Placeholder 4">
            <a:extLst>
              <a:ext uri="{FF2B5EF4-FFF2-40B4-BE49-F238E27FC236}">
                <a16:creationId xmlns:a16="http://schemas.microsoft.com/office/drawing/2014/main" id="{538DBA2E-16C6-416D-8DBC-3595AAC09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B8A69-8342-4803-AAE4-2455CB0EFA14}"/>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4045203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AD22D-E0FC-447D-9B92-C7F1F42DF1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5C01DA-D8B8-42E3-819F-97B3126FC4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FCD86F-812F-4C7E-BD4C-16D840120E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BAE446-0E3E-478D-BCEC-1BB386AF4E0D}"/>
              </a:ext>
            </a:extLst>
          </p:cNvPr>
          <p:cNvSpPr>
            <a:spLocks noGrp="1"/>
          </p:cNvSpPr>
          <p:nvPr>
            <p:ph type="dt" sz="half" idx="10"/>
          </p:nvPr>
        </p:nvSpPr>
        <p:spPr/>
        <p:txBody>
          <a:bodyPr/>
          <a:lstStyle/>
          <a:p>
            <a:fld id="{FA232FFB-8376-4DB3-A1E5-8F070361AEC0}" type="datetimeFigureOut">
              <a:rPr lang="en-US" smtClean="0"/>
              <a:t>3/3/2026</a:t>
            </a:fld>
            <a:endParaRPr lang="en-US"/>
          </a:p>
        </p:txBody>
      </p:sp>
      <p:sp>
        <p:nvSpPr>
          <p:cNvPr id="6" name="Footer Placeholder 5">
            <a:extLst>
              <a:ext uri="{FF2B5EF4-FFF2-40B4-BE49-F238E27FC236}">
                <a16:creationId xmlns:a16="http://schemas.microsoft.com/office/drawing/2014/main" id="{6AEA6C5E-2AB3-4CD9-8AB3-42C2998198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FB21D-0CF7-4F88-B8C9-D637E15C7969}"/>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4229582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F8DD7-BCD2-4B72-BB41-DC9C351A32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35C04C-6F86-4E05-9DBE-1FE3AAC894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9FDD6E-1D02-459D-AC1E-98538BA033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C4309A-7C74-4F92-90B5-95F8252AD9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44E603-3D3E-47EA-A082-7DDEFCF75E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6D727-85F2-4126-AFDE-2B9A08376318}"/>
              </a:ext>
            </a:extLst>
          </p:cNvPr>
          <p:cNvSpPr>
            <a:spLocks noGrp="1"/>
          </p:cNvSpPr>
          <p:nvPr>
            <p:ph type="dt" sz="half" idx="10"/>
          </p:nvPr>
        </p:nvSpPr>
        <p:spPr/>
        <p:txBody>
          <a:bodyPr/>
          <a:lstStyle/>
          <a:p>
            <a:fld id="{FA232FFB-8376-4DB3-A1E5-8F070361AEC0}" type="datetimeFigureOut">
              <a:rPr lang="en-US" smtClean="0"/>
              <a:t>3/3/2026</a:t>
            </a:fld>
            <a:endParaRPr lang="en-US"/>
          </a:p>
        </p:txBody>
      </p:sp>
      <p:sp>
        <p:nvSpPr>
          <p:cNvPr id="8" name="Footer Placeholder 7">
            <a:extLst>
              <a:ext uri="{FF2B5EF4-FFF2-40B4-BE49-F238E27FC236}">
                <a16:creationId xmlns:a16="http://schemas.microsoft.com/office/drawing/2014/main" id="{89B1DE8E-8E21-4170-90BC-7AEDC156EF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FEFDC7-E738-4425-9C4E-A216D6686417}"/>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1990592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62-175A-4225-9CFC-899A8A4AEB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CA855D-DF5E-4CFE-8750-1BA079840676}"/>
              </a:ext>
            </a:extLst>
          </p:cNvPr>
          <p:cNvSpPr>
            <a:spLocks noGrp="1"/>
          </p:cNvSpPr>
          <p:nvPr>
            <p:ph type="dt" sz="half" idx="10"/>
          </p:nvPr>
        </p:nvSpPr>
        <p:spPr/>
        <p:txBody>
          <a:bodyPr/>
          <a:lstStyle/>
          <a:p>
            <a:fld id="{FA232FFB-8376-4DB3-A1E5-8F070361AEC0}" type="datetimeFigureOut">
              <a:rPr lang="en-US" smtClean="0"/>
              <a:t>3/3/2026</a:t>
            </a:fld>
            <a:endParaRPr lang="en-US"/>
          </a:p>
        </p:txBody>
      </p:sp>
      <p:sp>
        <p:nvSpPr>
          <p:cNvPr id="4" name="Footer Placeholder 3">
            <a:extLst>
              <a:ext uri="{FF2B5EF4-FFF2-40B4-BE49-F238E27FC236}">
                <a16:creationId xmlns:a16="http://schemas.microsoft.com/office/drawing/2014/main" id="{28FF19F0-B71A-4DAE-B03F-C28C697461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F56B7F-8CC9-4F92-A2FB-DD8FC08155F6}"/>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2420597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8C07F6-D258-4876-835A-5C904059A491}"/>
              </a:ext>
            </a:extLst>
          </p:cNvPr>
          <p:cNvSpPr>
            <a:spLocks noGrp="1"/>
          </p:cNvSpPr>
          <p:nvPr>
            <p:ph type="dt" sz="half" idx="10"/>
          </p:nvPr>
        </p:nvSpPr>
        <p:spPr/>
        <p:txBody>
          <a:bodyPr/>
          <a:lstStyle/>
          <a:p>
            <a:fld id="{FA232FFB-8376-4DB3-A1E5-8F070361AEC0}" type="datetimeFigureOut">
              <a:rPr lang="en-US" smtClean="0"/>
              <a:t>3/3/2026</a:t>
            </a:fld>
            <a:endParaRPr lang="en-US"/>
          </a:p>
        </p:txBody>
      </p:sp>
      <p:sp>
        <p:nvSpPr>
          <p:cNvPr id="3" name="Footer Placeholder 2">
            <a:extLst>
              <a:ext uri="{FF2B5EF4-FFF2-40B4-BE49-F238E27FC236}">
                <a16:creationId xmlns:a16="http://schemas.microsoft.com/office/drawing/2014/main" id="{D710343E-C439-46D9-93AA-3EEA30F41D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C11F50-100F-4106-A076-0C1356C9F3EB}"/>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356017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6C4BD-AB36-4FBB-B8A0-1A3A2AED4F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E039EA-D04F-486A-8AF0-FBE3A6A172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1E4CD7-1F95-4584-A451-CF937B6C4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67DC98-8619-470E-A21C-DB116D4A3D59}"/>
              </a:ext>
            </a:extLst>
          </p:cNvPr>
          <p:cNvSpPr>
            <a:spLocks noGrp="1"/>
          </p:cNvSpPr>
          <p:nvPr>
            <p:ph type="dt" sz="half" idx="10"/>
          </p:nvPr>
        </p:nvSpPr>
        <p:spPr/>
        <p:txBody>
          <a:bodyPr/>
          <a:lstStyle/>
          <a:p>
            <a:fld id="{FA232FFB-8376-4DB3-A1E5-8F070361AEC0}" type="datetimeFigureOut">
              <a:rPr lang="en-US" smtClean="0"/>
              <a:t>3/3/2026</a:t>
            </a:fld>
            <a:endParaRPr lang="en-US"/>
          </a:p>
        </p:txBody>
      </p:sp>
      <p:sp>
        <p:nvSpPr>
          <p:cNvPr id="6" name="Footer Placeholder 5">
            <a:extLst>
              <a:ext uri="{FF2B5EF4-FFF2-40B4-BE49-F238E27FC236}">
                <a16:creationId xmlns:a16="http://schemas.microsoft.com/office/drawing/2014/main" id="{422C37AD-BC04-41B7-98E9-62BE06FC0A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49BE2C-8A53-4656-8CD2-65D31B3D00C3}"/>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373943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7D397-D632-4DE1-96A9-7AB3084A08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EA127A-8300-4986-BE78-2EC9CBF4CF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0B776F-3D57-4192-A000-B0389B4E51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7AA18F-2004-473D-8BEA-9E7A8F2CCB4D}"/>
              </a:ext>
            </a:extLst>
          </p:cNvPr>
          <p:cNvSpPr>
            <a:spLocks noGrp="1"/>
          </p:cNvSpPr>
          <p:nvPr>
            <p:ph type="dt" sz="half" idx="10"/>
          </p:nvPr>
        </p:nvSpPr>
        <p:spPr/>
        <p:txBody>
          <a:bodyPr/>
          <a:lstStyle/>
          <a:p>
            <a:fld id="{FA232FFB-8376-4DB3-A1E5-8F070361AEC0}" type="datetimeFigureOut">
              <a:rPr lang="en-US" smtClean="0"/>
              <a:t>3/3/2026</a:t>
            </a:fld>
            <a:endParaRPr lang="en-US"/>
          </a:p>
        </p:txBody>
      </p:sp>
      <p:sp>
        <p:nvSpPr>
          <p:cNvPr id="6" name="Footer Placeholder 5">
            <a:extLst>
              <a:ext uri="{FF2B5EF4-FFF2-40B4-BE49-F238E27FC236}">
                <a16:creationId xmlns:a16="http://schemas.microsoft.com/office/drawing/2014/main" id="{63C032C2-2FC1-404E-8863-B897185A9E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9F4B7F-389A-4B09-B48E-3A30BA879B77}"/>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1226952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B4F7-8337-45B6-8C08-BFD67D8BF9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290DDE-AA34-4E6F-A6AE-EBC444C609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472F36-6057-452B-95B0-F0258703E67A}"/>
              </a:ext>
            </a:extLst>
          </p:cNvPr>
          <p:cNvSpPr>
            <a:spLocks noGrp="1"/>
          </p:cNvSpPr>
          <p:nvPr>
            <p:ph type="dt" sz="half" idx="10"/>
          </p:nvPr>
        </p:nvSpPr>
        <p:spPr/>
        <p:txBody>
          <a:bodyPr/>
          <a:lstStyle/>
          <a:p>
            <a:fld id="{FA232FFB-8376-4DB3-A1E5-8F070361AEC0}" type="datetimeFigureOut">
              <a:rPr lang="en-US" smtClean="0"/>
              <a:t>3/3/2026</a:t>
            </a:fld>
            <a:endParaRPr lang="en-US"/>
          </a:p>
        </p:txBody>
      </p:sp>
      <p:sp>
        <p:nvSpPr>
          <p:cNvPr id="5" name="Footer Placeholder 4">
            <a:extLst>
              <a:ext uri="{FF2B5EF4-FFF2-40B4-BE49-F238E27FC236}">
                <a16:creationId xmlns:a16="http://schemas.microsoft.com/office/drawing/2014/main" id="{66703784-2809-44D6-AB60-DD0C657C16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E9A282-DB41-4117-9DB2-0C94D5DCBFF9}"/>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3507909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EDBA10-FA40-4E0B-960A-88E75BE5E3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73773A-74C6-4F7E-9A02-8FC2F015E7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8821A-5EAC-4F58-9FD3-06D33F26F893}"/>
              </a:ext>
            </a:extLst>
          </p:cNvPr>
          <p:cNvSpPr>
            <a:spLocks noGrp="1"/>
          </p:cNvSpPr>
          <p:nvPr>
            <p:ph type="dt" sz="half" idx="10"/>
          </p:nvPr>
        </p:nvSpPr>
        <p:spPr/>
        <p:txBody>
          <a:bodyPr/>
          <a:lstStyle/>
          <a:p>
            <a:fld id="{FA232FFB-8376-4DB3-A1E5-8F070361AEC0}" type="datetimeFigureOut">
              <a:rPr lang="en-US" smtClean="0"/>
              <a:t>3/3/2026</a:t>
            </a:fld>
            <a:endParaRPr lang="en-US"/>
          </a:p>
        </p:txBody>
      </p:sp>
      <p:sp>
        <p:nvSpPr>
          <p:cNvPr id="5" name="Footer Placeholder 4">
            <a:extLst>
              <a:ext uri="{FF2B5EF4-FFF2-40B4-BE49-F238E27FC236}">
                <a16:creationId xmlns:a16="http://schemas.microsoft.com/office/drawing/2014/main" id="{2B7CC662-8729-4AA5-8C15-4A00A1B789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D338EB-C9C6-4D8F-8C1D-27A7810F1D34}"/>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3489618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FEFCE1-A8E6-4981-BD38-DF0B372AFA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ED305F-2B82-44E4-B744-196F85D957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95DC62-7603-4CFA-A683-E553FC811E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232FFB-8376-4DB3-A1E5-8F070361AEC0}" type="datetimeFigureOut">
              <a:rPr lang="en-US" smtClean="0"/>
              <a:t>3/3/2026</a:t>
            </a:fld>
            <a:endParaRPr lang="en-US"/>
          </a:p>
        </p:txBody>
      </p:sp>
      <p:sp>
        <p:nvSpPr>
          <p:cNvPr id="5" name="Footer Placeholder 4">
            <a:extLst>
              <a:ext uri="{FF2B5EF4-FFF2-40B4-BE49-F238E27FC236}">
                <a16:creationId xmlns:a16="http://schemas.microsoft.com/office/drawing/2014/main" id="{7BFBEEC8-7BE9-4492-8816-2E021C0935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C7D69DC-1F40-49BE-9BCC-6BCBECB0C7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607AD0-2C37-4EE0-BE88-741CF00A1674}" type="slidenum">
              <a:rPr lang="en-US" smtClean="0"/>
              <a:t>‹N°›</a:t>
            </a:fld>
            <a:endParaRPr lang="en-US"/>
          </a:p>
        </p:txBody>
      </p:sp>
    </p:spTree>
    <p:extLst>
      <p:ext uri="{BB962C8B-B14F-4D97-AF65-F5344CB8AC3E}">
        <p14:creationId xmlns:p14="http://schemas.microsoft.com/office/powerpoint/2010/main" val="816440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9"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www.google.com/search?sca_esv=f6b88a89bb20681d&amp;biw=707&amp;bih=505&amp;sxsrf=ANbL-n7ttwPjOpHWt_lFMVjXZUnPkSFVhw%3A1772040107328&amp;q=psutil&amp;source=lnms&amp;fbs=ADc_l-bpk8W4E-qsVlOvbGJcDwpnmFLOYvifZ8uTxE4fyRNQNyNBmiLuck91skVmoD0O_k3nJuGXVUWOOwmlauAeLqgWZiA41P0CbNdSaRIuv8BDZnx6bGTb1nSqu7xy_-eGEUkW8fNfhabX6nA-OsAa2Bdri_pu6rzWDbwxkAwtmhuB53pc0Ijp5yJE7n07D6O2SQGk2AB826sBiDn_9qmFFgmAhx-fdg&amp;sa=X&amp;ved=2ahUKEwjT-rP2k_WSAxXaEVkFHUsWFfIQgK4QegQIARAC&amp;mstk=AUtExfBho_JR6Rd15b0eEbN1gAD30gHEZIZSqqxBMyxRkcAv5Ul_69jarF_4ssw1Zz0ElOtXebWWK_7Ie67mXABwBpAiqNCr-eCS6n_aZfYB06BwIYrXo9Jia7z1JA8_rNXY22leSbS96AC3SSuXBPeInYt5DNYjT7uUeAok8DG5FRAVWgHV0HxjRYnEYFB-8op46w1sLQ_F-pTP9PjhrVoG4usnyVWhHJNyS2KwvXVsZOlfCxxyWKzeEYUa4s-Ay0u5z3Zjf3GnGnsISQBZ5YTByzV-7Dh5Q2p-Fb8lF-y9ADCCXq9ueOePVnBDDvcrJOUnM63rzSdxtebY4fMs5wQqMIs&amp;csui=3"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Zone de texte 6"/>
          <p:cNvSpPr txBox="1"/>
          <p:nvPr/>
        </p:nvSpPr>
        <p:spPr>
          <a:xfrm>
            <a:off x="5954725" y="2754244"/>
            <a:ext cx="1274445" cy="764540"/>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endParaRPr lang="fr-FR" sz="900">
              <a:effectLst/>
              <a:ea typeface="Calibri" panose="020F0502020204030204" pitchFamily="34" charset="0"/>
              <a:cs typeface="Times New Roman" panose="02020603050405020304" pitchFamily="18" charset="0"/>
            </a:endParaRPr>
          </a:p>
        </p:txBody>
      </p:sp>
      <p:sp>
        <p:nvSpPr>
          <p:cNvPr id="25" name="Zone de texte 4"/>
          <p:cNvSpPr txBox="1"/>
          <p:nvPr/>
        </p:nvSpPr>
        <p:spPr>
          <a:xfrm>
            <a:off x="667385" y="9566275"/>
            <a:ext cx="6260465" cy="566420"/>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endParaRPr lang="fr-FR" sz="900">
              <a:effectLst/>
              <a:ea typeface="Calibri" panose="020F0502020204030204" pitchFamily="34" charset="0"/>
              <a:cs typeface="Times New Roman" panose="02020603050405020304" pitchFamily="18" charset="0"/>
            </a:endParaRPr>
          </a:p>
        </p:txBody>
      </p:sp>
      <p:sp>
        <p:nvSpPr>
          <p:cNvPr id="26" name="Rectangle 15"/>
          <p:cNvSpPr>
            <a:spLocks noChangeArrowheads="1"/>
          </p:cNvSpPr>
          <p:nvPr/>
        </p:nvSpPr>
        <p:spPr bwMode="auto">
          <a:xfrm>
            <a:off x="0" y="113184"/>
            <a:ext cx="184731"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sz="900"/>
          </a:p>
        </p:txBody>
      </p:sp>
      <p:sp>
        <p:nvSpPr>
          <p:cNvPr id="27" name="Rectangle 18"/>
          <p:cNvSpPr>
            <a:spLocks noChangeArrowheads="1"/>
          </p:cNvSpPr>
          <p:nvPr/>
        </p:nvSpPr>
        <p:spPr bwMode="auto">
          <a:xfrm>
            <a:off x="0" y="457200"/>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fr-FR" sz="900"/>
          </a:p>
        </p:txBody>
      </p:sp>
      <p:sp>
        <p:nvSpPr>
          <p:cNvPr id="28" name="Rectangle 19"/>
          <p:cNvSpPr>
            <a:spLocks noChangeArrowheads="1"/>
          </p:cNvSpPr>
          <p:nvPr/>
        </p:nvSpPr>
        <p:spPr bwMode="auto">
          <a:xfrm>
            <a:off x="0" y="1190625"/>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fr-FR" sz="900"/>
          </a:p>
        </p:txBody>
      </p:sp>
      <p:sp>
        <p:nvSpPr>
          <p:cNvPr id="29" name="Rectangle 23"/>
          <p:cNvSpPr>
            <a:spLocks noChangeArrowheads="1"/>
          </p:cNvSpPr>
          <p:nvPr/>
        </p:nvSpPr>
        <p:spPr bwMode="auto">
          <a:xfrm>
            <a:off x="2497946" y="3913631"/>
            <a:ext cx="7930248"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sz="900" b="0" i="0" u="none" strike="noStrike" cap="none" normalizeH="0" baseline="0" dirty="0">
                <a:ln>
                  <a:noFill/>
                </a:ln>
                <a:solidFill>
                  <a:schemeClr val="tx1"/>
                </a:solidFill>
                <a:effectLst/>
                <a:latin typeface="Arial" panose="020B0604020202020204" pitchFamily="34" charset="0"/>
              </a:rPr>
            </a:br>
            <a:endParaRPr kumimoji="0" lang="fr-FR"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fr-FR"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100" b="1" i="0" u="none" strike="noStrike" cap="none" normalizeH="0" baseline="0" dirty="0">
                <a:ln>
                  <a:noFill/>
                </a:ln>
                <a:solidFill>
                  <a:schemeClr val="tx1"/>
                </a:solidFill>
                <a:effectLst/>
                <a:latin typeface="Rockwell" panose="02060603020205020403" pitchFamily="18" charset="0"/>
                <a:ea typeface="Calibri" panose="020F0502020204030204" pitchFamily="34" charset="0"/>
                <a:cs typeface="Times New Roman" panose="02020603050405020304" pitchFamily="18" charset="0"/>
              </a:rPr>
              <a:t>                                                                                      </a:t>
            </a:r>
            <a:r>
              <a:rPr kumimoji="0" lang="fr-FR" sz="1400" b="1" i="0" u="none" strike="noStrike" cap="none" normalizeH="0" baseline="0" dirty="0">
                <a:ln>
                  <a:noFill/>
                </a:ln>
                <a:solidFill>
                  <a:schemeClr val="tx1"/>
                </a:solidFill>
                <a:effectLst/>
                <a:latin typeface="Rockwell" panose="02060603020205020403" pitchFamily="18" charset="0"/>
                <a:ea typeface="Calibri" panose="020F0502020204030204" pitchFamily="34" charset="0"/>
                <a:cs typeface="Times New Roman" panose="02020603050405020304" pitchFamily="18" charset="0"/>
              </a:rPr>
              <a:t>Rédigé et présenté par :</a:t>
            </a:r>
            <a:endParaRPr kumimoji="0" lang="fr-FR" sz="1400" b="0" i="0" u="none" strike="noStrike" cap="none" normalizeH="0" baseline="0" dirty="0">
              <a:ln>
                <a:noFill/>
              </a:ln>
              <a:solidFill>
                <a:schemeClr val="tx1"/>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400" b="0" i="0" u="none" strike="noStrike" cap="none" normalizeH="0" baseline="0" dirty="0">
                <a:ln>
                  <a:noFill/>
                </a:ln>
                <a:solidFill>
                  <a:schemeClr val="tx1"/>
                </a:solidFill>
                <a:effectLst/>
                <a:latin typeface="Rockwell" panose="02060603020205020403" pitchFamily="18" charset="0"/>
                <a:ea typeface="Calibri" panose="020F0502020204030204" pitchFamily="34" charset="0"/>
                <a:cs typeface="Times New Roman" panose="02020603050405020304" pitchFamily="18" charset="0"/>
              </a:rPr>
              <a:t>              </a:t>
            </a:r>
            <a:r>
              <a:rPr kumimoji="0" lang="fr-FR" sz="1400" b="1" i="0" u="none" strike="noStrike" cap="none" normalizeH="0" baseline="0" dirty="0">
                <a:ln>
                  <a:noFill/>
                </a:ln>
                <a:solidFill>
                  <a:schemeClr val="tx1"/>
                </a:solidFill>
                <a:effectLst/>
                <a:latin typeface="Rockwell" panose="02060603020205020403" pitchFamily="18" charset="0"/>
                <a:ea typeface="Calibri" panose="020F0502020204030204" pitchFamily="34" charset="0"/>
                <a:cs typeface="Times New Roman" panose="02020603050405020304" pitchFamily="18" charset="0"/>
              </a:rPr>
              <a:t>EKOSSO Sylvain</a:t>
            </a:r>
            <a:r>
              <a:rPr kumimoji="0" lang="fr-FR" sz="1400" b="0" i="0" u="none" strike="noStrike" cap="none" normalizeH="0" baseline="0" dirty="0">
                <a:ln>
                  <a:noFill/>
                </a:ln>
                <a:solidFill>
                  <a:schemeClr val="tx1"/>
                </a:solidFill>
                <a:effectLst/>
                <a:latin typeface="Rockwell" panose="02060603020205020403" pitchFamily="18" charset="0"/>
                <a:ea typeface="Calibri" panose="020F0502020204030204" pitchFamily="34" charset="0"/>
                <a:cs typeface="Times New Roman" panose="02020603050405020304" pitchFamily="18" charset="0"/>
              </a:rPr>
              <a:t>, </a:t>
            </a:r>
            <a:r>
              <a:rPr lang="fr-FR" sz="1400" dirty="0">
                <a:latin typeface="Rockwell" panose="02060603020205020403" pitchFamily="18" charset="0"/>
                <a:ea typeface="Calibri" panose="020F0502020204030204" pitchFamily="34" charset="0"/>
                <a:cs typeface="Times New Roman" panose="02020603050405020304" pitchFamily="18" charset="0"/>
              </a:rPr>
              <a:t>étudiant en master I filière</a:t>
            </a:r>
            <a:r>
              <a:rPr kumimoji="0" lang="fr-FR" sz="1400" b="0" i="0" u="none" strike="noStrike" cap="none" normalizeH="0" baseline="0" dirty="0">
                <a:ln>
                  <a:noFill/>
                </a:ln>
                <a:solidFill>
                  <a:schemeClr val="tx1"/>
                </a:solidFill>
                <a:effectLst/>
                <a:latin typeface="Rockwell" panose="02060603020205020403" pitchFamily="18" charset="0"/>
                <a:ea typeface="Calibri" panose="020F0502020204030204" pitchFamily="34" charset="0"/>
                <a:cs typeface="Times New Roman" panose="02020603050405020304" pitchFamily="18" charset="0"/>
              </a:rPr>
              <a:t> </a:t>
            </a:r>
            <a:r>
              <a:rPr kumimoji="0" lang="fr-FR" sz="1400" b="1" i="0" u="none" strike="noStrike" cap="none" normalizeH="0" baseline="0" dirty="0">
                <a:ln>
                  <a:noFill/>
                </a:ln>
                <a:solidFill>
                  <a:schemeClr val="accent2">
                    <a:lumMod val="50000"/>
                  </a:schemeClr>
                </a:solidFill>
                <a:effectLst/>
                <a:latin typeface="Rockwell" panose="02060603020205020403" pitchFamily="18" charset="0"/>
                <a:ea typeface="Calibri" panose="020F0502020204030204" pitchFamily="34" charset="0"/>
                <a:cs typeface="Times New Roman" panose="02020603050405020304" pitchFamily="18" charset="0"/>
              </a:rPr>
              <a:t>Sécurité des Systèmes d’Informations</a:t>
            </a:r>
            <a:r>
              <a:rPr kumimoji="0" lang="fr-FR" sz="1100" b="1" i="0" u="none" strike="noStrike" cap="none" normalizeH="0" baseline="0" dirty="0">
                <a:ln>
                  <a:noFill/>
                </a:ln>
                <a:solidFill>
                  <a:schemeClr val="accent2">
                    <a:lumMod val="50000"/>
                  </a:schemeClr>
                </a:solidFill>
                <a:effectLst/>
                <a:latin typeface="Rockwell" panose="02060603020205020403" pitchFamily="18" charset="0"/>
                <a:ea typeface="Calibri" panose="020F0502020204030204" pitchFamily="34" charset="0"/>
                <a:cs typeface="Times New Roman" panose="02020603050405020304" pitchFamily="18" charset="0"/>
              </a:rPr>
              <a:t>.</a:t>
            </a:r>
            <a:endParaRPr kumimoji="0" lang="fr-FR" sz="1100" b="1" i="0" u="none" strike="noStrike" cap="none" normalizeH="0" baseline="0" dirty="0">
              <a:ln>
                <a:noFill/>
              </a:ln>
              <a:solidFill>
                <a:schemeClr val="accent2">
                  <a:lumMod val="50000"/>
                </a:schemeClr>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100" b="0" i="0" u="none" strike="noStrike" cap="none" normalizeH="0" baseline="0" dirty="0">
              <a:ln>
                <a:noFill/>
              </a:ln>
              <a:solidFill>
                <a:schemeClr val="tx1"/>
              </a:solidFill>
              <a:effectLst/>
              <a:latin typeface="Rockwell" panose="02060603020205020403" pitchFamily="18" charset="0"/>
            </a:endParaRPr>
          </a:p>
        </p:txBody>
      </p:sp>
      <p:sp>
        <p:nvSpPr>
          <p:cNvPr id="30" name="Rectangle 25"/>
          <p:cNvSpPr>
            <a:spLocks noChangeArrowheads="1"/>
          </p:cNvSpPr>
          <p:nvPr/>
        </p:nvSpPr>
        <p:spPr bwMode="auto">
          <a:xfrm>
            <a:off x="5206106" y="5038626"/>
            <a:ext cx="2281272" cy="638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866900" algn="l"/>
              </a:tabLst>
              <a:defRPr>
                <a:solidFill>
                  <a:schemeClr val="tx1"/>
                </a:solidFill>
                <a:latin typeface="Arial" panose="020B0604020202020204" pitchFamily="34" charset="0"/>
              </a:defRPr>
            </a:lvl1pPr>
            <a:lvl2pPr eaLnBrk="0" fontAlgn="base" hangingPunct="0">
              <a:spcBef>
                <a:spcPct val="0"/>
              </a:spcBef>
              <a:spcAft>
                <a:spcPct val="0"/>
              </a:spcAft>
              <a:tabLst>
                <a:tab pos="1866900" algn="l"/>
              </a:tabLst>
              <a:defRPr>
                <a:solidFill>
                  <a:schemeClr val="tx1"/>
                </a:solidFill>
                <a:latin typeface="Arial" panose="020B0604020202020204" pitchFamily="34" charset="0"/>
              </a:defRPr>
            </a:lvl2pPr>
            <a:lvl3pPr eaLnBrk="0" fontAlgn="base" hangingPunct="0">
              <a:spcBef>
                <a:spcPct val="0"/>
              </a:spcBef>
              <a:spcAft>
                <a:spcPct val="0"/>
              </a:spcAft>
              <a:tabLst>
                <a:tab pos="1866900" algn="l"/>
              </a:tabLst>
              <a:defRPr>
                <a:solidFill>
                  <a:schemeClr val="tx1"/>
                </a:solidFill>
                <a:latin typeface="Arial" panose="020B0604020202020204" pitchFamily="34" charset="0"/>
              </a:defRPr>
            </a:lvl3pPr>
            <a:lvl4pPr eaLnBrk="0" fontAlgn="base" hangingPunct="0">
              <a:spcBef>
                <a:spcPct val="0"/>
              </a:spcBef>
              <a:spcAft>
                <a:spcPct val="0"/>
              </a:spcAft>
              <a:tabLst>
                <a:tab pos="1866900" algn="l"/>
              </a:tabLst>
              <a:defRPr>
                <a:solidFill>
                  <a:schemeClr val="tx1"/>
                </a:solidFill>
                <a:latin typeface="Arial" panose="020B0604020202020204" pitchFamily="34" charset="0"/>
              </a:defRPr>
            </a:lvl4pPr>
            <a:lvl5pPr eaLnBrk="0" fontAlgn="base" hangingPunct="0">
              <a:spcBef>
                <a:spcPct val="0"/>
              </a:spcBef>
              <a:spcAft>
                <a:spcPct val="0"/>
              </a:spcAft>
              <a:tabLst>
                <a:tab pos="1866900" algn="l"/>
              </a:tabLst>
              <a:defRPr>
                <a:solidFill>
                  <a:schemeClr val="tx1"/>
                </a:solidFill>
                <a:latin typeface="Arial" panose="020B0604020202020204" pitchFamily="34" charset="0"/>
              </a:defRPr>
            </a:lvl5pPr>
            <a:lvl6pPr eaLnBrk="0" fontAlgn="base" hangingPunct="0">
              <a:spcBef>
                <a:spcPct val="0"/>
              </a:spcBef>
              <a:spcAft>
                <a:spcPct val="0"/>
              </a:spcAft>
              <a:tabLst>
                <a:tab pos="1866900" algn="l"/>
              </a:tabLst>
              <a:defRPr>
                <a:solidFill>
                  <a:schemeClr val="tx1"/>
                </a:solidFill>
                <a:latin typeface="Arial" panose="020B0604020202020204" pitchFamily="34" charset="0"/>
              </a:defRPr>
            </a:lvl6pPr>
            <a:lvl7pPr eaLnBrk="0" fontAlgn="base" hangingPunct="0">
              <a:spcBef>
                <a:spcPct val="0"/>
              </a:spcBef>
              <a:spcAft>
                <a:spcPct val="0"/>
              </a:spcAft>
              <a:tabLst>
                <a:tab pos="1866900" algn="l"/>
              </a:tabLst>
              <a:defRPr>
                <a:solidFill>
                  <a:schemeClr val="tx1"/>
                </a:solidFill>
                <a:latin typeface="Arial" panose="020B0604020202020204" pitchFamily="34" charset="0"/>
              </a:defRPr>
            </a:lvl7pPr>
            <a:lvl8pPr eaLnBrk="0" fontAlgn="base" hangingPunct="0">
              <a:spcBef>
                <a:spcPct val="0"/>
              </a:spcBef>
              <a:spcAft>
                <a:spcPct val="0"/>
              </a:spcAft>
              <a:tabLst>
                <a:tab pos="1866900" algn="l"/>
              </a:tabLst>
              <a:defRPr>
                <a:solidFill>
                  <a:schemeClr val="tx1"/>
                </a:solidFill>
                <a:latin typeface="Arial" panose="020B0604020202020204" pitchFamily="34" charset="0"/>
              </a:defRPr>
            </a:lvl8pPr>
            <a:lvl9pPr eaLnBrk="0" fontAlgn="base" hangingPunct="0">
              <a:spcBef>
                <a:spcPct val="0"/>
              </a:spcBef>
              <a:spcAft>
                <a:spcPct val="0"/>
              </a:spcAft>
              <a:tabLst>
                <a:tab pos="18669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866900" algn="l"/>
              </a:tabLst>
            </a:pPr>
            <a:r>
              <a:rPr kumimoji="0" lang="fr-FR" sz="10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fr-FR" sz="1600" b="1" i="0" u="none" strike="noStrike" cap="none" normalizeH="0" baseline="0" dirty="0">
                <a:ln>
                  <a:noFill/>
                </a:ln>
                <a:solidFill>
                  <a:schemeClr val="accent2">
                    <a:lumMod val="50000"/>
                  </a:schemeClr>
                </a:solidFill>
                <a:effectLst/>
                <a:latin typeface="Rockwell" panose="02060603020205020403" pitchFamily="18" charset="0"/>
                <a:ea typeface="Calibri" panose="020F0502020204030204" pitchFamily="34" charset="0"/>
                <a:cs typeface="Times New Roman" panose="02020603050405020304" pitchFamily="18" charset="0"/>
              </a:rPr>
              <a:t>Sous la supervision </a:t>
            </a:r>
            <a:r>
              <a:rPr kumimoji="0" lang="fr-FR" sz="1050" b="1" i="0" u="none" strike="noStrike" cap="none" normalizeH="0" baseline="0" dirty="0">
                <a:ln>
                  <a:noFill/>
                </a:ln>
                <a:solidFill>
                  <a:schemeClr val="accent2">
                    <a:lumMod val="50000"/>
                  </a:schemeClr>
                </a:solidFill>
                <a:effectLst/>
                <a:latin typeface="Rockwell" panose="02060603020205020403" pitchFamily="18" charset="0"/>
                <a:ea typeface="Calibri" panose="020F0502020204030204" pitchFamily="34" charset="0"/>
                <a:cs typeface="Times New Roman" panose="02020603050405020304" pitchFamily="18" charset="0"/>
              </a:rPr>
              <a:t>:</a:t>
            </a:r>
            <a:endParaRPr kumimoji="0" lang="fr-FR" sz="1050" b="0" i="0" u="none" strike="noStrike" cap="none" normalizeH="0" baseline="0" dirty="0">
              <a:ln>
                <a:noFill/>
              </a:ln>
              <a:solidFill>
                <a:schemeClr val="accent2">
                  <a:lumMod val="50000"/>
                </a:schemeClr>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866900" algn="l"/>
              </a:tabLst>
            </a:pPr>
            <a:endParaRPr kumimoji="0" lang="fr-FR" sz="900" b="0" i="0" u="none" strike="noStrike" cap="none" normalizeH="0" baseline="0" dirty="0">
              <a:ln>
                <a:noFill/>
              </a:ln>
              <a:solidFill>
                <a:schemeClr val="tx1"/>
              </a:solidFill>
              <a:effectLst/>
            </a:endParaRPr>
          </a:p>
        </p:txBody>
      </p:sp>
      <p:sp>
        <p:nvSpPr>
          <p:cNvPr id="31" name="Rectangle 28"/>
          <p:cNvSpPr>
            <a:spLocks noChangeArrowheads="1"/>
          </p:cNvSpPr>
          <p:nvPr/>
        </p:nvSpPr>
        <p:spPr bwMode="auto">
          <a:xfrm>
            <a:off x="0" y="2131710"/>
            <a:ext cx="1107996"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sz="900" b="0" i="0" u="none" strike="noStrike" cap="none" normalizeH="0" baseline="0" dirty="0">
                <a:ln>
                  <a:noFill/>
                </a:ln>
                <a:solidFill>
                  <a:schemeClr val="tx1"/>
                </a:solidFill>
                <a:effectLst/>
                <a:latin typeface="Arial" panose="020B0604020202020204" pitchFamily="34" charset="0"/>
              </a:rPr>
            </a:br>
            <a:endParaRPr kumimoji="0" lang="fr-FR"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fr-FR"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900" b="0" i="0" u="none" strike="noStrike" cap="none" normalizeH="0" baseline="0" dirty="0">
              <a:ln>
                <a:noFill/>
              </a:ln>
              <a:solidFill>
                <a:schemeClr val="tx1"/>
              </a:solidFill>
              <a:effectLst/>
              <a:latin typeface="Arial" panose="020B0604020202020204" pitchFamily="34" charset="0"/>
            </a:endParaRPr>
          </a:p>
        </p:txBody>
      </p:sp>
      <p:sp>
        <p:nvSpPr>
          <p:cNvPr id="32" name="Rectangle 29"/>
          <p:cNvSpPr>
            <a:spLocks noChangeArrowheads="1"/>
          </p:cNvSpPr>
          <p:nvPr/>
        </p:nvSpPr>
        <p:spPr bwMode="auto">
          <a:xfrm>
            <a:off x="0" y="2752725"/>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fr-FR" sz="900"/>
          </a:p>
        </p:txBody>
      </p:sp>
      <p:sp>
        <p:nvSpPr>
          <p:cNvPr id="33" name="ZoneTexte 32"/>
          <p:cNvSpPr txBox="1"/>
          <p:nvPr/>
        </p:nvSpPr>
        <p:spPr>
          <a:xfrm>
            <a:off x="332676" y="5160126"/>
            <a:ext cx="2862260" cy="1569660"/>
          </a:xfrm>
          <a:prstGeom prst="rect">
            <a:avLst/>
          </a:prstGeom>
          <a:noFill/>
        </p:spPr>
        <p:txBody>
          <a:bodyPr wrap="square" rtlCol="0">
            <a:spAutoFit/>
          </a:bodyPr>
          <a:lstStyle/>
          <a:p>
            <a:endParaRPr lang="fr-FR" sz="1200" u="sng" dirty="0"/>
          </a:p>
          <a:p>
            <a:pPr algn="ctr">
              <a:lnSpc>
                <a:spcPct val="150000"/>
              </a:lnSpc>
            </a:pPr>
            <a:r>
              <a:rPr lang="fr-FR" sz="1400" dirty="0">
                <a:solidFill>
                  <a:schemeClr val="accent5">
                    <a:lumMod val="75000"/>
                  </a:schemeClr>
                </a:solidFill>
                <a:latin typeface="Rockwell" panose="02060603020205020403" pitchFamily="18" charset="0"/>
                <a:cs typeface="Times New Roman" panose="02020603050405020304" pitchFamily="18" charset="0"/>
              </a:rPr>
              <a:t>               </a:t>
            </a:r>
            <a:r>
              <a:rPr lang="fr-FR" sz="1600" u="sng" dirty="0">
                <a:solidFill>
                  <a:schemeClr val="accent5">
                    <a:lumMod val="75000"/>
                  </a:schemeClr>
                </a:solidFill>
                <a:latin typeface="Rockwell" panose="02060603020205020403" pitchFamily="18" charset="0"/>
                <a:cs typeface="Times New Roman" panose="02020603050405020304" pitchFamily="18" charset="0"/>
              </a:rPr>
              <a:t>Académique de </a:t>
            </a:r>
            <a:r>
              <a:rPr lang="fr-FR" sz="1600" dirty="0">
                <a:solidFill>
                  <a:schemeClr val="accent5">
                    <a:lumMod val="75000"/>
                  </a:schemeClr>
                </a:solidFill>
                <a:latin typeface="Rockwell" panose="02060603020205020403" pitchFamily="18" charset="0"/>
                <a:cs typeface="Times New Roman" panose="02020603050405020304" pitchFamily="18" charset="0"/>
              </a:rPr>
              <a:t>:</a:t>
            </a:r>
            <a:r>
              <a:rPr lang="fr-FR" sz="1600" u="sng" dirty="0">
                <a:latin typeface="Rockwell" panose="02060603020205020403" pitchFamily="18" charset="0"/>
              </a:rPr>
              <a:t>                                                              </a:t>
            </a:r>
            <a:endParaRPr lang="fr-FR" sz="1400" dirty="0">
              <a:latin typeface="Rockwell" panose="02060603020205020403" pitchFamily="18" charset="0"/>
            </a:endParaRPr>
          </a:p>
          <a:p>
            <a:pPr algn="ctr">
              <a:lnSpc>
                <a:spcPct val="150000"/>
              </a:lnSpc>
            </a:pPr>
            <a:r>
              <a:rPr lang="fr-FR" sz="1400" b="1" dirty="0">
                <a:latin typeface="Rockwell" panose="02060603020205020403" pitchFamily="18" charset="0"/>
              </a:rPr>
              <a:t>           M. NGUIMBUS</a:t>
            </a:r>
            <a:endParaRPr lang="fr-FR" sz="1400" dirty="0">
              <a:latin typeface="Rockwell" panose="02060603020205020403" pitchFamily="18" charset="0"/>
            </a:endParaRPr>
          </a:p>
          <a:p>
            <a:pPr algn="ctr">
              <a:lnSpc>
                <a:spcPct val="150000"/>
              </a:lnSpc>
            </a:pPr>
            <a:r>
              <a:rPr lang="fr-FR" sz="1400" b="1" i="1" dirty="0">
                <a:latin typeface="Rockwell" panose="02060603020205020403" pitchFamily="18" charset="0"/>
              </a:rPr>
              <a:t>            Professeur à IUSJ  </a:t>
            </a:r>
            <a:r>
              <a:rPr lang="fr-FR" sz="1200" b="1" i="1" dirty="0"/>
              <a:t>                                                    </a:t>
            </a:r>
          </a:p>
          <a:p>
            <a:endParaRPr lang="fr-FR" dirty="0"/>
          </a:p>
        </p:txBody>
      </p:sp>
      <p:sp>
        <p:nvSpPr>
          <p:cNvPr id="2" name="Rectangle 1"/>
          <p:cNvSpPr/>
          <p:nvPr/>
        </p:nvSpPr>
        <p:spPr>
          <a:xfrm>
            <a:off x="4650138" y="6211749"/>
            <a:ext cx="3085653" cy="307200"/>
          </a:xfrm>
          <a:prstGeom prst="rect">
            <a:avLst/>
          </a:prstGeom>
        </p:spPr>
        <p:txBody>
          <a:bodyPr wrap="none">
            <a:spAutoFit/>
          </a:bodyPr>
          <a:lstStyle/>
          <a:p>
            <a:pPr algn="ctr">
              <a:lnSpc>
                <a:spcPct val="107000"/>
              </a:lnSpc>
              <a:spcAft>
                <a:spcPts val="800"/>
              </a:spcAft>
            </a:pPr>
            <a:r>
              <a:rPr lang="fr-FR" sz="1400" b="1" dirty="0">
                <a:solidFill>
                  <a:schemeClr val="accent2">
                    <a:lumMod val="50000"/>
                  </a:schemeClr>
                </a:solidFill>
                <a:effectLst>
                  <a:outerShdw blurRad="38100" dist="19050" dir="2700000" algn="tl">
                    <a:schemeClr val="dk1">
                      <a:alpha val="40000"/>
                    </a:schemeClr>
                  </a:outerShdw>
                </a:effectLst>
                <a:latin typeface="Rockwell" panose="02060603020205020403" pitchFamily="18" charset="0"/>
                <a:ea typeface="Calibri" panose="020F0502020204030204" pitchFamily="34" charset="0"/>
                <a:cs typeface="Times New Roman" panose="02020603050405020304" pitchFamily="18" charset="0"/>
              </a:rPr>
              <a:t>ANNÉE ACADÉMIQUE 2025-2026</a:t>
            </a:r>
            <a:endParaRPr lang="fr-FR" sz="1400" b="1" dirty="0">
              <a:solidFill>
                <a:schemeClr val="accent2">
                  <a:lumMod val="50000"/>
                </a:schemeClr>
              </a:solidFill>
              <a:latin typeface="Rockwell" panose="02060603020205020403" pitchFamily="18" charset="0"/>
              <a:ea typeface="Calibri" panose="020F0502020204030204" pitchFamily="34" charset="0"/>
              <a:cs typeface="Times New Roman" panose="02020603050405020304" pitchFamily="18" charset="0"/>
            </a:endParaRPr>
          </a:p>
        </p:txBody>
      </p:sp>
      <p:sp>
        <p:nvSpPr>
          <p:cNvPr id="3" name="ZoneTexte 2"/>
          <p:cNvSpPr txBox="1"/>
          <p:nvPr/>
        </p:nvSpPr>
        <p:spPr>
          <a:xfrm>
            <a:off x="4281207" y="882250"/>
            <a:ext cx="4248450" cy="1288879"/>
          </a:xfrm>
          <a:prstGeom prst="rect">
            <a:avLst/>
          </a:prstGeom>
          <a:noFill/>
        </p:spPr>
        <p:txBody>
          <a:bodyPr wrap="square" rtlCol="0">
            <a:spAutoFit/>
          </a:bodyPr>
          <a:lstStyle/>
          <a:p>
            <a:pPr algn="ctr">
              <a:lnSpc>
                <a:spcPct val="150000"/>
              </a:lnSpc>
            </a:pPr>
            <a:r>
              <a:rPr lang="fr-FR" b="1" dirty="0">
                <a:solidFill>
                  <a:schemeClr val="accent2">
                    <a:lumMod val="50000"/>
                  </a:schemeClr>
                </a:solidFill>
                <a:latin typeface="Rockwell" panose="02060603020205020403" pitchFamily="18" charset="0"/>
              </a:rPr>
              <a:t>PRESENTATION DE PROJET SYSTÈME D’EXPLOITATION</a:t>
            </a:r>
          </a:p>
          <a:p>
            <a:pPr>
              <a:lnSpc>
                <a:spcPct val="150000"/>
              </a:lnSpc>
            </a:pPr>
            <a:r>
              <a:rPr lang="fr-FR" dirty="0">
                <a:latin typeface="Rockwell" panose="02060603020205020403" pitchFamily="18" charset="0"/>
              </a:rPr>
              <a:t>            </a:t>
            </a:r>
            <a:endParaRPr lang="fr-FR" dirty="0">
              <a:solidFill>
                <a:schemeClr val="accent1"/>
              </a:solidFill>
              <a:latin typeface="Rockwell" panose="02060603020205020403" pitchFamily="18" charset="0"/>
            </a:endParaRPr>
          </a:p>
        </p:txBody>
      </p:sp>
      <p:sp>
        <p:nvSpPr>
          <p:cNvPr id="4" name="Zone de texte 1">
            <a:extLst>
              <a:ext uri="{FF2B5EF4-FFF2-40B4-BE49-F238E27FC236}">
                <a16:creationId xmlns:a16="http://schemas.microsoft.com/office/drawing/2014/main" id="{4E05AD7B-7E08-0D2B-CDD0-50E1FFACC467}"/>
              </a:ext>
            </a:extLst>
          </p:cNvPr>
          <p:cNvSpPr txBox="1"/>
          <p:nvPr/>
        </p:nvSpPr>
        <p:spPr>
          <a:xfrm>
            <a:off x="0" y="113037"/>
            <a:ext cx="3785527" cy="2827306"/>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50000"/>
              </a:lnSpc>
            </a:pPr>
            <a:r>
              <a:rPr lang="fr-FR" sz="900" dirty="0">
                <a:effectLst/>
                <a:latin typeface="Rockwell" panose="02060603020205020403" pitchFamily="18" charset="0"/>
              </a:rPr>
              <a:t>      </a:t>
            </a:r>
          </a:p>
          <a:p>
            <a:pPr algn="ctr"/>
            <a:r>
              <a:rPr lang="fr-FR" sz="1200" b="1" dirty="0">
                <a:latin typeface="Rockwell" panose="02060603020205020403" pitchFamily="18" charset="0"/>
              </a:rPr>
              <a:t>REPUBLIQUE DU CAMEROUN</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PAIX-TRAVAIL-PATRIE</a:t>
            </a:r>
            <a:endParaRPr lang="fr-FR" sz="1200" dirty="0">
              <a:latin typeface="Rockwell" panose="02060603020205020403" pitchFamily="18" charset="0"/>
            </a:endParaRPr>
          </a:p>
          <a:p>
            <a:pPr algn="ctr">
              <a:lnSpc>
                <a:spcPct val="150000"/>
              </a:lnSpc>
            </a:pPr>
            <a:r>
              <a:rPr lang="fr-FR" sz="2000" b="1" dirty="0">
                <a:effectLst/>
                <a:latin typeface="Rockwell" panose="02060603020205020403" pitchFamily="18" charset="0"/>
              </a:rPr>
              <a:t> </a:t>
            </a:r>
          </a:p>
          <a:p>
            <a:pPr algn="ctr">
              <a:lnSpc>
                <a:spcPct val="150000"/>
              </a:lnSpc>
            </a:pPr>
            <a:endParaRPr lang="fr-FR" sz="2000" b="1" dirty="0">
              <a:effectLst/>
              <a:latin typeface="Rockwell" panose="02060603020205020403" pitchFamily="18" charset="0"/>
            </a:endParaRPr>
          </a:p>
          <a:p>
            <a:pPr algn="ctr"/>
            <a:r>
              <a:rPr lang="fr-FR" sz="1400" b="1" dirty="0">
                <a:effectLst/>
                <a:latin typeface="Rockwell" panose="02060603020205020403" pitchFamily="18" charset="0"/>
              </a:rPr>
              <a:t>    </a:t>
            </a:r>
            <a:r>
              <a:rPr lang="fr-FR" sz="1400" b="1" dirty="0">
                <a:latin typeface="Rockwell" panose="02060603020205020403" pitchFamily="18" charset="0"/>
              </a:rPr>
              <a:t> </a:t>
            </a:r>
            <a:r>
              <a:rPr lang="fr-FR" sz="1400" b="1" dirty="0">
                <a:effectLst/>
                <a:latin typeface="Rockwell" panose="02060603020205020403" pitchFamily="18" charset="0"/>
              </a:rPr>
              <a:t> </a:t>
            </a:r>
            <a:r>
              <a:rPr lang="fr-FR" sz="1200" b="1" dirty="0">
                <a:latin typeface="Rockwell" panose="02060603020205020403" pitchFamily="18" charset="0"/>
              </a:rPr>
              <a:t>MINISTERE DE L’ENSEIGNEMENT SUPERIEUR</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UNIVERSITE DE YAOUNDE I</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INSTITUT SAINT-JEAN</a:t>
            </a:r>
            <a:endParaRPr lang="fr-FR" sz="1200" dirty="0">
              <a:latin typeface="Rockwell" panose="02060603020205020403" pitchFamily="18" charset="0"/>
            </a:endParaRPr>
          </a:p>
          <a:p>
            <a:pPr algn="ctr">
              <a:lnSpc>
                <a:spcPct val="150000"/>
              </a:lnSpc>
            </a:pPr>
            <a:r>
              <a:rPr lang="en-US" dirty="0">
                <a:effectLst/>
              </a:rPr>
              <a:t> </a:t>
            </a:r>
            <a:endParaRPr lang="fr-FR" dirty="0">
              <a:effectLst/>
            </a:endParaRPr>
          </a:p>
        </p:txBody>
      </p:sp>
      <p:pic>
        <p:nvPicPr>
          <p:cNvPr id="6" name="Image 5">
            <a:extLst>
              <a:ext uri="{FF2B5EF4-FFF2-40B4-BE49-F238E27FC236}">
                <a16:creationId xmlns:a16="http://schemas.microsoft.com/office/drawing/2014/main" id="{118EFF53-D1A9-AD19-3585-245106628ED5}"/>
              </a:ext>
            </a:extLst>
          </p:cNvPr>
          <p:cNvPicPr/>
          <p:nvPr/>
        </p:nvPicPr>
        <p:blipFill>
          <a:blip r:embed="rId2">
            <a:extLst>
              <a:ext uri="{28A0092B-C50C-407E-A947-70E740481C1C}">
                <a14:useLocalDpi xmlns:a14="http://schemas.microsoft.com/office/drawing/2010/main" val="0"/>
              </a:ext>
            </a:extLst>
          </a:blip>
          <a:srcRect/>
          <a:stretch/>
        </p:blipFill>
        <p:spPr bwMode="auto">
          <a:xfrm>
            <a:off x="1437150" y="1007340"/>
            <a:ext cx="911225" cy="728980"/>
          </a:xfrm>
          <a:prstGeom prst="rect">
            <a:avLst/>
          </a:prstGeom>
          <a:noFill/>
          <a:ln>
            <a:noFill/>
          </a:ln>
        </p:spPr>
      </p:pic>
      <p:sp>
        <p:nvSpPr>
          <p:cNvPr id="7" name="Zone de texte 2">
            <a:extLst>
              <a:ext uri="{FF2B5EF4-FFF2-40B4-BE49-F238E27FC236}">
                <a16:creationId xmlns:a16="http://schemas.microsoft.com/office/drawing/2014/main" id="{E3DE5D6E-761D-1679-7B64-5103A9CB1564}"/>
              </a:ext>
            </a:extLst>
          </p:cNvPr>
          <p:cNvSpPr txBox="1">
            <a:spLocks noChangeArrowheads="1"/>
          </p:cNvSpPr>
          <p:nvPr/>
        </p:nvSpPr>
        <p:spPr bwMode="auto">
          <a:xfrm>
            <a:off x="9168352" y="202715"/>
            <a:ext cx="2747997" cy="264795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r>
              <a:rPr lang="fr-FR" sz="1200" b="1" dirty="0">
                <a:latin typeface="Rockwell" panose="02060603020205020403" pitchFamily="18" charset="0"/>
              </a:rPr>
              <a:t>REPUBLIC OF CAMEROON</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PEACE-WORK-FATHERLAND</a:t>
            </a:r>
            <a:endParaRPr lang="fr-FR" sz="1200" dirty="0">
              <a:latin typeface="Rockwell" panose="02060603020205020403" pitchFamily="18" charset="0"/>
            </a:endParaRPr>
          </a:p>
          <a:p>
            <a:pPr>
              <a:lnSpc>
                <a:spcPct val="107000"/>
              </a:lnSpc>
              <a:spcAft>
                <a:spcPts val="800"/>
              </a:spcAft>
            </a:pPr>
            <a:endParaRPr lang="fr-FR" sz="1050" b="1" dirty="0">
              <a:latin typeface="Rockwell" panose="02060603020205020403" pitchFamily="18" charset="0"/>
              <a:ea typeface="Calibri" panose="020F0502020204030204" pitchFamily="34" charset="0"/>
              <a:cs typeface="Times New Roman" panose="02020603050405020304" pitchFamily="18" charset="0"/>
            </a:endParaRPr>
          </a:p>
          <a:p>
            <a:pPr>
              <a:lnSpc>
                <a:spcPct val="107000"/>
              </a:lnSpc>
              <a:spcAft>
                <a:spcPts val="800"/>
              </a:spcAft>
            </a:pPr>
            <a:endParaRPr lang="fr-FR" sz="1050" b="1" dirty="0">
              <a:effectLst/>
              <a:latin typeface="Rockwell" panose="02060603020205020403" pitchFamily="18" charset="0"/>
              <a:ea typeface="Calibri" panose="020F0502020204030204" pitchFamily="34" charset="0"/>
              <a:cs typeface="Times New Roman" panose="02020603050405020304" pitchFamily="18" charset="0"/>
            </a:endParaRPr>
          </a:p>
          <a:p>
            <a:pPr>
              <a:lnSpc>
                <a:spcPct val="107000"/>
              </a:lnSpc>
              <a:spcAft>
                <a:spcPts val="800"/>
              </a:spcAft>
            </a:pPr>
            <a:endParaRPr lang="fr-FR" sz="1050" b="1" dirty="0">
              <a:latin typeface="Rockwell" panose="02060603020205020403" pitchFamily="18" charset="0"/>
              <a:ea typeface="Calibri" panose="020F0502020204030204" pitchFamily="34" charset="0"/>
              <a:cs typeface="Times New Roman" panose="02020603050405020304" pitchFamily="18" charset="0"/>
            </a:endParaRPr>
          </a:p>
          <a:p>
            <a:pPr>
              <a:lnSpc>
                <a:spcPct val="107000"/>
              </a:lnSpc>
              <a:spcAft>
                <a:spcPts val="800"/>
              </a:spcAft>
            </a:pPr>
            <a:endParaRPr lang="fr-FR" sz="1200" dirty="0">
              <a:effectLst/>
              <a:latin typeface="Rockwell" panose="02060603020205020403" pitchFamily="18" charset="0"/>
              <a:ea typeface="Calibri" panose="020F0502020204030204" pitchFamily="34" charset="0"/>
              <a:cs typeface="Times New Roman" panose="02020603050405020304" pitchFamily="18" charset="0"/>
            </a:endParaRPr>
          </a:p>
          <a:p>
            <a:pPr algn="ctr"/>
            <a:r>
              <a:rPr lang="fr-FR" sz="1200" b="1" dirty="0">
                <a:latin typeface="Rockwell" panose="02060603020205020403" pitchFamily="18" charset="0"/>
              </a:rPr>
              <a:t>MINISTERY OF HIGHER EDUCATION</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UNIVERSITY OF YAOUNDE I</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SAINT-JEAN INSTITUTE</a:t>
            </a:r>
            <a:endParaRPr lang="fr-FR" sz="1200" dirty="0">
              <a:latin typeface="Rockwell" panose="02060603020205020403" pitchFamily="18" charset="0"/>
            </a:endParaRPr>
          </a:p>
          <a:p>
            <a:pPr>
              <a:lnSpc>
                <a:spcPct val="107000"/>
              </a:lnSpc>
              <a:spcAft>
                <a:spcPts val="80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 </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Image 7">
            <a:extLst>
              <a:ext uri="{FF2B5EF4-FFF2-40B4-BE49-F238E27FC236}">
                <a16:creationId xmlns:a16="http://schemas.microsoft.com/office/drawing/2014/main" id="{53849743-63DD-E9E1-B835-55B75E9C662C}"/>
              </a:ext>
            </a:extLst>
          </p:cNvPr>
          <p:cNvPicPr/>
          <p:nvPr/>
        </p:nvPicPr>
        <p:blipFill>
          <a:blip r:embed="rId2">
            <a:extLst>
              <a:ext uri="{28A0092B-C50C-407E-A947-70E740481C1C}">
                <a14:useLocalDpi xmlns:a14="http://schemas.microsoft.com/office/drawing/2010/main" val="0"/>
              </a:ext>
            </a:extLst>
          </a:blip>
          <a:srcRect/>
          <a:stretch/>
        </p:blipFill>
        <p:spPr>
          <a:xfrm>
            <a:off x="10006966" y="1063345"/>
            <a:ext cx="1070768" cy="672975"/>
          </a:xfrm>
          <a:prstGeom prst="rect">
            <a:avLst/>
          </a:prstGeom>
        </p:spPr>
      </p:pic>
      <p:sp>
        <p:nvSpPr>
          <p:cNvPr id="22" name="Parchemin horizontal 21"/>
          <p:cNvSpPr/>
          <p:nvPr/>
        </p:nvSpPr>
        <p:spPr>
          <a:xfrm>
            <a:off x="3267480" y="1991300"/>
            <a:ext cx="6067590" cy="1897727"/>
          </a:xfrm>
          <a:prstGeom prst="horizontalScroll">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endParaRPr lang="fr-FR" sz="2400" b="1" dirty="0">
              <a:solidFill>
                <a:schemeClr val="bg1"/>
              </a:solidFill>
              <a:effectLst>
                <a:outerShdw blurRad="38100" dist="19050" dir="2700000" algn="tl">
                  <a:schemeClr val="dk1">
                    <a:alpha val="40000"/>
                  </a:schemeClr>
                </a:outerShdw>
              </a:effectLst>
              <a:latin typeface="Rockwell" panose="02060603020205020403" pitchFamily="18" charset="0"/>
            </a:endParaRPr>
          </a:p>
          <a:p>
            <a:pPr algn="ctr">
              <a:lnSpc>
                <a:spcPct val="115000"/>
              </a:lnSpc>
            </a:pPr>
            <a:r>
              <a:rPr lang="fr-FR" sz="2400" b="1" dirty="0">
                <a:solidFill>
                  <a:schemeClr val="bg1"/>
                </a:solidFill>
                <a:effectLst>
                  <a:outerShdw blurRad="38100" dist="19050" dir="2700000" algn="tl">
                    <a:schemeClr val="dk1">
                      <a:alpha val="40000"/>
                    </a:schemeClr>
                  </a:outerShdw>
                </a:effectLst>
                <a:latin typeface="Rockwell" panose="02060603020205020403" pitchFamily="18" charset="0"/>
              </a:rPr>
              <a:t>CONCEPTION ET MISE EN ŒUVRE DE DISKMONITOR: Le dossier De réalisation</a:t>
            </a:r>
            <a:endParaRPr lang="fr-FR" sz="2400" b="1" dirty="0">
              <a:solidFill>
                <a:schemeClr val="bg1"/>
              </a:solidFill>
              <a:latin typeface="Rockwell" panose="02060603020205020403" pitchFamily="18" charset="0"/>
            </a:endParaRPr>
          </a:p>
          <a:p>
            <a:pPr algn="just">
              <a:lnSpc>
                <a:spcPct val="115000"/>
              </a:lnSpc>
            </a:pPr>
            <a:endParaRPr lang="fr-FR" b="1" dirty="0">
              <a:ln>
                <a:noFill/>
              </a:ln>
              <a:solidFill>
                <a:srgbClr val="000000"/>
              </a:solidFill>
              <a:effectLst>
                <a:outerShdw blurRad="38100" dist="19050" dir="2700000" algn="tl">
                  <a:schemeClr val="dk1">
                    <a:alpha val="40000"/>
                  </a:schemeClr>
                </a:outerShdw>
              </a:effectLst>
              <a:latin typeface="Times New Roman" panose="02020603050405020304" pitchFamily="18" charset="0"/>
            </a:endParaRPr>
          </a:p>
        </p:txBody>
      </p:sp>
    </p:spTree>
    <p:extLst>
      <p:ext uri="{BB962C8B-B14F-4D97-AF65-F5344CB8AC3E}">
        <p14:creationId xmlns:p14="http://schemas.microsoft.com/office/powerpoint/2010/main" val="35450265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195C801-FEC2-4935-BC79-CDA576786FDD}"/>
              </a:ext>
            </a:extLst>
          </p:cNvPr>
          <p:cNvSpPr/>
          <p:nvPr/>
        </p:nvSpPr>
        <p:spPr>
          <a:xfrm>
            <a:off x="3985772" y="40504"/>
            <a:ext cx="82074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bg1"/>
              </a:solidFill>
              <a:latin typeface="Rockwell" panose="02060603020205020403" pitchFamily="18" charset="0"/>
            </a:endParaRPr>
          </a:p>
        </p:txBody>
      </p:sp>
      <p:pic>
        <p:nvPicPr>
          <p:cNvPr id="3" name="Picture 2" descr="A picture containing text, clipart&#10;&#10;Description automatically generated">
            <a:extLst>
              <a:ext uri="{FF2B5EF4-FFF2-40B4-BE49-F238E27FC236}">
                <a16:creationId xmlns:a16="http://schemas.microsoft.com/office/drawing/2014/main" id="{389989F5-ABEB-4577-832F-6CD1B885E6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158" y="0"/>
            <a:ext cx="5151121" cy="6858000"/>
          </a:xfrm>
          <a:prstGeom prst="rect">
            <a:avLst/>
          </a:prstGeom>
        </p:spPr>
      </p:pic>
      <p:sp>
        <p:nvSpPr>
          <p:cNvPr id="4" name="Oval 3">
            <a:extLst>
              <a:ext uri="{FF2B5EF4-FFF2-40B4-BE49-F238E27FC236}">
                <a16:creationId xmlns:a16="http://schemas.microsoft.com/office/drawing/2014/main" id="{8D03F5C1-9AEE-41FA-B838-C1AF70BBE1E8}"/>
              </a:ext>
            </a:extLst>
          </p:cNvPr>
          <p:cNvSpPr/>
          <p:nvPr/>
        </p:nvSpPr>
        <p:spPr>
          <a:xfrm>
            <a:off x="3534792" y="769333"/>
            <a:ext cx="5122416" cy="532971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bg1"/>
              </a:solidFill>
              <a:latin typeface="Rockwell" panose="02060603020205020403" pitchFamily="18" charset="0"/>
            </a:endParaRPr>
          </a:p>
        </p:txBody>
      </p:sp>
      <p:sp>
        <p:nvSpPr>
          <p:cNvPr id="6" name="Oval 5">
            <a:extLst>
              <a:ext uri="{FF2B5EF4-FFF2-40B4-BE49-F238E27FC236}">
                <a16:creationId xmlns:a16="http://schemas.microsoft.com/office/drawing/2014/main" id="{E494758F-13A0-4BB3-B8AF-5AC2ABD264CE}"/>
              </a:ext>
            </a:extLst>
          </p:cNvPr>
          <p:cNvSpPr/>
          <p:nvPr/>
        </p:nvSpPr>
        <p:spPr>
          <a:xfrm>
            <a:off x="4522470" y="1347528"/>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1</a:t>
            </a:r>
            <a:endParaRPr lang="en-US" sz="1400" b="1" dirty="0">
              <a:solidFill>
                <a:schemeClr val="bg1"/>
              </a:solidFill>
              <a:latin typeface="Rockwell" panose="02060603020205020403" pitchFamily="18" charset="0"/>
            </a:endParaRPr>
          </a:p>
        </p:txBody>
      </p:sp>
      <p:sp>
        <p:nvSpPr>
          <p:cNvPr id="11" name="Oval 10">
            <a:extLst>
              <a:ext uri="{FF2B5EF4-FFF2-40B4-BE49-F238E27FC236}">
                <a16:creationId xmlns:a16="http://schemas.microsoft.com/office/drawing/2014/main" id="{035C173E-AE4F-45E5-B63F-1FF2A8B7F831}"/>
              </a:ext>
            </a:extLst>
          </p:cNvPr>
          <p:cNvSpPr/>
          <p:nvPr/>
        </p:nvSpPr>
        <p:spPr>
          <a:xfrm>
            <a:off x="4521389" y="2935583"/>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3</a:t>
            </a:r>
            <a:endParaRPr lang="en-US" sz="1400" b="1" dirty="0">
              <a:solidFill>
                <a:schemeClr val="bg1"/>
              </a:solidFill>
              <a:latin typeface="Rockwell" panose="02060603020205020403" pitchFamily="18" charset="0"/>
            </a:endParaRPr>
          </a:p>
        </p:txBody>
      </p:sp>
      <p:sp>
        <p:nvSpPr>
          <p:cNvPr id="12" name="Oval 11">
            <a:extLst>
              <a:ext uri="{FF2B5EF4-FFF2-40B4-BE49-F238E27FC236}">
                <a16:creationId xmlns:a16="http://schemas.microsoft.com/office/drawing/2014/main" id="{0ED611DB-9154-4AFF-9602-C088129257DC}"/>
              </a:ext>
            </a:extLst>
          </p:cNvPr>
          <p:cNvSpPr/>
          <p:nvPr/>
        </p:nvSpPr>
        <p:spPr>
          <a:xfrm>
            <a:off x="4522470" y="3593898"/>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4</a:t>
            </a:r>
            <a:endParaRPr lang="en-US" sz="1400" b="1" dirty="0">
              <a:solidFill>
                <a:schemeClr val="bg1"/>
              </a:solidFill>
              <a:latin typeface="Rockwell" panose="02060603020205020403" pitchFamily="18" charset="0"/>
            </a:endParaRPr>
          </a:p>
        </p:txBody>
      </p:sp>
      <p:sp>
        <p:nvSpPr>
          <p:cNvPr id="13" name="Oval 12">
            <a:extLst>
              <a:ext uri="{FF2B5EF4-FFF2-40B4-BE49-F238E27FC236}">
                <a16:creationId xmlns:a16="http://schemas.microsoft.com/office/drawing/2014/main" id="{63027234-4E6F-48C2-A86B-136BB00E5F3E}"/>
              </a:ext>
            </a:extLst>
          </p:cNvPr>
          <p:cNvSpPr/>
          <p:nvPr/>
        </p:nvSpPr>
        <p:spPr>
          <a:xfrm>
            <a:off x="4522470" y="4298263"/>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5</a:t>
            </a:r>
            <a:endParaRPr lang="en-US" sz="1400" b="1" dirty="0">
              <a:solidFill>
                <a:schemeClr val="bg1"/>
              </a:solidFill>
              <a:latin typeface="Rockwell" panose="02060603020205020403" pitchFamily="18" charset="0"/>
            </a:endParaRPr>
          </a:p>
        </p:txBody>
      </p:sp>
      <p:sp>
        <p:nvSpPr>
          <p:cNvPr id="7" name="Rectangle 6">
            <a:extLst>
              <a:ext uri="{FF2B5EF4-FFF2-40B4-BE49-F238E27FC236}">
                <a16:creationId xmlns:a16="http://schemas.microsoft.com/office/drawing/2014/main" id="{193C7864-99AE-43E7-A386-D37ECB4C0A0F}"/>
              </a:ext>
            </a:extLst>
          </p:cNvPr>
          <p:cNvSpPr/>
          <p:nvPr/>
        </p:nvSpPr>
        <p:spPr>
          <a:xfrm>
            <a:off x="4698943" y="1328698"/>
            <a:ext cx="2182428" cy="367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INTRODUCTION</a:t>
            </a:r>
            <a:endParaRPr lang="en-US" sz="1400" b="1" dirty="0">
              <a:solidFill>
                <a:schemeClr val="bg1"/>
              </a:solidFill>
              <a:latin typeface="Rockwell" panose="02060603020205020403" pitchFamily="18" charset="0"/>
            </a:endParaRPr>
          </a:p>
        </p:txBody>
      </p:sp>
      <p:sp>
        <p:nvSpPr>
          <p:cNvPr id="16" name="Rectangle 15">
            <a:extLst>
              <a:ext uri="{FF2B5EF4-FFF2-40B4-BE49-F238E27FC236}">
                <a16:creationId xmlns:a16="http://schemas.microsoft.com/office/drawing/2014/main" id="{B62C60CA-F3F5-40A2-85EA-101C29C86EFE}"/>
              </a:ext>
            </a:extLst>
          </p:cNvPr>
          <p:cNvSpPr/>
          <p:nvPr/>
        </p:nvSpPr>
        <p:spPr>
          <a:xfrm>
            <a:off x="4876496" y="2191215"/>
            <a:ext cx="3585100" cy="302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dirty="0">
                <a:solidFill>
                  <a:schemeClr val="bg1"/>
                </a:solidFill>
                <a:latin typeface="Rockwell" panose="02060603020205020403" pitchFamily="18" charset="0"/>
              </a:rPr>
              <a:t>   ARCHITECTURE LOGICIELLE</a:t>
            </a:r>
            <a:endParaRPr lang="en-US" sz="1400" b="1" dirty="0">
              <a:solidFill>
                <a:schemeClr val="bg1"/>
              </a:solidFill>
              <a:latin typeface="Rockwell" panose="02060603020205020403" pitchFamily="18" charset="0"/>
            </a:endParaRPr>
          </a:p>
        </p:txBody>
      </p:sp>
      <p:sp>
        <p:nvSpPr>
          <p:cNvPr id="17" name="Rectangle 16">
            <a:extLst>
              <a:ext uri="{FF2B5EF4-FFF2-40B4-BE49-F238E27FC236}">
                <a16:creationId xmlns:a16="http://schemas.microsoft.com/office/drawing/2014/main" id="{C928A43E-899C-4C79-A4E4-690ECA694CDB}"/>
              </a:ext>
            </a:extLst>
          </p:cNvPr>
          <p:cNvSpPr/>
          <p:nvPr/>
        </p:nvSpPr>
        <p:spPr>
          <a:xfrm>
            <a:off x="4794831" y="3034630"/>
            <a:ext cx="3109148" cy="355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   OUTILS TECHNOLOGIQUES UTILISES</a:t>
            </a:r>
            <a:endParaRPr lang="en-US" sz="1400" b="1" dirty="0">
              <a:solidFill>
                <a:schemeClr val="bg1"/>
              </a:solidFill>
              <a:latin typeface="Rockwell" panose="02060603020205020403" pitchFamily="18" charset="0"/>
            </a:endParaRPr>
          </a:p>
        </p:txBody>
      </p:sp>
      <p:sp>
        <p:nvSpPr>
          <p:cNvPr id="18" name="Rectangle 17">
            <a:extLst>
              <a:ext uri="{FF2B5EF4-FFF2-40B4-BE49-F238E27FC236}">
                <a16:creationId xmlns:a16="http://schemas.microsoft.com/office/drawing/2014/main" id="{628C1363-76E7-491A-9FD9-0CC18FA56AD0}"/>
              </a:ext>
            </a:extLst>
          </p:cNvPr>
          <p:cNvSpPr/>
          <p:nvPr/>
        </p:nvSpPr>
        <p:spPr>
          <a:xfrm>
            <a:off x="4622156" y="4293410"/>
            <a:ext cx="4025805" cy="339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DEMONSTRATION</a:t>
            </a:r>
            <a:endParaRPr lang="en-US" sz="1400" b="1" dirty="0">
              <a:solidFill>
                <a:schemeClr val="bg1"/>
              </a:solidFill>
              <a:latin typeface="Rockwell" panose="02060603020205020403" pitchFamily="18" charset="0"/>
            </a:endParaRPr>
          </a:p>
        </p:txBody>
      </p:sp>
      <p:sp>
        <p:nvSpPr>
          <p:cNvPr id="20" name="Oval 2">
            <a:extLst>
              <a:ext uri="{FF2B5EF4-FFF2-40B4-BE49-F238E27FC236}">
                <a16:creationId xmlns:a16="http://schemas.microsoft.com/office/drawing/2014/main" id="{BAC5AB55-F21F-40B8-98CE-667D01020499}"/>
              </a:ext>
            </a:extLst>
          </p:cNvPr>
          <p:cNvSpPr/>
          <p:nvPr/>
        </p:nvSpPr>
        <p:spPr>
          <a:xfrm>
            <a:off x="11649075" y="6405351"/>
            <a:ext cx="478853" cy="40277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a:t>
            </a:r>
            <a:endParaRPr lang="en-US" dirty="0">
              <a:latin typeface="Amasis MT Pro Medium" panose="02040604050005020304" pitchFamily="18" charset="0"/>
            </a:endParaRPr>
          </a:p>
        </p:txBody>
      </p:sp>
      <p:sp>
        <p:nvSpPr>
          <p:cNvPr id="22" name="Rectangle 21">
            <a:extLst>
              <a:ext uri="{FF2B5EF4-FFF2-40B4-BE49-F238E27FC236}">
                <a16:creationId xmlns:a16="http://schemas.microsoft.com/office/drawing/2014/main" id="{F8D18E70-EDE1-0E59-FC57-641EC87D2DA7}"/>
              </a:ext>
            </a:extLst>
          </p:cNvPr>
          <p:cNvSpPr/>
          <p:nvPr/>
        </p:nvSpPr>
        <p:spPr>
          <a:xfrm>
            <a:off x="4794831" y="3741918"/>
            <a:ext cx="3109148" cy="355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   OUTILS TECHNOLOGIQUES UTILISES</a:t>
            </a:r>
            <a:endParaRPr lang="en-US" sz="1400" b="1" dirty="0">
              <a:solidFill>
                <a:schemeClr val="bg1"/>
              </a:solidFill>
              <a:latin typeface="Rockwell" panose="02060603020205020403" pitchFamily="18" charset="0"/>
            </a:endParaRPr>
          </a:p>
        </p:txBody>
      </p:sp>
      <p:sp>
        <p:nvSpPr>
          <p:cNvPr id="23" name="Oval 10">
            <a:extLst>
              <a:ext uri="{FF2B5EF4-FFF2-40B4-BE49-F238E27FC236}">
                <a16:creationId xmlns:a16="http://schemas.microsoft.com/office/drawing/2014/main" id="{26D8FD3B-A7A1-CD57-8668-2D4DA2EC9842}"/>
              </a:ext>
            </a:extLst>
          </p:cNvPr>
          <p:cNvSpPr/>
          <p:nvPr/>
        </p:nvSpPr>
        <p:spPr>
          <a:xfrm>
            <a:off x="4521389" y="2224656"/>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2</a:t>
            </a:r>
            <a:endParaRPr lang="en-US" sz="1400" b="1" dirty="0">
              <a:solidFill>
                <a:schemeClr val="bg1"/>
              </a:solidFill>
              <a:latin typeface="Rockwell" panose="02060603020205020403" pitchFamily="18" charset="0"/>
            </a:endParaRPr>
          </a:p>
        </p:txBody>
      </p:sp>
      <p:sp>
        <p:nvSpPr>
          <p:cNvPr id="24" name="Oval 10">
            <a:extLst>
              <a:ext uri="{FF2B5EF4-FFF2-40B4-BE49-F238E27FC236}">
                <a16:creationId xmlns:a16="http://schemas.microsoft.com/office/drawing/2014/main" id="{570848F0-938B-64B7-6B77-A446DC97DB62}"/>
              </a:ext>
            </a:extLst>
          </p:cNvPr>
          <p:cNvSpPr/>
          <p:nvPr/>
        </p:nvSpPr>
        <p:spPr>
          <a:xfrm>
            <a:off x="4521389" y="5025558"/>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6</a:t>
            </a:r>
            <a:endParaRPr lang="en-US" sz="1400" b="1" dirty="0">
              <a:solidFill>
                <a:schemeClr val="bg1"/>
              </a:solidFill>
              <a:latin typeface="Rockwell" panose="02060603020205020403" pitchFamily="18" charset="0"/>
            </a:endParaRPr>
          </a:p>
        </p:txBody>
      </p:sp>
      <p:sp>
        <p:nvSpPr>
          <p:cNvPr id="25" name="Rectangle 24">
            <a:extLst>
              <a:ext uri="{FF2B5EF4-FFF2-40B4-BE49-F238E27FC236}">
                <a16:creationId xmlns:a16="http://schemas.microsoft.com/office/drawing/2014/main" id="{2DF33C30-0414-A603-F852-41581AAD4AA4}"/>
              </a:ext>
            </a:extLst>
          </p:cNvPr>
          <p:cNvSpPr/>
          <p:nvPr/>
        </p:nvSpPr>
        <p:spPr>
          <a:xfrm>
            <a:off x="4876496" y="5100867"/>
            <a:ext cx="3109148" cy="355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   CONCLUSION</a:t>
            </a:r>
            <a:endParaRPr lang="en-US" sz="1400" b="1" dirty="0">
              <a:solidFill>
                <a:schemeClr val="bg1"/>
              </a:solidFill>
              <a:latin typeface="Rockwell" panose="02060603020205020403" pitchFamily="18" charset="0"/>
            </a:endParaRPr>
          </a:p>
        </p:txBody>
      </p:sp>
    </p:spTree>
    <p:extLst>
      <p:ext uri="{BB962C8B-B14F-4D97-AF65-F5344CB8AC3E}">
        <p14:creationId xmlns:p14="http://schemas.microsoft.com/office/powerpoint/2010/main" val="416657978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par>
                                <p:cTn id="9" presetID="47"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strVal val="#ppt_h"/>
                                          </p:val>
                                        </p:tav>
                                        <p:tav tm="100000">
                                          <p:val>
                                            <p:strVal val="#ppt_h"/>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anim calcmode="lin" valueType="num">
                                      <p:cBhvr>
                                        <p:cTn id="23" dur="500" fill="hold"/>
                                        <p:tgtEl>
                                          <p:spTgt spid="16"/>
                                        </p:tgtEl>
                                        <p:attrNameLst>
                                          <p:attrName>ppt_x</p:attrName>
                                        </p:attrNameLst>
                                      </p:cBhvr>
                                      <p:tavLst>
                                        <p:tav tm="0">
                                          <p:val>
                                            <p:strVal val="#ppt_x"/>
                                          </p:val>
                                        </p:tav>
                                        <p:tav tm="100000">
                                          <p:val>
                                            <p:strVal val="#ppt_x"/>
                                          </p:val>
                                        </p:tav>
                                      </p:tavLst>
                                    </p:anim>
                                    <p:anim calcmode="lin" valueType="num">
                                      <p:cBhvr>
                                        <p:cTn id="24"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fltVal val="0"/>
                                          </p:val>
                                        </p:tav>
                                        <p:tav tm="100000">
                                          <p:val>
                                            <p:strVal val="#ppt_w"/>
                                          </p:val>
                                        </p:tav>
                                      </p:tavLst>
                                    </p:anim>
                                    <p:anim calcmode="lin" valueType="num">
                                      <p:cBhvr>
                                        <p:cTn id="30" dur="500" fill="hold"/>
                                        <p:tgtEl>
                                          <p:spTgt spid="12"/>
                                        </p:tgtEl>
                                        <p:attrNameLst>
                                          <p:attrName>ppt_h</p:attrName>
                                        </p:attrNameLst>
                                      </p:cBhvr>
                                      <p:tavLst>
                                        <p:tav tm="0">
                                          <p:val>
                                            <p:strVal val="#ppt_h"/>
                                          </p:val>
                                        </p:tav>
                                        <p:tav tm="100000">
                                          <p:val>
                                            <p:strVal val="#ppt_h"/>
                                          </p:val>
                                        </p:tav>
                                      </p:tavLst>
                                    </p:anim>
                                  </p:childTnLst>
                                </p:cTn>
                              </p:par>
                              <p:par>
                                <p:cTn id="31" presetID="47"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anim calcmode="lin" valueType="num">
                                      <p:cBhvr>
                                        <p:cTn id="34" dur="500" fill="hold"/>
                                        <p:tgtEl>
                                          <p:spTgt spid="17"/>
                                        </p:tgtEl>
                                        <p:attrNameLst>
                                          <p:attrName>ppt_x</p:attrName>
                                        </p:attrNameLst>
                                      </p:cBhvr>
                                      <p:tavLst>
                                        <p:tav tm="0">
                                          <p:val>
                                            <p:strVal val="#ppt_x"/>
                                          </p:val>
                                        </p:tav>
                                        <p:tav tm="100000">
                                          <p:val>
                                            <p:strVal val="#ppt_x"/>
                                          </p:val>
                                        </p:tav>
                                      </p:tavLst>
                                    </p:anim>
                                    <p:anim calcmode="lin" valueType="num">
                                      <p:cBhvr>
                                        <p:cTn id="35"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7" presetClass="entr" presetSubtype="1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p:cTn id="40" dur="500" fill="hold"/>
                                        <p:tgtEl>
                                          <p:spTgt spid="13"/>
                                        </p:tgtEl>
                                        <p:attrNameLst>
                                          <p:attrName>ppt_w</p:attrName>
                                        </p:attrNameLst>
                                      </p:cBhvr>
                                      <p:tavLst>
                                        <p:tav tm="0">
                                          <p:val>
                                            <p:fltVal val="0"/>
                                          </p:val>
                                        </p:tav>
                                        <p:tav tm="100000">
                                          <p:val>
                                            <p:strVal val="#ppt_w"/>
                                          </p:val>
                                        </p:tav>
                                      </p:tavLst>
                                    </p:anim>
                                    <p:anim calcmode="lin" valueType="num">
                                      <p:cBhvr>
                                        <p:cTn id="41" dur="500" fill="hold"/>
                                        <p:tgtEl>
                                          <p:spTgt spid="13"/>
                                        </p:tgtEl>
                                        <p:attrNameLst>
                                          <p:attrName>ppt_h</p:attrName>
                                        </p:attrNameLst>
                                      </p:cBhvr>
                                      <p:tavLst>
                                        <p:tav tm="0">
                                          <p:val>
                                            <p:strVal val="#ppt_h"/>
                                          </p:val>
                                        </p:tav>
                                        <p:tav tm="100000">
                                          <p:val>
                                            <p:strVal val="#ppt_h"/>
                                          </p:val>
                                        </p:tav>
                                      </p:tavLst>
                                    </p:anim>
                                  </p:childTnLst>
                                </p:cTn>
                              </p:par>
                              <p:par>
                                <p:cTn id="42" presetID="47"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anim calcmode="lin" valueType="num">
                                      <p:cBhvr>
                                        <p:cTn id="45" dur="500" fill="hold"/>
                                        <p:tgtEl>
                                          <p:spTgt spid="18"/>
                                        </p:tgtEl>
                                        <p:attrNameLst>
                                          <p:attrName>ppt_x</p:attrName>
                                        </p:attrNameLst>
                                      </p:cBhvr>
                                      <p:tavLst>
                                        <p:tav tm="0">
                                          <p:val>
                                            <p:strVal val="#ppt_x"/>
                                          </p:val>
                                        </p:tav>
                                        <p:tav tm="100000">
                                          <p:val>
                                            <p:strVal val="#ppt_x"/>
                                          </p:val>
                                        </p:tav>
                                      </p:tavLst>
                                    </p:anim>
                                    <p:anim calcmode="lin" valueType="num">
                                      <p:cBhvr>
                                        <p:cTn id="46" dur="500" fill="hold"/>
                                        <p:tgtEl>
                                          <p:spTgt spid="18"/>
                                        </p:tgtEl>
                                        <p:attrNameLst>
                                          <p:attrName>ppt_y</p:attrName>
                                        </p:attrNameLst>
                                      </p:cBhvr>
                                      <p:tavLst>
                                        <p:tav tm="0">
                                          <p:val>
                                            <p:strVal val="#ppt_y-.1"/>
                                          </p:val>
                                        </p:tav>
                                        <p:tav tm="100000">
                                          <p:val>
                                            <p:strVal val="#ppt_y"/>
                                          </p:val>
                                        </p:tav>
                                      </p:tavLst>
                                    </p:anim>
                                  </p:childTnLst>
                                </p:cTn>
                              </p:par>
                              <p:par>
                                <p:cTn id="47" presetID="47"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anim calcmode="lin" valueType="num">
                                      <p:cBhvr>
                                        <p:cTn id="50" dur="500" fill="hold"/>
                                        <p:tgtEl>
                                          <p:spTgt spid="22"/>
                                        </p:tgtEl>
                                        <p:attrNameLst>
                                          <p:attrName>ppt_x</p:attrName>
                                        </p:attrNameLst>
                                      </p:cBhvr>
                                      <p:tavLst>
                                        <p:tav tm="0">
                                          <p:val>
                                            <p:strVal val="#ppt_x"/>
                                          </p:val>
                                        </p:tav>
                                        <p:tav tm="100000">
                                          <p:val>
                                            <p:strVal val="#ppt_x"/>
                                          </p:val>
                                        </p:tav>
                                      </p:tavLst>
                                    </p:anim>
                                    <p:anim calcmode="lin" valueType="num">
                                      <p:cBhvr>
                                        <p:cTn id="51"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7" presetClass="entr" presetSubtype="10"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 calcmode="lin" valueType="num">
                                      <p:cBhvr>
                                        <p:cTn id="56" dur="500" fill="hold"/>
                                        <p:tgtEl>
                                          <p:spTgt spid="23"/>
                                        </p:tgtEl>
                                        <p:attrNameLst>
                                          <p:attrName>ppt_w</p:attrName>
                                        </p:attrNameLst>
                                      </p:cBhvr>
                                      <p:tavLst>
                                        <p:tav tm="0">
                                          <p:val>
                                            <p:fltVal val="0"/>
                                          </p:val>
                                        </p:tav>
                                        <p:tav tm="100000">
                                          <p:val>
                                            <p:strVal val="#ppt_w"/>
                                          </p:val>
                                        </p:tav>
                                      </p:tavLst>
                                    </p:anim>
                                    <p:anim calcmode="lin" valueType="num">
                                      <p:cBhvr>
                                        <p:cTn id="57"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7" presetClass="entr" presetSubtype="1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anim calcmode="lin" valueType="num">
                                      <p:cBhvr>
                                        <p:cTn id="62" dur="500" fill="hold"/>
                                        <p:tgtEl>
                                          <p:spTgt spid="24"/>
                                        </p:tgtEl>
                                        <p:attrNameLst>
                                          <p:attrName>ppt_w</p:attrName>
                                        </p:attrNameLst>
                                      </p:cBhvr>
                                      <p:tavLst>
                                        <p:tav tm="0">
                                          <p:val>
                                            <p:fltVal val="0"/>
                                          </p:val>
                                        </p:tav>
                                        <p:tav tm="100000">
                                          <p:val>
                                            <p:strVal val="#ppt_w"/>
                                          </p:val>
                                        </p:tav>
                                      </p:tavLst>
                                    </p:anim>
                                    <p:anim calcmode="lin" valueType="num">
                                      <p:cBhvr>
                                        <p:cTn id="63" dur="500" fill="hold"/>
                                        <p:tgtEl>
                                          <p:spTgt spid="24"/>
                                        </p:tgtEl>
                                        <p:attrNameLst>
                                          <p:attrName>ppt_h</p:attrName>
                                        </p:attrNameLst>
                                      </p:cBhvr>
                                      <p:tavLst>
                                        <p:tav tm="0">
                                          <p:val>
                                            <p:strVal val="#ppt_h"/>
                                          </p:val>
                                        </p:tav>
                                        <p:tav tm="100000">
                                          <p:val>
                                            <p:strVal val="#ppt_h"/>
                                          </p:val>
                                        </p:tav>
                                      </p:tavLst>
                                    </p:anim>
                                  </p:childTnLst>
                                </p:cTn>
                              </p:par>
                              <p:par>
                                <p:cTn id="64" presetID="47"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anim calcmode="lin" valueType="num">
                                      <p:cBhvr>
                                        <p:cTn id="67" dur="500" fill="hold"/>
                                        <p:tgtEl>
                                          <p:spTgt spid="25"/>
                                        </p:tgtEl>
                                        <p:attrNameLst>
                                          <p:attrName>ppt_x</p:attrName>
                                        </p:attrNameLst>
                                      </p:cBhvr>
                                      <p:tavLst>
                                        <p:tav tm="0">
                                          <p:val>
                                            <p:strVal val="#ppt_x"/>
                                          </p:val>
                                        </p:tav>
                                        <p:tav tm="100000">
                                          <p:val>
                                            <p:strVal val="#ppt_x"/>
                                          </p:val>
                                        </p:tav>
                                      </p:tavLst>
                                    </p:anim>
                                    <p:anim calcmode="lin" valueType="num">
                                      <p:cBhvr>
                                        <p:cTn id="68" dur="5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2" grpId="0" animBg="1"/>
      <p:bldP spid="13" grpId="0" animBg="1"/>
      <p:bldP spid="7" grpId="0"/>
      <p:bldP spid="16" grpId="0"/>
      <p:bldP spid="17" grpId="0"/>
      <p:bldP spid="18" grpId="0"/>
      <p:bldP spid="22" grpId="0"/>
      <p:bldP spid="23" grpId="0" animBg="1"/>
      <p:bldP spid="24" grpId="0" animBg="1"/>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0756A9C-BEC7-41EE-A6BE-9C0DCF9944DB}"/>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INTRODUCTION</a:t>
            </a:r>
            <a:endParaRPr lang="en-US" dirty="0">
              <a:latin typeface="Rockwell" panose="02060603020205020403" pitchFamily="18" charset="0"/>
            </a:endParaRPr>
          </a:p>
        </p:txBody>
      </p:sp>
      <p:sp>
        <p:nvSpPr>
          <p:cNvPr id="7" name="Oval 6">
            <a:extLst>
              <a:ext uri="{FF2B5EF4-FFF2-40B4-BE49-F238E27FC236}">
                <a16:creationId xmlns:a16="http://schemas.microsoft.com/office/drawing/2014/main" id="{0AF00FE2-8B4E-4C4E-91C3-94FD5C9CCE15}"/>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BAC5AB55-F21F-40B8-98CE-667D01020499}"/>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a:t>
            </a:r>
            <a:endParaRPr lang="en-US" dirty="0">
              <a:latin typeface="Rockwell" panose="02060603020205020403" pitchFamily="18" charset="0"/>
            </a:endParaRPr>
          </a:p>
        </p:txBody>
      </p:sp>
      <p:sp>
        <p:nvSpPr>
          <p:cNvPr id="15" name="ZoneTexte 14"/>
          <p:cNvSpPr txBox="1"/>
          <p:nvPr/>
        </p:nvSpPr>
        <p:spPr>
          <a:xfrm>
            <a:off x="1887803" y="1292483"/>
            <a:ext cx="9132621" cy="3351367"/>
          </a:xfrm>
          <a:prstGeom prst="rect">
            <a:avLst/>
          </a:prstGeom>
          <a:noFill/>
        </p:spPr>
        <p:txBody>
          <a:bodyPr wrap="square" rtlCol="0">
            <a:spAutoFit/>
          </a:bodyPr>
          <a:lstStyle/>
          <a:p>
            <a:pPr lvl="0" algn="just">
              <a:lnSpc>
                <a:spcPct val="150000"/>
              </a:lnSpc>
            </a:pPr>
            <a:r>
              <a:rPr lang="fr-FR" sz="2400" dirty="0">
                <a:latin typeface="Amasis MT Pro Medium" panose="02040604050005020304" pitchFamily="18" charset="0"/>
              </a:rPr>
              <a:t>Le dossier de réalisation est celui qui contient toutes les informations relatives à l’implémentation proprement dite d’un projet. Ce dernier a pour objectif de présenter les éléments intervenants dans le développement de notre plate-forme, ceci en présentant l’environnement de travail et de développement utilisé ainsi que les différents logiciels qui entreront en jeux.</a:t>
            </a:r>
          </a:p>
        </p:txBody>
      </p:sp>
    </p:spTree>
    <p:extLst>
      <p:ext uri="{BB962C8B-B14F-4D97-AF65-F5344CB8AC3E}">
        <p14:creationId xmlns:p14="http://schemas.microsoft.com/office/powerpoint/2010/main" val="22266799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22" presetClass="exit" presetSubtype="4" fill="hold" grpId="1" nodeType="withEffect">
                                  <p:stCondLst>
                                    <p:cond delay="0"/>
                                  </p:stCondLst>
                                  <p:childTnLst>
                                    <p:animEffect transition="out" filter="wipe(down)">
                                      <p:cBhvr>
                                        <p:cTn id="11" dur="500"/>
                                        <p:tgtEl>
                                          <p:spTgt spid="15"/>
                                        </p:tgtEl>
                                      </p:cBhvr>
                                    </p:animEffect>
                                    <p:set>
                                      <p:cBhvr>
                                        <p:cTn id="1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2C0548B-87E4-45D6-BE08-BFD6B72BCBDC}"/>
              </a:ext>
            </a:extLst>
          </p:cNvPr>
          <p:cNvSpPr/>
          <p:nvPr/>
        </p:nvSpPr>
        <p:spPr>
          <a:xfrm>
            <a:off x="3923930" y="0"/>
            <a:ext cx="826807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ARCHITECTURE  LOGICIELLE </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439868F0-8CA6-4F06-885C-B4345724EEF4}"/>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6BDF3F42-AAF2-4A76-B360-21744FF277F0}"/>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3</a:t>
            </a:r>
            <a:endParaRPr lang="en-US" dirty="0">
              <a:latin typeface="Amasis MT Pro Medium" panose="02040604050005020304" pitchFamily="18" charset="0"/>
            </a:endParaRPr>
          </a:p>
        </p:txBody>
      </p:sp>
      <p:sp>
        <p:nvSpPr>
          <p:cNvPr id="17" name="ZoneTexte 16">
            <a:extLst>
              <a:ext uri="{FF2B5EF4-FFF2-40B4-BE49-F238E27FC236}">
                <a16:creationId xmlns:a16="http://schemas.microsoft.com/office/drawing/2014/main" id="{CCF21A8B-0C06-7D7D-EFB0-61FE343F152C}"/>
              </a:ext>
            </a:extLst>
          </p:cNvPr>
          <p:cNvSpPr txBox="1"/>
          <p:nvPr/>
        </p:nvSpPr>
        <p:spPr>
          <a:xfrm>
            <a:off x="1961965" y="2396313"/>
            <a:ext cx="8268070" cy="2065374"/>
          </a:xfrm>
          <a:prstGeom prst="rect">
            <a:avLst/>
          </a:prstGeom>
          <a:noFill/>
        </p:spPr>
        <p:txBody>
          <a:bodyPr wrap="square">
            <a:spAutoFit/>
          </a:bodyPr>
          <a:lstStyle/>
          <a:p>
            <a:pPr marL="540385" marR="513715" indent="-5715" algn="just">
              <a:lnSpc>
                <a:spcPct val="151000"/>
              </a:lnSpc>
              <a:spcAft>
                <a:spcPts val="170"/>
              </a:spcAft>
              <a:buNone/>
            </a:pPr>
            <a:r>
              <a:rPr lang="fr-FR" sz="1800" kern="150" dirty="0">
                <a:solidFill>
                  <a:srgbClr val="000000"/>
                </a:solidFill>
                <a:effectLst/>
                <a:latin typeface="Times New Roman" panose="02020603050405020304" pitchFamily="18" charset="0"/>
                <a:ea typeface="Times New Roman" panose="02020603050405020304" pitchFamily="18" charset="0"/>
              </a:rPr>
              <a:t>Un navigateur web est un logiciel conçu pour permettre aux différents utilisateurs d’accéder et de naviguer sur internet. Il fonctionne en interprétant le code HTML des pages web en les affichant de manière conviviale pour l’utilisateur. Nous notons par exemple : </a:t>
            </a:r>
          </a:p>
          <a:p>
            <a:pPr marL="540385" marR="513715" indent="-5715" algn="just">
              <a:lnSpc>
                <a:spcPct val="106000"/>
              </a:lnSpc>
              <a:spcAft>
                <a:spcPts val="1750"/>
              </a:spcAft>
              <a:buNone/>
            </a:pPr>
            <a:r>
              <a:rPr lang="fr-FR" sz="1800" kern="150" dirty="0">
                <a:solidFill>
                  <a:srgbClr val="000000"/>
                </a:solidFill>
                <a:effectLst/>
                <a:latin typeface="Times New Roman" panose="02020603050405020304" pitchFamily="18" charset="0"/>
                <a:ea typeface="Times New Roman" panose="02020603050405020304" pitchFamily="18" charset="0"/>
              </a:rPr>
              <a:t>Google Chrome, Internet Explorer, Mozilla Firefox et bien d’autres. </a:t>
            </a:r>
          </a:p>
        </p:txBody>
      </p:sp>
      <p:pic>
        <p:nvPicPr>
          <p:cNvPr id="18" name="Picture 28341">
            <a:extLst>
              <a:ext uri="{FF2B5EF4-FFF2-40B4-BE49-F238E27FC236}">
                <a16:creationId xmlns:a16="http://schemas.microsoft.com/office/drawing/2014/main" id="{DB9AD948-DEA0-DBBE-5C49-DF05BC1F1EF1}"/>
              </a:ext>
            </a:extLst>
          </p:cNvPr>
          <p:cNvPicPr/>
          <p:nvPr/>
        </p:nvPicPr>
        <p:blipFill>
          <a:blip r:embed="rId2"/>
          <a:stretch>
            <a:fillRect/>
          </a:stretch>
        </p:blipFill>
        <p:spPr>
          <a:xfrm>
            <a:off x="5208905" y="1509218"/>
            <a:ext cx="887095" cy="887095"/>
          </a:xfrm>
          <a:prstGeom prst="rect">
            <a:avLst/>
          </a:prstGeom>
          <a:noFill/>
          <a:ln>
            <a:noFill/>
            <a:prstDash/>
          </a:ln>
        </p:spPr>
      </p:pic>
      <p:sp>
        <p:nvSpPr>
          <p:cNvPr id="19" name="Rectangle: Rounded Corners 1">
            <a:extLst>
              <a:ext uri="{FF2B5EF4-FFF2-40B4-BE49-F238E27FC236}">
                <a16:creationId xmlns:a16="http://schemas.microsoft.com/office/drawing/2014/main" id="{A071B1E4-4A19-1349-B605-F69900FB15FB}"/>
              </a:ext>
            </a:extLst>
          </p:cNvPr>
          <p:cNvSpPr/>
          <p:nvPr/>
        </p:nvSpPr>
        <p:spPr>
          <a:xfrm>
            <a:off x="2725396" y="864285"/>
            <a:ext cx="6353175"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Le Navigateur </a:t>
            </a:r>
            <a:endParaRPr lang="en-US" dirty="0">
              <a:latin typeface="Rockwell" panose="02060603020205020403" pitchFamily="18" charset="0"/>
            </a:endParaRPr>
          </a:p>
        </p:txBody>
      </p:sp>
      <p:pic>
        <p:nvPicPr>
          <p:cNvPr id="1032" name="Picture 28079">
            <a:extLst>
              <a:ext uri="{FF2B5EF4-FFF2-40B4-BE49-F238E27FC236}">
                <a16:creationId xmlns:a16="http://schemas.microsoft.com/office/drawing/2014/main" id="{CBC6A786-887D-4FA7-FFC3-100E7AE8FE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828675" cy="82867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28081">
            <a:extLst>
              <a:ext uri="{FF2B5EF4-FFF2-40B4-BE49-F238E27FC236}">
                <a16:creationId xmlns:a16="http://schemas.microsoft.com/office/drawing/2014/main" id="{FA715D58-A9A3-42F0-BE09-0ED236F38C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038225" cy="7810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28083">
            <a:extLst>
              <a:ext uri="{FF2B5EF4-FFF2-40B4-BE49-F238E27FC236}">
                <a16:creationId xmlns:a16="http://schemas.microsoft.com/office/drawing/2014/main" id="{E071DC72-75EE-9F53-933A-0FB9AA2A32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704850" cy="74295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28085">
            <a:extLst>
              <a:ext uri="{FF2B5EF4-FFF2-40B4-BE49-F238E27FC236}">
                <a16:creationId xmlns:a16="http://schemas.microsoft.com/office/drawing/2014/main" id="{9D6CD71C-DE62-15E9-7D5C-EC161614BB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047750" cy="10477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28335">
            <a:extLst>
              <a:ext uri="{FF2B5EF4-FFF2-40B4-BE49-F238E27FC236}">
                <a16:creationId xmlns:a16="http://schemas.microsoft.com/office/drawing/2014/main" id="{273620D6-F7FB-AE1D-3B54-04CA42ED2E0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771525" cy="7715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28337">
            <a:extLst>
              <a:ext uri="{FF2B5EF4-FFF2-40B4-BE49-F238E27FC236}">
                <a16:creationId xmlns:a16="http://schemas.microsoft.com/office/drawing/2014/main" id="{AA2B0169-9898-EA21-1AC3-92E5489600B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362075" cy="10096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8339">
            <a:extLst>
              <a:ext uri="{FF2B5EF4-FFF2-40B4-BE49-F238E27FC236}">
                <a16:creationId xmlns:a16="http://schemas.microsoft.com/office/drawing/2014/main" id="{4FC95DF9-7D11-F5A1-AE0C-197A972229C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828675" cy="828675"/>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28341">
            <a:extLst>
              <a:ext uri="{FF2B5EF4-FFF2-40B4-BE49-F238E27FC236}">
                <a16:creationId xmlns:a16="http://schemas.microsoft.com/office/drawing/2014/main" id="{C03C6292-EF1D-D266-7A13-9DA43E6CD9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85825" cy="885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559532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F7FCA-2DD0-8D99-AC61-08DB9E9471EF}"/>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96BE70F-FB55-516B-811B-0C3CE3F9F357}"/>
              </a:ext>
            </a:extLst>
          </p:cNvPr>
          <p:cNvSpPr/>
          <p:nvPr/>
        </p:nvSpPr>
        <p:spPr>
          <a:xfrm>
            <a:off x="3923930" y="0"/>
            <a:ext cx="826807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ARCHITECTURE  LOGICIELLE </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52154964-CE31-5114-51B0-2095100B8E52}"/>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F3FFB123-D0CD-14A5-0E25-E41D0A499B7F}"/>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3</a:t>
            </a:r>
            <a:endParaRPr lang="en-US" dirty="0">
              <a:latin typeface="Amasis MT Pro Medium" panose="02040604050005020304" pitchFamily="18" charset="0"/>
            </a:endParaRPr>
          </a:p>
        </p:txBody>
      </p:sp>
      <p:sp>
        <p:nvSpPr>
          <p:cNvPr id="17" name="ZoneTexte 16">
            <a:extLst>
              <a:ext uri="{FF2B5EF4-FFF2-40B4-BE49-F238E27FC236}">
                <a16:creationId xmlns:a16="http://schemas.microsoft.com/office/drawing/2014/main" id="{D8F49710-7B4D-7A5B-0F9E-F90708B87280}"/>
              </a:ext>
            </a:extLst>
          </p:cNvPr>
          <p:cNvSpPr txBox="1"/>
          <p:nvPr/>
        </p:nvSpPr>
        <p:spPr>
          <a:xfrm>
            <a:off x="1381032" y="2872563"/>
            <a:ext cx="9429935" cy="2243371"/>
          </a:xfrm>
          <a:prstGeom prst="rect">
            <a:avLst/>
          </a:prstGeom>
          <a:noFill/>
        </p:spPr>
        <p:txBody>
          <a:bodyPr wrap="square">
            <a:spAutoFit/>
          </a:bodyPr>
          <a:lstStyle/>
          <a:p>
            <a:pPr lvl="2" algn="just" fontAlgn="base">
              <a:lnSpc>
                <a:spcPct val="150000"/>
              </a:lnSpc>
            </a:pPr>
            <a:r>
              <a:rPr lang="fr-FR" sz="2400" dirty="0">
                <a:latin typeface="Amasis MT Pro Medium" panose="02040604050005020304" pitchFamily="18" charset="0"/>
              </a:rPr>
              <a:t>Le serveur apache est un logiciel de serveur web open source qui est utilisé pour héberger des sites web et fournir des pages web aux différents navigateurs susmentionnés des utilisateurs. </a:t>
            </a:r>
          </a:p>
        </p:txBody>
      </p:sp>
      <p:sp>
        <p:nvSpPr>
          <p:cNvPr id="19" name="Rectangle: Rounded Corners 1">
            <a:extLst>
              <a:ext uri="{FF2B5EF4-FFF2-40B4-BE49-F238E27FC236}">
                <a16:creationId xmlns:a16="http://schemas.microsoft.com/office/drawing/2014/main" id="{8865D3FB-5981-56D5-13B1-C8F2DF7E7D99}"/>
              </a:ext>
            </a:extLst>
          </p:cNvPr>
          <p:cNvSpPr/>
          <p:nvPr/>
        </p:nvSpPr>
        <p:spPr>
          <a:xfrm>
            <a:off x="2725396" y="864285"/>
            <a:ext cx="6353175"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a:p>
            <a:pPr algn="ctr"/>
            <a:r>
              <a:rPr lang="fr-FR" dirty="0"/>
              <a:t>Le serveur Apache </a:t>
            </a:r>
            <a:endParaRPr lang="fr-FR" sz="1400" dirty="0"/>
          </a:p>
          <a:p>
            <a:pPr algn="ctr"/>
            <a:endParaRPr lang="en-US" dirty="0">
              <a:latin typeface="Rockwell" panose="02060603020205020403" pitchFamily="18" charset="0"/>
            </a:endParaRPr>
          </a:p>
        </p:txBody>
      </p:sp>
      <p:pic>
        <p:nvPicPr>
          <p:cNvPr id="5" name="Picture 28335">
            <a:extLst>
              <a:ext uri="{FF2B5EF4-FFF2-40B4-BE49-F238E27FC236}">
                <a16:creationId xmlns:a16="http://schemas.microsoft.com/office/drawing/2014/main" id="{5EBDB754-61A2-8A8B-0892-459F536AB331}"/>
              </a:ext>
            </a:extLst>
          </p:cNvPr>
          <p:cNvPicPr/>
          <p:nvPr/>
        </p:nvPicPr>
        <p:blipFill>
          <a:blip r:embed="rId2"/>
          <a:stretch>
            <a:fillRect/>
          </a:stretch>
        </p:blipFill>
        <p:spPr>
          <a:xfrm>
            <a:off x="5711824" y="1882775"/>
            <a:ext cx="768350" cy="768350"/>
          </a:xfrm>
          <a:prstGeom prst="rect">
            <a:avLst/>
          </a:prstGeom>
          <a:noFill/>
          <a:ln>
            <a:noFill/>
            <a:prstDash/>
          </a:ln>
        </p:spPr>
      </p:pic>
    </p:spTree>
    <p:extLst>
      <p:ext uri="{BB962C8B-B14F-4D97-AF65-F5344CB8AC3E}">
        <p14:creationId xmlns:p14="http://schemas.microsoft.com/office/powerpoint/2010/main" val="200067230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F8245-1A12-851A-2BBF-228C22569F9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CED10A8-1D72-988A-670E-7F4D9DE360FD}"/>
              </a:ext>
            </a:extLst>
          </p:cNvPr>
          <p:cNvSpPr/>
          <p:nvPr/>
        </p:nvSpPr>
        <p:spPr>
          <a:xfrm>
            <a:off x="3923930" y="0"/>
            <a:ext cx="826807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ARCHITECTURE  LOGICIELLE </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1CC341E5-1AB6-835F-1E28-6051DCDC390A}"/>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209E1294-667A-6810-74D3-383FE2E22014}"/>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3</a:t>
            </a:r>
            <a:endParaRPr lang="en-US" dirty="0">
              <a:latin typeface="Amasis MT Pro Medium" panose="02040604050005020304" pitchFamily="18" charset="0"/>
            </a:endParaRPr>
          </a:p>
        </p:txBody>
      </p:sp>
      <p:sp>
        <p:nvSpPr>
          <p:cNvPr id="19" name="Rectangle: Rounded Corners 1">
            <a:extLst>
              <a:ext uri="{FF2B5EF4-FFF2-40B4-BE49-F238E27FC236}">
                <a16:creationId xmlns:a16="http://schemas.microsoft.com/office/drawing/2014/main" id="{456D228C-6691-81AC-34A3-C7DA28AE7B7A}"/>
              </a:ext>
            </a:extLst>
          </p:cNvPr>
          <p:cNvSpPr/>
          <p:nvPr/>
        </p:nvSpPr>
        <p:spPr>
          <a:xfrm>
            <a:off x="2725396" y="864285"/>
            <a:ext cx="6353175"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a:p>
            <a:pPr algn="ctr"/>
            <a:r>
              <a:rPr lang="fr-FR" dirty="0"/>
              <a:t>Le </a:t>
            </a:r>
            <a:r>
              <a:rPr lang="fr-FR" dirty="0" err="1"/>
              <a:t>sgbd</a:t>
            </a:r>
            <a:r>
              <a:rPr lang="fr-FR" dirty="0"/>
              <a:t> </a:t>
            </a:r>
            <a:endParaRPr lang="fr-FR" sz="1400" dirty="0"/>
          </a:p>
          <a:p>
            <a:pPr algn="ctr"/>
            <a:endParaRPr lang="en-US" dirty="0">
              <a:latin typeface="Rockwell" panose="02060603020205020403" pitchFamily="18" charset="0"/>
            </a:endParaRPr>
          </a:p>
        </p:txBody>
      </p:sp>
      <p:sp>
        <p:nvSpPr>
          <p:cNvPr id="6" name="ZoneTexte 5">
            <a:extLst>
              <a:ext uri="{FF2B5EF4-FFF2-40B4-BE49-F238E27FC236}">
                <a16:creationId xmlns:a16="http://schemas.microsoft.com/office/drawing/2014/main" id="{40632143-14B5-37AB-FB82-E7281A095EB6}"/>
              </a:ext>
            </a:extLst>
          </p:cNvPr>
          <p:cNvSpPr txBox="1"/>
          <p:nvPr/>
        </p:nvSpPr>
        <p:spPr>
          <a:xfrm>
            <a:off x="1304925" y="3041625"/>
            <a:ext cx="9582150" cy="2952090"/>
          </a:xfrm>
          <a:prstGeom prst="rect">
            <a:avLst/>
          </a:prstGeom>
          <a:noFill/>
        </p:spPr>
        <p:txBody>
          <a:bodyPr wrap="square">
            <a:spAutoFit/>
          </a:bodyPr>
          <a:lstStyle/>
          <a:p>
            <a:pPr marR="313690" lvl="2" algn="just" fontAlgn="base">
              <a:lnSpc>
                <a:spcPct val="150000"/>
              </a:lnSpc>
              <a:spcAft>
                <a:spcPts val="310"/>
              </a:spcAft>
              <a:buClr>
                <a:srgbClr val="1F4D78"/>
              </a:buClr>
              <a:buSzPts val="1600"/>
            </a:pPr>
            <a:r>
              <a:rPr lang="fr-FR" kern="150" dirty="0">
                <a:solidFill>
                  <a:srgbClr val="000000"/>
                </a:solidFill>
                <a:effectLst/>
                <a:latin typeface="Amasis MT Pro Medium" panose="02040604050005020304" pitchFamily="18" charset="0"/>
                <a:ea typeface="Times New Roman" panose="02020603050405020304" pitchFamily="18" charset="0"/>
              </a:rPr>
              <a:t>Un SGBD (système de gestion de base de données) est un logiciel qui permet de stocker, organiser et de gérer des données de manière structurée. Il fournit une interface pour créer, modifier, interroger et supprimer des données dans une base de données. Ainsi, il en existe plusieurs SGBD couramment utilises, notamment : MYSQL(le SGBD que nous avons utilises dans notre projet pour créer notre base de données),oracle ,PostgreSQL, mongo dB ,SQL server et bien d’autres. </a:t>
            </a:r>
          </a:p>
        </p:txBody>
      </p:sp>
      <p:pic>
        <p:nvPicPr>
          <p:cNvPr id="3074" name="Picture 2" descr="Les meilleurs outils pour SGBD">
            <a:extLst>
              <a:ext uri="{FF2B5EF4-FFF2-40B4-BE49-F238E27FC236}">
                <a16:creationId xmlns:a16="http://schemas.microsoft.com/office/drawing/2014/main" id="{17C2C0CF-1D70-84B0-E0D3-43C7E7D3FB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500" y="1343902"/>
            <a:ext cx="1905000" cy="166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503019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F09FF-E46E-D204-CC64-1198B40DADA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E5186DC-BA07-28DF-337B-8942202B8952}"/>
              </a:ext>
            </a:extLst>
          </p:cNvPr>
          <p:cNvSpPr/>
          <p:nvPr/>
        </p:nvSpPr>
        <p:spPr>
          <a:xfrm>
            <a:off x="3923930" y="0"/>
            <a:ext cx="826807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ARCHITECTURE  LOGICIELLE </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41DA8B8B-9625-A3F4-3FB1-9E32B677AF49}"/>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AAB050E1-E669-7B45-0EAB-C6A02D1AC830}"/>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3</a:t>
            </a:r>
            <a:endParaRPr lang="en-US" dirty="0">
              <a:latin typeface="Amasis MT Pro Medium" panose="02040604050005020304" pitchFamily="18" charset="0"/>
            </a:endParaRPr>
          </a:p>
        </p:txBody>
      </p:sp>
      <p:sp>
        <p:nvSpPr>
          <p:cNvPr id="19" name="Rectangle: Rounded Corners 1">
            <a:extLst>
              <a:ext uri="{FF2B5EF4-FFF2-40B4-BE49-F238E27FC236}">
                <a16:creationId xmlns:a16="http://schemas.microsoft.com/office/drawing/2014/main" id="{4FCE56CA-7075-85AB-CBF4-19B66E94A010}"/>
              </a:ext>
            </a:extLst>
          </p:cNvPr>
          <p:cNvSpPr/>
          <p:nvPr/>
        </p:nvSpPr>
        <p:spPr>
          <a:xfrm>
            <a:off x="2725396" y="864285"/>
            <a:ext cx="6353175"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a:p>
            <a:pPr algn="ctr"/>
            <a:r>
              <a:rPr lang="fr-FR" dirty="0"/>
              <a:t>IDE </a:t>
            </a:r>
            <a:endParaRPr lang="fr-FR" sz="1400" dirty="0"/>
          </a:p>
          <a:p>
            <a:pPr algn="ctr"/>
            <a:endParaRPr lang="en-US" dirty="0">
              <a:latin typeface="Rockwell" panose="02060603020205020403" pitchFamily="18" charset="0"/>
            </a:endParaRPr>
          </a:p>
        </p:txBody>
      </p:sp>
      <p:sp>
        <p:nvSpPr>
          <p:cNvPr id="6" name="ZoneTexte 5">
            <a:extLst>
              <a:ext uri="{FF2B5EF4-FFF2-40B4-BE49-F238E27FC236}">
                <a16:creationId xmlns:a16="http://schemas.microsoft.com/office/drawing/2014/main" id="{A9A1073E-84E8-4231-0A24-7B1533D90DEF}"/>
              </a:ext>
            </a:extLst>
          </p:cNvPr>
          <p:cNvSpPr txBox="1"/>
          <p:nvPr/>
        </p:nvSpPr>
        <p:spPr>
          <a:xfrm>
            <a:off x="1304925" y="3009821"/>
            <a:ext cx="9582150" cy="1689373"/>
          </a:xfrm>
          <a:prstGeom prst="rect">
            <a:avLst/>
          </a:prstGeom>
          <a:noFill/>
        </p:spPr>
        <p:txBody>
          <a:bodyPr wrap="square">
            <a:spAutoFit/>
          </a:bodyPr>
          <a:lstStyle/>
          <a:p>
            <a:pPr marR="313690" lvl="2" algn="just" fontAlgn="base">
              <a:lnSpc>
                <a:spcPct val="150000"/>
              </a:lnSpc>
              <a:spcAft>
                <a:spcPts val="310"/>
              </a:spcAft>
              <a:buClr>
                <a:srgbClr val="1F4D78"/>
              </a:buClr>
              <a:buSzPts val="1600"/>
            </a:pPr>
            <a:r>
              <a:rPr lang="fr-FR" sz="2400" dirty="0">
                <a:latin typeface="Amasis MT Pro Medium" panose="02040604050005020304" pitchFamily="18" charset="0"/>
              </a:rPr>
              <a:t>Editeur de code utilisé pour le codage de la plate-forme ; ce logiciel nous a permis d’éditer le code source de notre plate-forme. </a:t>
            </a:r>
            <a:endParaRPr lang="fr-FR" sz="2400" kern="150" dirty="0">
              <a:solidFill>
                <a:srgbClr val="000000"/>
              </a:solidFill>
              <a:effectLst/>
              <a:latin typeface="Amasis MT Pro Medium" panose="02040604050005020304" pitchFamily="18" charset="0"/>
              <a:ea typeface="Times New Roman" panose="02020603050405020304" pitchFamily="18" charset="0"/>
            </a:endParaRPr>
          </a:p>
        </p:txBody>
      </p:sp>
      <p:pic>
        <p:nvPicPr>
          <p:cNvPr id="5" name="Picture 28337">
            <a:extLst>
              <a:ext uri="{FF2B5EF4-FFF2-40B4-BE49-F238E27FC236}">
                <a16:creationId xmlns:a16="http://schemas.microsoft.com/office/drawing/2014/main" id="{F40ACDB5-9046-8AA3-D6BA-DAA2FDA0A5FD}"/>
              </a:ext>
            </a:extLst>
          </p:cNvPr>
          <p:cNvPicPr/>
          <p:nvPr/>
        </p:nvPicPr>
        <p:blipFill>
          <a:blip r:embed="rId2"/>
          <a:stretch>
            <a:fillRect/>
          </a:stretch>
        </p:blipFill>
        <p:spPr>
          <a:xfrm>
            <a:off x="5221263" y="1634884"/>
            <a:ext cx="1361440" cy="1007110"/>
          </a:xfrm>
          <a:prstGeom prst="rect">
            <a:avLst/>
          </a:prstGeom>
          <a:noFill/>
          <a:ln>
            <a:noFill/>
            <a:prstDash/>
          </a:ln>
        </p:spPr>
      </p:pic>
    </p:spTree>
    <p:extLst>
      <p:ext uri="{BB962C8B-B14F-4D97-AF65-F5344CB8AC3E}">
        <p14:creationId xmlns:p14="http://schemas.microsoft.com/office/powerpoint/2010/main" val="361289364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BDB83EB-D224-4A7F-94FC-B4C6C09082DB}"/>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Outils technologiques utilisés</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B0E286A5-F0DF-40DC-9B33-4BE875536E51}"/>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5</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92E313D7-BA46-4091-9E4B-3394AB454EFF}"/>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9</a:t>
            </a:r>
            <a:endParaRPr lang="en-US" dirty="0">
              <a:latin typeface="Amasis MT Pro Medium" panose="02040604050005020304" pitchFamily="18" charset="0"/>
            </a:endParaRPr>
          </a:p>
        </p:txBody>
      </p:sp>
      <p:pic>
        <p:nvPicPr>
          <p:cNvPr id="33" name="Picture 14247"/>
          <p:cNvPicPr/>
          <p:nvPr/>
        </p:nvPicPr>
        <p:blipFill>
          <a:blip r:embed="rId2">
            <a:extLst>
              <a:ext uri="{28A0092B-C50C-407E-A947-70E740481C1C}">
                <a14:useLocalDpi xmlns:a14="http://schemas.microsoft.com/office/drawing/2010/main" val="0"/>
              </a:ext>
            </a:extLst>
          </a:blip>
          <a:srcRect/>
          <a:stretch/>
        </p:blipFill>
        <p:spPr>
          <a:xfrm>
            <a:off x="5219700" y="1409700"/>
            <a:ext cx="1423851" cy="1015616"/>
          </a:xfrm>
          <a:prstGeom prst="rect">
            <a:avLst/>
          </a:prstGeom>
        </p:spPr>
      </p:pic>
      <p:sp>
        <p:nvSpPr>
          <p:cNvPr id="8" name="ZoneTexte 7">
            <a:extLst>
              <a:ext uri="{FF2B5EF4-FFF2-40B4-BE49-F238E27FC236}">
                <a16:creationId xmlns:a16="http://schemas.microsoft.com/office/drawing/2014/main" id="{A5067E6C-4F17-4139-9FBF-95EA78ED4C22}"/>
              </a:ext>
            </a:extLst>
          </p:cNvPr>
          <p:cNvSpPr txBox="1"/>
          <p:nvPr/>
        </p:nvSpPr>
        <p:spPr>
          <a:xfrm>
            <a:off x="2133600" y="2895806"/>
            <a:ext cx="8382000" cy="2552494"/>
          </a:xfrm>
          <a:prstGeom prst="rect">
            <a:avLst/>
          </a:prstGeom>
          <a:noFill/>
        </p:spPr>
        <p:txBody>
          <a:bodyPr wrap="square">
            <a:spAutoFit/>
          </a:bodyPr>
          <a:lstStyle/>
          <a:p>
            <a:pPr marL="534670" marR="691515" indent="228600" algn="just">
              <a:lnSpc>
                <a:spcPct val="151000"/>
              </a:lnSpc>
              <a:spcAft>
                <a:spcPts val="485"/>
              </a:spcAft>
              <a:buNone/>
            </a:pPr>
            <a:r>
              <a:rPr lang="fr-FR" sz="1800" b="1" kern="150" dirty="0">
                <a:solidFill>
                  <a:srgbClr val="000000"/>
                </a:solidFill>
                <a:effectLst/>
                <a:latin typeface="Amasis MT Pro Medium" panose="02040604050005020304" pitchFamily="18" charset="0"/>
                <a:ea typeface="Times New Roman" panose="02020603050405020304" pitchFamily="18" charset="0"/>
              </a:rPr>
              <a:t>HTML ou HyperText Markup </a:t>
            </a:r>
            <a:r>
              <a:rPr lang="fr-FR" sz="1800" b="1" kern="150" dirty="0" err="1">
                <a:solidFill>
                  <a:srgbClr val="000000"/>
                </a:solidFill>
                <a:effectLst/>
                <a:latin typeface="Amasis MT Pro Medium" panose="02040604050005020304" pitchFamily="18" charset="0"/>
                <a:ea typeface="Times New Roman" panose="02020603050405020304" pitchFamily="18" charset="0"/>
              </a:rPr>
              <a:t>Language</a:t>
            </a:r>
            <a:r>
              <a:rPr lang="fr-FR" sz="1800" b="1" kern="150" dirty="0">
                <a:solidFill>
                  <a:srgbClr val="000000"/>
                </a:solidFill>
                <a:effectLst/>
                <a:latin typeface="Amasis MT Pro Medium" panose="02040604050005020304" pitchFamily="18" charset="0"/>
                <a:ea typeface="Times New Roman" panose="02020603050405020304" pitchFamily="18" charset="0"/>
              </a:rPr>
              <a:t> : </a:t>
            </a:r>
            <a:r>
              <a:rPr lang="fr-FR" sz="1800" kern="150" dirty="0">
                <a:solidFill>
                  <a:srgbClr val="000000"/>
                </a:solidFill>
                <a:effectLst/>
                <a:latin typeface="Amasis MT Pro Medium" panose="02040604050005020304" pitchFamily="18" charset="0"/>
                <a:ea typeface="Times New Roman" panose="02020603050405020304" pitchFamily="18" charset="0"/>
              </a:rPr>
              <a:t>il a fait apparition dès 1991 lors du lancement du web. Son rôle est de géré et d’organiser le contenu des pages web. Son importance est de créer le contenu pour une application. A noter que nous avons utilisé la version 5 du HTML pour développer notre application, car elle s’adapte mieux à nos exigences.  </a:t>
            </a:r>
          </a:p>
        </p:txBody>
      </p:sp>
    </p:spTree>
    <p:extLst>
      <p:ext uri="{BB962C8B-B14F-4D97-AF65-F5344CB8AC3E}">
        <p14:creationId xmlns:p14="http://schemas.microsoft.com/office/powerpoint/2010/main" val="19588541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D834E-75C2-D665-312D-49A7AFA45189}"/>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44C4289-7605-505B-963C-D0BE3ED8D44D}"/>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Outils technologiques utilisés</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F101C707-EC1B-59BD-A11E-CA3B43700B3D}"/>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5</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28055FBF-3EDD-6275-FE7B-AC2F4993F0BC}"/>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9</a:t>
            </a:r>
            <a:endParaRPr lang="en-US" dirty="0">
              <a:latin typeface="Amasis MT Pro Medium" panose="02040604050005020304" pitchFamily="18" charset="0"/>
            </a:endParaRPr>
          </a:p>
        </p:txBody>
      </p:sp>
      <p:pic>
        <p:nvPicPr>
          <p:cNvPr id="33" name="Picture 14247">
            <a:extLst>
              <a:ext uri="{FF2B5EF4-FFF2-40B4-BE49-F238E27FC236}">
                <a16:creationId xmlns:a16="http://schemas.microsoft.com/office/drawing/2014/main" id="{C6D5A571-5EC7-112A-33A7-37DA9C0DB2C5}"/>
              </a:ext>
            </a:extLst>
          </p:cNvPr>
          <p:cNvPicPr/>
          <p:nvPr/>
        </p:nvPicPr>
        <p:blipFill>
          <a:blip r:embed="rId2">
            <a:extLst>
              <a:ext uri="{28A0092B-C50C-407E-A947-70E740481C1C}">
                <a14:useLocalDpi xmlns:a14="http://schemas.microsoft.com/office/drawing/2010/main" val="0"/>
              </a:ext>
            </a:extLst>
          </a:blip>
          <a:srcRect/>
          <a:stretch/>
        </p:blipFill>
        <p:spPr>
          <a:xfrm>
            <a:off x="5570477" y="1409700"/>
            <a:ext cx="722297" cy="1015616"/>
          </a:xfrm>
          <a:prstGeom prst="rect">
            <a:avLst/>
          </a:prstGeom>
        </p:spPr>
      </p:pic>
      <p:sp>
        <p:nvSpPr>
          <p:cNvPr id="8" name="ZoneTexte 7">
            <a:extLst>
              <a:ext uri="{FF2B5EF4-FFF2-40B4-BE49-F238E27FC236}">
                <a16:creationId xmlns:a16="http://schemas.microsoft.com/office/drawing/2014/main" id="{56328ED7-1E63-322C-F71A-A921CE5D8A57}"/>
              </a:ext>
            </a:extLst>
          </p:cNvPr>
          <p:cNvSpPr txBox="1"/>
          <p:nvPr/>
        </p:nvSpPr>
        <p:spPr>
          <a:xfrm>
            <a:off x="2133600" y="2895806"/>
            <a:ext cx="8382000" cy="2797369"/>
          </a:xfrm>
          <a:prstGeom prst="rect">
            <a:avLst/>
          </a:prstGeom>
          <a:noFill/>
        </p:spPr>
        <p:txBody>
          <a:bodyPr wrap="square">
            <a:spAutoFit/>
          </a:bodyPr>
          <a:lstStyle/>
          <a:p>
            <a:pPr algn="just">
              <a:lnSpc>
                <a:spcPct val="150000"/>
              </a:lnSpc>
            </a:pPr>
            <a:r>
              <a:rPr lang="fr-FR" sz="2400" b="1" dirty="0">
                <a:latin typeface="Amasis MT Pro Medium" panose="02040604050005020304" pitchFamily="18" charset="0"/>
              </a:rPr>
              <a:t>CSS ou </a:t>
            </a:r>
            <a:r>
              <a:rPr lang="fr-FR" sz="2400" b="1" dirty="0" err="1">
                <a:latin typeface="Amasis MT Pro Medium" panose="02040604050005020304" pitchFamily="18" charset="0"/>
              </a:rPr>
              <a:t>Cascading</a:t>
            </a:r>
            <a:r>
              <a:rPr lang="fr-FR" sz="2400" b="1" dirty="0">
                <a:latin typeface="Amasis MT Pro Medium" panose="02040604050005020304" pitchFamily="18" charset="0"/>
              </a:rPr>
              <a:t> Style </a:t>
            </a:r>
            <a:r>
              <a:rPr lang="fr-FR" sz="2400" b="1" dirty="0" err="1">
                <a:latin typeface="Amasis MT Pro Medium" panose="02040604050005020304" pitchFamily="18" charset="0"/>
              </a:rPr>
              <a:t>Sheet</a:t>
            </a:r>
            <a:r>
              <a:rPr lang="fr-FR" sz="2400" b="1" dirty="0">
                <a:latin typeface="Amasis MT Pro Medium" panose="02040604050005020304" pitchFamily="18" charset="0"/>
              </a:rPr>
              <a:t> ou encore feuilles de style en cascade :</a:t>
            </a:r>
            <a:r>
              <a:rPr lang="fr-FR" sz="2400" dirty="0">
                <a:latin typeface="Amasis MT Pro Medium" panose="02040604050005020304" pitchFamily="18" charset="0"/>
              </a:rPr>
              <a:t> le rôle du  CSS est de gérer l’apparence de la page web (agencement, positionnement, décoration, couleur, taille du texte…). Ce langage vient compléter le HTML pour permettre de définir le style de notre plate-forme.  </a:t>
            </a:r>
          </a:p>
        </p:txBody>
      </p:sp>
    </p:spTree>
    <p:extLst>
      <p:ext uri="{BB962C8B-B14F-4D97-AF65-F5344CB8AC3E}">
        <p14:creationId xmlns:p14="http://schemas.microsoft.com/office/powerpoint/2010/main" val="32695850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16F2E-B90C-830B-D802-450C0B88D343}"/>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5581BE0-A9E0-C939-DE4E-A2FA620EB428}"/>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Outils technologiques utilisés</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9C27EDE6-75EB-FFCE-61A0-C796DE980CCE}"/>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5</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43543FAD-1747-3E98-9D7B-3E29803280AF}"/>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9</a:t>
            </a:r>
            <a:endParaRPr lang="en-US" dirty="0">
              <a:latin typeface="Amasis MT Pro Medium" panose="02040604050005020304" pitchFamily="18" charset="0"/>
            </a:endParaRPr>
          </a:p>
        </p:txBody>
      </p:sp>
      <p:pic>
        <p:nvPicPr>
          <p:cNvPr id="33" name="Picture 14247">
            <a:extLst>
              <a:ext uri="{FF2B5EF4-FFF2-40B4-BE49-F238E27FC236}">
                <a16:creationId xmlns:a16="http://schemas.microsoft.com/office/drawing/2014/main" id="{C33F3678-7AB2-55A6-41E0-A08BC92D2F79}"/>
              </a:ext>
            </a:extLst>
          </p:cNvPr>
          <p:cNvPicPr/>
          <p:nvPr/>
        </p:nvPicPr>
        <p:blipFill>
          <a:blip r:embed="rId2">
            <a:extLst>
              <a:ext uri="{28A0092B-C50C-407E-A947-70E740481C1C}">
                <a14:useLocalDpi xmlns:a14="http://schemas.microsoft.com/office/drawing/2010/main" val="0"/>
              </a:ext>
            </a:extLst>
          </a:blip>
          <a:srcRect/>
          <a:stretch/>
        </p:blipFill>
        <p:spPr>
          <a:xfrm>
            <a:off x="5109670" y="1415666"/>
            <a:ext cx="1643912" cy="1003684"/>
          </a:xfrm>
          <a:prstGeom prst="rect">
            <a:avLst/>
          </a:prstGeom>
        </p:spPr>
      </p:pic>
      <p:sp>
        <p:nvSpPr>
          <p:cNvPr id="5" name="ZoneTexte 4">
            <a:extLst>
              <a:ext uri="{FF2B5EF4-FFF2-40B4-BE49-F238E27FC236}">
                <a16:creationId xmlns:a16="http://schemas.microsoft.com/office/drawing/2014/main" id="{A1A4F575-9A1F-624E-4A6B-22AC9E1F741D}"/>
              </a:ext>
            </a:extLst>
          </p:cNvPr>
          <p:cNvSpPr txBox="1"/>
          <p:nvPr/>
        </p:nvSpPr>
        <p:spPr>
          <a:xfrm>
            <a:off x="1314450" y="2881957"/>
            <a:ext cx="9963150" cy="2797369"/>
          </a:xfrm>
          <a:prstGeom prst="rect">
            <a:avLst/>
          </a:prstGeom>
          <a:noFill/>
        </p:spPr>
        <p:txBody>
          <a:bodyPr wrap="square">
            <a:spAutoFit/>
          </a:bodyPr>
          <a:lstStyle/>
          <a:p>
            <a:pPr marL="534670" marR="697230" indent="228600" algn="just">
              <a:lnSpc>
                <a:spcPct val="150000"/>
              </a:lnSpc>
              <a:spcAft>
                <a:spcPts val="660"/>
              </a:spcAft>
              <a:buNone/>
            </a:pPr>
            <a:r>
              <a:rPr lang="fr-FR" sz="2400" b="1" kern="150" dirty="0">
                <a:solidFill>
                  <a:srgbClr val="000000"/>
                </a:solidFill>
                <a:effectLst/>
                <a:latin typeface="Amasis MT Pro Medium" panose="02040604050005020304" pitchFamily="18" charset="0"/>
                <a:ea typeface="Times New Roman" panose="02020603050405020304" pitchFamily="18" charset="0"/>
              </a:rPr>
              <a:t>Le JavaScript</a:t>
            </a:r>
            <a:r>
              <a:rPr lang="fr-FR" sz="2400" kern="150" dirty="0">
                <a:solidFill>
                  <a:srgbClr val="000000"/>
                </a:solidFill>
                <a:effectLst/>
                <a:latin typeface="Amasis MT Pro Medium" panose="02040604050005020304" pitchFamily="18" charset="0"/>
                <a:ea typeface="Times New Roman" panose="02020603050405020304" pitchFamily="18" charset="0"/>
              </a:rPr>
              <a:t> est un langage de programmation de scripts principalement employé dans les pages web interactives mais aussi pour les serveurs. Il nous a permis de paramétrer un certain nombre d’action qui s’effectue lors des clics sur divers boutons.   </a:t>
            </a:r>
          </a:p>
        </p:txBody>
      </p:sp>
    </p:spTree>
    <p:extLst>
      <p:ext uri="{BB962C8B-B14F-4D97-AF65-F5344CB8AC3E}">
        <p14:creationId xmlns:p14="http://schemas.microsoft.com/office/powerpoint/2010/main" val="35789076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5863A-1AA7-30FB-C179-C4D6E2A95C68}"/>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2254621-1850-CBFB-C526-E6669A5CB4B7}"/>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Outils technologiques utilisés</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2249F863-6A6C-51ED-B9D9-3180AD6CF74C}"/>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5</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DB82D265-F826-0B02-8DEC-DF4EA7A74864}"/>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9</a:t>
            </a:r>
            <a:endParaRPr lang="en-US" dirty="0">
              <a:latin typeface="Amasis MT Pro Medium" panose="02040604050005020304" pitchFamily="18" charset="0"/>
            </a:endParaRPr>
          </a:p>
        </p:txBody>
      </p:sp>
      <p:pic>
        <p:nvPicPr>
          <p:cNvPr id="33" name="Picture 14247">
            <a:extLst>
              <a:ext uri="{FF2B5EF4-FFF2-40B4-BE49-F238E27FC236}">
                <a16:creationId xmlns:a16="http://schemas.microsoft.com/office/drawing/2014/main" id="{4FF29353-3E3D-B752-C196-2BEA714410BA}"/>
              </a:ext>
            </a:extLst>
          </p:cNvPr>
          <p:cNvPicPr/>
          <p:nvPr/>
        </p:nvPicPr>
        <p:blipFill>
          <a:blip r:embed="rId2">
            <a:extLst>
              <a:ext uri="{28A0092B-C50C-407E-A947-70E740481C1C}">
                <a14:useLocalDpi xmlns:a14="http://schemas.microsoft.com/office/drawing/2010/main" val="0"/>
              </a:ext>
            </a:extLst>
          </a:blip>
          <a:srcRect/>
          <a:stretch/>
        </p:blipFill>
        <p:spPr>
          <a:xfrm>
            <a:off x="5101784" y="1339466"/>
            <a:ext cx="1659684" cy="1156084"/>
          </a:xfrm>
          <a:prstGeom prst="rect">
            <a:avLst/>
          </a:prstGeom>
        </p:spPr>
      </p:pic>
      <p:sp>
        <p:nvSpPr>
          <p:cNvPr id="8" name="ZoneTexte 7">
            <a:extLst>
              <a:ext uri="{FF2B5EF4-FFF2-40B4-BE49-F238E27FC236}">
                <a16:creationId xmlns:a16="http://schemas.microsoft.com/office/drawing/2014/main" id="{5FE17BCF-751D-CB88-5CB6-1A3543782968}"/>
              </a:ext>
            </a:extLst>
          </p:cNvPr>
          <p:cNvSpPr txBox="1"/>
          <p:nvPr/>
        </p:nvSpPr>
        <p:spPr>
          <a:xfrm>
            <a:off x="2133600" y="2895806"/>
            <a:ext cx="8953500" cy="3351367"/>
          </a:xfrm>
          <a:prstGeom prst="rect">
            <a:avLst/>
          </a:prstGeom>
          <a:noFill/>
        </p:spPr>
        <p:txBody>
          <a:bodyPr wrap="square">
            <a:spAutoFit/>
          </a:bodyPr>
          <a:lstStyle/>
          <a:p>
            <a:pPr algn="just">
              <a:lnSpc>
                <a:spcPct val="150000"/>
              </a:lnSpc>
            </a:pPr>
            <a:r>
              <a:rPr lang="fr-FR" sz="2400" b="1" dirty="0">
                <a:latin typeface="Amasis MT Pro Medium" panose="02040604050005020304" pitchFamily="18" charset="0"/>
              </a:rPr>
              <a:t>Bootstrap </a:t>
            </a:r>
            <a:r>
              <a:rPr lang="fr-FR" sz="2400" dirty="0">
                <a:latin typeface="Amasis MT Pro Medium" panose="02040604050005020304" pitchFamily="18" charset="0"/>
              </a:rPr>
              <a:t>est une collection d’outils utiles à la création du design (graphisme, animation et interaction avec la page dans le navigateur) de sites et d’applications web.  </a:t>
            </a:r>
          </a:p>
          <a:p>
            <a:pPr algn="just">
              <a:lnSpc>
                <a:spcPct val="150000"/>
              </a:lnSpc>
            </a:pPr>
            <a:r>
              <a:rPr lang="fr-FR" sz="2400" dirty="0">
                <a:latin typeface="Amasis MT Pro Medium" panose="02040604050005020304" pitchFamily="18" charset="0"/>
              </a:rPr>
              <a:t>C’est un ensemble qui contient des codes HTML et CSS, des formulaires, boutons, outils de navigation et autres éléments interactifs, ainsi que des extensions JavaScript en option.  </a:t>
            </a:r>
          </a:p>
        </p:txBody>
      </p:sp>
    </p:spTree>
    <p:extLst>
      <p:ext uri="{BB962C8B-B14F-4D97-AF65-F5344CB8AC3E}">
        <p14:creationId xmlns:p14="http://schemas.microsoft.com/office/powerpoint/2010/main" val="399887178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1FE8E-107A-DAC4-625F-6EC61FFE4BA4}"/>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B53FED3-9FBC-EBFE-52AB-956FE7FADB66}"/>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Outils technologiques utilisés</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24C70D71-BB10-7A2E-225F-E43FAF95DA56}"/>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5</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62E92B3F-890D-D4AB-98C6-DB23A63272BA}"/>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9</a:t>
            </a:r>
            <a:endParaRPr lang="en-US" dirty="0">
              <a:latin typeface="Amasis MT Pro Medium" panose="02040604050005020304" pitchFamily="18" charset="0"/>
            </a:endParaRPr>
          </a:p>
        </p:txBody>
      </p:sp>
      <p:pic>
        <p:nvPicPr>
          <p:cNvPr id="33" name="Picture 14247">
            <a:extLst>
              <a:ext uri="{FF2B5EF4-FFF2-40B4-BE49-F238E27FC236}">
                <a16:creationId xmlns:a16="http://schemas.microsoft.com/office/drawing/2014/main" id="{89C15E5F-7031-5BE6-73CA-5A6F11E5A4B6}"/>
              </a:ext>
            </a:extLst>
          </p:cNvPr>
          <p:cNvPicPr/>
          <p:nvPr/>
        </p:nvPicPr>
        <p:blipFill>
          <a:blip r:embed="rId2">
            <a:extLst>
              <a:ext uri="{28A0092B-C50C-407E-A947-70E740481C1C}">
                <a14:useLocalDpi xmlns:a14="http://schemas.microsoft.com/office/drawing/2010/main" val="0"/>
              </a:ext>
            </a:extLst>
          </a:blip>
          <a:srcRect/>
          <a:stretch/>
        </p:blipFill>
        <p:spPr>
          <a:xfrm>
            <a:off x="5101784" y="1365286"/>
            <a:ext cx="1659684" cy="1104444"/>
          </a:xfrm>
          <a:prstGeom prst="rect">
            <a:avLst/>
          </a:prstGeom>
        </p:spPr>
      </p:pic>
      <p:sp>
        <p:nvSpPr>
          <p:cNvPr id="5" name="ZoneTexte 4">
            <a:extLst>
              <a:ext uri="{FF2B5EF4-FFF2-40B4-BE49-F238E27FC236}">
                <a16:creationId xmlns:a16="http://schemas.microsoft.com/office/drawing/2014/main" id="{FB698B2F-AC81-C41F-6B30-88EB57A570FA}"/>
              </a:ext>
            </a:extLst>
          </p:cNvPr>
          <p:cNvSpPr txBox="1"/>
          <p:nvPr/>
        </p:nvSpPr>
        <p:spPr>
          <a:xfrm>
            <a:off x="1762125" y="2837588"/>
            <a:ext cx="8667750" cy="3351367"/>
          </a:xfrm>
          <a:prstGeom prst="rect">
            <a:avLst/>
          </a:prstGeom>
          <a:noFill/>
        </p:spPr>
        <p:txBody>
          <a:bodyPr wrap="square">
            <a:spAutoFit/>
          </a:bodyPr>
          <a:lstStyle/>
          <a:p>
            <a:pPr algn="just">
              <a:lnSpc>
                <a:spcPct val="150000"/>
              </a:lnSpc>
            </a:pPr>
            <a:r>
              <a:rPr lang="fr-FR" sz="2400" dirty="0">
                <a:latin typeface="Amasis MT Pro Medium" panose="02040604050005020304" pitchFamily="18" charset="0"/>
              </a:rPr>
              <a:t>Python est un langage de programmation de haut niveau, interprété et orienté objet, réputé pour sa syntaxe claire et sa simplicité, le rendant très accessible aux débutants</a:t>
            </a:r>
            <a:r>
              <a:rPr lang="fr-FR" sz="2400" b="0" i="0" dirty="0">
                <a:effectLst/>
                <a:latin typeface="Amasis MT Pro Medium" panose="02040604050005020304" pitchFamily="18" charset="0"/>
              </a:rPr>
              <a:t>. Créé par Guido van </a:t>
            </a:r>
            <a:r>
              <a:rPr lang="fr-FR" sz="2400" b="0" i="0" dirty="0" err="1">
                <a:effectLst/>
                <a:latin typeface="Amasis MT Pro Medium" panose="02040604050005020304" pitchFamily="18" charset="0"/>
              </a:rPr>
              <a:t>Rossum</a:t>
            </a:r>
            <a:r>
              <a:rPr lang="fr-FR" sz="2400" b="0" i="0" dirty="0">
                <a:effectLst/>
                <a:latin typeface="Amasis MT Pro Medium" panose="02040604050005020304" pitchFamily="18" charset="0"/>
              </a:rPr>
              <a:t> en 1989, il est extrêmement polyvalent et largement utilisé dans la data science, l'IA, le web et l'automatisation</a:t>
            </a:r>
            <a:endParaRPr lang="fr-FR" sz="2400" dirty="0">
              <a:latin typeface="Amasis MT Pro Medium" panose="02040604050005020304" pitchFamily="18" charset="0"/>
            </a:endParaRPr>
          </a:p>
        </p:txBody>
      </p:sp>
    </p:spTree>
    <p:extLst>
      <p:ext uri="{BB962C8B-B14F-4D97-AF65-F5344CB8AC3E}">
        <p14:creationId xmlns:p14="http://schemas.microsoft.com/office/powerpoint/2010/main" val="9529577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930D7-77F4-D683-3BD2-B2C48912C86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8D298D4-DFBD-3799-D39B-34AE53A6CBC5}"/>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Outils technologiques utilisés</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57418205-7D1B-6F1C-A75B-3EAD7D1FB4BE}"/>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5</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DD3D50D5-FEEA-4672-5E3A-CE6F87674A6E}"/>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9</a:t>
            </a:r>
            <a:endParaRPr lang="en-US" dirty="0">
              <a:latin typeface="Amasis MT Pro Medium" panose="02040604050005020304" pitchFamily="18" charset="0"/>
            </a:endParaRPr>
          </a:p>
        </p:txBody>
      </p:sp>
      <p:pic>
        <p:nvPicPr>
          <p:cNvPr id="33" name="Picture 14247">
            <a:extLst>
              <a:ext uri="{FF2B5EF4-FFF2-40B4-BE49-F238E27FC236}">
                <a16:creationId xmlns:a16="http://schemas.microsoft.com/office/drawing/2014/main" id="{E247DFC4-041C-B2C8-47F5-AE16106E0D5A}"/>
              </a:ext>
            </a:extLst>
          </p:cNvPr>
          <p:cNvPicPr/>
          <p:nvPr/>
        </p:nvPicPr>
        <p:blipFill>
          <a:blip r:embed="rId2">
            <a:extLst>
              <a:ext uri="{28A0092B-C50C-407E-A947-70E740481C1C}">
                <a14:useLocalDpi xmlns:a14="http://schemas.microsoft.com/office/drawing/2010/main" val="0"/>
              </a:ext>
            </a:extLst>
          </a:blip>
          <a:srcRect/>
          <a:stretch/>
        </p:blipFill>
        <p:spPr>
          <a:xfrm>
            <a:off x="5101784" y="1365286"/>
            <a:ext cx="1659684" cy="1104444"/>
          </a:xfrm>
          <a:prstGeom prst="rect">
            <a:avLst/>
          </a:prstGeom>
        </p:spPr>
      </p:pic>
      <p:sp>
        <p:nvSpPr>
          <p:cNvPr id="5" name="ZoneTexte 4">
            <a:extLst>
              <a:ext uri="{FF2B5EF4-FFF2-40B4-BE49-F238E27FC236}">
                <a16:creationId xmlns:a16="http://schemas.microsoft.com/office/drawing/2014/main" id="{06EB46E6-81F5-32CF-1F61-EAC7079B1873}"/>
              </a:ext>
            </a:extLst>
          </p:cNvPr>
          <p:cNvSpPr txBox="1"/>
          <p:nvPr/>
        </p:nvSpPr>
        <p:spPr>
          <a:xfrm>
            <a:off x="1762125" y="2837588"/>
            <a:ext cx="8667750" cy="3351367"/>
          </a:xfrm>
          <a:prstGeom prst="rect">
            <a:avLst/>
          </a:prstGeom>
          <a:noFill/>
        </p:spPr>
        <p:txBody>
          <a:bodyPr wrap="square">
            <a:spAutoFit/>
          </a:bodyPr>
          <a:lstStyle/>
          <a:p>
            <a:pPr algn="just">
              <a:lnSpc>
                <a:spcPct val="150000"/>
              </a:lnSpc>
            </a:pPr>
            <a:r>
              <a:rPr lang="fr-FR" sz="2400" dirty="0">
                <a:latin typeface="Amasis MT Pro Medium" panose="02040604050005020304" pitchFamily="18" charset="0"/>
              </a:rPr>
              <a:t>Python est un langage de programmation de haut niveau, interprété et orienté objet, réputé pour sa syntaxe claire et sa simplicité, le rendant très accessible aux débutants</a:t>
            </a:r>
            <a:r>
              <a:rPr lang="fr-FR" sz="2400" b="0" i="0" dirty="0">
                <a:effectLst/>
                <a:latin typeface="Amasis MT Pro Medium" panose="02040604050005020304" pitchFamily="18" charset="0"/>
              </a:rPr>
              <a:t>. Créé par Guido van </a:t>
            </a:r>
            <a:r>
              <a:rPr lang="fr-FR" sz="2400" b="0" i="0" dirty="0" err="1">
                <a:effectLst/>
                <a:latin typeface="Amasis MT Pro Medium" panose="02040604050005020304" pitchFamily="18" charset="0"/>
              </a:rPr>
              <a:t>Rossum</a:t>
            </a:r>
            <a:r>
              <a:rPr lang="fr-FR" sz="2400" b="0" i="0" dirty="0">
                <a:effectLst/>
                <a:latin typeface="Amasis MT Pro Medium" panose="02040604050005020304" pitchFamily="18" charset="0"/>
              </a:rPr>
              <a:t> en 1989, il est extrêmement polyvalent et largement utilisé dans la data science, l'IA, le web et l'automatisation</a:t>
            </a:r>
            <a:endParaRPr lang="fr-FR" sz="2400" dirty="0">
              <a:latin typeface="Amasis MT Pro Medium" panose="02040604050005020304" pitchFamily="18" charset="0"/>
            </a:endParaRPr>
          </a:p>
        </p:txBody>
      </p:sp>
    </p:spTree>
    <p:extLst>
      <p:ext uri="{BB962C8B-B14F-4D97-AF65-F5344CB8AC3E}">
        <p14:creationId xmlns:p14="http://schemas.microsoft.com/office/powerpoint/2010/main" val="30015098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EEA48-3A6E-562E-1FA2-C660F2C8A28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D24DF36-EE05-AF81-371E-AC06C99F2A30}"/>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Outils technologiques utilisés</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4AC289A0-9208-C738-972A-FA6B3F2D03BE}"/>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5</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633C53AA-AAC0-264B-97B6-B435491F0068}"/>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9</a:t>
            </a:r>
            <a:endParaRPr lang="en-US" dirty="0">
              <a:latin typeface="Amasis MT Pro Medium" panose="02040604050005020304" pitchFamily="18" charset="0"/>
            </a:endParaRPr>
          </a:p>
        </p:txBody>
      </p:sp>
      <p:pic>
        <p:nvPicPr>
          <p:cNvPr id="33" name="Picture 14247">
            <a:extLst>
              <a:ext uri="{FF2B5EF4-FFF2-40B4-BE49-F238E27FC236}">
                <a16:creationId xmlns:a16="http://schemas.microsoft.com/office/drawing/2014/main" id="{827A8347-841F-7EE5-A266-36BCEC46C37A}"/>
              </a:ext>
            </a:extLst>
          </p:cNvPr>
          <p:cNvPicPr/>
          <p:nvPr/>
        </p:nvPicPr>
        <p:blipFill>
          <a:blip r:embed="rId2">
            <a:extLst>
              <a:ext uri="{28A0092B-C50C-407E-A947-70E740481C1C}">
                <a14:useLocalDpi xmlns:a14="http://schemas.microsoft.com/office/drawing/2010/main" val="0"/>
              </a:ext>
            </a:extLst>
          </a:blip>
          <a:srcRect/>
          <a:stretch/>
        </p:blipFill>
        <p:spPr>
          <a:xfrm>
            <a:off x="5101784" y="1502587"/>
            <a:ext cx="1659684" cy="829842"/>
          </a:xfrm>
          <a:prstGeom prst="rect">
            <a:avLst/>
          </a:prstGeom>
        </p:spPr>
      </p:pic>
      <p:sp>
        <p:nvSpPr>
          <p:cNvPr id="5" name="ZoneTexte 4">
            <a:extLst>
              <a:ext uri="{FF2B5EF4-FFF2-40B4-BE49-F238E27FC236}">
                <a16:creationId xmlns:a16="http://schemas.microsoft.com/office/drawing/2014/main" id="{C59DEFE4-3323-ECB3-49A2-A647C83BA704}"/>
              </a:ext>
            </a:extLst>
          </p:cNvPr>
          <p:cNvSpPr txBox="1"/>
          <p:nvPr/>
        </p:nvSpPr>
        <p:spPr>
          <a:xfrm>
            <a:off x="1162050" y="2837588"/>
            <a:ext cx="9925049" cy="2531206"/>
          </a:xfrm>
          <a:prstGeom prst="rect">
            <a:avLst/>
          </a:prstGeom>
          <a:noFill/>
        </p:spPr>
        <p:txBody>
          <a:bodyPr wrap="square">
            <a:spAutoFit/>
          </a:bodyPr>
          <a:lstStyle/>
          <a:p>
            <a:pPr algn="just">
              <a:lnSpc>
                <a:spcPct val="150000"/>
              </a:lnSpc>
            </a:pPr>
            <a:r>
              <a:rPr lang="fr-FR" sz="2800" dirty="0">
                <a:latin typeface="Amasis MT Pro Medium" panose="02040604050005020304" pitchFamily="18" charset="0"/>
              </a:rPr>
              <a:t>Django est un </a:t>
            </a:r>
            <a:r>
              <a:rPr lang="fr-FR" sz="2800" dirty="0" err="1">
                <a:latin typeface="Amasis MT Pro Medium" panose="02040604050005020304" pitchFamily="18" charset="0"/>
              </a:rPr>
              <a:t>framework</a:t>
            </a:r>
            <a:r>
              <a:rPr lang="fr-FR" sz="2800" dirty="0">
                <a:latin typeface="Amasis MT Pro Medium" panose="02040604050005020304" pitchFamily="18" charset="0"/>
              </a:rPr>
              <a:t> web Python gratuit et open-source</a:t>
            </a:r>
            <a:r>
              <a:rPr lang="fr-FR" sz="2000" dirty="0">
                <a:latin typeface="Amasis MT Pro Medium" panose="02040604050005020304" pitchFamily="18" charset="0"/>
              </a:rPr>
              <a:t>, réputé pour sa rapidité, sa sécurité et sa capacité à gérer des applications complexes (Instagram, Spotify). Il utilise une architecture Modèle-Vue-Template (MVT) pour le développement rapide et structuré. Il facilite la gestion de base de données, l'authentification et le développement backend</a:t>
            </a:r>
            <a:endParaRPr lang="fr-FR" sz="2800" dirty="0">
              <a:latin typeface="Amasis MT Pro Medium" panose="02040604050005020304" pitchFamily="18" charset="0"/>
            </a:endParaRPr>
          </a:p>
        </p:txBody>
      </p:sp>
    </p:spTree>
    <p:extLst>
      <p:ext uri="{BB962C8B-B14F-4D97-AF65-F5344CB8AC3E}">
        <p14:creationId xmlns:p14="http://schemas.microsoft.com/office/powerpoint/2010/main" val="6943990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67BA6-329C-897F-B12C-CFDC20DCADF7}"/>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4F19ABC-A7D3-5EC5-3AEF-F527B47C35AB}"/>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UTILITAIRES DE PROGRAMMATIONS</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B2D3B990-3B56-291D-A7C0-491F714E1724}"/>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7</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1DD6B09B-B62C-E82F-DE6D-3217C3D678CD}"/>
              </a:ext>
            </a:extLst>
          </p:cNvPr>
          <p:cNvSpPr/>
          <p:nvPr/>
        </p:nvSpPr>
        <p:spPr>
          <a:xfrm>
            <a:off x="11491415" y="6332662"/>
            <a:ext cx="636513" cy="47546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10</a:t>
            </a:r>
            <a:endParaRPr lang="en-US" dirty="0">
              <a:latin typeface="Amasis MT Pro Medium" panose="02040604050005020304" pitchFamily="18" charset="0"/>
            </a:endParaRPr>
          </a:p>
        </p:txBody>
      </p:sp>
      <p:pic>
        <p:nvPicPr>
          <p:cNvPr id="4" name="Image 3">
            <a:extLst>
              <a:ext uri="{FF2B5EF4-FFF2-40B4-BE49-F238E27FC236}">
                <a16:creationId xmlns:a16="http://schemas.microsoft.com/office/drawing/2014/main" id="{2427D11F-400E-1479-EBAD-5F598E0BA65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64712" y="4545655"/>
            <a:ext cx="3773858" cy="2113360"/>
          </a:xfrm>
          <a:prstGeom prst="rect">
            <a:avLst/>
          </a:prstGeom>
        </p:spPr>
      </p:pic>
      <p:sp>
        <p:nvSpPr>
          <p:cNvPr id="5" name="ZoneTexte 4">
            <a:extLst>
              <a:ext uri="{FF2B5EF4-FFF2-40B4-BE49-F238E27FC236}">
                <a16:creationId xmlns:a16="http://schemas.microsoft.com/office/drawing/2014/main" id="{C416B475-7E69-CD03-DB55-F1FD49280466}"/>
              </a:ext>
            </a:extLst>
          </p:cNvPr>
          <p:cNvSpPr txBox="1"/>
          <p:nvPr/>
        </p:nvSpPr>
        <p:spPr>
          <a:xfrm>
            <a:off x="1483760" y="1443319"/>
            <a:ext cx="10126639" cy="1982594"/>
          </a:xfrm>
          <a:prstGeom prst="rect">
            <a:avLst/>
          </a:prstGeom>
          <a:noFill/>
        </p:spPr>
        <p:txBody>
          <a:bodyPr wrap="square" rtlCol="0">
            <a:spAutoFit/>
          </a:bodyPr>
          <a:lstStyle/>
          <a:p>
            <a:pPr>
              <a:lnSpc>
                <a:spcPct val="150000"/>
              </a:lnSpc>
            </a:pPr>
            <a:r>
              <a:rPr lang="fr-FR" sz="2400" b="1" dirty="0">
                <a:latin typeface="Amasis MT Pro Medium" panose="02040604050005020304" pitchFamily="18" charset="0"/>
              </a:rPr>
              <a:t>PSUTIL</a:t>
            </a:r>
            <a:r>
              <a:rPr lang="fr-FR" sz="2400" dirty="0">
                <a:latin typeface="Amasis MT Pro Medium" panose="02040604050005020304" pitchFamily="18" charset="0"/>
              </a:rPr>
              <a:t>: bibliothèque Python pour le monitoring disque (et système en général) est </a:t>
            </a:r>
            <a:r>
              <a:rPr lang="fr-FR" sz="2400" b="1" dirty="0" err="1">
                <a:latin typeface="Amasis MT Pro Medium" panose="02040604050005020304" pitchFamily="18" charset="0"/>
                <a:hlinkClick r:id="rId4">
                  <a:extLst>
                    <a:ext uri="{A12FA001-AC4F-418D-AE19-62706E023703}">
                      <ahyp:hlinkClr xmlns:ahyp="http://schemas.microsoft.com/office/drawing/2018/hyperlinkcolor" val="tx"/>
                    </a:ext>
                  </a:extLst>
                </a:hlinkClick>
              </a:rPr>
              <a:t>psutil</a:t>
            </a:r>
            <a:r>
              <a:rPr lang="fr-FR" dirty="0">
                <a:latin typeface="Amasis MT Pro Medium" panose="02040604050005020304" pitchFamily="18" charset="0"/>
              </a:rPr>
              <a:t>. Elle permet de récupérer facilement l'utilisation, l'espace libre/total, et les E/S disque. C'est l'équivalent de top, </a:t>
            </a:r>
            <a:r>
              <a:rPr lang="fr-FR" dirty="0" err="1">
                <a:latin typeface="Amasis MT Pro Medium" panose="02040604050005020304" pitchFamily="18" charset="0"/>
              </a:rPr>
              <a:t>df</a:t>
            </a:r>
            <a:r>
              <a:rPr lang="fr-FR" dirty="0">
                <a:latin typeface="Amasis MT Pro Medium" panose="02040604050005020304" pitchFamily="18" charset="0"/>
              </a:rPr>
              <a:t> ou </a:t>
            </a:r>
            <a:r>
              <a:rPr lang="fr-FR" dirty="0" err="1">
                <a:latin typeface="Amasis MT Pro Medium" panose="02040604050005020304" pitchFamily="18" charset="0"/>
              </a:rPr>
              <a:t>iostat</a:t>
            </a:r>
            <a:r>
              <a:rPr lang="fr-FR" dirty="0">
                <a:latin typeface="Amasis MT Pro Medium" panose="02040604050005020304" pitchFamily="18" charset="0"/>
              </a:rPr>
              <a:t> en Python, offrant des données en temps réel. </a:t>
            </a:r>
            <a:endParaRPr lang="fr-FR" sz="2400" b="1" dirty="0">
              <a:latin typeface="Amasis MT Pro Medium" panose="02040604050005020304" pitchFamily="18" charset="0"/>
            </a:endParaRPr>
          </a:p>
        </p:txBody>
      </p:sp>
    </p:spTree>
    <p:extLst>
      <p:ext uri="{BB962C8B-B14F-4D97-AF65-F5344CB8AC3E}">
        <p14:creationId xmlns:p14="http://schemas.microsoft.com/office/powerpoint/2010/main" val="26448175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D8411-86AE-0E91-ACBB-0197D9E30737}"/>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482EA46-B854-1FEC-1C2A-058AEA46AAF2}"/>
              </a:ext>
            </a:extLst>
          </p:cNvPr>
          <p:cNvSpPr/>
          <p:nvPr/>
        </p:nvSpPr>
        <p:spPr>
          <a:xfrm>
            <a:off x="3923930" y="0"/>
            <a:ext cx="826807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ARCHITECTURE  Logicielle</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9D4B83D0-BB06-38E5-499E-BB3CA3C0DD87}"/>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86CE619E-B07D-749B-8F85-21F887C1897D}"/>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3</a:t>
            </a:r>
            <a:endParaRPr lang="en-US" dirty="0">
              <a:latin typeface="Amasis MT Pro Medium" panose="02040604050005020304" pitchFamily="18" charset="0"/>
            </a:endParaRPr>
          </a:p>
        </p:txBody>
      </p:sp>
      <p:pic>
        <p:nvPicPr>
          <p:cNvPr id="18" name="Picture 28341">
            <a:extLst>
              <a:ext uri="{FF2B5EF4-FFF2-40B4-BE49-F238E27FC236}">
                <a16:creationId xmlns:a16="http://schemas.microsoft.com/office/drawing/2014/main" id="{C7109C2E-4F53-6D64-1A92-74D83BC15C36}"/>
              </a:ext>
            </a:extLst>
          </p:cNvPr>
          <p:cNvPicPr/>
          <p:nvPr/>
        </p:nvPicPr>
        <p:blipFill>
          <a:blip r:embed="rId2">
            <a:extLst>
              <a:ext uri="{28A0092B-C50C-407E-A947-70E740481C1C}">
                <a14:useLocalDpi xmlns:a14="http://schemas.microsoft.com/office/drawing/2010/main" val="0"/>
              </a:ext>
            </a:extLst>
          </a:blip>
          <a:srcRect/>
          <a:stretch/>
        </p:blipFill>
        <p:spPr>
          <a:xfrm>
            <a:off x="3638489" y="828675"/>
            <a:ext cx="5936688" cy="4446774"/>
          </a:xfrm>
          <a:prstGeom prst="rect">
            <a:avLst/>
          </a:prstGeom>
          <a:noFill/>
          <a:ln>
            <a:noFill/>
            <a:prstDash/>
          </a:ln>
        </p:spPr>
      </p:pic>
      <p:sp>
        <p:nvSpPr>
          <p:cNvPr id="5" name="ZoneTexte 4">
            <a:extLst>
              <a:ext uri="{FF2B5EF4-FFF2-40B4-BE49-F238E27FC236}">
                <a16:creationId xmlns:a16="http://schemas.microsoft.com/office/drawing/2014/main" id="{A94308A7-18A6-8B72-7757-0996CE92B31A}"/>
              </a:ext>
            </a:extLst>
          </p:cNvPr>
          <p:cNvSpPr txBox="1"/>
          <p:nvPr/>
        </p:nvSpPr>
        <p:spPr>
          <a:xfrm>
            <a:off x="402770" y="1924050"/>
            <a:ext cx="2930980" cy="1754326"/>
          </a:xfrm>
          <a:prstGeom prst="rect">
            <a:avLst/>
          </a:prstGeom>
          <a:noFill/>
        </p:spPr>
        <p:txBody>
          <a:bodyPr wrap="square" rtlCol="0">
            <a:spAutoFit/>
          </a:bodyPr>
          <a:lstStyle/>
          <a:p>
            <a:pPr marL="285750" indent="-285750">
              <a:buFont typeface="Wingdings" panose="05000000000000000000" pitchFamily="2" charset="2"/>
              <a:buChar char="Ø"/>
            </a:pPr>
            <a:r>
              <a:rPr lang="fr-FR" dirty="0">
                <a:latin typeface="Amasis MT Pro Medium" panose="02040604050005020304" pitchFamily="18" charset="0"/>
              </a:rPr>
              <a:t>LE CLIENT</a:t>
            </a:r>
          </a:p>
          <a:p>
            <a:pPr marL="285750" indent="-285750">
              <a:buFont typeface="Wingdings" panose="05000000000000000000" pitchFamily="2" charset="2"/>
              <a:buChar char="Ø"/>
            </a:pPr>
            <a:r>
              <a:rPr lang="fr-FR" dirty="0">
                <a:latin typeface="Amasis MT Pro Medium" panose="02040604050005020304" pitchFamily="18" charset="0"/>
              </a:rPr>
              <a:t>LE SERVEUR D’APPLICATION</a:t>
            </a:r>
          </a:p>
          <a:p>
            <a:pPr marL="285750" indent="-285750">
              <a:buFont typeface="Wingdings" panose="05000000000000000000" pitchFamily="2" charset="2"/>
              <a:buChar char="Ø"/>
            </a:pPr>
            <a:r>
              <a:rPr lang="fr-FR" dirty="0">
                <a:latin typeface="Amasis MT Pro Medium" panose="02040604050005020304" pitchFamily="18" charset="0"/>
              </a:rPr>
              <a:t>LE SERVEUR DE BASE DE DONNEES</a:t>
            </a:r>
          </a:p>
          <a:p>
            <a:pPr marL="285750" indent="-285750">
              <a:buFont typeface="Wingdings" panose="05000000000000000000" pitchFamily="2" charset="2"/>
              <a:buChar char="Ø"/>
            </a:pPr>
            <a:r>
              <a:rPr lang="fr-FR" dirty="0">
                <a:latin typeface="Amasis MT Pro Medium" panose="02040604050005020304" pitchFamily="18" charset="0"/>
              </a:rPr>
              <a:t>APIs</a:t>
            </a:r>
          </a:p>
        </p:txBody>
      </p:sp>
    </p:spTree>
    <p:extLst>
      <p:ext uri="{BB962C8B-B14F-4D97-AF65-F5344CB8AC3E}">
        <p14:creationId xmlns:p14="http://schemas.microsoft.com/office/powerpoint/2010/main" val="10510488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C6A2B-8A58-0C9A-4E0F-EEBA33043306}"/>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10A3148-B909-CA22-8AC1-34B4AA14906C}"/>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FONCTIONNEMENT</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FF115A89-10D7-FE69-C224-0A96E80BCF73}"/>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7</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CE570101-1E51-366A-4F24-6533EF8B90C4}"/>
              </a:ext>
            </a:extLst>
          </p:cNvPr>
          <p:cNvSpPr/>
          <p:nvPr/>
        </p:nvSpPr>
        <p:spPr>
          <a:xfrm>
            <a:off x="11491415" y="6332662"/>
            <a:ext cx="636513" cy="47546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10</a:t>
            </a:r>
            <a:endParaRPr lang="en-US" dirty="0">
              <a:latin typeface="Amasis MT Pro Medium" panose="02040604050005020304" pitchFamily="18" charset="0"/>
            </a:endParaRPr>
          </a:p>
        </p:txBody>
      </p:sp>
      <p:sp>
        <p:nvSpPr>
          <p:cNvPr id="8" name="ZoneTexte 7">
            <a:extLst>
              <a:ext uri="{FF2B5EF4-FFF2-40B4-BE49-F238E27FC236}">
                <a16:creationId xmlns:a16="http://schemas.microsoft.com/office/drawing/2014/main" id="{1990A987-B431-9893-6FF4-C1248E6D3EBA}"/>
              </a:ext>
            </a:extLst>
          </p:cNvPr>
          <p:cNvSpPr txBox="1"/>
          <p:nvPr/>
        </p:nvSpPr>
        <p:spPr>
          <a:xfrm>
            <a:off x="923925" y="0"/>
            <a:ext cx="10801350" cy="8020209"/>
          </a:xfrm>
          <a:prstGeom prst="rect">
            <a:avLst/>
          </a:prstGeom>
          <a:noFill/>
        </p:spPr>
        <p:txBody>
          <a:bodyPr wrap="square">
            <a:spAutoFit/>
          </a:bodyPr>
          <a:lstStyle/>
          <a:p>
            <a:pPr marL="544195" marR="6985" indent="-5715" algn="just">
              <a:lnSpc>
                <a:spcPct val="151000"/>
              </a:lnSpc>
              <a:spcAft>
                <a:spcPts val="685"/>
              </a:spcAft>
              <a:buNone/>
            </a:pPr>
            <a:endParaRPr lang="fr-FR" sz="1800" kern="150" dirty="0">
              <a:solidFill>
                <a:srgbClr val="0070C0"/>
              </a:solidFill>
              <a:effectLst/>
              <a:latin typeface="Times New Roman" panose="02020603050405020304" pitchFamily="18" charset="0"/>
              <a:ea typeface="Times New Roman" panose="02020603050405020304" pitchFamily="18" charset="0"/>
            </a:endParaRPr>
          </a:p>
          <a:p>
            <a:pPr marL="544195" marR="6985" indent="-5715" algn="just">
              <a:lnSpc>
                <a:spcPct val="151000"/>
              </a:lnSpc>
              <a:spcAft>
                <a:spcPts val="685"/>
              </a:spcAft>
              <a:buNone/>
            </a:pPr>
            <a:endParaRPr lang="fr-FR" sz="1800" kern="150" dirty="0">
              <a:solidFill>
                <a:srgbClr val="0070C0"/>
              </a:solidFill>
              <a:effectLst/>
              <a:latin typeface="Times New Roman" panose="02020603050405020304" pitchFamily="18" charset="0"/>
              <a:ea typeface="Times New Roman" panose="02020603050405020304" pitchFamily="18" charset="0"/>
            </a:endParaRPr>
          </a:p>
          <a:p>
            <a:pPr marL="544195" marR="6985" indent="-5715" algn="just">
              <a:lnSpc>
                <a:spcPct val="151000"/>
              </a:lnSpc>
              <a:spcAft>
                <a:spcPts val="685"/>
              </a:spcAft>
              <a:buNone/>
            </a:pPr>
            <a:r>
              <a:rPr lang="fr-FR" kern="150" dirty="0">
                <a:effectLst/>
                <a:latin typeface="Amasis MT Pro Medium" panose="02040604050005020304" pitchFamily="18" charset="0"/>
                <a:ea typeface="Times New Roman" panose="02020603050405020304" pitchFamily="18" charset="0"/>
              </a:rPr>
              <a:t> </a:t>
            </a:r>
            <a:r>
              <a:rPr lang="fr-FR" sz="2000" b="1" kern="150" dirty="0">
                <a:effectLst/>
                <a:latin typeface="Amasis MT Pro Medium" panose="02040604050005020304" pitchFamily="18" charset="0"/>
                <a:ea typeface="Times New Roman" panose="02020603050405020304" pitchFamily="18" charset="0"/>
              </a:rPr>
              <a:t>I.  rôle, composants et logique interne</a:t>
            </a:r>
            <a:endParaRPr lang="fr-FR" sz="2000" kern="150" dirty="0">
              <a:effectLst/>
              <a:latin typeface="Amasis MT Pro Medium" panose="02040604050005020304" pitchFamily="18" charset="0"/>
              <a:ea typeface="Times New Roman" panose="02020603050405020304" pitchFamily="18" charset="0"/>
            </a:endParaRPr>
          </a:p>
          <a:p>
            <a:pPr marL="544195" marR="6985" indent="-5715" algn="l">
              <a:lnSpc>
                <a:spcPct val="106000"/>
              </a:lnSpc>
              <a:spcAft>
                <a:spcPts val="685"/>
              </a:spcAft>
              <a:buNone/>
            </a:pPr>
            <a:r>
              <a:rPr lang="fr-FR" kern="150" dirty="0">
                <a:effectLst/>
                <a:latin typeface="Amasis MT Pro Medium" panose="02040604050005020304" pitchFamily="18" charset="0"/>
                <a:ea typeface="Times New Roman" panose="02020603050405020304" pitchFamily="18" charset="0"/>
              </a:rPr>
              <a:t>Le </a:t>
            </a:r>
            <a:r>
              <a:rPr lang="fr-FR" kern="150" dirty="0" err="1">
                <a:effectLst/>
                <a:latin typeface="Amasis MT Pro Medium" panose="02040604050005020304" pitchFamily="18" charset="0"/>
                <a:ea typeface="Times New Roman" panose="02020603050405020304" pitchFamily="18" charset="0"/>
              </a:rPr>
              <a:t>back-end</a:t>
            </a:r>
            <a:r>
              <a:rPr lang="fr-FR" kern="150" dirty="0">
                <a:effectLst/>
                <a:latin typeface="Amasis MT Pro Medium" panose="02040604050005020304" pitchFamily="18" charset="0"/>
                <a:ea typeface="Times New Roman" panose="02020603050405020304" pitchFamily="18" charset="0"/>
              </a:rPr>
              <a:t> est conçu pour :</a:t>
            </a:r>
            <a:endParaRPr lang="fr-FR" sz="2000" kern="150" dirty="0">
              <a:effectLst/>
              <a:latin typeface="Amasis MT Pro Medium" panose="02040604050005020304" pitchFamily="18" charset="0"/>
              <a:ea typeface="Times New Roman" panose="02020603050405020304" pitchFamily="18" charset="0"/>
            </a:endParaRPr>
          </a:p>
          <a:p>
            <a:pPr marL="342900" marR="6985" lvl="0" indent="-342900" algn="l">
              <a:lnSpc>
                <a:spcPct val="106000"/>
              </a:lnSpc>
              <a:spcAft>
                <a:spcPts val="685"/>
              </a:spcAft>
              <a:buSzPts val="1000"/>
              <a:buFont typeface="Symbol" panose="05050102010706020507" pitchFamily="18" charset="2"/>
              <a:buChar char=""/>
              <a:tabLst>
                <a:tab pos="457200" algn="l"/>
              </a:tabLst>
            </a:pPr>
            <a:r>
              <a:rPr lang="fr-FR" kern="150" dirty="0">
                <a:effectLst/>
                <a:latin typeface="Amasis MT Pro Medium" panose="02040604050005020304" pitchFamily="18" charset="0"/>
                <a:ea typeface="Times New Roman" panose="02020603050405020304" pitchFamily="18" charset="0"/>
              </a:rPr>
              <a:t>détecter les disques montés</a:t>
            </a:r>
            <a:endParaRPr lang="fr-FR" sz="2000" kern="150" dirty="0">
              <a:effectLst/>
              <a:latin typeface="Amasis MT Pro Medium" panose="02040604050005020304" pitchFamily="18" charset="0"/>
              <a:ea typeface="Times New Roman" panose="02020603050405020304" pitchFamily="18" charset="0"/>
            </a:endParaRPr>
          </a:p>
          <a:p>
            <a:pPr marL="342900" marR="6985" lvl="0" indent="-342900" algn="l">
              <a:lnSpc>
                <a:spcPct val="106000"/>
              </a:lnSpc>
              <a:spcAft>
                <a:spcPts val="685"/>
              </a:spcAft>
              <a:buSzPts val="1000"/>
              <a:buFont typeface="Symbol" panose="05050102010706020507" pitchFamily="18" charset="2"/>
              <a:buChar char=""/>
              <a:tabLst>
                <a:tab pos="457200" algn="l"/>
              </a:tabLst>
            </a:pPr>
            <a:r>
              <a:rPr lang="fr-FR" kern="150" dirty="0">
                <a:effectLst/>
                <a:latin typeface="Amasis MT Pro Medium" panose="02040604050005020304" pitchFamily="18" charset="0"/>
                <a:ea typeface="Times New Roman" panose="02020603050405020304" pitchFamily="18" charset="0"/>
              </a:rPr>
              <a:t>surveiller un disque en temps réel</a:t>
            </a:r>
            <a:endParaRPr lang="fr-FR" sz="2000" kern="150" dirty="0">
              <a:effectLst/>
              <a:latin typeface="Amasis MT Pro Medium" panose="02040604050005020304" pitchFamily="18" charset="0"/>
              <a:ea typeface="Times New Roman" panose="02020603050405020304" pitchFamily="18" charset="0"/>
            </a:endParaRPr>
          </a:p>
          <a:p>
            <a:pPr marL="342900" marR="6985" lvl="0" indent="-342900" algn="l">
              <a:lnSpc>
                <a:spcPct val="106000"/>
              </a:lnSpc>
              <a:spcAft>
                <a:spcPts val="685"/>
              </a:spcAft>
              <a:buSzPts val="1000"/>
              <a:buFont typeface="Symbol" panose="05050102010706020507" pitchFamily="18" charset="2"/>
              <a:buChar char=""/>
              <a:tabLst>
                <a:tab pos="457200" algn="l"/>
              </a:tabLst>
            </a:pPr>
            <a:r>
              <a:rPr lang="fr-FR" kern="150" dirty="0">
                <a:effectLst/>
                <a:latin typeface="Amasis MT Pro Medium" panose="02040604050005020304" pitchFamily="18" charset="0"/>
                <a:ea typeface="Times New Roman" panose="02020603050405020304" pitchFamily="18" charset="0"/>
              </a:rPr>
              <a:t>mesurer les performances I/O</a:t>
            </a:r>
            <a:endParaRPr lang="fr-FR" sz="2000" kern="150" dirty="0">
              <a:effectLst/>
              <a:latin typeface="Amasis MT Pro Medium" panose="02040604050005020304" pitchFamily="18" charset="0"/>
              <a:ea typeface="Times New Roman" panose="02020603050405020304" pitchFamily="18" charset="0"/>
            </a:endParaRPr>
          </a:p>
          <a:p>
            <a:pPr marL="342900" marR="6985" lvl="0" indent="-342900" algn="l">
              <a:lnSpc>
                <a:spcPct val="106000"/>
              </a:lnSpc>
              <a:spcAft>
                <a:spcPts val="685"/>
              </a:spcAft>
              <a:buSzPts val="1000"/>
              <a:buFont typeface="Symbol" panose="05050102010706020507" pitchFamily="18" charset="2"/>
              <a:buChar char=""/>
              <a:tabLst>
                <a:tab pos="457200" algn="l"/>
              </a:tabLst>
            </a:pPr>
            <a:r>
              <a:rPr lang="fr-FR" kern="150" dirty="0">
                <a:effectLst/>
                <a:latin typeface="Amasis MT Pro Medium" panose="02040604050005020304" pitchFamily="18" charset="0"/>
                <a:ea typeface="Times New Roman" panose="02020603050405020304" pitchFamily="18" charset="0"/>
              </a:rPr>
              <a:t>mesurer l'espace disque utilisé</a:t>
            </a:r>
            <a:endParaRPr lang="fr-FR" sz="2000" kern="150" dirty="0">
              <a:effectLst/>
              <a:latin typeface="Amasis MT Pro Medium" panose="02040604050005020304" pitchFamily="18" charset="0"/>
              <a:ea typeface="Times New Roman" panose="02020603050405020304" pitchFamily="18" charset="0"/>
            </a:endParaRPr>
          </a:p>
          <a:p>
            <a:pPr marL="342900" marR="6985" lvl="0" indent="-342900" algn="l">
              <a:lnSpc>
                <a:spcPct val="106000"/>
              </a:lnSpc>
              <a:spcAft>
                <a:spcPts val="685"/>
              </a:spcAft>
              <a:buSzPts val="1000"/>
              <a:buFont typeface="Symbol" panose="05050102010706020507" pitchFamily="18" charset="2"/>
              <a:buChar char=""/>
              <a:tabLst>
                <a:tab pos="457200" algn="l"/>
              </a:tabLst>
            </a:pPr>
            <a:r>
              <a:rPr lang="fr-FR" kern="150" dirty="0">
                <a:effectLst/>
                <a:latin typeface="Amasis MT Pro Medium" panose="02040604050005020304" pitchFamily="18" charset="0"/>
                <a:ea typeface="Times New Roman" panose="02020603050405020304" pitchFamily="18" charset="0"/>
              </a:rPr>
              <a:t>détecter les fichiers récemment ouverts/créés</a:t>
            </a:r>
            <a:endParaRPr lang="fr-FR" sz="2000" kern="150" dirty="0">
              <a:effectLst/>
              <a:latin typeface="Amasis MT Pro Medium" panose="02040604050005020304" pitchFamily="18" charset="0"/>
              <a:ea typeface="Times New Roman" panose="02020603050405020304" pitchFamily="18" charset="0"/>
            </a:endParaRPr>
          </a:p>
          <a:p>
            <a:pPr marL="342900" marR="6985" lvl="0" indent="-342900" algn="l">
              <a:lnSpc>
                <a:spcPct val="106000"/>
              </a:lnSpc>
              <a:spcAft>
                <a:spcPts val="685"/>
              </a:spcAft>
              <a:buSzPts val="1000"/>
              <a:buFont typeface="Symbol" panose="05050102010706020507" pitchFamily="18" charset="2"/>
              <a:buChar char=""/>
              <a:tabLst>
                <a:tab pos="457200" algn="l"/>
              </a:tabLst>
            </a:pPr>
            <a:r>
              <a:rPr lang="fr-FR" kern="150" dirty="0">
                <a:effectLst/>
                <a:latin typeface="Amasis MT Pro Medium" panose="02040604050005020304" pitchFamily="18" charset="0"/>
                <a:ea typeface="Times New Roman" panose="02020603050405020304" pitchFamily="18" charset="0"/>
              </a:rPr>
              <a:t>fournir des données JSON au </a:t>
            </a:r>
            <a:r>
              <a:rPr lang="fr-FR" kern="150" dirty="0" err="1">
                <a:effectLst/>
                <a:latin typeface="Amasis MT Pro Medium" panose="02040604050005020304" pitchFamily="18" charset="0"/>
                <a:ea typeface="Times New Roman" panose="02020603050405020304" pitchFamily="18" charset="0"/>
              </a:rPr>
              <a:t>front-end</a:t>
            </a:r>
            <a:endParaRPr lang="fr-FR" sz="2000" kern="150" dirty="0">
              <a:effectLst/>
              <a:latin typeface="Amasis MT Pro Medium" panose="02040604050005020304" pitchFamily="18" charset="0"/>
              <a:ea typeface="Times New Roman" panose="02020603050405020304" pitchFamily="18" charset="0"/>
            </a:endParaRPr>
          </a:p>
          <a:p>
            <a:pPr marL="544195" marR="6985" indent="-5715" algn="l">
              <a:lnSpc>
                <a:spcPct val="106000"/>
              </a:lnSpc>
              <a:spcAft>
                <a:spcPts val="685"/>
              </a:spcAft>
              <a:buNone/>
            </a:pPr>
            <a:r>
              <a:rPr lang="fr-FR" kern="150" dirty="0">
                <a:effectLst/>
                <a:latin typeface="Amasis MT Pro Medium" panose="02040604050005020304" pitchFamily="18" charset="0"/>
                <a:ea typeface="Times New Roman" panose="02020603050405020304" pitchFamily="18" charset="0"/>
              </a:rPr>
              <a:t>Il est composé de :</a:t>
            </a:r>
            <a:endParaRPr lang="fr-FR" sz="2000" kern="150" dirty="0">
              <a:effectLst/>
              <a:latin typeface="Amasis MT Pro Medium" panose="02040604050005020304" pitchFamily="18" charset="0"/>
              <a:ea typeface="Times New Roman" panose="02020603050405020304" pitchFamily="18" charset="0"/>
            </a:endParaRPr>
          </a:p>
          <a:p>
            <a:pPr marL="544195" marR="6985" indent="-5715" algn="l">
              <a:lnSpc>
                <a:spcPct val="106000"/>
              </a:lnSpc>
              <a:spcAft>
                <a:spcPts val="685"/>
              </a:spcAft>
              <a:buNone/>
            </a:pPr>
            <a:r>
              <a:rPr lang="fr-FR" b="1" kern="150" dirty="0">
                <a:effectLst/>
                <a:latin typeface="Amasis MT Pro Medium" panose="02040604050005020304" pitchFamily="18" charset="0"/>
                <a:ea typeface="Times New Roman" panose="02020603050405020304" pitchFamily="18" charset="0"/>
              </a:rPr>
              <a:t>1️</a:t>
            </a:r>
            <a:r>
              <a:rPr lang="fr-FR" b="1" kern="150" dirty="0">
                <a:effectLst/>
                <a:latin typeface="Amasis MT Pro Medium" panose="02040604050005020304" pitchFamily="18" charset="0"/>
                <a:ea typeface="Times New Roman" panose="02020603050405020304" pitchFamily="18" charset="0"/>
                <a:cs typeface="Segoe UI Symbol" panose="020B0502040204020203" pitchFamily="34" charset="0"/>
              </a:rPr>
              <a:t>⃣</a:t>
            </a:r>
            <a:r>
              <a:rPr lang="fr-FR" b="1" kern="150" dirty="0">
                <a:effectLst/>
                <a:latin typeface="Amasis MT Pro Medium" panose="02040604050005020304" pitchFamily="18" charset="0"/>
                <a:ea typeface="Times New Roman" panose="02020603050405020304" pitchFamily="18" charset="0"/>
              </a:rPr>
              <a:t> Fichier views.py — Le cœur du </a:t>
            </a:r>
            <a:r>
              <a:rPr lang="fr-FR" b="1" kern="150" dirty="0" err="1">
                <a:effectLst/>
                <a:latin typeface="Amasis MT Pro Medium" panose="02040604050005020304" pitchFamily="18" charset="0"/>
                <a:ea typeface="Times New Roman" panose="02020603050405020304" pitchFamily="18" charset="0"/>
              </a:rPr>
              <a:t>back-end</a:t>
            </a:r>
            <a:endParaRPr lang="fr-FR" sz="2000" kern="150" dirty="0">
              <a:effectLst/>
              <a:latin typeface="Amasis MT Pro Medium" panose="02040604050005020304" pitchFamily="18" charset="0"/>
              <a:ea typeface="Times New Roman" panose="02020603050405020304" pitchFamily="18" charset="0"/>
            </a:endParaRPr>
          </a:p>
          <a:p>
            <a:pPr marL="544195" marR="6985" indent="-5715" algn="l">
              <a:lnSpc>
                <a:spcPct val="106000"/>
              </a:lnSpc>
              <a:spcAft>
                <a:spcPts val="685"/>
              </a:spcAft>
              <a:buNone/>
            </a:pPr>
            <a:r>
              <a:rPr lang="fr-FR" kern="150" dirty="0">
                <a:effectLst/>
                <a:latin typeface="Amasis MT Pro Medium" panose="02040604050005020304" pitchFamily="18" charset="0"/>
                <a:ea typeface="Times New Roman" panose="02020603050405020304" pitchFamily="18" charset="0"/>
              </a:rPr>
              <a:t>Ce fichier contient :</a:t>
            </a:r>
            <a:endParaRPr lang="fr-FR" sz="2000" kern="150" dirty="0">
              <a:effectLst/>
              <a:latin typeface="Amasis MT Pro Medium" panose="02040604050005020304" pitchFamily="18" charset="0"/>
              <a:ea typeface="Times New Roman" panose="02020603050405020304" pitchFamily="18" charset="0"/>
            </a:endParaRPr>
          </a:p>
          <a:p>
            <a:pPr marL="342900" marR="6985" lvl="0" indent="-342900" algn="l">
              <a:lnSpc>
                <a:spcPct val="106000"/>
              </a:lnSpc>
              <a:spcAft>
                <a:spcPts val="685"/>
              </a:spcAft>
              <a:buSzPts val="1000"/>
              <a:buFont typeface="Symbol" panose="05050102010706020507" pitchFamily="18" charset="2"/>
              <a:buChar char=""/>
              <a:tabLst>
                <a:tab pos="457200" algn="l"/>
              </a:tabLst>
            </a:pPr>
            <a:r>
              <a:rPr lang="fr-FR" kern="150" dirty="0">
                <a:effectLst/>
                <a:latin typeface="Amasis MT Pro Medium" panose="02040604050005020304" pitchFamily="18" charset="0"/>
                <a:ea typeface="Times New Roman" panose="02020603050405020304" pitchFamily="18" charset="0"/>
              </a:rPr>
              <a:t>les pages HTML à afficher</a:t>
            </a:r>
            <a:endParaRPr lang="fr-FR" sz="2000" kern="150" dirty="0">
              <a:effectLst/>
              <a:latin typeface="Amasis MT Pro Medium" panose="02040604050005020304" pitchFamily="18" charset="0"/>
              <a:ea typeface="Times New Roman" panose="02020603050405020304" pitchFamily="18" charset="0"/>
            </a:endParaRPr>
          </a:p>
          <a:p>
            <a:pPr marL="342900" marR="6985" lvl="0" indent="-342900" algn="l">
              <a:lnSpc>
                <a:spcPct val="106000"/>
              </a:lnSpc>
              <a:spcAft>
                <a:spcPts val="685"/>
              </a:spcAft>
              <a:buSzPts val="1000"/>
              <a:buFont typeface="Symbol" panose="05050102010706020507" pitchFamily="18" charset="2"/>
              <a:buChar char=""/>
              <a:tabLst>
                <a:tab pos="457200" algn="l"/>
              </a:tabLst>
            </a:pPr>
            <a:r>
              <a:rPr lang="fr-FR" kern="150" dirty="0">
                <a:effectLst/>
                <a:latin typeface="Amasis MT Pro Medium" panose="02040604050005020304" pitchFamily="18" charset="0"/>
                <a:ea typeface="Times New Roman" panose="02020603050405020304" pitchFamily="18" charset="0"/>
              </a:rPr>
              <a:t>les APIs REST appelées par le front</a:t>
            </a:r>
            <a:endParaRPr lang="fr-FR" sz="2000" kern="150" dirty="0">
              <a:effectLst/>
              <a:latin typeface="Amasis MT Pro Medium" panose="02040604050005020304" pitchFamily="18" charset="0"/>
              <a:ea typeface="Times New Roman" panose="02020603050405020304" pitchFamily="18" charset="0"/>
            </a:endParaRPr>
          </a:p>
          <a:p>
            <a:pPr marL="342900" marR="6985" lvl="0" indent="-342900" algn="l">
              <a:lnSpc>
                <a:spcPct val="106000"/>
              </a:lnSpc>
              <a:spcAft>
                <a:spcPts val="685"/>
              </a:spcAft>
              <a:buSzPts val="1000"/>
              <a:buFont typeface="Symbol" panose="05050102010706020507" pitchFamily="18" charset="2"/>
              <a:buChar char=""/>
              <a:tabLst>
                <a:tab pos="457200" algn="l"/>
              </a:tabLst>
            </a:pPr>
            <a:r>
              <a:rPr lang="fr-FR" kern="150" dirty="0">
                <a:effectLst/>
                <a:latin typeface="Amasis MT Pro Medium" panose="02040604050005020304" pitchFamily="18" charset="0"/>
                <a:ea typeface="Times New Roman" panose="02020603050405020304" pitchFamily="18" charset="0"/>
              </a:rPr>
              <a:t>les fonctions internes qui analysent le système</a:t>
            </a:r>
            <a:endParaRPr lang="fr-FR" sz="2000" kern="150" dirty="0">
              <a:effectLst/>
              <a:latin typeface="Amasis MT Pro Medium" panose="02040604050005020304" pitchFamily="18" charset="0"/>
              <a:ea typeface="Times New Roman" panose="02020603050405020304" pitchFamily="18" charset="0"/>
            </a:endParaRPr>
          </a:p>
          <a:p>
            <a:pPr marL="544195" marR="6985" indent="-5715" algn="l">
              <a:lnSpc>
                <a:spcPct val="106000"/>
              </a:lnSpc>
              <a:spcAft>
                <a:spcPts val="685"/>
              </a:spcAft>
              <a:buNone/>
            </a:pPr>
            <a:r>
              <a:rPr lang="fr-FR" kern="150" dirty="0">
                <a:effectLst/>
                <a:latin typeface="Amasis MT Pro Medium" panose="02040604050005020304" pitchFamily="18" charset="0"/>
                <a:ea typeface="Times New Roman" panose="02020603050405020304" pitchFamily="18" charset="0"/>
              </a:rPr>
              <a:t>Il contient 5 blocs fonctionnels :</a:t>
            </a:r>
            <a:endParaRPr lang="fr-FR" sz="2000" kern="150" dirty="0">
              <a:effectLst/>
              <a:latin typeface="Amasis MT Pro Medium" panose="02040604050005020304" pitchFamily="18" charset="0"/>
              <a:ea typeface="Times New Roman" panose="02020603050405020304" pitchFamily="18" charset="0"/>
            </a:endParaRPr>
          </a:p>
          <a:p>
            <a:pPr marL="176530" marR="6985" indent="-5715" algn="ctr">
              <a:lnSpc>
                <a:spcPct val="151000"/>
              </a:lnSpc>
              <a:spcAft>
                <a:spcPts val="660"/>
              </a:spcAft>
              <a:buNone/>
            </a:pPr>
            <a:br>
              <a:rPr lang="fr-FR" sz="1800" kern="150" dirty="0">
                <a:solidFill>
                  <a:srgbClr val="0070C0"/>
                </a:solidFill>
                <a:effectLst/>
                <a:latin typeface="Times New Roman" panose="02020603050405020304" pitchFamily="18" charset="0"/>
                <a:ea typeface="Times New Roman" panose="02020603050405020304" pitchFamily="18" charset="0"/>
              </a:rPr>
            </a:br>
            <a:endParaRPr lang="fr-FR" sz="2000" kern="15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7272639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3A863-0DC5-3034-1480-41BD530CDCB2}"/>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8E971FBE-9C7D-FBD4-1CCC-85E8D281BB6C}"/>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7</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5FDB8315-9E81-84D7-F6D2-8BECE955DF44}"/>
              </a:ext>
            </a:extLst>
          </p:cNvPr>
          <p:cNvSpPr/>
          <p:nvPr/>
        </p:nvSpPr>
        <p:spPr>
          <a:xfrm>
            <a:off x="11491415" y="6332662"/>
            <a:ext cx="636513" cy="47546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10</a:t>
            </a:r>
            <a:endParaRPr lang="en-US" dirty="0">
              <a:latin typeface="Amasis MT Pro Medium" panose="02040604050005020304" pitchFamily="18" charset="0"/>
            </a:endParaRPr>
          </a:p>
        </p:txBody>
      </p:sp>
      <p:sp>
        <p:nvSpPr>
          <p:cNvPr id="8" name="ZoneTexte 7">
            <a:extLst>
              <a:ext uri="{FF2B5EF4-FFF2-40B4-BE49-F238E27FC236}">
                <a16:creationId xmlns:a16="http://schemas.microsoft.com/office/drawing/2014/main" id="{C397A972-8175-F3AD-8E51-8E6B88F8C3C2}"/>
              </a:ext>
            </a:extLst>
          </p:cNvPr>
          <p:cNvSpPr txBox="1"/>
          <p:nvPr/>
        </p:nvSpPr>
        <p:spPr>
          <a:xfrm>
            <a:off x="1008321" y="402772"/>
            <a:ext cx="10801350" cy="7136697"/>
          </a:xfrm>
          <a:prstGeom prst="rect">
            <a:avLst/>
          </a:prstGeom>
          <a:noFill/>
        </p:spPr>
        <p:txBody>
          <a:bodyPr wrap="square">
            <a:spAutoFit/>
          </a:bodyPr>
          <a:lstStyle/>
          <a:p>
            <a:pPr marL="544195" marR="6985" indent="-5715" algn="just">
              <a:lnSpc>
                <a:spcPct val="151000"/>
              </a:lnSpc>
              <a:spcAft>
                <a:spcPts val="685"/>
              </a:spcAft>
              <a:buNone/>
            </a:pPr>
            <a:endParaRPr lang="fr-FR" sz="1800" kern="150" dirty="0">
              <a:solidFill>
                <a:srgbClr val="0070C0"/>
              </a:solidFill>
              <a:effectLst/>
              <a:latin typeface="Times New Roman" panose="02020603050405020304" pitchFamily="18" charset="0"/>
              <a:ea typeface="Times New Roman" panose="02020603050405020304" pitchFamily="18" charset="0"/>
            </a:endParaRPr>
          </a:p>
          <a:p>
            <a:pPr marL="544195" marR="6985" indent="-5715" algn="just">
              <a:lnSpc>
                <a:spcPct val="151000"/>
              </a:lnSpc>
              <a:spcAft>
                <a:spcPts val="685"/>
              </a:spcAft>
              <a:buNone/>
            </a:pPr>
            <a:endParaRPr lang="fr-FR" sz="1800" kern="150" dirty="0">
              <a:solidFill>
                <a:srgbClr val="0070C0"/>
              </a:solidFill>
              <a:effectLst/>
              <a:latin typeface="Times New Roman" panose="02020603050405020304" pitchFamily="18" charset="0"/>
              <a:ea typeface="Times New Roman" panose="02020603050405020304" pitchFamily="18" charset="0"/>
            </a:endParaRPr>
          </a:p>
          <a:p>
            <a:r>
              <a:rPr lang="fr-FR" sz="2000" b="1" dirty="0">
                <a:latin typeface="Amasis MT Pro Medium" panose="02040604050005020304" pitchFamily="18" charset="0"/>
              </a:rPr>
              <a:t>A) Gestion des pages HTML</a:t>
            </a:r>
            <a:endParaRPr lang="fr-FR" sz="2000" dirty="0">
              <a:latin typeface="Amasis MT Pro Medium" panose="02040604050005020304" pitchFamily="18" charset="0"/>
            </a:endParaRPr>
          </a:p>
          <a:p>
            <a:r>
              <a:rPr lang="fr-FR" sz="2000" dirty="0">
                <a:latin typeface="Amasis MT Pro Medium" panose="02040604050005020304" pitchFamily="18" charset="0"/>
              </a:rPr>
              <a:t>Fonctions :</a:t>
            </a:r>
          </a:p>
          <a:p>
            <a:pPr lvl="0"/>
            <a:r>
              <a:rPr lang="fr-FR" sz="2000" dirty="0">
                <a:latin typeface="Amasis MT Pro Medium" panose="02040604050005020304" pitchFamily="18" charset="0"/>
              </a:rPr>
              <a:t>index() → page d'accueil</a:t>
            </a:r>
          </a:p>
          <a:p>
            <a:pPr lvl="0"/>
            <a:r>
              <a:rPr lang="fr-FR" sz="2000" dirty="0">
                <a:latin typeface="Amasis MT Pro Medium" panose="02040604050005020304" pitchFamily="18" charset="0"/>
              </a:rPr>
              <a:t>login() → page de connexion</a:t>
            </a:r>
          </a:p>
          <a:p>
            <a:pPr lvl="0"/>
            <a:r>
              <a:rPr lang="fr-FR" sz="2000" dirty="0">
                <a:latin typeface="Amasis MT Pro Medium" panose="02040604050005020304" pitchFamily="18" charset="0"/>
              </a:rPr>
              <a:t>home() → page qui liste les disques</a:t>
            </a:r>
          </a:p>
          <a:p>
            <a:r>
              <a:rPr lang="fr-FR" sz="2000" dirty="0">
                <a:latin typeface="Amasis MT Pro Medium" panose="02040604050005020304" pitchFamily="18" charset="0"/>
              </a:rPr>
              <a:t>Lorsque Django reçoit /home/ :</a:t>
            </a:r>
          </a:p>
          <a:p>
            <a:pPr lvl="0"/>
            <a:r>
              <a:rPr lang="fr-FR" sz="2000" dirty="0" err="1">
                <a:latin typeface="Amasis MT Pro Medium" panose="02040604050005020304" pitchFamily="18" charset="0"/>
              </a:rPr>
              <a:t>views.home</a:t>
            </a:r>
            <a:r>
              <a:rPr lang="fr-FR" sz="2000" dirty="0">
                <a:latin typeface="Amasis MT Pro Medium" panose="02040604050005020304" pitchFamily="18" charset="0"/>
              </a:rPr>
              <a:t>() s’exécute :</a:t>
            </a:r>
          </a:p>
          <a:p>
            <a:pPr lvl="0"/>
            <a:r>
              <a:rPr lang="fr-FR" sz="2000" dirty="0">
                <a:latin typeface="Amasis MT Pro Medium" panose="02040604050005020304" pitchFamily="18" charset="0"/>
              </a:rPr>
              <a:t>il appelle </a:t>
            </a:r>
            <a:r>
              <a:rPr lang="fr-FR" sz="2000" dirty="0" err="1">
                <a:latin typeface="Amasis MT Pro Medium" panose="02040604050005020304" pitchFamily="18" charset="0"/>
              </a:rPr>
              <a:t>lsblk</a:t>
            </a:r>
            <a:r>
              <a:rPr lang="fr-FR" sz="2000" dirty="0">
                <a:latin typeface="Amasis MT Pro Medium" panose="02040604050005020304" pitchFamily="18" charset="0"/>
              </a:rPr>
              <a:t> -J</a:t>
            </a:r>
          </a:p>
          <a:p>
            <a:pPr lvl="0"/>
            <a:r>
              <a:rPr lang="fr-FR" sz="2000" dirty="0">
                <a:latin typeface="Amasis MT Pro Medium" panose="02040604050005020304" pitchFamily="18" charset="0"/>
              </a:rPr>
              <a:t>parse la sortie JSON (</a:t>
            </a:r>
            <a:r>
              <a:rPr lang="fr-FR" sz="2000" dirty="0"/>
              <a:t>C’est un </a:t>
            </a:r>
            <a:r>
              <a:rPr lang="fr-FR" sz="2000" b="1" dirty="0"/>
              <a:t>format de données</a:t>
            </a:r>
            <a:r>
              <a:rPr lang="fr-FR" sz="2000" dirty="0"/>
              <a:t> très utilisé pour échanger des informations entre un </a:t>
            </a:r>
            <a:r>
              <a:rPr lang="fr-FR" sz="2000" dirty="0" err="1"/>
              <a:t>front-end</a:t>
            </a:r>
            <a:r>
              <a:rPr lang="fr-FR" sz="2000" dirty="0"/>
              <a:t> et un </a:t>
            </a:r>
            <a:r>
              <a:rPr lang="fr-FR" sz="2000" dirty="0" err="1"/>
              <a:t>back-end</a:t>
            </a:r>
            <a:r>
              <a:rPr lang="fr-FR" sz="2000" dirty="0"/>
              <a:t>)</a:t>
            </a:r>
            <a:endParaRPr lang="fr-FR" sz="2000" dirty="0">
              <a:latin typeface="Amasis MT Pro Medium" panose="02040604050005020304" pitchFamily="18" charset="0"/>
            </a:endParaRPr>
          </a:p>
          <a:p>
            <a:pPr lvl="0"/>
            <a:r>
              <a:rPr lang="fr-FR" sz="2000" dirty="0">
                <a:latin typeface="Amasis MT Pro Medium" panose="02040604050005020304" pitchFamily="18" charset="0"/>
              </a:rPr>
              <a:t>extrait/liste les disques : nom, taille, partitions</a:t>
            </a:r>
          </a:p>
          <a:p>
            <a:pPr lvl="0"/>
            <a:r>
              <a:rPr lang="fr-FR" sz="2000" dirty="0">
                <a:latin typeface="Amasis MT Pro Medium" panose="02040604050005020304" pitchFamily="18" charset="0"/>
              </a:rPr>
              <a:t>transmet tout au </a:t>
            </a:r>
            <a:r>
              <a:rPr lang="fr-FR" sz="2000" b="1" dirty="0" err="1">
                <a:latin typeface="Amasis MT Pro Medium" panose="02040604050005020304" pitchFamily="18" charset="0"/>
              </a:rPr>
              <a:t>template</a:t>
            </a:r>
            <a:r>
              <a:rPr lang="fr-FR" sz="2000" b="1" dirty="0">
                <a:latin typeface="Amasis MT Pro Medium" panose="02040604050005020304" pitchFamily="18" charset="0"/>
              </a:rPr>
              <a:t> home.html</a:t>
            </a:r>
            <a:endParaRPr lang="fr-FR" sz="2000" dirty="0">
              <a:latin typeface="Amasis MT Pro Medium" panose="02040604050005020304" pitchFamily="18" charset="0"/>
            </a:endParaRPr>
          </a:p>
          <a:p>
            <a:r>
              <a:rPr lang="fr-FR" sz="2000" dirty="0">
                <a:latin typeface="Amasis MT Pro Medium" panose="02040604050005020304" pitchFamily="18" charset="0"/>
              </a:rPr>
              <a:t>Ainsi, le HTML sait quels disques afficher.</a:t>
            </a:r>
          </a:p>
          <a:p>
            <a:br>
              <a:rPr lang="fr-FR" sz="2000" dirty="0">
                <a:latin typeface="Amasis MT Pro Medium" panose="02040604050005020304" pitchFamily="18" charset="0"/>
              </a:rPr>
            </a:br>
            <a:endParaRPr lang="fr-FR" sz="2000" dirty="0">
              <a:latin typeface="Amasis MT Pro Medium" panose="02040604050005020304" pitchFamily="18" charset="0"/>
            </a:endParaRPr>
          </a:p>
          <a:p>
            <a:r>
              <a:rPr lang="fr-FR" sz="2000" b="1" dirty="0">
                <a:latin typeface="Amasis MT Pro Medium" panose="02040604050005020304" pitchFamily="18" charset="0"/>
              </a:rPr>
              <a:t>B) Gestion du statut de monitoring</a:t>
            </a:r>
            <a:endParaRPr lang="fr-FR" sz="2000" dirty="0">
              <a:latin typeface="Amasis MT Pro Medium" panose="02040604050005020304" pitchFamily="18" charset="0"/>
            </a:endParaRPr>
          </a:p>
          <a:p>
            <a:r>
              <a:rPr lang="fr-FR" sz="2000" dirty="0">
                <a:latin typeface="Amasis MT Pro Medium" panose="02040604050005020304" pitchFamily="18" charset="0"/>
              </a:rPr>
              <a:t>3 dictionnaires en mémoire :</a:t>
            </a:r>
          </a:p>
          <a:p>
            <a:pPr marL="176530" marR="6985" indent="-5715" algn="ctr">
              <a:lnSpc>
                <a:spcPct val="151000"/>
              </a:lnSpc>
              <a:spcAft>
                <a:spcPts val="660"/>
              </a:spcAft>
              <a:buNone/>
            </a:pPr>
            <a:br>
              <a:rPr lang="fr-FR" sz="1800" kern="150" dirty="0">
                <a:solidFill>
                  <a:srgbClr val="0070C0"/>
                </a:solidFill>
                <a:effectLst/>
                <a:latin typeface="Times New Roman" panose="02020603050405020304" pitchFamily="18" charset="0"/>
                <a:ea typeface="Times New Roman" panose="02020603050405020304" pitchFamily="18" charset="0"/>
              </a:rPr>
            </a:br>
            <a:endParaRPr lang="fr-FR" sz="2000" kern="150" dirty="0">
              <a:solidFill>
                <a:srgbClr val="000000"/>
              </a:solidFill>
              <a:effectLst/>
              <a:latin typeface="Times New Roman" panose="02020603050405020304" pitchFamily="18" charset="0"/>
              <a:ea typeface="Times New Roman" panose="02020603050405020304" pitchFamily="18" charset="0"/>
            </a:endParaRPr>
          </a:p>
        </p:txBody>
      </p:sp>
      <p:sp>
        <p:nvSpPr>
          <p:cNvPr id="4" name="Rectangle: Rounded Corners 1">
            <a:extLst>
              <a:ext uri="{FF2B5EF4-FFF2-40B4-BE49-F238E27FC236}">
                <a16:creationId xmlns:a16="http://schemas.microsoft.com/office/drawing/2014/main" id="{DAD7B4A5-6231-0796-15A2-787631A2C1C0}"/>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FONCTIONNEMENT</a:t>
            </a:r>
            <a:endParaRPr lang="en-US" dirty="0">
              <a:latin typeface="Rockwell" panose="02060603020205020403" pitchFamily="18" charset="0"/>
            </a:endParaRPr>
          </a:p>
        </p:txBody>
      </p:sp>
    </p:spTree>
    <p:extLst>
      <p:ext uri="{BB962C8B-B14F-4D97-AF65-F5344CB8AC3E}">
        <p14:creationId xmlns:p14="http://schemas.microsoft.com/office/powerpoint/2010/main" val="11420375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5CEE8-429C-0FF2-8C7D-3FFCD43F47E3}"/>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1A302BD6-AD99-24A8-4028-F281E53662DD}"/>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7</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6D4E16C1-95C2-FAF7-8228-13576957B7B9}"/>
              </a:ext>
            </a:extLst>
          </p:cNvPr>
          <p:cNvSpPr/>
          <p:nvPr/>
        </p:nvSpPr>
        <p:spPr>
          <a:xfrm>
            <a:off x="11491415" y="6332662"/>
            <a:ext cx="636513" cy="47546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10</a:t>
            </a:r>
            <a:endParaRPr lang="en-US" dirty="0">
              <a:latin typeface="Amasis MT Pro Medium" panose="02040604050005020304" pitchFamily="18" charset="0"/>
            </a:endParaRPr>
          </a:p>
        </p:txBody>
      </p:sp>
      <p:sp>
        <p:nvSpPr>
          <p:cNvPr id="8" name="ZoneTexte 7">
            <a:extLst>
              <a:ext uri="{FF2B5EF4-FFF2-40B4-BE49-F238E27FC236}">
                <a16:creationId xmlns:a16="http://schemas.microsoft.com/office/drawing/2014/main" id="{C607984B-36C4-37BC-1894-604E6D84F4EF}"/>
              </a:ext>
            </a:extLst>
          </p:cNvPr>
          <p:cNvSpPr txBox="1"/>
          <p:nvPr/>
        </p:nvSpPr>
        <p:spPr>
          <a:xfrm>
            <a:off x="1008321" y="204108"/>
            <a:ext cx="10801350" cy="7521226"/>
          </a:xfrm>
          <a:prstGeom prst="rect">
            <a:avLst/>
          </a:prstGeom>
          <a:noFill/>
        </p:spPr>
        <p:txBody>
          <a:bodyPr wrap="square">
            <a:spAutoFit/>
          </a:bodyPr>
          <a:lstStyle/>
          <a:p>
            <a:pPr marL="544195" marR="6985" indent="-5715" algn="just">
              <a:lnSpc>
                <a:spcPct val="151000"/>
              </a:lnSpc>
              <a:spcAft>
                <a:spcPts val="685"/>
              </a:spcAft>
              <a:buNone/>
            </a:pPr>
            <a:endParaRPr lang="fr-FR" sz="1800" kern="150" dirty="0">
              <a:solidFill>
                <a:srgbClr val="0070C0"/>
              </a:solidFill>
              <a:effectLst/>
              <a:latin typeface="Times New Roman" panose="02020603050405020304" pitchFamily="18" charset="0"/>
              <a:ea typeface="Times New Roman" panose="02020603050405020304" pitchFamily="18" charset="0"/>
            </a:endParaRPr>
          </a:p>
          <a:p>
            <a:r>
              <a:rPr lang="fr-FR" dirty="0" err="1">
                <a:latin typeface="Amasis MT Pro Medium" panose="02040604050005020304" pitchFamily="18" charset="0"/>
              </a:rPr>
              <a:t>monitoring_status</a:t>
            </a:r>
            <a:r>
              <a:rPr lang="fr-FR" dirty="0">
                <a:latin typeface="Amasis MT Pro Medium" panose="02040604050005020304" pitchFamily="18" charset="0"/>
              </a:rPr>
              <a:t> = {}             # disque → </a:t>
            </a:r>
            <a:r>
              <a:rPr lang="fr-FR" dirty="0" err="1">
                <a:latin typeface="Amasis MT Pro Medium" panose="02040604050005020304" pitchFamily="18" charset="0"/>
              </a:rPr>
              <a:t>True</a:t>
            </a:r>
            <a:r>
              <a:rPr lang="fr-FR" dirty="0">
                <a:latin typeface="Amasis MT Pro Medium" panose="02040604050005020304" pitchFamily="18" charset="0"/>
              </a:rPr>
              <a:t> / False</a:t>
            </a:r>
            <a:br>
              <a:rPr lang="fr-FR" dirty="0">
                <a:latin typeface="Amasis MT Pro Medium" panose="02040604050005020304" pitchFamily="18" charset="0"/>
              </a:rPr>
            </a:br>
            <a:r>
              <a:rPr lang="fr-FR" dirty="0" err="1">
                <a:latin typeface="Amasis MT Pro Medium" panose="02040604050005020304" pitchFamily="18" charset="0"/>
              </a:rPr>
              <a:t>disk_last_counters</a:t>
            </a:r>
            <a:r>
              <a:rPr lang="fr-FR" dirty="0">
                <a:latin typeface="Amasis MT Pro Medium" panose="02040604050005020304" pitchFamily="18" charset="0"/>
              </a:rPr>
              <a:t> = {}            # for stats</a:t>
            </a:r>
            <a:br>
              <a:rPr lang="fr-FR" dirty="0">
                <a:latin typeface="Amasis MT Pro Medium" panose="02040604050005020304" pitchFamily="18" charset="0"/>
              </a:rPr>
            </a:br>
            <a:r>
              <a:rPr lang="fr-FR" dirty="0" err="1">
                <a:latin typeface="Amasis MT Pro Medium" panose="02040604050005020304" pitchFamily="18" charset="0"/>
              </a:rPr>
              <a:t>disk_file_snapshots</a:t>
            </a:r>
            <a:r>
              <a:rPr lang="fr-FR" dirty="0">
                <a:latin typeface="Amasis MT Pro Medium" panose="02040604050005020304" pitchFamily="18" charset="0"/>
              </a:rPr>
              <a:t> = {}           # fichiers déjà vus</a:t>
            </a:r>
          </a:p>
          <a:p>
            <a:endParaRPr lang="fr-FR" dirty="0">
              <a:latin typeface="Amasis MT Pro Medium" panose="02040604050005020304" pitchFamily="18" charset="0"/>
            </a:endParaRPr>
          </a:p>
          <a:p>
            <a:r>
              <a:rPr lang="fr-FR" dirty="0">
                <a:latin typeface="Amasis MT Pro Medium" panose="02040604050005020304" pitchFamily="18" charset="0"/>
              </a:rPr>
              <a:t>Ces éléments permettent :</a:t>
            </a:r>
          </a:p>
          <a:p>
            <a:pPr lvl="0"/>
            <a:r>
              <a:rPr lang="fr-FR" dirty="0">
                <a:latin typeface="Amasis MT Pro Medium" panose="02040604050005020304" pitchFamily="18" charset="0"/>
              </a:rPr>
              <a:t>d’activer ou désactiver le monitoring</a:t>
            </a:r>
          </a:p>
          <a:p>
            <a:pPr lvl="0"/>
            <a:r>
              <a:rPr lang="fr-FR" dirty="0">
                <a:latin typeface="Amasis MT Pro Medium" panose="02040604050005020304" pitchFamily="18" charset="0"/>
              </a:rPr>
              <a:t>de suivre l’évolution des lectures/écritures disque</a:t>
            </a:r>
          </a:p>
          <a:p>
            <a:pPr lvl="0"/>
            <a:r>
              <a:rPr lang="fr-FR" dirty="0">
                <a:latin typeface="Amasis MT Pro Medium" panose="02040604050005020304" pitchFamily="18" charset="0"/>
              </a:rPr>
              <a:t>d’éviter de renvoyer plusieurs fois les mêmes fichiers</a:t>
            </a:r>
          </a:p>
          <a:p>
            <a:endParaRPr lang="fr-FR" dirty="0">
              <a:latin typeface="Amasis MT Pro Medium" panose="02040604050005020304" pitchFamily="18" charset="0"/>
            </a:endParaRPr>
          </a:p>
          <a:p>
            <a:r>
              <a:rPr lang="fr-FR" b="1" dirty="0">
                <a:latin typeface="Amasis MT Pro Medium" panose="02040604050005020304" pitchFamily="18" charset="0"/>
              </a:rPr>
              <a:t>C) Démarrer / arrêter le monitoring</a:t>
            </a:r>
            <a:endParaRPr lang="fr-FR" dirty="0">
              <a:latin typeface="Amasis MT Pro Medium" panose="02040604050005020304" pitchFamily="18" charset="0"/>
            </a:endParaRPr>
          </a:p>
          <a:p>
            <a:r>
              <a:rPr lang="fr-FR" b="1" dirty="0">
                <a:latin typeface="Amasis MT Pro Medium" panose="02040604050005020304" pitchFamily="18" charset="0"/>
              </a:rPr>
              <a:t>Start : /</a:t>
            </a:r>
            <a:r>
              <a:rPr lang="fr-FR" b="1" dirty="0" err="1">
                <a:latin typeface="Amasis MT Pro Medium" panose="02040604050005020304" pitchFamily="18" charset="0"/>
              </a:rPr>
              <a:t>disk</a:t>
            </a:r>
            <a:r>
              <a:rPr lang="fr-FR" b="1" dirty="0">
                <a:latin typeface="Amasis MT Pro Medium" panose="02040604050005020304" pitchFamily="18" charset="0"/>
              </a:rPr>
              <a:t>/start/</a:t>
            </a:r>
            <a:r>
              <a:rPr lang="fr-FR" b="1" dirty="0" err="1">
                <a:latin typeface="Amasis MT Pro Medium" panose="02040604050005020304" pitchFamily="18" charset="0"/>
              </a:rPr>
              <a:t>sda</a:t>
            </a:r>
            <a:endParaRPr lang="fr-FR" dirty="0">
              <a:latin typeface="Amasis MT Pro Medium" panose="02040604050005020304" pitchFamily="18" charset="0"/>
            </a:endParaRPr>
          </a:p>
          <a:p>
            <a:r>
              <a:rPr lang="fr-FR" dirty="0">
                <a:latin typeface="Amasis MT Pro Medium" panose="02040604050005020304" pitchFamily="18" charset="0"/>
              </a:rPr>
              <a:t>Le front envoie un GET :</a:t>
            </a:r>
          </a:p>
          <a:p>
            <a:pPr lvl="0"/>
            <a:r>
              <a:rPr lang="fr-FR" dirty="0">
                <a:latin typeface="Amasis MT Pro Medium" panose="02040604050005020304" pitchFamily="18" charset="0"/>
              </a:rPr>
              <a:t>le serveur récupère les points de montage</a:t>
            </a:r>
          </a:p>
          <a:p>
            <a:pPr lvl="0"/>
            <a:r>
              <a:rPr lang="fr-FR" dirty="0">
                <a:latin typeface="Amasis MT Pro Medium" panose="02040604050005020304" pitchFamily="18" charset="0"/>
              </a:rPr>
              <a:t>initialise les structures de surveillance :</a:t>
            </a:r>
          </a:p>
          <a:p>
            <a:r>
              <a:rPr lang="fr-FR" dirty="0" err="1">
                <a:latin typeface="Amasis MT Pro Medium" panose="02040604050005020304" pitchFamily="18" charset="0"/>
              </a:rPr>
              <a:t>monitoring_status</a:t>
            </a:r>
            <a:r>
              <a:rPr lang="fr-FR" dirty="0">
                <a:latin typeface="Amasis MT Pro Medium" panose="02040604050005020304" pitchFamily="18" charset="0"/>
              </a:rPr>
              <a:t>["</a:t>
            </a:r>
            <a:r>
              <a:rPr lang="fr-FR" dirty="0" err="1">
                <a:latin typeface="Amasis MT Pro Medium" panose="02040604050005020304" pitchFamily="18" charset="0"/>
              </a:rPr>
              <a:t>sda</a:t>
            </a:r>
            <a:r>
              <a:rPr lang="fr-FR" dirty="0">
                <a:latin typeface="Amasis MT Pro Medium" panose="02040604050005020304" pitchFamily="18" charset="0"/>
              </a:rPr>
              <a:t>"] = </a:t>
            </a:r>
            <a:r>
              <a:rPr lang="fr-FR" dirty="0" err="1">
                <a:latin typeface="Amasis MT Pro Medium" panose="02040604050005020304" pitchFamily="18" charset="0"/>
              </a:rPr>
              <a:t>True</a:t>
            </a:r>
            <a:br>
              <a:rPr lang="fr-FR" dirty="0">
                <a:latin typeface="Amasis MT Pro Medium" panose="02040604050005020304" pitchFamily="18" charset="0"/>
              </a:rPr>
            </a:br>
            <a:r>
              <a:rPr lang="fr-FR" dirty="0" err="1">
                <a:latin typeface="Amasis MT Pro Medium" panose="02040604050005020304" pitchFamily="18" charset="0"/>
              </a:rPr>
              <a:t>disk_file_snapshots</a:t>
            </a:r>
            <a:r>
              <a:rPr lang="fr-FR" dirty="0">
                <a:latin typeface="Amasis MT Pro Medium" panose="02040604050005020304" pitchFamily="18" charset="0"/>
              </a:rPr>
              <a:t>["</a:t>
            </a:r>
            <a:r>
              <a:rPr lang="fr-FR" dirty="0" err="1">
                <a:latin typeface="Amasis MT Pro Medium" panose="02040604050005020304" pitchFamily="18" charset="0"/>
              </a:rPr>
              <a:t>sda</a:t>
            </a:r>
            <a:r>
              <a:rPr lang="fr-FR" dirty="0">
                <a:latin typeface="Amasis MT Pro Medium" panose="02040604050005020304" pitchFamily="18" charset="0"/>
              </a:rPr>
              <a:t>"] = set()</a:t>
            </a:r>
          </a:p>
          <a:p>
            <a:pPr lvl="0"/>
            <a:r>
              <a:rPr lang="fr-FR" dirty="0">
                <a:latin typeface="Amasis MT Pro Medium" panose="02040604050005020304" pitchFamily="18" charset="0"/>
              </a:rPr>
              <a:t>renvoie “OK”</a:t>
            </a:r>
          </a:p>
          <a:p>
            <a:r>
              <a:rPr lang="fr-FR" b="1" dirty="0">
                <a:latin typeface="Amasis MT Pro Medium" panose="02040604050005020304" pitchFamily="18" charset="0"/>
              </a:rPr>
              <a:t>Stop : /</a:t>
            </a:r>
            <a:r>
              <a:rPr lang="fr-FR" b="1" dirty="0" err="1">
                <a:latin typeface="Amasis MT Pro Medium" panose="02040604050005020304" pitchFamily="18" charset="0"/>
              </a:rPr>
              <a:t>disk</a:t>
            </a:r>
            <a:r>
              <a:rPr lang="fr-FR" b="1" dirty="0">
                <a:latin typeface="Amasis MT Pro Medium" panose="02040604050005020304" pitchFamily="18" charset="0"/>
              </a:rPr>
              <a:t>/stop/</a:t>
            </a:r>
            <a:r>
              <a:rPr lang="fr-FR" b="1" dirty="0" err="1">
                <a:latin typeface="Amasis MT Pro Medium" panose="02040604050005020304" pitchFamily="18" charset="0"/>
              </a:rPr>
              <a:t>sda</a:t>
            </a:r>
            <a:endParaRPr lang="fr-FR" dirty="0">
              <a:latin typeface="Amasis MT Pro Medium" panose="02040604050005020304" pitchFamily="18" charset="0"/>
            </a:endParaRPr>
          </a:p>
          <a:p>
            <a:r>
              <a:rPr lang="fr-FR" dirty="0">
                <a:latin typeface="Amasis MT Pro Medium" panose="02040604050005020304" pitchFamily="18" charset="0"/>
              </a:rPr>
              <a:t>Le serveur met :</a:t>
            </a:r>
          </a:p>
          <a:p>
            <a:r>
              <a:rPr lang="fr-FR" dirty="0" err="1">
                <a:latin typeface="Amasis MT Pro Medium" panose="02040604050005020304" pitchFamily="18" charset="0"/>
              </a:rPr>
              <a:t>monitoring_status</a:t>
            </a:r>
            <a:r>
              <a:rPr lang="fr-FR" dirty="0">
                <a:latin typeface="Amasis MT Pro Medium" panose="02040604050005020304" pitchFamily="18" charset="0"/>
              </a:rPr>
              <a:t>["</a:t>
            </a:r>
            <a:r>
              <a:rPr lang="fr-FR" dirty="0" err="1">
                <a:latin typeface="Amasis MT Pro Medium" panose="02040604050005020304" pitchFamily="18" charset="0"/>
              </a:rPr>
              <a:t>sda</a:t>
            </a:r>
            <a:r>
              <a:rPr lang="fr-FR" dirty="0">
                <a:latin typeface="Amasis MT Pro Medium" panose="02040604050005020304" pitchFamily="18" charset="0"/>
              </a:rPr>
              <a:t>"] = False</a:t>
            </a:r>
          </a:p>
          <a:p>
            <a:r>
              <a:rPr lang="fr-FR" dirty="0">
                <a:latin typeface="Amasis MT Pro Medium" panose="02040604050005020304" pitchFamily="18" charset="0"/>
              </a:rPr>
              <a:t>→ Toutes les API renverront alors des données vides.</a:t>
            </a:r>
          </a:p>
          <a:p>
            <a:pPr marL="176530" marR="6985" indent="-5715" algn="ctr">
              <a:lnSpc>
                <a:spcPct val="151000"/>
              </a:lnSpc>
              <a:spcAft>
                <a:spcPts val="660"/>
              </a:spcAft>
              <a:buNone/>
            </a:pPr>
            <a:br>
              <a:rPr lang="fr-FR" sz="1800" kern="150" dirty="0">
                <a:solidFill>
                  <a:srgbClr val="0070C0"/>
                </a:solidFill>
                <a:effectLst/>
                <a:latin typeface="Times New Roman" panose="02020603050405020304" pitchFamily="18" charset="0"/>
                <a:ea typeface="Times New Roman" panose="02020603050405020304" pitchFamily="18" charset="0"/>
              </a:rPr>
            </a:br>
            <a:endParaRPr lang="fr-FR" sz="2000" kern="150" dirty="0">
              <a:solidFill>
                <a:srgbClr val="000000"/>
              </a:solidFill>
              <a:effectLst/>
              <a:latin typeface="Times New Roman" panose="02020603050405020304" pitchFamily="18" charset="0"/>
              <a:ea typeface="Times New Roman" panose="02020603050405020304" pitchFamily="18" charset="0"/>
            </a:endParaRPr>
          </a:p>
        </p:txBody>
      </p:sp>
      <p:sp>
        <p:nvSpPr>
          <p:cNvPr id="5" name="Rectangle: Rounded Corners 1">
            <a:extLst>
              <a:ext uri="{FF2B5EF4-FFF2-40B4-BE49-F238E27FC236}">
                <a16:creationId xmlns:a16="http://schemas.microsoft.com/office/drawing/2014/main" id="{F87AFEBF-24FD-E75F-F88B-6CA0AA10158B}"/>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FONCTIONNEMENT</a:t>
            </a:r>
            <a:endParaRPr lang="en-US" dirty="0">
              <a:latin typeface="Rockwell" panose="02060603020205020403" pitchFamily="18" charset="0"/>
            </a:endParaRPr>
          </a:p>
        </p:txBody>
      </p:sp>
    </p:spTree>
    <p:extLst>
      <p:ext uri="{BB962C8B-B14F-4D97-AF65-F5344CB8AC3E}">
        <p14:creationId xmlns:p14="http://schemas.microsoft.com/office/powerpoint/2010/main" val="28297674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E1D7C-87DC-6D0F-405B-43E444F4F9B8}"/>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A02E47F5-5709-45B9-7D5F-80A3602ACE13}"/>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7</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8C21FEA6-9F87-5BB3-73C9-3B2336D2CD44}"/>
              </a:ext>
            </a:extLst>
          </p:cNvPr>
          <p:cNvSpPr/>
          <p:nvPr/>
        </p:nvSpPr>
        <p:spPr>
          <a:xfrm>
            <a:off x="11491415" y="6332662"/>
            <a:ext cx="636513" cy="47546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10</a:t>
            </a:r>
            <a:endParaRPr lang="en-US" dirty="0">
              <a:latin typeface="Amasis MT Pro Medium" panose="02040604050005020304" pitchFamily="18" charset="0"/>
            </a:endParaRPr>
          </a:p>
        </p:txBody>
      </p:sp>
      <p:sp>
        <p:nvSpPr>
          <p:cNvPr id="8" name="ZoneTexte 7">
            <a:extLst>
              <a:ext uri="{FF2B5EF4-FFF2-40B4-BE49-F238E27FC236}">
                <a16:creationId xmlns:a16="http://schemas.microsoft.com/office/drawing/2014/main" id="{52BD405B-E776-392C-F28A-45212223957D}"/>
              </a:ext>
            </a:extLst>
          </p:cNvPr>
          <p:cNvSpPr txBox="1"/>
          <p:nvPr/>
        </p:nvSpPr>
        <p:spPr>
          <a:xfrm>
            <a:off x="1326578" y="640793"/>
            <a:ext cx="10801350" cy="6043899"/>
          </a:xfrm>
          <a:prstGeom prst="rect">
            <a:avLst/>
          </a:prstGeom>
          <a:noFill/>
        </p:spPr>
        <p:txBody>
          <a:bodyPr wrap="square">
            <a:spAutoFit/>
          </a:bodyPr>
          <a:lstStyle/>
          <a:p>
            <a:pPr marL="544195" marR="6985" indent="-5715" algn="just">
              <a:lnSpc>
                <a:spcPct val="151000"/>
              </a:lnSpc>
              <a:spcAft>
                <a:spcPts val="685"/>
              </a:spcAft>
              <a:buNone/>
            </a:pPr>
            <a:endParaRPr lang="fr-FR" sz="1800" kern="150" dirty="0">
              <a:solidFill>
                <a:srgbClr val="0070C0"/>
              </a:solidFill>
              <a:effectLst/>
              <a:latin typeface="Times New Roman" panose="02020603050405020304" pitchFamily="18" charset="0"/>
              <a:ea typeface="Times New Roman" panose="02020603050405020304" pitchFamily="18" charset="0"/>
            </a:endParaRPr>
          </a:p>
          <a:p>
            <a:pPr algn="just"/>
            <a:r>
              <a:rPr lang="fr-FR" sz="2000" b="1" dirty="0">
                <a:latin typeface="Amasis MT Pro Medium" panose="02040604050005020304" pitchFamily="18" charset="0"/>
              </a:rPr>
              <a:t>D) API I/O stats : /</a:t>
            </a:r>
            <a:r>
              <a:rPr lang="fr-FR" sz="2000" b="1" dirty="0" err="1">
                <a:latin typeface="Amasis MT Pro Medium" panose="02040604050005020304" pitchFamily="18" charset="0"/>
              </a:rPr>
              <a:t>disk</a:t>
            </a:r>
            <a:r>
              <a:rPr lang="fr-FR" sz="2000" b="1" dirty="0">
                <a:latin typeface="Amasis MT Pro Medium" panose="02040604050005020304" pitchFamily="18" charset="0"/>
              </a:rPr>
              <a:t>/stats/</a:t>
            </a:r>
            <a:r>
              <a:rPr lang="fr-FR" sz="2000" b="1" dirty="0" err="1">
                <a:latin typeface="Amasis MT Pro Medium" panose="02040604050005020304" pitchFamily="18" charset="0"/>
              </a:rPr>
              <a:t>sda</a:t>
            </a:r>
            <a:endParaRPr lang="fr-FR" sz="2000" dirty="0">
              <a:latin typeface="Amasis MT Pro Medium" panose="02040604050005020304" pitchFamily="18" charset="0"/>
            </a:endParaRPr>
          </a:p>
          <a:p>
            <a:pPr algn="just"/>
            <a:r>
              <a:rPr lang="fr-FR" sz="2000" dirty="0">
                <a:latin typeface="Amasis MT Pro Medium" panose="02040604050005020304" pitchFamily="18" charset="0"/>
              </a:rPr>
              <a:t>Utilise </a:t>
            </a:r>
            <a:r>
              <a:rPr lang="fr-FR" sz="2000" dirty="0" err="1">
                <a:latin typeface="Amasis MT Pro Medium" panose="02040604050005020304" pitchFamily="18" charset="0"/>
              </a:rPr>
              <a:t>psutil</a:t>
            </a:r>
            <a:r>
              <a:rPr lang="fr-FR" sz="2000" dirty="0">
                <a:latin typeface="Amasis MT Pro Medium" panose="02040604050005020304" pitchFamily="18" charset="0"/>
              </a:rPr>
              <a:t> :</a:t>
            </a:r>
          </a:p>
          <a:p>
            <a:pPr algn="just"/>
            <a:r>
              <a:rPr lang="fr-FR" sz="2000" dirty="0" err="1">
                <a:latin typeface="Amasis MT Pro Medium" panose="02040604050005020304" pitchFamily="18" charset="0"/>
              </a:rPr>
              <a:t>io</a:t>
            </a:r>
            <a:r>
              <a:rPr lang="fr-FR" sz="2000" dirty="0">
                <a:latin typeface="Amasis MT Pro Medium" panose="02040604050005020304" pitchFamily="18" charset="0"/>
              </a:rPr>
              <a:t> = </a:t>
            </a:r>
            <a:r>
              <a:rPr lang="fr-FR" sz="2000" dirty="0" err="1">
                <a:latin typeface="Amasis MT Pro Medium" panose="02040604050005020304" pitchFamily="18" charset="0"/>
              </a:rPr>
              <a:t>psutil.disk_io_counters</a:t>
            </a:r>
            <a:r>
              <a:rPr lang="fr-FR" sz="2000" dirty="0">
                <a:latin typeface="Amasis MT Pro Medium" panose="02040604050005020304" pitchFamily="18" charset="0"/>
              </a:rPr>
              <a:t>(</a:t>
            </a:r>
            <a:r>
              <a:rPr lang="fr-FR" sz="2000" dirty="0" err="1">
                <a:latin typeface="Amasis MT Pro Medium" panose="02040604050005020304" pitchFamily="18" charset="0"/>
              </a:rPr>
              <a:t>perdisk</a:t>
            </a:r>
            <a:r>
              <a:rPr lang="fr-FR" sz="2000" dirty="0">
                <a:latin typeface="Amasis MT Pro Medium" panose="02040604050005020304" pitchFamily="18" charset="0"/>
              </a:rPr>
              <a:t>=</a:t>
            </a:r>
            <a:r>
              <a:rPr lang="fr-FR" sz="2000" dirty="0" err="1">
                <a:latin typeface="Amasis MT Pro Medium" panose="02040604050005020304" pitchFamily="18" charset="0"/>
              </a:rPr>
              <a:t>True</a:t>
            </a:r>
            <a:r>
              <a:rPr lang="fr-FR" sz="2000" dirty="0">
                <a:latin typeface="Amasis MT Pro Medium" panose="02040604050005020304" pitchFamily="18" charset="0"/>
              </a:rPr>
              <a:t>)</a:t>
            </a:r>
          </a:p>
          <a:p>
            <a:pPr algn="just"/>
            <a:r>
              <a:rPr lang="fr-FR" sz="2000" dirty="0">
                <a:latin typeface="Amasis MT Pro Medium" panose="02040604050005020304" pitchFamily="18" charset="0"/>
              </a:rPr>
              <a:t>Pour obtenir :</a:t>
            </a:r>
          </a:p>
          <a:p>
            <a:pPr lvl="0" algn="just"/>
            <a:r>
              <a:rPr lang="fr-FR" sz="2000" dirty="0">
                <a:latin typeface="Amasis MT Pro Medium" panose="02040604050005020304" pitchFamily="18" charset="0"/>
              </a:rPr>
              <a:t>octets lus depuis le démarrage</a:t>
            </a:r>
          </a:p>
          <a:p>
            <a:pPr lvl="0" algn="just"/>
            <a:r>
              <a:rPr lang="fr-FR" sz="2000" dirty="0">
                <a:latin typeface="Amasis MT Pro Medium" panose="02040604050005020304" pitchFamily="18" charset="0"/>
              </a:rPr>
              <a:t>octets écrits depuis le démarrage</a:t>
            </a:r>
          </a:p>
          <a:p>
            <a:pPr algn="just"/>
            <a:r>
              <a:rPr lang="fr-FR" sz="2000" dirty="0">
                <a:latin typeface="Amasis MT Pro Medium" panose="02040604050005020304" pitchFamily="18" charset="0"/>
              </a:rPr>
              <a:t>Le serveur calcule :</a:t>
            </a:r>
          </a:p>
          <a:p>
            <a:pPr lvl="0" algn="just"/>
            <a:r>
              <a:rPr lang="fr-FR" sz="2000" dirty="0">
                <a:latin typeface="Amasis MT Pro Medium" panose="02040604050005020304" pitchFamily="18" charset="0"/>
              </a:rPr>
              <a:t>la différence par rapport à la dernière seconde</a:t>
            </a:r>
          </a:p>
          <a:p>
            <a:pPr lvl="0" algn="just"/>
            <a:r>
              <a:rPr lang="fr-FR" sz="2000" dirty="0">
                <a:latin typeface="Amasis MT Pro Medium" panose="02040604050005020304" pitchFamily="18" charset="0"/>
              </a:rPr>
              <a:t>convertit en KB/s</a:t>
            </a:r>
          </a:p>
          <a:p>
            <a:pPr algn="just"/>
            <a:r>
              <a:rPr lang="fr-FR" sz="2000" dirty="0">
                <a:latin typeface="Amasis MT Pro Medium" panose="02040604050005020304" pitchFamily="18" charset="0"/>
              </a:rPr>
              <a:t>Renvoie JSON :</a:t>
            </a:r>
          </a:p>
          <a:p>
            <a:pPr algn="just"/>
            <a:r>
              <a:rPr lang="fr-FR" sz="2000" dirty="0">
                <a:latin typeface="Amasis MT Pro Medium" panose="02040604050005020304" pitchFamily="18" charset="0"/>
              </a:rPr>
              <a:t>{ "</a:t>
            </a:r>
            <a:r>
              <a:rPr lang="fr-FR" sz="2000" dirty="0" err="1">
                <a:latin typeface="Amasis MT Pro Medium" panose="02040604050005020304" pitchFamily="18" charset="0"/>
              </a:rPr>
              <a:t>read_kb</a:t>
            </a:r>
            <a:r>
              <a:rPr lang="fr-FR" sz="2000" dirty="0">
                <a:latin typeface="Amasis MT Pro Medium" panose="02040604050005020304" pitchFamily="18" charset="0"/>
              </a:rPr>
              <a:t>": 123.45, "</a:t>
            </a:r>
            <a:r>
              <a:rPr lang="fr-FR" sz="2000" dirty="0" err="1">
                <a:latin typeface="Amasis MT Pro Medium" panose="02040604050005020304" pitchFamily="18" charset="0"/>
              </a:rPr>
              <a:t>write_kb</a:t>
            </a:r>
            <a:r>
              <a:rPr lang="fr-FR" sz="2000" dirty="0">
                <a:latin typeface="Amasis MT Pro Medium" panose="02040604050005020304" pitchFamily="18" charset="0"/>
              </a:rPr>
              <a:t>": 67.89 }</a:t>
            </a:r>
          </a:p>
          <a:p>
            <a:pPr algn="just"/>
            <a:br>
              <a:rPr lang="fr-FR" sz="2000" dirty="0">
                <a:latin typeface="Amasis MT Pro Medium" panose="02040604050005020304" pitchFamily="18" charset="0"/>
              </a:rPr>
            </a:br>
            <a:endParaRPr lang="fr-FR" sz="2000" dirty="0">
              <a:latin typeface="Amasis MT Pro Medium" panose="02040604050005020304" pitchFamily="18" charset="0"/>
            </a:endParaRPr>
          </a:p>
          <a:p>
            <a:pPr algn="just"/>
            <a:r>
              <a:rPr lang="fr-FR" sz="2000" b="1" dirty="0">
                <a:latin typeface="Amasis MT Pro Medium" panose="02040604050005020304" pitchFamily="18" charset="0"/>
              </a:rPr>
              <a:t>E) API Usage : /</a:t>
            </a:r>
            <a:r>
              <a:rPr lang="fr-FR" sz="2000" b="1" dirty="0" err="1">
                <a:latin typeface="Amasis MT Pro Medium" panose="02040604050005020304" pitchFamily="18" charset="0"/>
              </a:rPr>
              <a:t>disk</a:t>
            </a:r>
            <a:r>
              <a:rPr lang="fr-FR" sz="2000" b="1" dirty="0">
                <a:latin typeface="Amasis MT Pro Medium" panose="02040604050005020304" pitchFamily="18" charset="0"/>
              </a:rPr>
              <a:t>/usage/</a:t>
            </a:r>
            <a:r>
              <a:rPr lang="fr-FR" sz="2000" b="1" dirty="0" err="1">
                <a:latin typeface="Amasis MT Pro Medium" panose="02040604050005020304" pitchFamily="18" charset="0"/>
              </a:rPr>
              <a:t>sda</a:t>
            </a:r>
            <a:endParaRPr lang="fr-FR" sz="2000" dirty="0">
              <a:latin typeface="Amasis MT Pro Medium" panose="02040604050005020304" pitchFamily="18" charset="0"/>
            </a:endParaRPr>
          </a:p>
          <a:p>
            <a:pPr algn="just"/>
            <a:r>
              <a:rPr lang="fr-FR" sz="2000" dirty="0">
                <a:latin typeface="Amasis MT Pro Medium" panose="02040604050005020304" pitchFamily="18" charset="0"/>
              </a:rPr>
              <a:t>Utilise :</a:t>
            </a:r>
          </a:p>
          <a:p>
            <a:pPr marL="176530" marR="6985" indent="-5715" algn="ctr">
              <a:lnSpc>
                <a:spcPct val="151000"/>
              </a:lnSpc>
              <a:spcAft>
                <a:spcPts val="660"/>
              </a:spcAft>
              <a:buNone/>
            </a:pPr>
            <a:br>
              <a:rPr lang="fr-FR" sz="1800" kern="150" dirty="0">
                <a:solidFill>
                  <a:srgbClr val="0070C0"/>
                </a:solidFill>
                <a:effectLst/>
                <a:latin typeface="Times New Roman" panose="02020603050405020304" pitchFamily="18" charset="0"/>
                <a:ea typeface="Times New Roman" panose="02020603050405020304" pitchFamily="18" charset="0"/>
              </a:rPr>
            </a:br>
            <a:endParaRPr lang="fr-FR" sz="2000" kern="150" dirty="0">
              <a:solidFill>
                <a:srgbClr val="000000"/>
              </a:solidFill>
              <a:effectLst/>
              <a:latin typeface="Times New Roman" panose="02020603050405020304" pitchFamily="18" charset="0"/>
              <a:ea typeface="Times New Roman" panose="02020603050405020304" pitchFamily="18" charset="0"/>
            </a:endParaRPr>
          </a:p>
        </p:txBody>
      </p:sp>
      <p:sp>
        <p:nvSpPr>
          <p:cNvPr id="4" name="Rectangle: Rounded Corners 1">
            <a:extLst>
              <a:ext uri="{FF2B5EF4-FFF2-40B4-BE49-F238E27FC236}">
                <a16:creationId xmlns:a16="http://schemas.microsoft.com/office/drawing/2014/main" id="{954860BD-7A43-08D9-AB9B-B3FF07E09184}"/>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FONCTIONNEMENT</a:t>
            </a:r>
            <a:endParaRPr lang="en-US" dirty="0">
              <a:latin typeface="Rockwell" panose="02060603020205020403" pitchFamily="18" charset="0"/>
            </a:endParaRPr>
          </a:p>
        </p:txBody>
      </p:sp>
    </p:spTree>
    <p:extLst>
      <p:ext uri="{BB962C8B-B14F-4D97-AF65-F5344CB8AC3E}">
        <p14:creationId xmlns:p14="http://schemas.microsoft.com/office/powerpoint/2010/main" val="40643013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3CB12-80CC-F289-C690-97250472D74E}"/>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060657BB-4A35-737A-F7DF-9CB036DD882E}"/>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7</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98170242-0C42-E8C5-BC2B-B5A25B7E7AB7}"/>
              </a:ext>
            </a:extLst>
          </p:cNvPr>
          <p:cNvSpPr/>
          <p:nvPr/>
        </p:nvSpPr>
        <p:spPr>
          <a:xfrm>
            <a:off x="11491415" y="6332662"/>
            <a:ext cx="636513" cy="47546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10</a:t>
            </a:r>
            <a:endParaRPr lang="en-US" dirty="0">
              <a:latin typeface="Amasis MT Pro Medium" panose="02040604050005020304" pitchFamily="18" charset="0"/>
            </a:endParaRPr>
          </a:p>
        </p:txBody>
      </p:sp>
      <p:sp>
        <p:nvSpPr>
          <p:cNvPr id="8" name="ZoneTexte 7">
            <a:extLst>
              <a:ext uri="{FF2B5EF4-FFF2-40B4-BE49-F238E27FC236}">
                <a16:creationId xmlns:a16="http://schemas.microsoft.com/office/drawing/2014/main" id="{7BD0CE5A-3E65-6145-76B7-C8E082AFCB4A}"/>
              </a:ext>
            </a:extLst>
          </p:cNvPr>
          <p:cNvSpPr txBox="1"/>
          <p:nvPr/>
        </p:nvSpPr>
        <p:spPr>
          <a:xfrm>
            <a:off x="1288478" y="628650"/>
            <a:ext cx="10801350" cy="4001095"/>
          </a:xfrm>
          <a:prstGeom prst="rect">
            <a:avLst/>
          </a:prstGeom>
          <a:noFill/>
        </p:spPr>
        <p:txBody>
          <a:bodyPr wrap="square">
            <a:spAutoFit/>
          </a:bodyPr>
          <a:lstStyle/>
          <a:p>
            <a:r>
              <a:rPr lang="fr-FR" dirty="0" err="1">
                <a:latin typeface="Amasis MT Pro Medium" panose="02040604050005020304" pitchFamily="18" charset="0"/>
              </a:rPr>
              <a:t>psutil.disk_usage</a:t>
            </a:r>
            <a:r>
              <a:rPr lang="fr-FR" dirty="0">
                <a:latin typeface="Amasis MT Pro Medium" panose="02040604050005020304" pitchFamily="18" charset="0"/>
              </a:rPr>
              <a:t>(</a:t>
            </a:r>
            <a:r>
              <a:rPr lang="fr-FR" dirty="0" err="1">
                <a:latin typeface="Amasis MT Pro Medium" panose="02040604050005020304" pitchFamily="18" charset="0"/>
              </a:rPr>
              <a:t>point_de_montage</a:t>
            </a:r>
            <a:r>
              <a:rPr lang="fr-FR" dirty="0">
                <a:latin typeface="Amasis MT Pro Medium" panose="02040604050005020304" pitchFamily="18" charset="0"/>
              </a:rPr>
              <a:t>)</a:t>
            </a:r>
          </a:p>
          <a:p>
            <a:r>
              <a:rPr lang="fr-FR" dirty="0">
                <a:latin typeface="Amasis MT Pro Medium" panose="02040604050005020304" pitchFamily="18" charset="0"/>
              </a:rPr>
              <a:t>Renvoie :</a:t>
            </a:r>
          </a:p>
          <a:p>
            <a:r>
              <a:rPr lang="fr-FR" dirty="0">
                <a:latin typeface="Amasis MT Pro Medium" panose="02040604050005020304" pitchFamily="18" charset="0"/>
              </a:rPr>
              <a:t>{</a:t>
            </a:r>
            <a:br>
              <a:rPr lang="fr-FR" dirty="0">
                <a:latin typeface="Amasis MT Pro Medium" panose="02040604050005020304" pitchFamily="18" charset="0"/>
              </a:rPr>
            </a:br>
            <a:r>
              <a:rPr lang="fr-FR" dirty="0">
                <a:latin typeface="Amasis MT Pro Medium" panose="02040604050005020304" pitchFamily="18" charset="0"/>
              </a:rPr>
              <a:t>  "total": "10.00 GB",</a:t>
            </a:r>
            <a:br>
              <a:rPr lang="fr-FR" dirty="0">
                <a:latin typeface="Amasis MT Pro Medium" panose="02040604050005020304" pitchFamily="18" charset="0"/>
              </a:rPr>
            </a:br>
            <a:r>
              <a:rPr lang="fr-FR" dirty="0">
                <a:latin typeface="Amasis MT Pro Medium" panose="02040604050005020304" pitchFamily="18" charset="0"/>
              </a:rPr>
              <a:t>  "</a:t>
            </a:r>
            <a:r>
              <a:rPr lang="fr-FR" dirty="0" err="1">
                <a:latin typeface="Amasis MT Pro Medium" panose="02040604050005020304" pitchFamily="18" charset="0"/>
              </a:rPr>
              <a:t>used</a:t>
            </a:r>
            <a:r>
              <a:rPr lang="fr-FR" dirty="0">
                <a:latin typeface="Amasis MT Pro Medium" panose="02040604050005020304" pitchFamily="18" charset="0"/>
              </a:rPr>
              <a:t>": "4.50 GB",</a:t>
            </a:r>
            <a:br>
              <a:rPr lang="fr-FR" dirty="0">
                <a:latin typeface="Amasis MT Pro Medium" panose="02040604050005020304" pitchFamily="18" charset="0"/>
              </a:rPr>
            </a:br>
            <a:r>
              <a:rPr lang="fr-FR" dirty="0">
                <a:latin typeface="Amasis MT Pro Medium" panose="02040604050005020304" pitchFamily="18" charset="0"/>
              </a:rPr>
              <a:t>  "free": "5.50 GB",</a:t>
            </a:r>
            <a:br>
              <a:rPr lang="fr-FR" dirty="0">
                <a:latin typeface="Amasis MT Pro Medium" panose="02040604050005020304" pitchFamily="18" charset="0"/>
              </a:rPr>
            </a:br>
            <a:r>
              <a:rPr lang="fr-FR" dirty="0">
                <a:latin typeface="Amasis MT Pro Medium" panose="02040604050005020304" pitchFamily="18" charset="0"/>
              </a:rPr>
              <a:t>  "percent": 45</a:t>
            </a:r>
            <a:br>
              <a:rPr lang="fr-FR" dirty="0">
                <a:latin typeface="Amasis MT Pro Medium" panose="02040604050005020304" pitchFamily="18" charset="0"/>
              </a:rPr>
            </a:br>
            <a:r>
              <a:rPr lang="fr-FR" dirty="0">
                <a:latin typeface="Amasis MT Pro Medium" panose="02040604050005020304" pitchFamily="18" charset="0"/>
              </a:rPr>
              <a:t>}</a:t>
            </a:r>
            <a:br>
              <a:rPr lang="fr-FR" dirty="0">
                <a:latin typeface="Amasis MT Pro Medium" panose="02040604050005020304" pitchFamily="18" charset="0"/>
              </a:rPr>
            </a:br>
            <a:endParaRPr lang="fr-FR" dirty="0">
              <a:latin typeface="Amasis MT Pro Medium" panose="02040604050005020304" pitchFamily="18" charset="0"/>
            </a:endParaRPr>
          </a:p>
          <a:p>
            <a:r>
              <a:rPr lang="fr-FR" b="1" dirty="0">
                <a:latin typeface="Amasis MT Pro Medium" panose="02040604050005020304" pitchFamily="18" charset="0"/>
              </a:rPr>
              <a:t>F) API Fichiers ouverts : /</a:t>
            </a:r>
            <a:r>
              <a:rPr lang="fr-FR" b="1" dirty="0" err="1">
                <a:latin typeface="Amasis MT Pro Medium" panose="02040604050005020304" pitchFamily="18" charset="0"/>
              </a:rPr>
              <a:t>disk</a:t>
            </a:r>
            <a:r>
              <a:rPr lang="fr-FR" b="1" dirty="0">
                <a:latin typeface="Amasis MT Pro Medium" panose="02040604050005020304" pitchFamily="18" charset="0"/>
              </a:rPr>
              <a:t>/files/</a:t>
            </a:r>
            <a:r>
              <a:rPr lang="fr-FR" b="1" dirty="0" err="1">
                <a:latin typeface="Amasis MT Pro Medium" panose="02040604050005020304" pitchFamily="18" charset="0"/>
              </a:rPr>
              <a:t>sda</a:t>
            </a:r>
            <a:endParaRPr lang="fr-FR" dirty="0">
              <a:latin typeface="Amasis MT Pro Medium" panose="02040604050005020304" pitchFamily="18" charset="0"/>
            </a:endParaRPr>
          </a:p>
          <a:p>
            <a:r>
              <a:rPr lang="fr-FR" dirty="0">
                <a:latin typeface="Amasis MT Pro Medium" panose="02040604050005020304" pitchFamily="18" charset="0"/>
              </a:rPr>
              <a:t>Le serveur exécute :</a:t>
            </a:r>
          </a:p>
          <a:p>
            <a:r>
              <a:rPr lang="fr-FR" dirty="0" err="1">
                <a:latin typeface="Amasis MT Pro Medium" panose="02040604050005020304" pitchFamily="18" charset="0"/>
              </a:rPr>
              <a:t>lsof</a:t>
            </a:r>
            <a:r>
              <a:rPr lang="fr-FR" dirty="0">
                <a:latin typeface="Amasis MT Pro Medium" panose="02040604050005020304" pitchFamily="18" charset="0"/>
              </a:rPr>
              <a:t> +D /</a:t>
            </a:r>
            <a:r>
              <a:rPr lang="fr-FR" dirty="0" err="1">
                <a:latin typeface="Amasis MT Pro Medium" panose="02040604050005020304" pitchFamily="18" charset="0"/>
              </a:rPr>
              <a:t>mountpoint</a:t>
            </a:r>
            <a:endParaRPr lang="fr-FR" dirty="0">
              <a:latin typeface="Amasis MT Pro Medium" panose="02040604050005020304" pitchFamily="18" charset="0"/>
            </a:endParaRPr>
          </a:p>
          <a:p>
            <a:br>
              <a:rPr lang="fr-FR" dirty="0"/>
            </a:br>
            <a:endParaRPr lang="fr-FR" sz="2000" kern="150" dirty="0">
              <a:solidFill>
                <a:srgbClr val="000000"/>
              </a:solidFill>
              <a:effectLst/>
              <a:latin typeface="Times New Roman" panose="02020603050405020304" pitchFamily="18" charset="0"/>
              <a:ea typeface="Times New Roman" panose="02020603050405020304" pitchFamily="18" charset="0"/>
            </a:endParaRPr>
          </a:p>
        </p:txBody>
      </p:sp>
      <p:sp>
        <p:nvSpPr>
          <p:cNvPr id="4" name="Rectangle: Rounded Corners 1">
            <a:extLst>
              <a:ext uri="{FF2B5EF4-FFF2-40B4-BE49-F238E27FC236}">
                <a16:creationId xmlns:a16="http://schemas.microsoft.com/office/drawing/2014/main" id="{D8A23F23-E49A-E151-0D8C-03F8FFD2DCBF}"/>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FONCTIONNEMENT</a:t>
            </a:r>
            <a:endParaRPr lang="en-US" dirty="0">
              <a:latin typeface="Rockwell" panose="02060603020205020403" pitchFamily="18" charset="0"/>
            </a:endParaRPr>
          </a:p>
        </p:txBody>
      </p:sp>
    </p:spTree>
    <p:extLst>
      <p:ext uri="{BB962C8B-B14F-4D97-AF65-F5344CB8AC3E}">
        <p14:creationId xmlns:p14="http://schemas.microsoft.com/office/powerpoint/2010/main" val="233970199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96A48FB-DE92-4796-BD37-FB6C50002C72}"/>
              </a:ext>
            </a:extLst>
          </p:cNvPr>
          <p:cNvSpPr/>
          <p:nvPr/>
        </p:nvSpPr>
        <p:spPr>
          <a:xfrm>
            <a:off x="7402286" y="0"/>
            <a:ext cx="47897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RESULTATS ET COMMENTAIRES</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48A2D519-CF20-4648-AB69-D16A31E337F9}"/>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8</a:t>
            </a:r>
            <a:endParaRPr lang="en-US" dirty="0">
              <a:latin typeface="Rockwell" panose="02060603020205020403" pitchFamily="18" charset="0"/>
            </a:endParaRPr>
          </a:p>
        </p:txBody>
      </p:sp>
      <p:sp>
        <p:nvSpPr>
          <p:cNvPr id="4" name="Rectangle: Rounded Corners 3">
            <a:extLst>
              <a:ext uri="{FF2B5EF4-FFF2-40B4-BE49-F238E27FC236}">
                <a16:creationId xmlns:a16="http://schemas.microsoft.com/office/drawing/2014/main" id="{3F5D5923-C3D0-4E7A-B3AD-C326A6F2EBB2}"/>
              </a:ext>
            </a:extLst>
          </p:cNvPr>
          <p:cNvSpPr/>
          <p:nvPr/>
        </p:nvSpPr>
        <p:spPr>
          <a:xfrm>
            <a:off x="3465576" y="2311353"/>
            <a:ext cx="5221224" cy="218541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dirty="0">
                <a:latin typeface="Amasis MT Pro Medium" panose="02040604050005020304" pitchFamily="18" charset="0"/>
              </a:rPr>
              <a:t>DEMONSTRATION</a:t>
            </a:r>
            <a:endParaRPr lang="en-US" sz="4000" dirty="0">
              <a:latin typeface="Amasis MT Pro Medium" panose="02040604050005020304" pitchFamily="18" charset="0"/>
            </a:endParaRPr>
          </a:p>
        </p:txBody>
      </p:sp>
      <p:sp>
        <p:nvSpPr>
          <p:cNvPr id="5" name="Oval 4">
            <a:extLst>
              <a:ext uri="{FF2B5EF4-FFF2-40B4-BE49-F238E27FC236}">
                <a16:creationId xmlns:a16="http://schemas.microsoft.com/office/drawing/2014/main" id="{965266D7-A1B0-4763-BD1D-E24DBBE54E4A}"/>
              </a:ext>
            </a:extLst>
          </p:cNvPr>
          <p:cNvSpPr/>
          <p:nvPr/>
        </p:nvSpPr>
        <p:spPr>
          <a:xfrm>
            <a:off x="11491415" y="6291618"/>
            <a:ext cx="636513" cy="5165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11</a:t>
            </a:r>
            <a:endParaRPr lang="en-US" dirty="0">
              <a:latin typeface="Amasis MT Pro Medium" panose="02040604050005020304" pitchFamily="18" charset="0"/>
            </a:endParaRPr>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827" y="402772"/>
            <a:ext cx="2209801" cy="2117504"/>
          </a:xfrm>
          <a:prstGeom prst="rect">
            <a:avLst/>
          </a:prstGeom>
          <a:solidFill>
            <a:schemeClr val="accent1"/>
          </a:solidFill>
        </p:spPr>
      </p:pic>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2493" y="4051446"/>
            <a:ext cx="2636008" cy="2135844"/>
          </a:xfrm>
          <a:prstGeom prst="rect">
            <a:avLst/>
          </a:prstGeom>
          <a:solidFill>
            <a:schemeClr val="accent1"/>
          </a:solidFill>
        </p:spPr>
      </p:pic>
    </p:spTree>
    <p:extLst>
      <p:ext uri="{BB962C8B-B14F-4D97-AF65-F5344CB8AC3E}">
        <p14:creationId xmlns:p14="http://schemas.microsoft.com/office/powerpoint/2010/main" val="462068916"/>
      </p:ext>
    </p:extLst>
  </p:cSld>
  <p:clrMapOvr>
    <a:masterClrMapping/>
  </p:clrMapOvr>
  <mc:AlternateContent xmlns:mc="http://schemas.openxmlformats.org/markup-compatibility/2006" xmlns:p14="http://schemas.microsoft.com/office/powerpoint/2010/main">
    <mc:Choice Requires="p14">
      <p:transition spd="med">
        <p14:honeycomb/>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mph" presetSubtype="0" repeatCount="indefinite" fill="hold" grpId="0" nodeType="afterEffect">
                                  <p:stCondLst>
                                    <p:cond delay="0"/>
                                  </p:stCondLst>
                                  <p:endCondLst>
                                    <p:cond evt="onNext" delay="0">
                                      <p:tgtEl>
                                        <p:sldTgt/>
                                      </p:tgtEl>
                                    </p:cond>
                                  </p:endCondLst>
                                  <p:childTnLst>
                                    <p:animClr clrSpc="hsl" dir="cw">
                                      <p:cBhvr override="childStyle">
                                        <p:cTn id="6" dur="500" fill="hold"/>
                                        <p:tgtEl>
                                          <p:spTgt spid="4"/>
                                        </p:tgtEl>
                                        <p:attrNameLst>
                                          <p:attrName>style.color</p:attrName>
                                        </p:attrNameLst>
                                      </p:cBhvr>
                                      <p:by>
                                        <p:hsl h="7200000" s="0" l="0"/>
                                      </p:by>
                                    </p:animClr>
                                    <p:animClr clrSpc="hsl" dir="cw">
                                      <p:cBhvr>
                                        <p:cTn id="7" dur="500" fill="hold"/>
                                        <p:tgtEl>
                                          <p:spTgt spid="4"/>
                                        </p:tgtEl>
                                        <p:attrNameLst>
                                          <p:attrName>fillcolor</p:attrName>
                                        </p:attrNameLst>
                                      </p:cBhvr>
                                      <p:by>
                                        <p:hsl h="7200000" s="0" l="0"/>
                                      </p:by>
                                    </p:animClr>
                                    <p:animClr clrSpc="hsl" dir="cw">
                                      <p:cBhvr>
                                        <p:cTn id="8" dur="500" fill="hold"/>
                                        <p:tgtEl>
                                          <p:spTgt spid="4"/>
                                        </p:tgtEl>
                                        <p:attrNameLst>
                                          <p:attrName>stroke.color</p:attrName>
                                        </p:attrNameLst>
                                      </p:cBhvr>
                                      <p:by>
                                        <p:hsl h="7200000" s="0" l="0"/>
                                      </p:by>
                                    </p:animClr>
                                    <p:set>
                                      <p:cBhvr>
                                        <p:cTn id="9" dur="500" fill="hold"/>
                                        <p:tgtEl>
                                          <p:spTgt spid="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88D1ED-4D15-4B60-B181-089874231C3D}"/>
              </a:ext>
            </a:extLst>
          </p:cNvPr>
          <p:cNvSpPr/>
          <p:nvPr/>
        </p:nvSpPr>
        <p:spPr>
          <a:xfrm>
            <a:off x="8773887" y="6433457"/>
            <a:ext cx="3418114" cy="4245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Rockwell" panose="02060603020205020403" pitchFamily="18" charset="0"/>
              </a:rPr>
              <a:t>présenté par EKOSSO</a:t>
            </a:r>
            <a:endParaRPr lang="en-US" sz="2400" dirty="0">
              <a:solidFill>
                <a:schemeClr val="tx1"/>
              </a:solidFill>
              <a:latin typeface="Rockwell" panose="02060603020205020403" pitchFamily="18" charset="0"/>
            </a:endParaRP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501" y="341194"/>
            <a:ext cx="10986448" cy="5909481"/>
          </a:xfrm>
          <a:prstGeom prst="rect">
            <a:avLst/>
          </a:prstGeom>
        </p:spPr>
      </p:pic>
    </p:spTree>
    <p:extLst>
      <p:ext uri="{BB962C8B-B14F-4D97-AF65-F5344CB8AC3E}">
        <p14:creationId xmlns:p14="http://schemas.microsoft.com/office/powerpoint/2010/main" val="3760948058"/>
      </p:ext>
    </p:extLst>
  </p:cSld>
  <p:clrMapOvr>
    <a:masterClrMapping/>
  </p:clrMapOvr>
  <p:transition>
    <p:comb/>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5982</TotalTime>
  <Words>1478</Words>
  <Application>Microsoft Office PowerPoint</Application>
  <PresentationFormat>Grand écran</PresentationFormat>
  <Paragraphs>231</Paragraphs>
  <Slides>23</Slides>
  <Notes>7</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23</vt:i4>
      </vt:variant>
    </vt:vector>
  </HeadingPairs>
  <TitlesOfParts>
    <vt:vector size="32" baseType="lpstr">
      <vt:lpstr>Amasis MT Pro Medium</vt:lpstr>
      <vt:lpstr>Arial</vt:lpstr>
      <vt:lpstr>Calibri</vt:lpstr>
      <vt:lpstr>Calibri Light</vt:lpstr>
      <vt:lpstr>Rockwell</vt:lpstr>
      <vt:lpstr>Symbol</vt:lpstr>
      <vt:lpstr>Times New Roman</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sylvain ekosso</cp:lastModifiedBy>
  <cp:revision>287</cp:revision>
  <dcterms:created xsi:type="dcterms:W3CDTF">2021-09-26T17:03:00Z</dcterms:created>
  <dcterms:modified xsi:type="dcterms:W3CDTF">2026-03-03T13:56:17Z</dcterms:modified>
</cp:coreProperties>
</file>