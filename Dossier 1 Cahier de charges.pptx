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58" r:id="rId3"/>
    <p:sldId id="259" r:id="rId4"/>
    <p:sldId id="284" r:id="rId5"/>
    <p:sldId id="265" r:id="rId6"/>
    <p:sldId id="287" r:id="rId7"/>
    <p:sldId id="267" r:id="rId8"/>
    <p:sldId id="297" r:id="rId9"/>
    <p:sldId id="298" r:id="rId10"/>
    <p:sldId id="285" r:id="rId11"/>
    <p:sldId id="261" r:id="rId12"/>
    <p:sldId id="286" r:id="rId13"/>
    <p:sldId id="276" r:id="rId14"/>
    <p:sldId id="294" r:id="rId15"/>
    <p:sldId id="295" r:id="rId16"/>
    <p:sldId id="296" r:id="rId17"/>
    <p:sldId id="279" r:id="rId18"/>
    <p:sldId id="268" r:id="rId19"/>
    <p:sldId id="264" r:id="rId20"/>
    <p:sldId id="2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498" y="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7227D2-706B-44C3-80C5-977EE56AD405}" type="datetimeFigureOut">
              <a:rPr lang="fr-FR" smtClean="0"/>
              <a:t>05/01/2026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FDFEDE-8604-47B4-A371-8ADEA7B40E1A}" type="slidenum">
              <a:rPr lang="fr-FR" smtClean="0"/>
              <a:t>‹N°›</a:t>
            </a:fld>
            <a:endParaRPr lang="fr-FR"/>
          </a:p>
        </p:txBody>
      </p:sp>
    </p:spTree>
    <p:extLst>
      <p:ext uri="{BB962C8B-B14F-4D97-AF65-F5344CB8AC3E}">
        <p14:creationId xmlns:p14="http://schemas.microsoft.com/office/powerpoint/2010/main" val="3635328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92FDFEDE-8604-47B4-A371-8ADEA7B40E1A}" type="slidenum">
              <a:rPr lang="fr-FR" smtClean="0"/>
              <a:t>7</a:t>
            </a:fld>
            <a:endParaRPr lang="fr-FR"/>
          </a:p>
        </p:txBody>
      </p:sp>
    </p:spTree>
    <p:extLst>
      <p:ext uri="{BB962C8B-B14F-4D97-AF65-F5344CB8AC3E}">
        <p14:creationId xmlns:p14="http://schemas.microsoft.com/office/powerpoint/2010/main" val="1129545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92FDFEDE-8604-47B4-A371-8ADEA7B40E1A}" type="slidenum">
              <a:rPr lang="fr-FR" smtClean="0"/>
              <a:t>8</a:t>
            </a:fld>
            <a:endParaRPr lang="fr-FR"/>
          </a:p>
        </p:txBody>
      </p:sp>
    </p:spTree>
    <p:extLst>
      <p:ext uri="{BB962C8B-B14F-4D97-AF65-F5344CB8AC3E}">
        <p14:creationId xmlns:p14="http://schemas.microsoft.com/office/powerpoint/2010/main" val="42762226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92FDFEDE-8604-47B4-A371-8ADEA7B40E1A}" type="slidenum">
              <a:rPr lang="fr-FR" smtClean="0"/>
              <a:t>9</a:t>
            </a:fld>
            <a:endParaRPr lang="fr-FR"/>
          </a:p>
        </p:txBody>
      </p:sp>
    </p:spTree>
    <p:extLst>
      <p:ext uri="{BB962C8B-B14F-4D97-AF65-F5344CB8AC3E}">
        <p14:creationId xmlns:p14="http://schemas.microsoft.com/office/powerpoint/2010/main" val="3494845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92FDFEDE-8604-47B4-A371-8ADEA7B40E1A}" type="slidenum">
              <a:rPr lang="fr-FR" smtClean="0"/>
              <a:t>10</a:t>
            </a:fld>
            <a:endParaRPr lang="fr-FR"/>
          </a:p>
        </p:txBody>
      </p:sp>
    </p:spTree>
    <p:extLst>
      <p:ext uri="{BB962C8B-B14F-4D97-AF65-F5344CB8AC3E}">
        <p14:creationId xmlns:p14="http://schemas.microsoft.com/office/powerpoint/2010/main" val="32704366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92FDFEDE-8604-47B4-A371-8ADEA7B40E1A}" type="slidenum">
              <a:rPr lang="fr-FR" smtClean="0"/>
              <a:t>11</a:t>
            </a:fld>
            <a:endParaRPr lang="fr-FR"/>
          </a:p>
        </p:txBody>
      </p:sp>
    </p:spTree>
    <p:extLst>
      <p:ext uri="{BB962C8B-B14F-4D97-AF65-F5344CB8AC3E}">
        <p14:creationId xmlns:p14="http://schemas.microsoft.com/office/powerpoint/2010/main" val="2496844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171A7-F445-4F61-BA73-47538832A9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916EBD2-7D1E-4BEA-BF41-6451A7DA55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E280EA1-84AC-4F6C-871A-F8B08501FF9F}"/>
              </a:ext>
            </a:extLst>
          </p:cNvPr>
          <p:cNvSpPr>
            <a:spLocks noGrp="1"/>
          </p:cNvSpPr>
          <p:nvPr>
            <p:ph type="dt" sz="half" idx="10"/>
          </p:nvPr>
        </p:nvSpPr>
        <p:spPr/>
        <p:txBody>
          <a:bodyPr/>
          <a:lstStyle/>
          <a:p>
            <a:fld id="{FA232FFB-8376-4DB3-A1E5-8F070361AEC0}" type="datetimeFigureOut">
              <a:rPr lang="en-US" smtClean="0"/>
              <a:t>1/5/2026</a:t>
            </a:fld>
            <a:endParaRPr lang="en-US" dirty="0"/>
          </a:p>
        </p:txBody>
      </p:sp>
      <p:sp>
        <p:nvSpPr>
          <p:cNvPr id="5" name="Footer Placeholder 4">
            <a:extLst>
              <a:ext uri="{FF2B5EF4-FFF2-40B4-BE49-F238E27FC236}">
                <a16:creationId xmlns:a16="http://schemas.microsoft.com/office/drawing/2014/main" id="{E76D1E61-D4F5-423F-AD89-54BFBD591A4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048FAF5-63D5-4524-A454-243750EAD923}"/>
              </a:ext>
            </a:extLst>
          </p:cNvPr>
          <p:cNvSpPr>
            <a:spLocks noGrp="1"/>
          </p:cNvSpPr>
          <p:nvPr>
            <p:ph type="sldNum" sz="quarter" idx="12"/>
          </p:nvPr>
        </p:nvSpPr>
        <p:spPr/>
        <p:txBody>
          <a:bodyPr/>
          <a:lstStyle/>
          <a:p>
            <a:fld id="{CA607AD0-2C37-4EE0-BE88-741CF00A1674}" type="slidenum">
              <a:rPr lang="en-US" smtClean="0"/>
              <a:t>‹N°›</a:t>
            </a:fld>
            <a:endParaRPr lang="en-US" dirty="0"/>
          </a:p>
        </p:txBody>
      </p:sp>
    </p:spTree>
    <p:extLst>
      <p:ext uri="{BB962C8B-B14F-4D97-AF65-F5344CB8AC3E}">
        <p14:creationId xmlns:p14="http://schemas.microsoft.com/office/powerpoint/2010/main" val="2127588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E6177-373C-43CF-A81F-46D832E3B9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C82EEC-9D99-4055-A049-36D25CE705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7620C1-205E-4357-8F82-3B18185C0D59}"/>
              </a:ext>
            </a:extLst>
          </p:cNvPr>
          <p:cNvSpPr>
            <a:spLocks noGrp="1"/>
          </p:cNvSpPr>
          <p:nvPr>
            <p:ph type="dt" sz="half" idx="10"/>
          </p:nvPr>
        </p:nvSpPr>
        <p:spPr/>
        <p:txBody>
          <a:bodyPr/>
          <a:lstStyle/>
          <a:p>
            <a:fld id="{FA232FFB-8376-4DB3-A1E5-8F070361AEC0}" type="datetimeFigureOut">
              <a:rPr lang="en-US" smtClean="0"/>
              <a:t>1/5/2026</a:t>
            </a:fld>
            <a:endParaRPr lang="en-US" dirty="0"/>
          </a:p>
        </p:txBody>
      </p:sp>
      <p:sp>
        <p:nvSpPr>
          <p:cNvPr id="5" name="Footer Placeholder 4">
            <a:extLst>
              <a:ext uri="{FF2B5EF4-FFF2-40B4-BE49-F238E27FC236}">
                <a16:creationId xmlns:a16="http://schemas.microsoft.com/office/drawing/2014/main" id="{CC0670E6-A1E4-4A87-8D70-16E4D45D41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AE94A96-E414-40C5-9C42-5B313AC8A4DC}"/>
              </a:ext>
            </a:extLst>
          </p:cNvPr>
          <p:cNvSpPr>
            <a:spLocks noGrp="1"/>
          </p:cNvSpPr>
          <p:nvPr>
            <p:ph type="sldNum" sz="quarter" idx="12"/>
          </p:nvPr>
        </p:nvSpPr>
        <p:spPr/>
        <p:txBody>
          <a:bodyPr/>
          <a:lstStyle/>
          <a:p>
            <a:fld id="{CA607AD0-2C37-4EE0-BE88-741CF00A1674}" type="slidenum">
              <a:rPr lang="en-US" smtClean="0"/>
              <a:t>‹N°›</a:t>
            </a:fld>
            <a:endParaRPr lang="en-US" dirty="0"/>
          </a:p>
        </p:txBody>
      </p:sp>
    </p:spTree>
    <p:extLst>
      <p:ext uri="{BB962C8B-B14F-4D97-AF65-F5344CB8AC3E}">
        <p14:creationId xmlns:p14="http://schemas.microsoft.com/office/powerpoint/2010/main" val="102563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0DE5A-A3C4-4246-AC83-4B02A5AF67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1506A27-CBE5-4DE1-9A3B-1DCA2875D2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D4C7CF-D265-42EE-BC07-C5CA4DD576C9}"/>
              </a:ext>
            </a:extLst>
          </p:cNvPr>
          <p:cNvSpPr>
            <a:spLocks noGrp="1"/>
          </p:cNvSpPr>
          <p:nvPr>
            <p:ph type="dt" sz="half" idx="10"/>
          </p:nvPr>
        </p:nvSpPr>
        <p:spPr/>
        <p:txBody>
          <a:bodyPr/>
          <a:lstStyle/>
          <a:p>
            <a:fld id="{FA232FFB-8376-4DB3-A1E5-8F070361AEC0}" type="datetimeFigureOut">
              <a:rPr lang="en-US" smtClean="0"/>
              <a:t>1/5/2026</a:t>
            </a:fld>
            <a:endParaRPr lang="en-US" dirty="0"/>
          </a:p>
        </p:txBody>
      </p:sp>
      <p:sp>
        <p:nvSpPr>
          <p:cNvPr id="5" name="Footer Placeholder 4">
            <a:extLst>
              <a:ext uri="{FF2B5EF4-FFF2-40B4-BE49-F238E27FC236}">
                <a16:creationId xmlns:a16="http://schemas.microsoft.com/office/drawing/2014/main" id="{538DBA2E-16C6-416D-8DBC-3595AAC09B6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22B8A69-8342-4803-AAE4-2455CB0EFA14}"/>
              </a:ext>
            </a:extLst>
          </p:cNvPr>
          <p:cNvSpPr>
            <a:spLocks noGrp="1"/>
          </p:cNvSpPr>
          <p:nvPr>
            <p:ph type="sldNum" sz="quarter" idx="12"/>
          </p:nvPr>
        </p:nvSpPr>
        <p:spPr/>
        <p:txBody>
          <a:bodyPr/>
          <a:lstStyle/>
          <a:p>
            <a:fld id="{CA607AD0-2C37-4EE0-BE88-741CF00A1674}" type="slidenum">
              <a:rPr lang="en-US" smtClean="0"/>
              <a:t>‹N°›</a:t>
            </a:fld>
            <a:endParaRPr lang="en-US" dirty="0"/>
          </a:p>
        </p:txBody>
      </p:sp>
    </p:spTree>
    <p:extLst>
      <p:ext uri="{BB962C8B-B14F-4D97-AF65-F5344CB8AC3E}">
        <p14:creationId xmlns:p14="http://schemas.microsoft.com/office/powerpoint/2010/main" val="4045203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AD22D-E0FC-447D-9B92-C7F1F42DF1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5C01DA-D8B8-42E3-819F-97B3126FC4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DFCD86F-812F-4C7E-BD4C-16D840120E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BAE446-0E3E-478D-BCEC-1BB386AF4E0D}"/>
              </a:ext>
            </a:extLst>
          </p:cNvPr>
          <p:cNvSpPr>
            <a:spLocks noGrp="1"/>
          </p:cNvSpPr>
          <p:nvPr>
            <p:ph type="dt" sz="half" idx="10"/>
          </p:nvPr>
        </p:nvSpPr>
        <p:spPr/>
        <p:txBody>
          <a:bodyPr/>
          <a:lstStyle/>
          <a:p>
            <a:fld id="{FA232FFB-8376-4DB3-A1E5-8F070361AEC0}" type="datetimeFigureOut">
              <a:rPr lang="en-US" smtClean="0"/>
              <a:t>1/5/2026</a:t>
            </a:fld>
            <a:endParaRPr lang="en-US" dirty="0"/>
          </a:p>
        </p:txBody>
      </p:sp>
      <p:sp>
        <p:nvSpPr>
          <p:cNvPr id="6" name="Footer Placeholder 5">
            <a:extLst>
              <a:ext uri="{FF2B5EF4-FFF2-40B4-BE49-F238E27FC236}">
                <a16:creationId xmlns:a16="http://schemas.microsoft.com/office/drawing/2014/main" id="{6AEA6C5E-2AB3-4CD9-8AB3-42C2998198A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7BFB21D-0CF7-4F88-B8C9-D637E15C7969}"/>
              </a:ext>
            </a:extLst>
          </p:cNvPr>
          <p:cNvSpPr>
            <a:spLocks noGrp="1"/>
          </p:cNvSpPr>
          <p:nvPr>
            <p:ph type="sldNum" sz="quarter" idx="12"/>
          </p:nvPr>
        </p:nvSpPr>
        <p:spPr/>
        <p:txBody>
          <a:bodyPr/>
          <a:lstStyle/>
          <a:p>
            <a:fld id="{CA607AD0-2C37-4EE0-BE88-741CF00A1674}" type="slidenum">
              <a:rPr lang="en-US" smtClean="0"/>
              <a:t>‹N°›</a:t>
            </a:fld>
            <a:endParaRPr lang="en-US" dirty="0"/>
          </a:p>
        </p:txBody>
      </p:sp>
    </p:spTree>
    <p:extLst>
      <p:ext uri="{BB962C8B-B14F-4D97-AF65-F5344CB8AC3E}">
        <p14:creationId xmlns:p14="http://schemas.microsoft.com/office/powerpoint/2010/main" val="4229582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F8DD7-BCD2-4B72-BB41-DC9C351A325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D35C04C-6F86-4E05-9DBE-1FE3AAC894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9FDD6E-1D02-459D-AC1E-98538BA033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C4309A-7C74-4F92-90B5-95F8252AD9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44E603-3D3E-47EA-A082-7DDEFCF75E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6D727-85F2-4126-AFDE-2B9A08376318}"/>
              </a:ext>
            </a:extLst>
          </p:cNvPr>
          <p:cNvSpPr>
            <a:spLocks noGrp="1"/>
          </p:cNvSpPr>
          <p:nvPr>
            <p:ph type="dt" sz="half" idx="10"/>
          </p:nvPr>
        </p:nvSpPr>
        <p:spPr/>
        <p:txBody>
          <a:bodyPr/>
          <a:lstStyle/>
          <a:p>
            <a:fld id="{FA232FFB-8376-4DB3-A1E5-8F070361AEC0}" type="datetimeFigureOut">
              <a:rPr lang="en-US" smtClean="0"/>
              <a:t>1/5/2026</a:t>
            </a:fld>
            <a:endParaRPr lang="en-US" dirty="0"/>
          </a:p>
        </p:txBody>
      </p:sp>
      <p:sp>
        <p:nvSpPr>
          <p:cNvPr id="8" name="Footer Placeholder 7">
            <a:extLst>
              <a:ext uri="{FF2B5EF4-FFF2-40B4-BE49-F238E27FC236}">
                <a16:creationId xmlns:a16="http://schemas.microsoft.com/office/drawing/2014/main" id="{89B1DE8E-8E21-4170-90BC-7AEDC156EF0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3FEFDC7-E738-4425-9C4E-A216D6686417}"/>
              </a:ext>
            </a:extLst>
          </p:cNvPr>
          <p:cNvSpPr>
            <a:spLocks noGrp="1"/>
          </p:cNvSpPr>
          <p:nvPr>
            <p:ph type="sldNum" sz="quarter" idx="12"/>
          </p:nvPr>
        </p:nvSpPr>
        <p:spPr/>
        <p:txBody>
          <a:bodyPr/>
          <a:lstStyle/>
          <a:p>
            <a:fld id="{CA607AD0-2C37-4EE0-BE88-741CF00A1674}" type="slidenum">
              <a:rPr lang="en-US" smtClean="0"/>
              <a:t>‹N°›</a:t>
            </a:fld>
            <a:endParaRPr lang="en-US" dirty="0"/>
          </a:p>
        </p:txBody>
      </p:sp>
    </p:spTree>
    <p:extLst>
      <p:ext uri="{BB962C8B-B14F-4D97-AF65-F5344CB8AC3E}">
        <p14:creationId xmlns:p14="http://schemas.microsoft.com/office/powerpoint/2010/main" val="1990592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9B62-175A-4225-9CFC-899A8A4AEB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CA855D-DF5E-4CFE-8750-1BA079840676}"/>
              </a:ext>
            </a:extLst>
          </p:cNvPr>
          <p:cNvSpPr>
            <a:spLocks noGrp="1"/>
          </p:cNvSpPr>
          <p:nvPr>
            <p:ph type="dt" sz="half" idx="10"/>
          </p:nvPr>
        </p:nvSpPr>
        <p:spPr/>
        <p:txBody>
          <a:bodyPr/>
          <a:lstStyle/>
          <a:p>
            <a:fld id="{FA232FFB-8376-4DB3-A1E5-8F070361AEC0}" type="datetimeFigureOut">
              <a:rPr lang="en-US" smtClean="0"/>
              <a:t>1/5/2026</a:t>
            </a:fld>
            <a:endParaRPr lang="en-US" dirty="0"/>
          </a:p>
        </p:txBody>
      </p:sp>
      <p:sp>
        <p:nvSpPr>
          <p:cNvPr id="4" name="Footer Placeholder 3">
            <a:extLst>
              <a:ext uri="{FF2B5EF4-FFF2-40B4-BE49-F238E27FC236}">
                <a16:creationId xmlns:a16="http://schemas.microsoft.com/office/drawing/2014/main" id="{28FF19F0-B71A-4DAE-B03F-C28C6974616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6F56B7F-8CC9-4F92-A2FB-DD8FC08155F6}"/>
              </a:ext>
            </a:extLst>
          </p:cNvPr>
          <p:cNvSpPr>
            <a:spLocks noGrp="1"/>
          </p:cNvSpPr>
          <p:nvPr>
            <p:ph type="sldNum" sz="quarter" idx="12"/>
          </p:nvPr>
        </p:nvSpPr>
        <p:spPr/>
        <p:txBody>
          <a:bodyPr/>
          <a:lstStyle/>
          <a:p>
            <a:fld id="{CA607AD0-2C37-4EE0-BE88-741CF00A1674}" type="slidenum">
              <a:rPr lang="en-US" smtClean="0"/>
              <a:t>‹N°›</a:t>
            </a:fld>
            <a:endParaRPr lang="en-US" dirty="0"/>
          </a:p>
        </p:txBody>
      </p:sp>
    </p:spTree>
    <p:extLst>
      <p:ext uri="{BB962C8B-B14F-4D97-AF65-F5344CB8AC3E}">
        <p14:creationId xmlns:p14="http://schemas.microsoft.com/office/powerpoint/2010/main" val="2420597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8C07F6-D258-4876-835A-5C904059A491}"/>
              </a:ext>
            </a:extLst>
          </p:cNvPr>
          <p:cNvSpPr>
            <a:spLocks noGrp="1"/>
          </p:cNvSpPr>
          <p:nvPr>
            <p:ph type="dt" sz="half" idx="10"/>
          </p:nvPr>
        </p:nvSpPr>
        <p:spPr/>
        <p:txBody>
          <a:bodyPr/>
          <a:lstStyle/>
          <a:p>
            <a:fld id="{FA232FFB-8376-4DB3-A1E5-8F070361AEC0}" type="datetimeFigureOut">
              <a:rPr lang="en-US" smtClean="0"/>
              <a:t>1/5/2026</a:t>
            </a:fld>
            <a:endParaRPr lang="en-US" dirty="0"/>
          </a:p>
        </p:txBody>
      </p:sp>
      <p:sp>
        <p:nvSpPr>
          <p:cNvPr id="3" name="Footer Placeholder 2">
            <a:extLst>
              <a:ext uri="{FF2B5EF4-FFF2-40B4-BE49-F238E27FC236}">
                <a16:creationId xmlns:a16="http://schemas.microsoft.com/office/drawing/2014/main" id="{D710343E-C439-46D9-93AA-3EEA30F41D84}"/>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1C11F50-100F-4106-A076-0C1356C9F3EB}"/>
              </a:ext>
            </a:extLst>
          </p:cNvPr>
          <p:cNvSpPr>
            <a:spLocks noGrp="1"/>
          </p:cNvSpPr>
          <p:nvPr>
            <p:ph type="sldNum" sz="quarter" idx="12"/>
          </p:nvPr>
        </p:nvSpPr>
        <p:spPr/>
        <p:txBody>
          <a:bodyPr/>
          <a:lstStyle/>
          <a:p>
            <a:fld id="{CA607AD0-2C37-4EE0-BE88-741CF00A1674}" type="slidenum">
              <a:rPr lang="en-US" smtClean="0"/>
              <a:t>‹N°›</a:t>
            </a:fld>
            <a:endParaRPr lang="en-US" dirty="0"/>
          </a:p>
        </p:txBody>
      </p:sp>
    </p:spTree>
    <p:extLst>
      <p:ext uri="{BB962C8B-B14F-4D97-AF65-F5344CB8AC3E}">
        <p14:creationId xmlns:p14="http://schemas.microsoft.com/office/powerpoint/2010/main" val="356017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6C4BD-AB36-4FBB-B8A0-1A3A2AED4F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E039EA-D04F-486A-8AF0-FBE3A6A172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1E4CD7-1F95-4584-A451-CF937B6C4A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67DC98-8619-470E-A21C-DB116D4A3D59}"/>
              </a:ext>
            </a:extLst>
          </p:cNvPr>
          <p:cNvSpPr>
            <a:spLocks noGrp="1"/>
          </p:cNvSpPr>
          <p:nvPr>
            <p:ph type="dt" sz="half" idx="10"/>
          </p:nvPr>
        </p:nvSpPr>
        <p:spPr/>
        <p:txBody>
          <a:bodyPr/>
          <a:lstStyle/>
          <a:p>
            <a:fld id="{FA232FFB-8376-4DB3-A1E5-8F070361AEC0}" type="datetimeFigureOut">
              <a:rPr lang="en-US" smtClean="0"/>
              <a:t>1/5/2026</a:t>
            </a:fld>
            <a:endParaRPr lang="en-US" dirty="0"/>
          </a:p>
        </p:txBody>
      </p:sp>
      <p:sp>
        <p:nvSpPr>
          <p:cNvPr id="6" name="Footer Placeholder 5">
            <a:extLst>
              <a:ext uri="{FF2B5EF4-FFF2-40B4-BE49-F238E27FC236}">
                <a16:creationId xmlns:a16="http://schemas.microsoft.com/office/drawing/2014/main" id="{422C37AD-BC04-41B7-98E9-62BE06FC0A7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49BE2C-8A53-4656-8CD2-65D31B3D00C3}"/>
              </a:ext>
            </a:extLst>
          </p:cNvPr>
          <p:cNvSpPr>
            <a:spLocks noGrp="1"/>
          </p:cNvSpPr>
          <p:nvPr>
            <p:ph type="sldNum" sz="quarter" idx="12"/>
          </p:nvPr>
        </p:nvSpPr>
        <p:spPr/>
        <p:txBody>
          <a:bodyPr/>
          <a:lstStyle/>
          <a:p>
            <a:fld id="{CA607AD0-2C37-4EE0-BE88-741CF00A1674}" type="slidenum">
              <a:rPr lang="en-US" smtClean="0"/>
              <a:t>‹N°›</a:t>
            </a:fld>
            <a:endParaRPr lang="en-US" dirty="0"/>
          </a:p>
        </p:txBody>
      </p:sp>
    </p:spTree>
    <p:extLst>
      <p:ext uri="{BB962C8B-B14F-4D97-AF65-F5344CB8AC3E}">
        <p14:creationId xmlns:p14="http://schemas.microsoft.com/office/powerpoint/2010/main" val="373943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7D397-D632-4DE1-96A9-7AB3084A08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EA127A-8300-4986-BE78-2EC9CBF4CF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5D0B776F-3D57-4192-A000-B0389B4E51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7AA18F-2004-473D-8BEA-9E7A8F2CCB4D}"/>
              </a:ext>
            </a:extLst>
          </p:cNvPr>
          <p:cNvSpPr>
            <a:spLocks noGrp="1"/>
          </p:cNvSpPr>
          <p:nvPr>
            <p:ph type="dt" sz="half" idx="10"/>
          </p:nvPr>
        </p:nvSpPr>
        <p:spPr/>
        <p:txBody>
          <a:bodyPr/>
          <a:lstStyle/>
          <a:p>
            <a:fld id="{FA232FFB-8376-4DB3-A1E5-8F070361AEC0}" type="datetimeFigureOut">
              <a:rPr lang="en-US" smtClean="0"/>
              <a:t>1/5/2026</a:t>
            </a:fld>
            <a:endParaRPr lang="en-US" dirty="0"/>
          </a:p>
        </p:txBody>
      </p:sp>
      <p:sp>
        <p:nvSpPr>
          <p:cNvPr id="6" name="Footer Placeholder 5">
            <a:extLst>
              <a:ext uri="{FF2B5EF4-FFF2-40B4-BE49-F238E27FC236}">
                <a16:creationId xmlns:a16="http://schemas.microsoft.com/office/drawing/2014/main" id="{63C032C2-2FC1-404E-8863-B897185A9E6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B9F4B7F-389A-4B09-B48E-3A30BA879B77}"/>
              </a:ext>
            </a:extLst>
          </p:cNvPr>
          <p:cNvSpPr>
            <a:spLocks noGrp="1"/>
          </p:cNvSpPr>
          <p:nvPr>
            <p:ph type="sldNum" sz="quarter" idx="12"/>
          </p:nvPr>
        </p:nvSpPr>
        <p:spPr/>
        <p:txBody>
          <a:bodyPr/>
          <a:lstStyle/>
          <a:p>
            <a:fld id="{CA607AD0-2C37-4EE0-BE88-741CF00A1674}" type="slidenum">
              <a:rPr lang="en-US" smtClean="0"/>
              <a:t>‹N°›</a:t>
            </a:fld>
            <a:endParaRPr lang="en-US" dirty="0"/>
          </a:p>
        </p:txBody>
      </p:sp>
    </p:spTree>
    <p:extLst>
      <p:ext uri="{BB962C8B-B14F-4D97-AF65-F5344CB8AC3E}">
        <p14:creationId xmlns:p14="http://schemas.microsoft.com/office/powerpoint/2010/main" val="1226952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DB4F7-8337-45B6-8C08-BFD67D8BF9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0290DDE-AA34-4E6F-A6AE-EBC444C609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472F36-6057-452B-95B0-F0258703E67A}"/>
              </a:ext>
            </a:extLst>
          </p:cNvPr>
          <p:cNvSpPr>
            <a:spLocks noGrp="1"/>
          </p:cNvSpPr>
          <p:nvPr>
            <p:ph type="dt" sz="half" idx="10"/>
          </p:nvPr>
        </p:nvSpPr>
        <p:spPr/>
        <p:txBody>
          <a:bodyPr/>
          <a:lstStyle/>
          <a:p>
            <a:fld id="{FA232FFB-8376-4DB3-A1E5-8F070361AEC0}" type="datetimeFigureOut">
              <a:rPr lang="en-US" smtClean="0"/>
              <a:t>1/5/2026</a:t>
            </a:fld>
            <a:endParaRPr lang="en-US" dirty="0"/>
          </a:p>
        </p:txBody>
      </p:sp>
      <p:sp>
        <p:nvSpPr>
          <p:cNvPr id="5" name="Footer Placeholder 4">
            <a:extLst>
              <a:ext uri="{FF2B5EF4-FFF2-40B4-BE49-F238E27FC236}">
                <a16:creationId xmlns:a16="http://schemas.microsoft.com/office/drawing/2014/main" id="{66703784-2809-44D6-AB60-DD0C657C16E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3E9A282-DB41-4117-9DB2-0C94D5DCBFF9}"/>
              </a:ext>
            </a:extLst>
          </p:cNvPr>
          <p:cNvSpPr>
            <a:spLocks noGrp="1"/>
          </p:cNvSpPr>
          <p:nvPr>
            <p:ph type="sldNum" sz="quarter" idx="12"/>
          </p:nvPr>
        </p:nvSpPr>
        <p:spPr/>
        <p:txBody>
          <a:bodyPr/>
          <a:lstStyle/>
          <a:p>
            <a:fld id="{CA607AD0-2C37-4EE0-BE88-741CF00A1674}" type="slidenum">
              <a:rPr lang="en-US" smtClean="0"/>
              <a:t>‹N°›</a:t>
            </a:fld>
            <a:endParaRPr lang="en-US" dirty="0"/>
          </a:p>
        </p:txBody>
      </p:sp>
    </p:spTree>
    <p:extLst>
      <p:ext uri="{BB962C8B-B14F-4D97-AF65-F5344CB8AC3E}">
        <p14:creationId xmlns:p14="http://schemas.microsoft.com/office/powerpoint/2010/main" val="3507909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EDBA10-FA40-4E0B-960A-88E75BE5E3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73773A-74C6-4F7E-9A02-8FC2F015E7D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D8821A-5EAC-4F58-9FD3-06D33F26F893}"/>
              </a:ext>
            </a:extLst>
          </p:cNvPr>
          <p:cNvSpPr>
            <a:spLocks noGrp="1"/>
          </p:cNvSpPr>
          <p:nvPr>
            <p:ph type="dt" sz="half" idx="10"/>
          </p:nvPr>
        </p:nvSpPr>
        <p:spPr/>
        <p:txBody>
          <a:bodyPr/>
          <a:lstStyle/>
          <a:p>
            <a:fld id="{FA232FFB-8376-4DB3-A1E5-8F070361AEC0}" type="datetimeFigureOut">
              <a:rPr lang="en-US" smtClean="0"/>
              <a:t>1/5/2026</a:t>
            </a:fld>
            <a:endParaRPr lang="en-US" dirty="0"/>
          </a:p>
        </p:txBody>
      </p:sp>
      <p:sp>
        <p:nvSpPr>
          <p:cNvPr id="5" name="Footer Placeholder 4">
            <a:extLst>
              <a:ext uri="{FF2B5EF4-FFF2-40B4-BE49-F238E27FC236}">
                <a16:creationId xmlns:a16="http://schemas.microsoft.com/office/drawing/2014/main" id="{2B7CC662-8729-4AA5-8C15-4A00A1B789C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5D338EB-C9C6-4D8F-8C1D-27A7810F1D34}"/>
              </a:ext>
            </a:extLst>
          </p:cNvPr>
          <p:cNvSpPr>
            <a:spLocks noGrp="1"/>
          </p:cNvSpPr>
          <p:nvPr>
            <p:ph type="sldNum" sz="quarter" idx="12"/>
          </p:nvPr>
        </p:nvSpPr>
        <p:spPr/>
        <p:txBody>
          <a:bodyPr/>
          <a:lstStyle/>
          <a:p>
            <a:fld id="{CA607AD0-2C37-4EE0-BE88-741CF00A1674}" type="slidenum">
              <a:rPr lang="en-US" smtClean="0"/>
              <a:t>‹N°›</a:t>
            </a:fld>
            <a:endParaRPr lang="en-US" dirty="0"/>
          </a:p>
        </p:txBody>
      </p:sp>
    </p:spTree>
    <p:extLst>
      <p:ext uri="{BB962C8B-B14F-4D97-AF65-F5344CB8AC3E}">
        <p14:creationId xmlns:p14="http://schemas.microsoft.com/office/powerpoint/2010/main" val="3489618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FEFCE1-A8E6-4981-BD38-DF0B372AFA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ED305F-2B82-44E4-B744-196F85D957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95DC62-7603-4CFA-A683-E553FC811E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232FFB-8376-4DB3-A1E5-8F070361AEC0}" type="datetimeFigureOut">
              <a:rPr lang="en-US" smtClean="0"/>
              <a:t>1/5/2026</a:t>
            </a:fld>
            <a:endParaRPr lang="en-US" dirty="0"/>
          </a:p>
        </p:txBody>
      </p:sp>
      <p:sp>
        <p:nvSpPr>
          <p:cNvPr id="5" name="Footer Placeholder 4">
            <a:extLst>
              <a:ext uri="{FF2B5EF4-FFF2-40B4-BE49-F238E27FC236}">
                <a16:creationId xmlns:a16="http://schemas.microsoft.com/office/drawing/2014/main" id="{7BFBEEC8-7BE9-4492-8816-2E021C0935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EC7D69DC-1F40-49BE-9BCC-6BCBECB0C7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607AD0-2C37-4EE0-BE88-741CF00A1674}" type="slidenum">
              <a:rPr lang="en-US" smtClean="0"/>
              <a:t>‹N°›</a:t>
            </a:fld>
            <a:endParaRPr lang="en-US" dirty="0"/>
          </a:p>
        </p:txBody>
      </p:sp>
    </p:spTree>
    <p:extLst>
      <p:ext uri="{BB962C8B-B14F-4D97-AF65-F5344CB8AC3E}">
        <p14:creationId xmlns:p14="http://schemas.microsoft.com/office/powerpoint/2010/main" val="8164409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22">
            <a:extLst>
              <a:ext uri="{FF2B5EF4-FFF2-40B4-BE49-F238E27FC236}">
                <a16:creationId xmlns:a16="http://schemas.microsoft.com/office/drawing/2014/main" id="{7843347A-E58A-4CCD-B700-2F06D652F165}"/>
              </a:ext>
            </a:extLst>
          </p:cNvPr>
          <p:cNvPicPr/>
          <p:nvPr/>
        </p:nvPicPr>
        <p:blipFill>
          <a:blip r:embed="rId2">
            <a:extLst>
              <a:ext uri="{28A0092B-C50C-407E-A947-70E740481C1C}">
                <a14:useLocalDpi xmlns:a14="http://schemas.microsoft.com/office/drawing/2010/main" val="0"/>
              </a:ext>
            </a:extLst>
          </a:blip>
          <a:srcRect/>
          <a:stretch/>
        </p:blipFill>
        <p:spPr>
          <a:xfrm>
            <a:off x="1005455" y="495874"/>
            <a:ext cx="974376" cy="886778"/>
          </a:xfrm>
          <a:prstGeom prst="rect">
            <a:avLst/>
          </a:prstGeom>
          <a:effectLst/>
        </p:spPr>
      </p:pic>
      <p:sp>
        <p:nvSpPr>
          <p:cNvPr id="9" name="ZoneTexte 11">
            <a:extLst>
              <a:ext uri="{FF2B5EF4-FFF2-40B4-BE49-F238E27FC236}">
                <a16:creationId xmlns:a16="http://schemas.microsoft.com/office/drawing/2014/main" id="{A68C7719-3529-43F4-B7A8-225C12849EA7}"/>
              </a:ext>
            </a:extLst>
          </p:cNvPr>
          <p:cNvSpPr txBox="1"/>
          <p:nvPr/>
        </p:nvSpPr>
        <p:spPr>
          <a:xfrm>
            <a:off x="3419303" y="2513373"/>
            <a:ext cx="4921508" cy="368562"/>
          </a:xfrm>
          <a:prstGeom prst="rect">
            <a:avLst/>
          </a:prstGeom>
          <a:noFill/>
        </p:spPr>
        <p:txBody>
          <a:bodyPr wrap="square" rtlCol="0">
            <a:spAutoFit/>
          </a:bodyPr>
          <a:lstStyle/>
          <a:p>
            <a:pPr algn="ctr">
              <a:lnSpc>
                <a:spcPct val="107000"/>
              </a:lnSpc>
              <a:spcAft>
                <a:spcPts val="800"/>
              </a:spcAft>
              <a:tabLst>
                <a:tab pos="1974850" algn="l"/>
              </a:tabLst>
            </a:pPr>
            <a:r>
              <a:rPr lang="fr-FR" b="1" dirty="0">
                <a:solidFill>
                  <a:schemeClr val="accent2">
                    <a:lumMod val="75000"/>
                  </a:schemeClr>
                </a:solidFill>
                <a:effectLst/>
                <a:latin typeface="Rockwell" panose="02060603020205020403" pitchFamily="18" charset="0"/>
                <a:ea typeface="Calibri" panose="020F0502020204030204" pitchFamily="34" charset="0"/>
                <a:cs typeface="Times New Roman" panose="02020603050405020304" pitchFamily="18" charset="0"/>
              </a:rPr>
              <a:t>EXPOSE DE SYSTÈME D’EXPLOITATION</a:t>
            </a:r>
            <a:endParaRPr lang="en-US" dirty="0">
              <a:solidFill>
                <a:schemeClr val="accent6">
                  <a:lumMod val="75000"/>
                </a:schemeClr>
              </a:solidFill>
              <a:effectLst/>
              <a:latin typeface="Rockwell" panose="02060603020205020403" pitchFamily="18" charset="0"/>
              <a:ea typeface="Calibri" panose="020F0502020204030204" pitchFamily="34" charset="0"/>
              <a:cs typeface="Times New Roman" panose="02020603050405020304" pitchFamily="18" charset="0"/>
            </a:endParaRPr>
          </a:p>
        </p:txBody>
      </p:sp>
      <p:sp>
        <p:nvSpPr>
          <p:cNvPr id="10" name="Scroll: Horizontal 9">
            <a:extLst>
              <a:ext uri="{FF2B5EF4-FFF2-40B4-BE49-F238E27FC236}">
                <a16:creationId xmlns:a16="http://schemas.microsoft.com/office/drawing/2014/main" id="{5F4525D8-13E0-44F8-96C1-22D4C93AB53E}"/>
              </a:ext>
            </a:extLst>
          </p:cNvPr>
          <p:cNvSpPr/>
          <p:nvPr/>
        </p:nvSpPr>
        <p:spPr>
          <a:xfrm>
            <a:off x="469942" y="2674489"/>
            <a:ext cx="11308917" cy="1509021"/>
          </a:xfrm>
          <a:prstGeom prst="horizontalScroll">
            <a:avLst/>
          </a:prstGeom>
          <a:solidFill>
            <a:schemeClr val="accent6">
              <a:lumMod val="75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2800" b="1" dirty="0">
                <a:solidFill>
                  <a:srgbClr val="FFFFFF"/>
                </a:solidFill>
                <a:effectLst/>
                <a:latin typeface="Rockwell" panose="02060603020205020403" pitchFamily="18" charset="0"/>
                <a:ea typeface="Calibri" panose="020F0502020204030204" pitchFamily="34" charset="0"/>
                <a:cs typeface="Times New Roman" panose="02020603050405020304" pitchFamily="18" charset="0"/>
              </a:rPr>
              <a:t> </a:t>
            </a:r>
            <a:r>
              <a:rPr lang="fr-FR" sz="2800" b="1" dirty="0">
                <a:solidFill>
                  <a:srgbClr val="FFFFFF"/>
                </a:solidFill>
                <a:latin typeface="Rockwell" panose="02060603020205020403" pitchFamily="18" charset="0"/>
                <a:ea typeface="Calibri" panose="020F0502020204030204" pitchFamily="34" charset="0"/>
                <a:cs typeface="Times New Roman" panose="02020603050405020304" pitchFamily="18" charset="0"/>
              </a:rPr>
              <a:t>CONCEPTION ET MISE EN ŒUVRE DE DISKMONITOR:CAS DE CENTOS STREAM</a:t>
            </a:r>
            <a:endParaRPr lang="en-US" sz="2800" dirty="0">
              <a:effectLst/>
              <a:latin typeface="Rockwell" panose="02060603020205020403" pitchFamily="18" charset="0"/>
              <a:ea typeface="Calibri" panose="020F0502020204030204" pitchFamily="34" charset="0"/>
              <a:cs typeface="Times New Roman" panose="02020603050405020304" pitchFamily="18" charset="0"/>
            </a:endParaRPr>
          </a:p>
        </p:txBody>
      </p:sp>
      <p:sp>
        <p:nvSpPr>
          <p:cNvPr id="11" name="ZoneTexte 13">
            <a:extLst>
              <a:ext uri="{FF2B5EF4-FFF2-40B4-BE49-F238E27FC236}">
                <a16:creationId xmlns:a16="http://schemas.microsoft.com/office/drawing/2014/main" id="{AE93C3D2-2F1C-457C-8879-899801C21915}"/>
              </a:ext>
            </a:extLst>
          </p:cNvPr>
          <p:cNvSpPr txBox="1"/>
          <p:nvPr/>
        </p:nvSpPr>
        <p:spPr>
          <a:xfrm>
            <a:off x="278675" y="4051334"/>
            <a:ext cx="11913325" cy="1600438"/>
          </a:xfrm>
          <a:prstGeom prst="rect">
            <a:avLst/>
          </a:prstGeom>
          <a:noFill/>
        </p:spPr>
        <p:txBody>
          <a:bodyPr wrap="square" rtlCol="0">
            <a:spAutoFit/>
          </a:bodyPr>
          <a:lstStyle/>
          <a:p>
            <a:pPr algn="ctr"/>
            <a:r>
              <a:rPr lang="fr-FR" sz="1400" dirty="0">
                <a:latin typeface="Rockwell" panose="02060603020205020403" pitchFamily="18" charset="0"/>
                <a:cs typeface="Times New Roman" panose="02020603050405020304" pitchFamily="18" charset="0"/>
              </a:rPr>
              <a:t>Option :</a:t>
            </a:r>
          </a:p>
          <a:p>
            <a:pPr algn="ctr"/>
            <a:r>
              <a:rPr lang="fr-FR" sz="1400" b="1" dirty="0">
                <a:latin typeface="Rockwell" panose="02060603020205020403" pitchFamily="18" charset="0"/>
                <a:cs typeface="Times New Roman" panose="02020603050405020304" pitchFamily="18" charset="0"/>
              </a:rPr>
              <a:t>SECURITE DES SYSTÈMES D’INFORMATIONS</a:t>
            </a:r>
          </a:p>
          <a:p>
            <a:pPr algn="ctr"/>
            <a:r>
              <a:rPr lang="fr-FR" sz="1400" b="1" dirty="0">
                <a:latin typeface="Rockwell" panose="02060603020205020403" pitchFamily="18" charset="0"/>
                <a:cs typeface="Times New Roman" panose="02020603050405020304" pitchFamily="18" charset="0"/>
              </a:rPr>
              <a:t> </a:t>
            </a:r>
            <a:endParaRPr lang="fr-FR" sz="1400" dirty="0">
              <a:latin typeface="Rockwell" panose="02060603020205020403" pitchFamily="18" charset="0"/>
              <a:cs typeface="Times New Roman" panose="02020603050405020304" pitchFamily="18" charset="0"/>
            </a:endParaRPr>
          </a:p>
          <a:p>
            <a:pPr algn="ctr"/>
            <a:r>
              <a:rPr lang="fr-FR" sz="1400" dirty="0">
                <a:latin typeface="Rockwell" panose="02060603020205020403" pitchFamily="18" charset="0"/>
                <a:cs typeface="Times New Roman" panose="02020603050405020304" pitchFamily="18" charset="0"/>
              </a:rPr>
              <a:t>Présenté et rédigé par </a:t>
            </a:r>
          </a:p>
          <a:p>
            <a:pPr marL="1657350" lvl="3" indent="-285750" algn="ctr">
              <a:buFont typeface="Wingdings" panose="05000000000000000000" pitchFamily="2" charset="2"/>
              <a:buChar char="Ø"/>
            </a:pPr>
            <a:r>
              <a:rPr lang="fr-FR" sz="1400" dirty="0">
                <a:latin typeface="Rockwell" panose="02060603020205020403" pitchFamily="18" charset="0"/>
                <a:cs typeface="Times New Roman" panose="02020603050405020304" pitchFamily="18" charset="0"/>
              </a:rPr>
              <a:t> </a:t>
            </a:r>
            <a:r>
              <a:rPr lang="fr-FR" sz="1400" b="1" dirty="0">
                <a:solidFill>
                  <a:srgbClr val="000000"/>
                </a:solidFill>
                <a:latin typeface="Rockwell" panose="02060603020205020403" pitchFamily="18" charset="0"/>
                <a:ea typeface="Calibri" panose="020F0502020204030204" pitchFamily="34" charset="0"/>
                <a:cs typeface="Times New Roman" panose="02020603050405020304" pitchFamily="18" charset="0"/>
              </a:rPr>
              <a:t>EKOSSO LANG’LE SYLVAIN</a:t>
            </a:r>
          </a:p>
          <a:p>
            <a:pPr marL="285750" indent="-285750" algn="ctr">
              <a:buFont typeface="Wingdings" panose="05000000000000000000" pitchFamily="2" charset="2"/>
              <a:buChar char="Ø"/>
            </a:pPr>
            <a:r>
              <a:rPr lang="fr-FR" sz="1400" b="1" dirty="0">
                <a:solidFill>
                  <a:srgbClr val="000000"/>
                </a:solidFill>
                <a:latin typeface="Rockwell" panose="02060603020205020403" pitchFamily="18" charset="0"/>
                <a:ea typeface="Calibri" panose="020F0502020204030204" pitchFamily="34" charset="0"/>
                <a:cs typeface="Times New Roman" panose="02020603050405020304" pitchFamily="18" charset="0"/>
              </a:rPr>
              <a:t>FOGOU JESSI</a:t>
            </a:r>
            <a:endParaRPr lang="en-US" sz="1400" dirty="0">
              <a:latin typeface="Rockwell" panose="02060603020205020403" pitchFamily="18" charset="0"/>
              <a:ea typeface="Calibri" panose="020F0502020204030204" pitchFamily="34" charset="0"/>
              <a:cs typeface="Times New Roman" panose="02020603050405020304" pitchFamily="18" charset="0"/>
            </a:endParaRPr>
          </a:p>
          <a:p>
            <a:pPr algn="ctr"/>
            <a:r>
              <a:rPr lang="fr-FR" sz="1400" dirty="0">
                <a:latin typeface="Rockwell" panose="02060603020205020403" pitchFamily="18" charset="0"/>
                <a:cs typeface="Times New Roman" panose="02020603050405020304" pitchFamily="18" charset="0"/>
              </a:rPr>
              <a:t>Étudiants en  Master 1 A SJI </a:t>
            </a:r>
          </a:p>
        </p:txBody>
      </p:sp>
      <p:sp>
        <p:nvSpPr>
          <p:cNvPr id="12" name="ZoneTexte 22">
            <a:extLst>
              <a:ext uri="{FF2B5EF4-FFF2-40B4-BE49-F238E27FC236}">
                <a16:creationId xmlns:a16="http://schemas.microsoft.com/office/drawing/2014/main" id="{0BE18200-3657-4A3F-8F27-1E7C4821714E}"/>
              </a:ext>
            </a:extLst>
          </p:cNvPr>
          <p:cNvSpPr txBox="1"/>
          <p:nvPr/>
        </p:nvSpPr>
        <p:spPr>
          <a:xfrm>
            <a:off x="4528427" y="6368499"/>
            <a:ext cx="3135141" cy="307777"/>
          </a:xfrm>
          <a:prstGeom prst="rect">
            <a:avLst/>
          </a:prstGeom>
          <a:noFill/>
        </p:spPr>
        <p:txBody>
          <a:bodyPr wrap="square" rtlCol="0">
            <a:spAutoFit/>
          </a:bodyPr>
          <a:lstStyle/>
          <a:p>
            <a:pPr algn="ctr"/>
            <a:r>
              <a:rPr lang="fr-FR" sz="1400" b="1" dirty="0">
                <a:solidFill>
                  <a:schemeClr val="accent2">
                    <a:lumMod val="75000"/>
                  </a:schemeClr>
                </a:solidFill>
                <a:latin typeface="Rockwell" panose="02060603020205020403" pitchFamily="18" charset="0"/>
                <a:cs typeface="Times New Roman" panose="02020603050405020304" pitchFamily="18" charset="0"/>
              </a:rPr>
              <a:t>ANNEE ACADEMIQUE 2025-2026</a:t>
            </a:r>
          </a:p>
        </p:txBody>
      </p:sp>
      <p:sp>
        <p:nvSpPr>
          <p:cNvPr id="13" name="ZoneTexte 22">
            <a:extLst>
              <a:ext uri="{FF2B5EF4-FFF2-40B4-BE49-F238E27FC236}">
                <a16:creationId xmlns:a16="http://schemas.microsoft.com/office/drawing/2014/main" id="{F932C186-B8E2-42F6-90F8-5801D3085FF4}"/>
              </a:ext>
            </a:extLst>
          </p:cNvPr>
          <p:cNvSpPr txBox="1"/>
          <p:nvPr/>
        </p:nvSpPr>
        <p:spPr>
          <a:xfrm>
            <a:off x="7428516" y="5345474"/>
            <a:ext cx="2351805" cy="338554"/>
          </a:xfrm>
          <a:prstGeom prst="rect">
            <a:avLst/>
          </a:prstGeom>
          <a:noFill/>
        </p:spPr>
        <p:txBody>
          <a:bodyPr wrap="square" rtlCol="0">
            <a:spAutoFit/>
          </a:bodyPr>
          <a:lstStyle/>
          <a:p>
            <a:pPr algn="ctr"/>
            <a:r>
              <a:rPr lang="fr-FR" sz="1600" b="1" dirty="0">
                <a:solidFill>
                  <a:schemeClr val="accent2">
                    <a:lumMod val="75000"/>
                  </a:schemeClr>
                </a:solidFill>
                <a:latin typeface="Rockwell" panose="02060603020205020403" pitchFamily="18" charset="0"/>
                <a:cs typeface="Times New Roman" panose="02020603050405020304" pitchFamily="18" charset="0"/>
              </a:rPr>
              <a:t>Sous la supervision:</a:t>
            </a:r>
          </a:p>
        </p:txBody>
      </p:sp>
      <p:sp>
        <p:nvSpPr>
          <p:cNvPr id="15" name="Rectangle 14">
            <a:extLst>
              <a:ext uri="{FF2B5EF4-FFF2-40B4-BE49-F238E27FC236}">
                <a16:creationId xmlns:a16="http://schemas.microsoft.com/office/drawing/2014/main" id="{CBBC0183-9263-4C37-B48C-8B166CA4D728}"/>
              </a:ext>
            </a:extLst>
          </p:cNvPr>
          <p:cNvSpPr/>
          <p:nvPr/>
        </p:nvSpPr>
        <p:spPr>
          <a:xfrm>
            <a:off x="8433787" y="5305015"/>
            <a:ext cx="3758214" cy="1071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tabLst>
                <a:tab pos="1078230" algn="l"/>
              </a:tabLst>
            </a:pPr>
            <a:endParaRPr lang="fr-FR" sz="1400" u="sng" dirty="0">
              <a:solidFill>
                <a:srgbClr val="000000"/>
              </a:solidFill>
              <a:effectLst/>
              <a:latin typeface="Rockwell" panose="02060603020205020403" pitchFamily="18" charset="0"/>
              <a:ea typeface="Calibri" panose="020F0502020204030204" pitchFamily="34" charset="0"/>
              <a:cs typeface="Times New Roman" panose="02020603050405020304" pitchFamily="18" charset="0"/>
            </a:endParaRPr>
          </a:p>
          <a:p>
            <a:pPr algn="ctr">
              <a:lnSpc>
                <a:spcPct val="107000"/>
              </a:lnSpc>
              <a:spcAft>
                <a:spcPts val="800"/>
              </a:spcAft>
              <a:tabLst>
                <a:tab pos="1078230" algn="l"/>
              </a:tabLst>
            </a:pPr>
            <a:r>
              <a:rPr lang="fr-FR" sz="1400" dirty="0">
                <a:solidFill>
                  <a:schemeClr val="accent6">
                    <a:lumMod val="75000"/>
                  </a:schemeClr>
                </a:solidFill>
                <a:effectLst/>
                <a:latin typeface="Rockwell" panose="02060603020205020403" pitchFamily="18" charset="0"/>
                <a:ea typeface="Calibri" panose="020F0502020204030204" pitchFamily="34" charset="0"/>
                <a:cs typeface="Times New Roman" panose="02020603050405020304" pitchFamily="18" charset="0"/>
              </a:rPr>
              <a:t>DE :</a:t>
            </a:r>
            <a:endParaRPr lang="en-US" sz="1400" dirty="0">
              <a:solidFill>
                <a:schemeClr val="accent6">
                  <a:lumMod val="75000"/>
                </a:schemeClr>
              </a:solidFill>
              <a:effectLst/>
              <a:latin typeface="Rockwell" panose="02060603020205020403" pitchFamily="18" charset="0"/>
              <a:ea typeface="Calibri" panose="020F0502020204030204" pitchFamily="34" charset="0"/>
              <a:cs typeface="Times New Roman" panose="02020603050405020304" pitchFamily="18" charset="0"/>
            </a:endParaRPr>
          </a:p>
          <a:p>
            <a:pPr algn="ctr">
              <a:lnSpc>
                <a:spcPct val="107000"/>
              </a:lnSpc>
              <a:spcAft>
                <a:spcPts val="800"/>
              </a:spcAft>
            </a:pPr>
            <a:r>
              <a:rPr lang="fr-FR" sz="1400" b="1" dirty="0">
                <a:solidFill>
                  <a:srgbClr val="000000"/>
                </a:solidFill>
                <a:effectLst/>
                <a:latin typeface="Rockwell" panose="02060603020205020403" pitchFamily="18" charset="0"/>
                <a:ea typeface="Calibri" panose="020F0502020204030204" pitchFamily="34" charset="0"/>
                <a:cs typeface="Times New Roman" panose="02020603050405020304" pitchFamily="18" charset="0"/>
              </a:rPr>
              <a:t>M. </a:t>
            </a:r>
            <a:r>
              <a:rPr lang="fr-FR" sz="1400" b="1" dirty="0">
                <a:solidFill>
                  <a:srgbClr val="000000"/>
                </a:solidFill>
                <a:latin typeface="Rockwell" panose="02060603020205020403" pitchFamily="18" charset="0"/>
                <a:ea typeface="Calibri" panose="020F0502020204030204" pitchFamily="34" charset="0"/>
                <a:cs typeface="Times New Roman" panose="02020603050405020304" pitchFamily="18" charset="0"/>
              </a:rPr>
              <a:t>NGUIMBUS</a:t>
            </a:r>
            <a:endParaRPr lang="fr-FR" sz="1400" b="1" dirty="0">
              <a:solidFill>
                <a:srgbClr val="000000"/>
              </a:solidFill>
              <a:effectLst/>
              <a:latin typeface="Rockwell" panose="02060603020205020403" pitchFamily="18" charset="0"/>
              <a:ea typeface="Calibri" panose="020F0502020204030204" pitchFamily="34" charset="0"/>
              <a:cs typeface="Times New Roman" panose="02020603050405020304" pitchFamily="18" charset="0"/>
            </a:endParaRPr>
          </a:p>
          <a:p>
            <a:pPr algn="ctr">
              <a:lnSpc>
                <a:spcPct val="107000"/>
              </a:lnSpc>
              <a:spcAft>
                <a:spcPts val="800"/>
              </a:spcAft>
            </a:pPr>
            <a:r>
              <a:rPr lang="fr-FR" sz="1400" dirty="0">
                <a:solidFill>
                  <a:srgbClr val="000000"/>
                </a:solidFill>
                <a:effectLst/>
                <a:latin typeface="Rockwell" panose="02060603020205020403" pitchFamily="18" charset="0"/>
                <a:ea typeface="Calibri" panose="020F0502020204030204" pitchFamily="34" charset="0"/>
                <a:cs typeface="Times New Roman" panose="02020603050405020304" pitchFamily="18" charset="0"/>
              </a:rPr>
              <a:t>Professeur de système d’exploitation</a:t>
            </a:r>
            <a:endParaRPr lang="en-US" sz="1400" dirty="0">
              <a:effectLst/>
              <a:latin typeface="Rockwell" panose="02060603020205020403" pitchFamily="18" charset="0"/>
              <a:ea typeface="Calibri" panose="020F0502020204030204" pitchFamily="34" charset="0"/>
              <a:cs typeface="Times New Roman" panose="02020603050405020304" pitchFamily="18" charset="0"/>
            </a:endParaRPr>
          </a:p>
          <a:p>
            <a:pPr algn="r">
              <a:lnSpc>
                <a:spcPct val="107000"/>
              </a:lnSpc>
              <a:spcAft>
                <a:spcPts val="800"/>
              </a:spcAft>
            </a:pPr>
            <a:r>
              <a:rPr lang="fr-FR" sz="1400" dirty="0">
                <a:solidFill>
                  <a:srgbClr val="000000"/>
                </a:solidFill>
                <a:effectLst/>
                <a:latin typeface="Rockwell" panose="02060603020205020403" pitchFamily="18" charset="0"/>
                <a:ea typeface="Calibri" panose="020F0502020204030204" pitchFamily="34" charset="0"/>
                <a:cs typeface="Times New Roman" panose="02020603050405020304" pitchFamily="18" charset="0"/>
              </a:rPr>
              <a:t> </a:t>
            </a:r>
            <a:endParaRPr lang="en-US" sz="1400" dirty="0">
              <a:effectLst/>
              <a:latin typeface="Rockwell" panose="02060603020205020403" pitchFamily="18" charset="0"/>
              <a:ea typeface="Calibri" panose="020F0502020204030204" pitchFamily="34" charset="0"/>
              <a:cs typeface="Times New Roman" panose="02020603050405020304" pitchFamily="18" charset="0"/>
            </a:endParaRPr>
          </a:p>
        </p:txBody>
      </p:sp>
      <p:sp>
        <p:nvSpPr>
          <p:cNvPr id="16" name="Zone de texte 7">
            <a:extLst>
              <a:ext uri="{FF2B5EF4-FFF2-40B4-BE49-F238E27FC236}">
                <a16:creationId xmlns:a16="http://schemas.microsoft.com/office/drawing/2014/main" id="{9767670C-0D13-4D0C-8E47-C08000120904}"/>
              </a:ext>
            </a:extLst>
          </p:cNvPr>
          <p:cNvSpPr txBox="1"/>
          <p:nvPr/>
        </p:nvSpPr>
        <p:spPr>
          <a:xfrm>
            <a:off x="9123289" y="305057"/>
            <a:ext cx="2655570" cy="107759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200000"/>
              </a:lnSpc>
              <a:spcAft>
                <a:spcPts val="800"/>
              </a:spcAft>
            </a:pPr>
            <a:endParaRPr lang="en-US" sz="1400" dirty="0">
              <a:effectLst/>
              <a:latin typeface="Amasis MT Pro Medium" panose="02040604050005020304" pitchFamily="18" charset="0"/>
              <a:ea typeface="Calibri" panose="020F0502020204030204" pitchFamily="34" charset="0"/>
              <a:cs typeface="Times New Roman" panose="02020603050405020304" pitchFamily="18" charset="0"/>
            </a:endParaRPr>
          </a:p>
        </p:txBody>
      </p:sp>
      <p:pic>
        <p:nvPicPr>
          <p:cNvPr id="18" name="Picture 17">
            <a:extLst>
              <a:ext uri="{FF2B5EF4-FFF2-40B4-BE49-F238E27FC236}">
                <a16:creationId xmlns:a16="http://schemas.microsoft.com/office/drawing/2014/main" id="{86AFB2D4-5FEB-4086-8655-0158DA9E56F5}"/>
              </a:ext>
            </a:extLst>
          </p:cNvPr>
          <p:cNvPicPr/>
          <p:nvPr/>
        </p:nvPicPr>
        <p:blipFill>
          <a:blip r:embed="rId2">
            <a:extLst>
              <a:ext uri="{28A0092B-C50C-407E-A947-70E740481C1C}">
                <a14:useLocalDpi xmlns:a14="http://schemas.microsoft.com/office/drawing/2010/main" val="0"/>
              </a:ext>
            </a:extLst>
          </a:blip>
          <a:srcRect/>
          <a:stretch/>
        </p:blipFill>
        <p:spPr>
          <a:xfrm>
            <a:off x="10087308" y="600867"/>
            <a:ext cx="1099237" cy="791795"/>
          </a:xfrm>
          <a:prstGeom prst="rect">
            <a:avLst/>
          </a:prstGeom>
        </p:spPr>
      </p:pic>
    </p:spTree>
    <p:extLst>
      <p:ext uri="{BB962C8B-B14F-4D97-AF65-F5344CB8AC3E}">
        <p14:creationId xmlns:p14="http://schemas.microsoft.com/office/powerpoint/2010/main" val="3545026592"/>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195C801-FEC2-4935-BC79-CDA576786FDD}"/>
              </a:ext>
            </a:extLst>
          </p:cNvPr>
          <p:cNvSpPr/>
          <p:nvPr/>
        </p:nvSpPr>
        <p:spPr>
          <a:xfrm>
            <a:off x="3984591" y="-67110"/>
            <a:ext cx="8207409" cy="685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bg1"/>
              </a:solidFill>
              <a:latin typeface="Rockwell" panose="02060603020205020403" pitchFamily="18" charset="0"/>
            </a:endParaRPr>
          </a:p>
        </p:txBody>
      </p:sp>
      <p:pic>
        <p:nvPicPr>
          <p:cNvPr id="3" name="Picture 2" descr="A picture containing text, clipart&#10;&#10;Description automatically generated">
            <a:extLst>
              <a:ext uri="{FF2B5EF4-FFF2-40B4-BE49-F238E27FC236}">
                <a16:creationId xmlns:a16="http://schemas.microsoft.com/office/drawing/2014/main" id="{389989F5-ABEB-4577-832F-6CD1B885E6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58" y="0"/>
            <a:ext cx="5151121" cy="6858000"/>
          </a:xfrm>
          <a:prstGeom prst="rect">
            <a:avLst/>
          </a:prstGeom>
        </p:spPr>
      </p:pic>
      <p:sp>
        <p:nvSpPr>
          <p:cNvPr id="4" name="Oval 3">
            <a:extLst>
              <a:ext uri="{FF2B5EF4-FFF2-40B4-BE49-F238E27FC236}">
                <a16:creationId xmlns:a16="http://schemas.microsoft.com/office/drawing/2014/main" id="{8D03F5C1-9AEE-41FA-B838-C1AF70BBE1E8}"/>
              </a:ext>
            </a:extLst>
          </p:cNvPr>
          <p:cNvSpPr/>
          <p:nvPr/>
        </p:nvSpPr>
        <p:spPr>
          <a:xfrm>
            <a:off x="3534792" y="769333"/>
            <a:ext cx="5122416" cy="5329716"/>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bg1"/>
              </a:solidFill>
              <a:latin typeface="Rockwell" panose="02060603020205020403" pitchFamily="18" charset="0"/>
            </a:endParaRPr>
          </a:p>
        </p:txBody>
      </p:sp>
      <p:sp>
        <p:nvSpPr>
          <p:cNvPr id="6" name="Oval 5">
            <a:extLst>
              <a:ext uri="{FF2B5EF4-FFF2-40B4-BE49-F238E27FC236}">
                <a16:creationId xmlns:a16="http://schemas.microsoft.com/office/drawing/2014/main" id="{E494758F-13A0-4BB3-B8AF-5AC2ABD264CE}"/>
              </a:ext>
            </a:extLst>
          </p:cNvPr>
          <p:cNvSpPr/>
          <p:nvPr/>
        </p:nvSpPr>
        <p:spPr>
          <a:xfrm>
            <a:off x="4385566" y="1355415"/>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1</a:t>
            </a:r>
            <a:endParaRPr lang="en-US" sz="1400" b="1" dirty="0">
              <a:solidFill>
                <a:schemeClr val="bg1"/>
              </a:solidFill>
              <a:latin typeface="Rockwell" panose="02060603020205020403" pitchFamily="18" charset="0"/>
            </a:endParaRPr>
          </a:p>
        </p:txBody>
      </p:sp>
      <p:sp>
        <p:nvSpPr>
          <p:cNvPr id="9" name="Oval 8">
            <a:extLst>
              <a:ext uri="{FF2B5EF4-FFF2-40B4-BE49-F238E27FC236}">
                <a16:creationId xmlns:a16="http://schemas.microsoft.com/office/drawing/2014/main" id="{F89CFFD7-2829-4532-8596-AA0A1D577B8B}"/>
              </a:ext>
            </a:extLst>
          </p:cNvPr>
          <p:cNvSpPr/>
          <p:nvPr/>
        </p:nvSpPr>
        <p:spPr>
          <a:xfrm>
            <a:off x="4357287" y="1919887"/>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2</a:t>
            </a:r>
            <a:endParaRPr lang="en-US" sz="1400" b="1" dirty="0">
              <a:solidFill>
                <a:schemeClr val="bg1"/>
              </a:solidFill>
              <a:latin typeface="Rockwell" panose="02060603020205020403" pitchFamily="18" charset="0"/>
            </a:endParaRPr>
          </a:p>
        </p:txBody>
      </p:sp>
      <p:sp>
        <p:nvSpPr>
          <p:cNvPr id="11" name="Oval 10">
            <a:extLst>
              <a:ext uri="{FF2B5EF4-FFF2-40B4-BE49-F238E27FC236}">
                <a16:creationId xmlns:a16="http://schemas.microsoft.com/office/drawing/2014/main" id="{035C173E-AE4F-45E5-B63F-1FF2A8B7F831}"/>
              </a:ext>
            </a:extLst>
          </p:cNvPr>
          <p:cNvSpPr/>
          <p:nvPr/>
        </p:nvSpPr>
        <p:spPr>
          <a:xfrm>
            <a:off x="4357286" y="2435493"/>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3</a:t>
            </a:r>
            <a:endParaRPr lang="en-US" sz="1400" b="1" dirty="0">
              <a:solidFill>
                <a:schemeClr val="bg1"/>
              </a:solidFill>
              <a:latin typeface="Rockwell" panose="02060603020205020403" pitchFamily="18" charset="0"/>
            </a:endParaRPr>
          </a:p>
        </p:txBody>
      </p:sp>
      <p:sp>
        <p:nvSpPr>
          <p:cNvPr id="12" name="Oval 11">
            <a:extLst>
              <a:ext uri="{FF2B5EF4-FFF2-40B4-BE49-F238E27FC236}">
                <a16:creationId xmlns:a16="http://schemas.microsoft.com/office/drawing/2014/main" id="{0ED611DB-9154-4AFF-9602-C088129257DC}"/>
              </a:ext>
            </a:extLst>
          </p:cNvPr>
          <p:cNvSpPr/>
          <p:nvPr/>
        </p:nvSpPr>
        <p:spPr>
          <a:xfrm>
            <a:off x="4357286" y="3006784"/>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4</a:t>
            </a:r>
            <a:endParaRPr lang="en-US" sz="1400" b="1" dirty="0">
              <a:solidFill>
                <a:schemeClr val="bg1"/>
              </a:solidFill>
              <a:latin typeface="Rockwell" panose="02060603020205020403" pitchFamily="18" charset="0"/>
            </a:endParaRPr>
          </a:p>
        </p:txBody>
      </p:sp>
      <p:sp>
        <p:nvSpPr>
          <p:cNvPr id="13" name="Oval 12">
            <a:extLst>
              <a:ext uri="{FF2B5EF4-FFF2-40B4-BE49-F238E27FC236}">
                <a16:creationId xmlns:a16="http://schemas.microsoft.com/office/drawing/2014/main" id="{63027234-4E6F-48C2-A86B-136BB00E5F3E}"/>
              </a:ext>
            </a:extLst>
          </p:cNvPr>
          <p:cNvSpPr/>
          <p:nvPr/>
        </p:nvSpPr>
        <p:spPr>
          <a:xfrm>
            <a:off x="4357285" y="4036851"/>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6</a:t>
            </a:r>
            <a:endParaRPr lang="en-US" sz="1400" b="1" dirty="0">
              <a:solidFill>
                <a:schemeClr val="bg1"/>
              </a:solidFill>
              <a:latin typeface="Rockwell" panose="02060603020205020403" pitchFamily="18" charset="0"/>
            </a:endParaRPr>
          </a:p>
        </p:txBody>
      </p:sp>
      <p:sp>
        <p:nvSpPr>
          <p:cNvPr id="7" name="Rectangle 6">
            <a:extLst>
              <a:ext uri="{FF2B5EF4-FFF2-40B4-BE49-F238E27FC236}">
                <a16:creationId xmlns:a16="http://schemas.microsoft.com/office/drawing/2014/main" id="{193C7864-99AE-43E7-A386-D37ECB4C0A0F}"/>
              </a:ext>
            </a:extLst>
          </p:cNvPr>
          <p:cNvSpPr/>
          <p:nvPr/>
        </p:nvSpPr>
        <p:spPr>
          <a:xfrm>
            <a:off x="4563119" y="1335162"/>
            <a:ext cx="2182428" cy="3671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INTRODUCTION</a:t>
            </a:r>
            <a:endParaRPr lang="en-US" sz="1400" b="1" dirty="0">
              <a:solidFill>
                <a:schemeClr val="bg1"/>
              </a:solidFill>
              <a:latin typeface="Rockwell" panose="02060603020205020403" pitchFamily="18" charset="0"/>
            </a:endParaRPr>
          </a:p>
        </p:txBody>
      </p:sp>
      <p:sp>
        <p:nvSpPr>
          <p:cNvPr id="15" name="Rectangle 14">
            <a:extLst>
              <a:ext uri="{FF2B5EF4-FFF2-40B4-BE49-F238E27FC236}">
                <a16:creationId xmlns:a16="http://schemas.microsoft.com/office/drawing/2014/main" id="{0536CD49-99B7-4890-8F2B-49424FD08AEE}"/>
              </a:ext>
            </a:extLst>
          </p:cNvPr>
          <p:cNvSpPr/>
          <p:nvPr/>
        </p:nvSpPr>
        <p:spPr>
          <a:xfrm>
            <a:off x="4100138" y="1958616"/>
            <a:ext cx="4427876" cy="3864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CONTEXTE ET JUSTIFICATION</a:t>
            </a:r>
            <a:endParaRPr lang="en-US" sz="1400" b="1" dirty="0">
              <a:solidFill>
                <a:schemeClr val="bg1"/>
              </a:solidFill>
              <a:latin typeface="Rockwell" panose="02060603020205020403" pitchFamily="18" charset="0"/>
            </a:endParaRPr>
          </a:p>
          <a:p>
            <a:pPr algn="ctr"/>
            <a:r>
              <a:rPr lang="fr-FR" sz="1400" b="1" dirty="0">
                <a:solidFill>
                  <a:schemeClr val="bg1"/>
                </a:solidFill>
                <a:latin typeface="Rockwell" panose="02060603020205020403" pitchFamily="18" charset="0"/>
              </a:rPr>
              <a:t> </a:t>
            </a:r>
            <a:endParaRPr lang="en-US" sz="1400" b="1" dirty="0">
              <a:solidFill>
                <a:schemeClr val="bg1"/>
              </a:solidFill>
              <a:latin typeface="Rockwell" panose="02060603020205020403" pitchFamily="18" charset="0"/>
            </a:endParaRPr>
          </a:p>
        </p:txBody>
      </p:sp>
      <p:sp>
        <p:nvSpPr>
          <p:cNvPr id="16" name="Rectangle 15">
            <a:extLst>
              <a:ext uri="{FF2B5EF4-FFF2-40B4-BE49-F238E27FC236}">
                <a16:creationId xmlns:a16="http://schemas.microsoft.com/office/drawing/2014/main" id="{B62C60CA-F3F5-40A2-85EA-101C29C86EFE}"/>
              </a:ext>
            </a:extLst>
          </p:cNvPr>
          <p:cNvSpPr/>
          <p:nvPr/>
        </p:nvSpPr>
        <p:spPr>
          <a:xfrm>
            <a:off x="4660773" y="2729772"/>
            <a:ext cx="5409983" cy="400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bg1"/>
              </a:solidFill>
              <a:latin typeface="Rockwell" panose="02060603020205020403" pitchFamily="18" charset="0"/>
            </a:endParaRPr>
          </a:p>
        </p:txBody>
      </p:sp>
      <p:sp>
        <p:nvSpPr>
          <p:cNvPr id="19" name="Rectangle 18">
            <a:extLst>
              <a:ext uri="{FF2B5EF4-FFF2-40B4-BE49-F238E27FC236}">
                <a16:creationId xmlns:a16="http://schemas.microsoft.com/office/drawing/2014/main" id="{F00C9890-CE54-433D-826C-B9C2A6CBDB87}"/>
              </a:ext>
            </a:extLst>
          </p:cNvPr>
          <p:cNvSpPr/>
          <p:nvPr/>
        </p:nvSpPr>
        <p:spPr>
          <a:xfrm>
            <a:off x="4601349" y="4036851"/>
            <a:ext cx="3203365" cy="3551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ESTIMATION ET COUT DU PROJET</a:t>
            </a:r>
            <a:endParaRPr lang="en-US" sz="1400" b="1" dirty="0">
              <a:solidFill>
                <a:schemeClr val="bg1"/>
              </a:solidFill>
              <a:latin typeface="Rockwell" panose="02060603020205020403" pitchFamily="18" charset="0"/>
            </a:endParaRPr>
          </a:p>
        </p:txBody>
      </p:sp>
      <p:sp>
        <p:nvSpPr>
          <p:cNvPr id="2" name="Rectangle 1">
            <a:extLst>
              <a:ext uri="{FF2B5EF4-FFF2-40B4-BE49-F238E27FC236}">
                <a16:creationId xmlns:a16="http://schemas.microsoft.com/office/drawing/2014/main" id="{E4CF3D9F-E0AA-2DAE-BA4E-B274B1868EEA}"/>
              </a:ext>
            </a:extLst>
          </p:cNvPr>
          <p:cNvSpPr/>
          <p:nvPr/>
        </p:nvSpPr>
        <p:spPr>
          <a:xfrm>
            <a:off x="4057092" y="2517414"/>
            <a:ext cx="3916534" cy="3864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OBJECTIFS DU PROJET</a:t>
            </a:r>
            <a:endParaRPr lang="en-US" sz="1400" b="1" dirty="0">
              <a:solidFill>
                <a:schemeClr val="bg1"/>
              </a:solidFill>
              <a:latin typeface="Rockwell" panose="02060603020205020403" pitchFamily="18" charset="0"/>
            </a:endParaRPr>
          </a:p>
          <a:p>
            <a:pPr algn="ctr"/>
            <a:r>
              <a:rPr lang="fr-FR" sz="1400" b="1" dirty="0">
                <a:solidFill>
                  <a:schemeClr val="bg1"/>
                </a:solidFill>
                <a:latin typeface="Rockwell" panose="02060603020205020403" pitchFamily="18" charset="0"/>
              </a:rPr>
              <a:t> </a:t>
            </a:r>
            <a:endParaRPr lang="en-US" sz="1400" b="1" dirty="0">
              <a:solidFill>
                <a:schemeClr val="bg1"/>
              </a:solidFill>
              <a:latin typeface="Rockwell" panose="02060603020205020403" pitchFamily="18" charset="0"/>
            </a:endParaRPr>
          </a:p>
        </p:txBody>
      </p:sp>
      <p:sp>
        <p:nvSpPr>
          <p:cNvPr id="5" name="Rectangle 4">
            <a:extLst>
              <a:ext uri="{FF2B5EF4-FFF2-40B4-BE49-F238E27FC236}">
                <a16:creationId xmlns:a16="http://schemas.microsoft.com/office/drawing/2014/main" id="{0F03E0D4-B4F8-F689-A018-857CA8512918}"/>
              </a:ext>
            </a:extLst>
          </p:cNvPr>
          <p:cNvSpPr/>
          <p:nvPr/>
        </p:nvSpPr>
        <p:spPr>
          <a:xfrm>
            <a:off x="4524033" y="3065033"/>
            <a:ext cx="4769796" cy="3864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EXPRESSION DES BESOINS UTILISATEURS</a:t>
            </a:r>
            <a:endParaRPr lang="en-US" sz="1400" b="1" dirty="0">
              <a:solidFill>
                <a:schemeClr val="bg1"/>
              </a:solidFill>
              <a:latin typeface="Rockwell" panose="02060603020205020403" pitchFamily="18" charset="0"/>
            </a:endParaRPr>
          </a:p>
          <a:p>
            <a:pPr algn="ctr"/>
            <a:r>
              <a:rPr lang="fr-FR" sz="1400" b="1" dirty="0">
                <a:solidFill>
                  <a:schemeClr val="bg1"/>
                </a:solidFill>
                <a:latin typeface="Rockwell" panose="02060603020205020403" pitchFamily="18" charset="0"/>
              </a:rPr>
              <a:t> </a:t>
            </a:r>
            <a:endParaRPr lang="en-US" sz="1400" b="1" dirty="0">
              <a:solidFill>
                <a:schemeClr val="bg1"/>
              </a:solidFill>
              <a:latin typeface="Rockwell" panose="02060603020205020403" pitchFamily="18" charset="0"/>
            </a:endParaRPr>
          </a:p>
        </p:txBody>
      </p:sp>
      <p:sp>
        <p:nvSpPr>
          <p:cNvPr id="8" name="Oval 11">
            <a:extLst>
              <a:ext uri="{FF2B5EF4-FFF2-40B4-BE49-F238E27FC236}">
                <a16:creationId xmlns:a16="http://schemas.microsoft.com/office/drawing/2014/main" id="{3BD536A0-CB9C-AEA0-B191-70E22C2CC422}"/>
              </a:ext>
            </a:extLst>
          </p:cNvPr>
          <p:cNvSpPr/>
          <p:nvPr/>
        </p:nvSpPr>
        <p:spPr>
          <a:xfrm>
            <a:off x="4357286" y="3529708"/>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5</a:t>
            </a:r>
            <a:endParaRPr lang="en-US" sz="1400" b="1" dirty="0">
              <a:solidFill>
                <a:schemeClr val="bg1"/>
              </a:solidFill>
              <a:latin typeface="Rockwell" panose="02060603020205020403" pitchFamily="18" charset="0"/>
            </a:endParaRPr>
          </a:p>
        </p:txBody>
      </p:sp>
      <p:sp>
        <p:nvSpPr>
          <p:cNvPr id="10" name="Rectangle 9">
            <a:extLst>
              <a:ext uri="{FF2B5EF4-FFF2-40B4-BE49-F238E27FC236}">
                <a16:creationId xmlns:a16="http://schemas.microsoft.com/office/drawing/2014/main" id="{4E48C738-CE97-9EAB-8638-3907E8F3AE13}"/>
              </a:ext>
            </a:extLst>
          </p:cNvPr>
          <p:cNvSpPr/>
          <p:nvPr/>
        </p:nvSpPr>
        <p:spPr>
          <a:xfrm>
            <a:off x="3960959" y="3622061"/>
            <a:ext cx="4769796" cy="3864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PLANIFICATION DU PROJET</a:t>
            </a:r>
            <a:endParaRPr lang="en-US" sz="1400" b="1" dirty="0">
              <a:solidFill>
                <a:schemeClr val="bg1"/>
              </a:solidFill>
              <a:latin typeface="Rockwell" panose="02060603020205020403" pitchFamily="18" charset="0"/>
            </a:endParaRPr>
          </a:p>
          <a:p>
            <a:pPr algn="ctr"/>
            <a:r>
              <a:rPr lang="fr-FR" sz="1400" b="1" dirty="0">
                <a:solidFill>
                  <a:schemeClr val="bg1"/>
                </a:solidFill>
                <a:latin typeface="Rockwell" panose="02060603020205020403" pitchFamily="18" charset="0"/>
              </a:rPr>
              <a:t> </a:t>
            </a:r>
            <a:endParaRPr lang="en-US" sz="1400" b="1" dirty="0">
              <a:solidFill>
                <a:schemeClr val="bg1"/>
              </a:solidFill>
              <a:latin typeface="Rockwell" panose="02060603020205020403" pitchFamily="18" charset="0"/>
            </a:endParaRPr>
          </a:p>
        </p:txBody>
      </p:sp>
      <p:sp>
        <p:nvSpPr>
          <p:cNvPr id="14" name="Oval 12">
            <a:extLst>
              <a:ext uri="{FF2B5EF4-FFF2-40B4-BE49-F238E27FC236}">
                <a16:creationId xmlns:a16="http://schemas.microsoft.com/office/drawing/2014/main" id="{E3EEEAA1-D7B0-C8C0-7EB2-7A70CEA84AB3}"/>
              </a:ext>
            </a:extLst>
          </p:cNvPr>
          <p:cNvSpPr/>
          <p:nvPr/>
        </p:nvSpPr>
        <p:spPr>
          <a:xfrm>
            <a:off x="4342655" y="4601323"/>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7</a:t>
            </a:r>
            <a:endParaRPr lang="en-US" sz="1400" b="1" dirty="0">
              <a:solidFill>
                <a:schemeClr val="bg1"/>
              </a:solidFill>
              <a:latin typeface="Rockwell" panose="02060603020205020403" pitchFamily="18" charset="0"/>
            </a:endParaRPr>
          </a:p>
        </p:txBody>
      </p:sp>
      <p:sp>
        <p:nvSpPr>
          <p:cNvPr id="17" name="Oval 12">
            <a:extLst>
              <a:ext uri="{FF2B5EF4-FFF2-40B4-BE49-F238E27FC236}">
                <a16:creationId xmlns:a16="http://schemas.microsoft.com/office/drawing/2014/main" id="{A854ED96-60C9-1A41-0BA6-CBA60D0AA54C}"/>
              </a:ext>
            </a:extLst>
          </p:cNvPr>
          <p:cNvSpPr/>
          <p:nvPr/>
        </p:nvSpPr>
        <p:spPr>
          <a:xfrm>
            <a:off x="4357285" y="5067950"/>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8</a:t>
            </a:r>
            <a:endParaRPr lang="en-US" sz="1400" b="1" dirty="0">
              <a:solidFill>
                <a:schemeClr val="bg1"/>
              </a:solidFill>
              <a:latin typeface="Rockwell" panose="02060603020205020403" pitchFamily="18" charset="0"/>
            </a:endParaRPr>
          </a:p>
        </p:txBody>
      </p:sp>
      <p:sp>
        <p:nvSpPr>
          <p:cNvPr id="18" name="Oval 12">
            <a:extLst>
              <a:ext uri="{FF2B5EF4-FFF2-40B4-BE49-F238E27FC236}">
                <a16:creationId xmlns:a16="http://schemas.microsoft.com/office/drawing/2014/main" id="{B8E4A47C-571F-D57F-2881-99A21848A2CB}"/>
              </a:ext>
            </a:extLst>
          </p:cNvPr>
          <p:cNvSpPr/>
          <p:nvPr/>
        </p:nvSpPr>
        <p:spPr>
          <a:xfrm>
            <a:off x="4368888" y="5534577"/>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9</a:t>
            </a:r>
            <a:endParaRPr lang="en-US" sz="1400" b="1" dirty="0">
              <a:solidFill>
                <a:schemeClr val="bg1"/>
              </a:solidFill>
              <a:latin typeface="Rockwell" panose="02060603020205020403" pitchFamily="18" charset="0"/>
            </a:endParaRPr>
          </a:p>
        </p:txBody>
      </p:sp>
      <p:sp>
        <p:nvSpPr>
          <p:cNvPr id="20" name="Rectangle 19">
            <a:extLst>
              <a:ext uri="{FF2B5EF4-FFF2-40B4-BE49-F238E27FC236}">
                <a16:creationId xmlns:a16="http://schemas.microsoft.com/office/drawing/2014/main" id="{97D4E002-8770-9CCF-51C9-4101C56DD5B3}"/>
              </a:ext>
            </a:extLst>
          </p:cNvPr>
          <p:cNvSpPr/>
          <p:nvPr/>
        </p:nvSpPr>
        <p:spPr>
          <a:xfrm>
            <a:off x="4660773" y="4584127"/>
            <a:ext cx="3203365" cy="3551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CONTRAINTES DU PROJET</a:t>
            </a:r>
            <a:endParaRPr lang="en-US" sz="1400" b="1" dirty="0">
              <a:solidFill>
                <a:schemeClr val="bg1"/>
              </a:solidFill>
              <a:latin typeface="Rockwell" panose="02060603020205020403" pitchFamily="18" charset="0"/>
            </a:endParaRPr>
          </a:p>
        </p:txBody>
      </p:sp>
      <p:sp>
        <p:nvSpPr>
          <p:cNvPr id="22" name="Rectangle 21">
            <a:extLst>
              <a:ext uri="{FF2B5EF4-FFF2-40B4-BE49-F238E27FC236}">
                <a16:creationId xmlns:a16="http://schemas.microsoft.com/office/drawing/2014/main" id="{B573D51D-B19E-6DE9-5B87-E5E21A89A01C}"/>
              </a:ext>
            </a:extLst>
          </p:cNvPr>
          <p:cNvSpPr/>
          <p:nvPr/>
        </p:nvSpPr>
        <p:spPr>
          <a:xfrm>
            <a:off x="3972008" y="5131403"/>
            <a:ext cx="3203365" cy="3551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LIVRABLES</a:t>
            </a:r>
            <a:endParaRPr lang="en-US" sz="1400" b="1" dirty="0">
              <a:solidFill>
                <a:schemeClr val="bg1"/>
              </a:solidFill>
              <a:latin typeface="Rockwell" panose="02060603020205020403" pitchFamily="18" charset="0"/>
            </a:endParaRPr>
          </a:p>
        </p:txBody>
      </p:sp>
      <p:sp>
        <p:nvSpPr>
          <p:cNvPr id="23" name="Rectangle 22">
            <a:extLst>
              <a:ext uri="{FF2B5EF4-FFF2-40B4-BE49-F238E27FC236}">
                <a16:creationId xmlns:a16="http://schemas.microsoft.com/office/drawing/2014/main" id="{53CED59F-78DC-8DC5-83C5-804AF07986CB}"/>
              </a:ext>
            </a:extLst>
          </p:cNvPr>
          <p:cNvSpPr/>
          <p:nvPr/>
        </p:nvSpPr>
        <p:spPr>
          <a:xfrm>
            <a:off x="4052650" y="5610850"/>
            <a:ext cx="3203365" cy="3551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CONCLUSION</a:t>
            </a:r>
            <a:endParaRPr lang="en-US" sz="1400" b="1" dirty="0">
              <a:solidFill>
                <a:schemeClr val="bg1"/>
              </a:solidFill>
              <a:latin typeface="Rockwell" panose="02060603020205020403" pitchFamily="18" charset="0"/>
            </a:endParaRPr>
          </a:p>
        </p:txBody>
      </p:sp>
    </p:spTree>
    <p:extLst>
      <p:ext uri="{BB962C8B-B14F-4D97-AF65-F5344CB8AC3E}">
        <p14:creationId xmlns:p14="http://schemas.microsoft.com/office/powerpoint/2010/main" val="4166579787"/>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strVal val="#ppt_h"/>
                                          </p:val>
                                        </p:tav>
                                        <p:tav tm="100000">
                                          <p:val>
                                            <p:strVal val="#ppt_h"/>
                                          </p:val>
                                        </p:tav>
                                      </p:tavLst>
                                    </p:anim>
                                  </p:childTnLst>
                                </p:cTn>
                              </p:par>
                              <p:par>
                                <p:cTn id="9" presetID="47"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p:cTn id="18" dur="500" fill="hold"/>
                                        <p:tgtEl>
                                          <p:spTgt spid="9"/>
                                        </p:tgtEl>
                                        <p:attrNameLst>
                                          <p:attrName>ppt_w</p:attrName>
                                        </p:attrNameLst>
                                      </p:cBhvr>
                                      <p:tavLst>
                                        <p:tav tm="0">
                                          <p:val>
                                            <p:fltVal val="0"/>
                                          </p:val>
                                        </p:tav>
                                        <p:tav tm="100000">
                                          <p:val>
                                            <p:strVal val="#ppt_w"/>
                                          </p:val>
                                        </p:tav>
                                      </p:tavLst>
                                    </p:anim>
                                    <p:anim calcmode="lin" valueType="num">
                                      <p:cBhvr>
                                        <p:cTn id="19" dur="500" fill="hold"/>
                                        <p:tgtEl>
                                          <p:spTgt spid="9"/>
                                        </p:tgtEl>
                                        <p:attrNameLst>
                                          <p:attrName>ppt_h</p:attrName>
                                        </p:attrNameLst>
                                      </p:cBhvr>
                                      <p:tavLst>
                                        <p:tav tm="0">
                                          <p:val>
                                            <p:strVal val="#ppt_h"/>
                                          </p:val>
                                        </p:tav>
                                        <p:tav tm="100000">
                                          <p:val>
                                            <p:strVal val="#ppt_h"/>
                                          </p:val>
                                        </p:tav>
                                      </p:tavLst>
                                    </p:anim>
                                  </p:childTnLst>
                                </p:cTn>
                              </p:par>
                              <p:par>
                                <p:cTn id="20" presetID="47"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anim calcmode="lin" valueType="num">
                                      <p:cBhvr>
                                        <p:cTn id="23" dur="500" fill="hold"/>
                                        <p:tgtEl>
                                          <p:spTgt spid="15"/>
                                        </p:tgtEl>
                                        <p:attrNameLst>
                                          <p:attrName>ppt_x</p:attrName>
                                        </p:attrNameLst>
                                      </p:cBhvr>
                                      <p:tavLst>
                                        <p:tav tm="0">
                                          <p:val>
                                            <p:strVal val="#ppt_x"/>
                                          </p:val>
                                        </p:tav>
                                        <p:tav tm="100000">
                                          <p:val>
                                            <p:strVal val="#ppt_x"/>
                                          </p:val>
                                        </p:tav>
                                      </p:tavLst>
                                    </p:anim>
                                    <p:anim calcmode="lin" valueType="num">
                                      <p:cBhvr>
                                        <p:cTn id="24"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7" presetClass="entr" presetSubtype="1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strVal val="#ppt_h"/>
                                          </p:val>
                                        </p:tav>
                                        <p:tav tm="100000">
                                          <p:val>
                                            <p:strVal val="#ppt_h"/>
                                          </p:val>
                                        </p:tav>
                                      </p:tavLst>
                                    </p:anim>
                                  </p:childTnLst>
                                </p:cTn>
                              </p:par>
                              <p:par>
                                <p:cTn id="31" presetID="47" presetClass="entr" presetSubtype="0" fill="hold" grpId="0" nodeType="withEffect" nodePh="1">
                                  <p:stCondLst>
                                    <p:cond delay="0"/>
                                  </p:stCondLst>
                                  <p:endCondLst>
                                    <p:cond evt="begin" delay="0">
                                      <p:tn val="31"/>
                                    </p:cond>
                                  </p:end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anim calcmode="lin" valueType="num">
                                      <p:cBhvr>
                                        <p:cTn id="34" dur="500" fill="hold"/>
                                        <p:tgtEl>
                                          <p:spTgt spid="16"/>
                                        </p:tgtEl>
                                        <p:attrNameLst>
                                          <p:attrName>ppt_x</p:attrName>
                                        </p:attrNameLst>
                                      </p:cBhvr>
                                      <p:tavLst>
                                        <p:tav tm="0">
                                          <p:val>
                                            <p:strVal val="#ppt_x"/>
                                          </p:val>
                                        </p:tav>
                                        <p:tav tm="100000">
                                          <p:val>
                                            <p:strVal val="#ppt_x"/>
                                          </p:val>
                                        </p:tav>
                                      </p:tavLst>
                                    </p:anim>
                                    <p:anim calcmode="lin" valueType="num">
                                      <p:cBhvr>
                                        <p:cTn id="35"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7" presetClass="entr" presetSubtype="1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p:cTn id="40" dur="500" fill="hold"/>
                                        <p:tgtEl>
                                          <p:spTgt spid="12"/>
                                        </p:tgtEl>
                                        <p:attrNameLst>
                                          <p:attrName>ppt_w</p:attrName>
                                        </p:attrNameLst>
                                      </p:cBhvr>
                                      <p:tavLst>
                                        <p:tav tm="0">
                                          <p:val>
                                            <p:fltVal val="0"/>
                                          </p:val>
                                        </p:tav>
                                        <p:tav tm="100000">
                                          <p:val>
                                            <p:strVal val="#ppt_w"/>
                                          </p:val>
                                        </p:tav>
                                      </p:tavLst>
                                    </p:anim>
                                    <p:anim calcmode="lin" valueType="num">
                                      <p:cBhvr>
                                        <p:cTn id="41" dur="5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17" presetClass="entr" presetSubtype="10" fill="hold" grpId="0" nodeType="click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p:cTn id="46" dur="500" fill="hold"/>
                                        <p:tgtEl>
                                          <p:spTgt spid="13"/>
                                        </p:tgtEl>
                                        <p:attrNameLst>
                                          <p:attrName>ppt_w</p:attrName>
                                        </p:attrNameLst>
                                      </p:cBhvr>
                                      <p:tavLst>
                                        <p:tav tm="0">
                                          <p:val>
                                            <p:fltVal val="0"/>
                                          </p:val>
                                        </p:tav>
                                        <p:tav tm="100000">
                                          <p:val>
                                            <p:strVal val="#ppt_w"/>
                                          </p:val>
                                        </p:tav>
                                      </p:tavLst>
                                    </p:anim>
                                    <p:anim calcmode="lin" valueType="num">
                                      <p:cBhvr>
                                        <p:cTn id="47" dur="500" fill="hold"/>
                                        <p:tgtEl>
                                          <p:spTgt spid="13"/>
                                        </p:tgtEl>
                                        <p:attrNameLst>
                                          <p:attrName>ppt_h</p:attrName>
                                        </p:attrNameLst>
                                      </p:cBhvr>
                                      <p:tavLst>
                                        <p:tav tm="0">
                                          <p:val>
                                            <p:strVal val="#ppt_h"/>
                                          </p:val>
                                        </p:tav>
                                        <p:tav tm="100000">
                                          <p:val>
                                            <p:strVal val="#ppt_h"/>
                                          </p:val>
                                        </p:tav>
                                      </p:tavLst>
                                    </p:anim>
                                  </p:childTnLst>
                                </p:cTn>
                              </p:par>
                              <p:par>
                                <p:cTn id="48" presetID="47"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anim calcmode="lin" valueType="num">
                                      <p:cBhvr>
                                        <p:cTn id="51" dur="500" fill="hold"/>
                                        <p:tgtEl>
                                          <p:spTgt spid="19"/>
                                        </p:tgtEl>
                                        <p:attrNameLst>
                                          <p:attrName>ppt_x</p:attrName>
                                        </p:attrNameLst>
                                      </p:cBhvr>
                                      <p:tavLst>
                                        <p:tav tm="0">
                                          <p:val>
                                            <p:strVal val="#ppt_x"/>
                                          </p:val>
                                        </p:tav>
                                        <p:tav tm="100000">
                                          <p:val>
                                            <p:strVal val="#ppt_x"/>
                                          </p:val>
                                        </p:tav>
                                      </p:tavLst>
                                    </p:anim>
                                    <p:anim calcmode="lin" valueType="num">
                                      <p:cBhvr>
                                        <p:cTn id="52" dur="500" fill="hold"/>
                                        <p:tgtEl>
                                          <p:spTgt spid="19"/>
                                        </p:tgtEl>
                                        <p:attrNameLst>
                                          <p:attrName>ppt_y</p:attrName>
                                        </p:attrNameLst>
                                      </p:cBhvr>
                                      <p:tavLst>
                                        <p:tav tm="0">
                                          <p:val>
                                            <p:strVal val="#ppt_y-.1"/>
                                          </p:val>
                                        </p:tav>
                                        <p:tav tm="100000">
                                          <p:val>
                                            <p:strVal val="#ppt_y"/>
                                          </p:val>
                                        </p:tav>
                                      </p:tavLst>
                                    </p:anim>
                                  </p:childTnLst>
                                </p:cTn>
                              </p:par>
                              <p:par>
                                <p:cTn id="53" presetID="47" presetClass="entr" presetSubtype="0" fill="hold" grpId="0" nodeType="with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fade">
                                      <p:cBhvr>
                                        <p:cTn id="55" dur="500"/>
                                        <p:tgtEl>
                                          <p:spTgt spid="2"/>
                                        </p:tgtEl>
                                      </p:cBhvr>
                                    </p:animEffect>
                                    <p:anim calcmode="lin" valueType="num">
                                      <p:cBhvr>
                                        <p:cTn id="56" dur="500" fill="hold"/>
                                        <p:tgtEl>
                                          <p:spTgt spid="2"/>
                                        </p:tgtEl>
                                        <p:attrNameLst>
                                          <p:attrName>ppt_x</p:attrName>
                                        </p:attrNameLst>
                                      </p:cBhvr>
                                      <p:tavLst>
                                        <p:tav tm="0">
                                          <p:val>
                                            <p:strVal val="#ppt_x"/>
                                          </p:val>
                                        </p:tav>
                                        <p:tav tm="100000">
                                          <p:val>
                                            <p:strVal val="#ppt_x"/>
                                          </p:val>
                                        </p:tav>
                                      </p:tavLst>
                                    </p:anim>
                                    <p:anim calcmode="lin" valueType="num">
                                      <p:cBhvr>
                                        <p:cTn id="57" dur="500" fill="hold"/>
                                        <p:tgtEl>
                                          <p:spTgt spid="2"/>
                                        </p:tgtEl>
                                        <p:attrNameLst>
                                          <p:attrName>ppt_y</p:attrName>
                                        </p:attrNameLst>
                                      </p:cBhvr>
                                      <p:tavLst>
                                        <p:tav tm="0">
                                          <p:val>
                                            <p:strVal val="#ppt_y-.1"/>
                                          </p:val>
                                        </p:tav>
                                        <p:tav tm="100000">
                                          <p:val>
                                            <p:strVal val="#ppt_y"/>
                                          </p:val>
                                        </p:tav>
                                      </p:tavLst>
                                    </p:anim>
                                  </p:childTnLst>
                                </p:cTn>
                              </p:par>
                              <p:par>
                                <p:cTn id="58" presetID="47" presetClass="entr" presetSubtype="0" fill="hold" grpId="0" nodeType="with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fade">
                                      <p:cBhvr>
                                        <p:cTn id="60" dur="500"/>
                                        <p:tgtEl>
                                          <p:spTgt spid="5"/>
                                        </p:tgtEl>
                                      </p:cBhvr>
                                    </p:animEffect>
                                    <p:anim calcmode="lin" valueType="num">
                                      <p:cBhvr>
                                        <p:cTn id="61" dur="500" fill="hold"/>
                                        <p:tgtEl>
                                          <p:spTgt spid="5"/>
                                        </p:tgtEl>
                                        <p:attrNameLst>
                                          <p:attrName>ppt_x</p:attrName>
                                        </p:attrNameLst>
                                      </p:cBhvr>
                                      <p:tavLst>
                                        <p:tav tm="0">
                                          <p:val>
                                            <p:strVal val="#ppt_x"/>
                                          </p:val>
                                        </p:tav>
                                        <p:tav tm="100000">
                                          <p:val>
                                            <p:strVal val="#ppt_x"/>
                                          </p:val>
                                        </p:tav>
                                      </p:tavLst>
                                    </p:anim>
                                    <p:anim calcmode="lin" valueType="num">
                                      <p:cBhvr>
                                        <p:cTn id="62"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7" presetClass="entr" presetSubtype="1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anim calcmode="lin" valueType="num">
                                      <p:cBhvr>
                                        <p:cTn id="67" dur="500" fill="hold"/>
                                        <p:tgtEl>
                                          <p:spTgt spid="8"/>
                                        </p:tgtEl>
                                        <p:attrNameLst>
                                          <p:attrName>ppt_w</p:attrName>
                                        </p:attrNameLst>
                                      </p:cBhvr>
                                      <p:tavLst>
                                        <p:tav tm="0">
                                          <p:val>
                                            <p:fltVal val="0"/>
                                          </p:val>
                                        </p:tav>
                                        <p:tav tm="100000">
                                          <p:val>
                                            <p:strVal val="#ppt_w"/>
                                          </p:val>
                                        </p:tav>
                                      </p:tavLst>
                                    </p:anim>
                                    <p:anim calcmode="lin" valueType="num">
                                      <p:cBhvr>
                                        <p:cTn id="68" dur="500" fill="hold"/>
                                        <p:tgtEl>
                                          <p:spTgt spid="8"/>
                                        </p:tgtEl>
                                        <p:attrNameLst>
                                          <p:attrName>ppt_h</p:attrName>
                                        </p:attrNameLst>
                                      </p:cBhvr>
                                      <p:tavLst>
                                        <p:tav tm="0">
                                          <p:val>
                                            <p:strVal val="#ppt_h"/>
                                          </p:val>
                                        </p:tav>
                                        <p:tav tm="100000">
                                          <p:val>
                                            <p:strVal val="#ppt_h"/>
                                          </p:val>
                                        </p:tav>
                                      </p:tavLst>
                                    </p:anim>
                                  </p:childTnLst>
                                </p:cTn>
                              </p:par>
                              <p:par>
                                <p:cTn id="69" presetID="47" presetClass="entr" presetSubtype="0" fill="hold" grpId="0" nodeType="withEffect">
                                  <p:stCondLst>
                                    <p:cond delay="0"/>
                                  </p:stCondLst>
                                  <p:childTnLst>
                                    <p:set>
                                      <p:cBhvr>
                                        <p:cTn id="70" dur="1" fill="hold">
                                          <p:stCondLst>
                                            <p:cond delay="0"/>
                                          </p:stCondLst>
                                        </p:cTn>
                                        <p:tgtEl>
                                          <p:spTgt spid="10"/>
                                        </p:tgtEl>
                                        <p:attrNameLst>
                                          <p:attrName>style.visibility</p:attrName>
                                        </p:attrNameLst>
                                      </p:cBhvr>
                                      <p:to>
                                        <p:strVal val="visible"/>
                                      </p:to>
                                    </p:set>
                                    <p:animEffect transition="in" filter="fade">
                                      <p:cBhvr>
                                        <p:cTn id="71" dur="500"/>
                                        <p:tgtEl>
                                          <p:spTgt spid="10"/>
                                        </p:tgtEl>
                                      </p:cBhvr>
                                    </p:animEffect>
                                    <p:anim calcmode="lin" valueType="num">
                                      <p:cBhvr>
                                        <p:cTn id="72" dur="500" fill="hold"/>
                                        <p:tgtEl>
                                          <p:spTgt spid="10"/>
                                        </p:tgtEl>
                                        <p:attrNameLst>
                                          <p:attrName>ppt_x</p:attrName>
                                        </p:attrNameLst>
                                      </p:cBhvr>
                                      <p:tavLst>
                                        <p:tav tm="0">
                                          <p:val>
                                            <p:strVal val="#ppt_x"/>
                                          </p:val>
                                        </p:tav>
                                        <p:tav tm="100000">
                                          <p:val>
                                            <p:strVal val="#ppt_x"/>
                                          </p:val>
                                        </p:tav>
                                      </p:tavLst>
                                    </p:anim>
                                    <p:anim calcmode="lin" valueType="num">
                                      <p:cBhvr>
                                        <p:cTn id="73"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17" presetClass="entr" presetSubtype="10" fill="hold" grpId="0" nodeType="clickEffect">
                                  <p:stCondLst>
                                    <p:cond delay="0"/>
                                  </p:stCondLst>
                                  <p:childTnLst>
                                    <p:set>
                                      <p:cBhvr>
                                        <p:cTn id="77" dur="1" fill="hold">
                                          <p:stCondLst>
                                            <p:cond delay="0"/>
                                          </p:stCondLst>
                                        </p:cTn>
                                        <p:tgtEl>
                                          <p:spTgt spid="14"/>
                                        </p:tgtEl>
                                        <p:attrNameLst>
                                          <p:attrName>style.visibility</p:attrName>
                                        </p:attrNameLst>
                                      </p:cBhvr>
                                      <p:to>
                                        <p:strVal val="visible"/>
                                      </p:to>
                                    </p:set>
                                    <p:anim calcmode="lin" valueType="num">
                                      <p:cBhvr>
                                        <p:cTn id="78" dur="500" fill="hold"/>
                                        <p:tgtEl>
                                          <p:spTgt spid="14"/>
                                        </p:tgtEl>
                                        <p:attrNameLst>
                                          <p:attrName>ppt_w</p:attrName>
                                        </p:attrNameLst>
                                      </p:cBhvr>
                                      <p:tavLst>
                                        <p:tav tm="0">
                                          <p:val>
                                            <p:fltVal val="0"/>
                                          </p:val>
                                        </p:tav>
                                        <p:tav tm="100000">
                                          <p:val>
                                            <p:strVal val="#ppt_w"/>
                                          </p:val>
                                        </p:tav>
                                      </p:tavLst>
                                    </p:anim>
                                    <p:anim calcmode="lin" valueType="num">
                                      <p:cBhvr>
                                        <p:cTn id="79" dur="5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80" fill="hold">
                      <p:stCondLst>
                        <p:cond delay="indefinite"/>
                      </p:stCondLst>
                      <p:childTnLst>
                        <p:par>
                          <p:cTn id="81" fill="hold">
                            <p:stCondLst>
                              <p:cond delay="0"/>
                            </p:stCondLst>
                            <p:childTnLst>
                              <p:par>
                                <p:cTn id="82" presetID="17" presetClass="entr" presetSubtype="10" fill="hold" grpId="0" nodeType="clickEffect">
                                  <p:stCondLst>
                                    <p:cond delay="0"/>
                                  </p:stCondLst>
                                  <p:childTnLst>
                                    <p:set>
                                      <p:cBhvr>
                                        <p:cTn id="83" dur="1" fill="hold">
                                          <p:stCondLst>
                                            <p:cond delay="0"/>
                                          </p:stCondLst>
                                        </p:cTn>
                                        <p:tgtEl>
                                          <p:spTgt spid="17"/>
                                        </p:tgtEl>
                                        <p:attrNameLst>
                                          <p:attrName>style.visibility</p:attrName>
                                        </p:attrNameLst>
                                      </p:cBhvr>
                                      <p:to>
                                        <p:strVal val="visible"/>
                                      </p:to>
                                    </p:set>
                                    <p:anim calcmode="lin" valueType="num">
                                      <p:cBhvr>
                                        <p:cTn id="84" dur="500" fill="hold"/>
                                        <p:tgtEl>
                                          <p:spTgt spid="17"/>
                                        </p:tgtEl>
                                        <p:attrNameLst>
                                          <p:attrName>ppt_w</p:attrName>
                                        </p:attrNameLst>
                                      </p:cBhvr>
                                      <p:tavLst>
                                        <p:tav tm="0">
                                          <p:val>
                                            <p:fltVal val="0"/>
                                          </p:val>
                                        </p:tav>
                                        <p:tav tm="100000">
                                          <p:val>
                                            <p:strVal val="#ppt_w"/>
                                          </p:val>
                                        </p:tav>
                                      </p:tavLst>
                                    </p:anim>
                                    <p:anim calcmode="lin" valueType="num">
                                      <p:cBhvr>
                                        <p:cTn id="85" dur="5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86" fill="hold">
                      <p:stCondLst>
                        <p:cond delay="indefinite"/>
                      </p:stCondLst>
                      <p:childTnLst>
                        <p:par>
                          <p:cTn id="87" fill="hold">
                            <p:stCondLst>
                              <p:cond delay="0"/>
                            </p:stCondLst>
                            <p:childTnLst>
                              <p:par>
                                <p:cTn id="88" presetID="17" presetClass="entr" presetSubtype="10" fill="hold" grpId="0" nodeType="clickEffect">
                                  <p:stCondLst>
                                    <p:cond delay="0"/>
                                  </p:stCondLst>
                                  <p:childTnLst>
                                    <p:set>
                                      <p:cBhvr>
                                        <p:cTn id="89" dur="1" fill="hold">
                                          <p:stCondLst>
                                            <p:cond delay="0"/>
                                          </p:stCondLst>
                                        </p:cTn>
                                        <p:tgtEl>
                                          <p:spTgt spid="18"/>
                                        </p:tgtEl>
                                        <p:attrNameLst>
                                          <p:attrName>style.visibility</p:attrName>
                                        </p:attrNameLst>
                                      </p:cBhvr>
                                      <p:to>
                                        <p:strVal val="visible"/>
                                      </p:to>
                                    </p:set>
                                    <p:anim calcmode="lin" valueType="num">
                                      <p:cBhvr>
                                        <p:cTn id="90" dur="500" fill="hold"/>
                                        <p:tgtEl>
                                          <p:spTgt spid="18"/>
                                        </p:tgtEl>
                                        <p:attrNameLst>
                                          <p:attrName>ppt_w</p:attrName>
                                        </p:attrNameLst>
                                      </p:cBhvr>
                                      <p:tavLst>
                                        <p:tav tm="0">
                                          <p:val>
                                            <p:fltVal val="0"/>
                                          </p:val>
                                        </p:tav>
                                        <p:tav tm="100000">
                                          <p:val>
                                            <p:strVal val="#ppt_w"/>
                                          </p:val>
                                        </p:tav>
                                      </p:tavLst>
                                    </p:anim>
                                    <p:anim calcmode="lin" valueType="num">
                                      <p:cBhvr>
                                        <p:cTn id="91" dur="500" fill="hold"/>
                                        <p:tgtEl>
                                          <p:spTgt spid="18"/>
                                        </p:tgtEl>
                                        <p:attrNameLst>
                                          <p:attrName>ppt_h</p:attrName>
                                        </p:attrNameLst>
                                      </p:cBhvr>
                                      <p:tavLst>
                                        <p:tav tm="0">
                                          <p:val>
                                            <p:strVal val="#ppt_h"/>
                                          </p:val>
                                        </p:tav>
                                        <p:tav tm="100000">
                                          <p:val>
                                            <p:strVal val="#ppt_h"/>
                                          </p:val>
                                        </p:tav>
                                      </p:tavLst>
                                    </p:anim>
                                  </p:childTnLst>
                                </p:cTn>
                              </p:par>
                              <p:par>
                                <p:cTn id="92" presetID="47" presetClass="entr" presetSubtype="0" fill="hold" grpId="0" nodeType="withEffect">
                                  <p:stCondLst>
                                    <p:cond delay="0"/>
                                  </p:stCondLst>
                                  <p:childTnLst>
                                    <p:set>
                                      <p:cBhvr>
                                        <p:cTn id="93" dur="1" fill="hold">
                                          <p:stCondLst>
                                            <p:cond delay="0"/>
                                          </p:stCondLst>
                                        </p:cTn>
                                        <p:tgtEl>
                                          <p:spTgt spid="20"/>
                                        </p:tgtEl>
                                        <p:attrNameLst>
                                          <p:attrName>style.visibility</p:attrName>
                                        </p:attrNameLst>
                                      </p:cBhvr>
                                      <p:to>
                                        <p:strVal val="visible"/>
                                      </p:to>
                                    </p:set>
                                    <p:animEffect transition="in" filter="fade">
                                      <p:cBhvr>
                                        <p:cTn id="94" dur="500"/>
                                        <p:tgtEl>
                                          <p:spTgt spid="20"/>
                                        </p:tgtEl>
                                      </p:cBhvr>
                                    </p:animEffect>
                                    <p:anim calcmode="lin" valueType="num">
                                      <p:cBhvr>
                                        <p:cTn id="95" dur="500" fill="hold"/>
                                        <p:tgtEl>
                                          <p:spTgt spid="20"/>
                                        </p:tgtEl>
                                        <p:attrNameLst>
                                          <p:attrName>ppt_x</p:attrName>
                                        </p:attrNameLst>
                                      </p:cBhvr>
                                      <p:tavLst>
                                        <p:tav tm="0">
                                          <p:val>
                                            <p:strVal val="#ppt_x"/>
                                          </p:val>
                                        </p:tav>
                                        <p:tav tm="100000">
                                          <p:val>
                                            <p:strVal val="#ppt_x"/>
                                          </p:val>
                                        </p:tav>
                                      </p:tavLst>
                                    </p:anim>
                                    <p:anim calcmode="lin" valueType="num">
                                      <p:cBhvr>
                                        <p:cTn id="96" dur="500" fill="hold"/>
                                        <p:tgtEl>
                                          <p:spTgt spid="20"/>
                                        </p:tgtEl>
                                        <p:attrNameLst>
                                          <p:attrName>ppt_y</p:attrName>
                                        </p:attrNameLst>
                                      </p:cBhvr>
                                      <p:tavLst>
                                        <p:tav tm="0">
                                          <p:val>
                                            <p:strVal val="#ppt_y-.1"/>
                                          </p:val>
                                        </p:tav>
                                        <p:tav tm="100000">
                                          <p:val>
                                            <p:strVal val="#ppt_y"/>
                                          </p:val>
                                        </p:tav>
                                      </p:tavLst>
                                    </p:anim>
                                  </p:childTnLst>
                                </p:cTn>
                              </p:par>
                              <p:par>
                                <p:cTn id="97" presetID="47" presetClass="entr" presetSubtype="0" fill="hold" grpId="0" nodeType="withEffect">
                                  <p:stCondLst>
                                    <p:cond delay="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500"/>
                                        <p:tgtEl>
                                          <p:spTgt spid="22"/>
                                        </p:tgtEl>
                                      </p:cBhvr>
                                    </p:animEffect>
                                    <p:anim calcmode="lin" valueType="num">
                                      <p:cBhvr>
                                        <p:cTn id="100" dur="500" fill="hold"/>
                                        <p:tgtEl>
                                          <p:spTgt spid="22"/>
                                        </p:tgtEl>
                                        <p:attrNameLst>
                                          <p:attrName>ppt_x</p:attrName>
                                        </p:attrNameLst>
                                      </p:cBhvr>
                                      <p:tavLst>
                                        <p:tav tm="0">
                                          <p:val>
                                            <p:strVal val="#ppt_x"/>
                                          </p:val>
                                        </p:tav>
                                        <p:tav tm="100000">
                                          <p:val>
                                            <p:strVal val="#ppt_x"/>
                                          </p:val>
                                        </p:tav>
                                      </p:tavLst>
                                    </p:anim>
                                    <p:anim calcmode="lin" valueType="num">
                                      <p:cBhvr>
                                        <p:cTn id="101" dur="500" fill="hold"/>
                                        <p:tgtEl>
                                          <p:spTgt spid="22"/>
                                        </p:tgtEl>
                                        <p:attrNameLst>
                                          <p:attrName>ppt_y</p:attrName>
                                        </p:attrNameLst>
                                      </p:cBhvr>
                                      <p:tavLst>
                                        <p:tav tm="0">
                                          <p:val>
                                            <p:strVal val="#ppt_y-.1"/>
                                          </p:val>
                                        </p:tav>
                                        <p:tav tm="100000">
                                          <p:val>
                                            <p:strVal val="#ppt_y"/>
                                          </p:val>
                                        </p:tav>
                                      </p:tavLst>
                                    </p:anim>
                                  </p:childTnLst>
                                </p:cTn>
                              </p:par>
                              <p:par>
                                <p:cTn id="102" presetID="47" presetClass="entr" presetSubtype="0" fill="hold" grpId="0" nodeType="withEffect">
                                  <p:stCondLst>
                                    <p:cond delay="0"/>
                                  </p:stCondLst>
                                  <p:childTnLst>
                                    <p:set>
                                      <p:cBhvr>
                                        <p:cTn id="103" dur="1" fill="hold">
                                          <p:stCondLst>
                                            <p:cond delay="0"/>
                                          </p:stCondLst>
                                        </p:cTn>
                                        <p:tgtEl>
                                          <p:spTgt spid="23"/>
                                        </p:tgtEl>
                                        <p:attrNameLst>
                                          <p:attrName>style.visibility</p:attrName>
                                        </p:attrNameLst>
                                      </p:cBhvr>
                                      <p:to>
                                        <p:strVal val="visible"/>
                                      </p:to>
                                    </p:set>
                                    <p:animEffect transition="in" filter="fade">
                                      <p:cBhvr>
                                        <p:cTn id="104" dur="500"/>
                                        <p:tgtEl>
                                          <p:spTgt spid="23"/>
                                        </p:tgtEl>
                                      </p:cBhvr>
                                    </p:animEffect>
                                    <p:anim calcmode="lin" valueType="num">
                                      <p:cBhvr>
                                        <p:cTn id="105" dur="500" fill="hold"/>
                                        <p:tgtEl>
                                          <p:spTgt spid="23"/>
                                        </p:tgtEl>
                                        <p:attrNameLst>
                                          <p:attrName>ppt_x</p:attrName>
                                        </p:attrNameLst>
                                      </p:cBhvr>
                                      <p:tavLst>
                                        <p:tav tm="0">
                                          <p:val>
                                            <p:strVal val="#ppt_x"/>
                                          </p:val>
                                        </p:tav>
                                        <p:tav tm="100000">
                                          <p:val>
                                            <p:strVal val="#ppt_x"/>
                                          </p:val>
                                        </p:tav>
                                      </p:tavLst>
                                    </p:anim>
                                    <p:anim calcmode="lin" valueType="num">
                                      <p:cBhvr>
                                        <p:cTn id="106" dur="5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2" grpId="0" animBg="1"/>
      <p:bldP spid="13" grpId="0" animBg="1"/>
      <p:bldP spid="7" grpId="0"/>
      <p:bldP spid="15" grpId="0"/>
      <p:bldP spid="16" grpId="0"/>
      <p:bldP spid="19" grpId="0"/>
      <p:bldP spid="2" grpId="0"/>
      <p:bldP spid="5" grpId="0"/>
      <p:bldP spid="8" grpId="0" animBg="1"/>
      <p:bldP spid="10" grpId="0"/>
      <p:bldP spid="14" grpId="0" animBg="1"/>
      <p:bldP spid="17" grpId="0" animBg="1"/>
      <p:bldP spid="18" grpId="0" animBg="1"/>
      <p:bldP spid="20" grpId="0"/>
      <p:bldP spid="22" grpId="0"/>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0756A9C-BEC7-41EE-A6BE-9C0DCF9944DB}"/>
              </a:ext>
            </a:extLst>
          </p:cNvPr>
          <p:cNvSpPr/>
          <p:nvPr/>
        </p:nvSpPr>
        <p:spPr>
          <a:xfrm>
            <a:off x="5802086" y="-1"/>
            <a:ext cx="6389914" cy="600713"/>
          </a:xfrm>
          <a:prstGeom prst="roundRect">
            <a:avLst>
              <a:gd name="adj" fmla="val 32456"/>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FFFFFF"/>
                </a:solidFill>
                <a:latin typeface="Rockwell" panose="02060603020205020403" pitchFamily="18" charset="0"/>
                <a:ea typeface="Calibri" panose="020F0502020204030204" pitchFamily="34" charset="0"/>
                <a:cs typeface="Times New Roman" panose="02020603050405020304" pitchFamily="18" charset="0"/>
              </a:rPr>
              <a:t>INTRODUCTION</a:t>
            </a:r>
            <a:endParaRPr lang="en-US" dirty="0">
              <a:latin typeface="Rockwell" panose="02060603020205020403" pitchFamily="18" charset="0"/>
            </a:endParaRPr>
          </a:p>
        </p:txBody>
      </p:sp>
      <p:sp>
        <p:nvSpPr>
          <p:cNvPr id="7" name="Oval 6">
            <a:extLst>
              <a:ext uri="{FF2B5EF4-FFF2-40B4-BE49-F238E27FC236}">
                <a16:creationId xmlns:a16="http://schemas.microsoft.com/office/drawing/2014/main" id="{0AF00FE2-8B4E-4C4E-91C3-94FD5C9CCE15}"/>
              </a:ext>
            </a:extLst>
          </p:cNvPr>
          <p:cNvSpPr/>
          <p:nvPr/>
        </p:nvSpPr>
        <p:spPr>
          <a:xfrm>
            <a:off x="0" y="0"/>
            <a:ext cx="402771" cy="402772"/>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BAC5AB55-F21F-40B8-98CE-667D01020499}"/>
              </a:ext>
            </a:extLst>
          </p:cNvPr>
          <p:cNvSpPr/>
          <p:nvPr/>
        </p:nvSpPr>
        <p:spPr>
          <a:xfrm>
            <a:off x="11649075" y="6405351"/>
            <a:ext cx="478853" cy="402772"/>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a:t>
            </a:r>
            <a:endParaRPr lang="en-US" dirty="0">
              <a:latin typeface="Amasis MT Pro Medium" panose="02040604050005020304" pitchFamily="18" charset="0"/>
            </a:endParaRPr>
          </a:p>
        </p:txBody>
      </p:sp>
      <p:sp>
        <p:nvSpPr>
          <p:cNvPr id="2" name="Rectangle 1">
            <a:extLst>
              <a:ext uri="{FF2B5EF4-FFF2-40B4-BE49-F238E27FC236}">
                <a16:creationId xmlns:a16="http://schemas.microsoft.com/office/drawing/2014/main" id="{9E699B29-BB7A-1AF0-EA7F-ACDED69BED64}"/>
              </a:ext>
            </a:extLst>
          </p:cNvPr>
          <p:cNvSpPr/>
          <p:nvPr/>
        </p:nvSpPr>
        <p:spPr>
          <a:xfrm>
            <a:off x="319212" y="1196978"/>
            <a:ext cx="11526591" cy="52083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200000"/>
              </a:lnSpc>
            </a:pPr>
            <a:r>
              <a:rPr lang="fr-FR" sz="1600" dirty="0">
                <a:solidFill>
                  <a:schemeClr val="tx1"/>
                </a:solidFill>
                <a:latin typeface="Rockwell" panose="02060603020205020403" pitchFamily="18" charset="0"/>
                <a:cs typeface="Times New Roman" panose="02020603050405020304" pitchFamily="18" charset="0"/>
              </a:rPr>
              <a:t>	</a:t>
            </a:r>
            <a:r>
              <a:rPr lang="fr-FR" sz="2000" dirty="0">
                <a:solidFill>
                  <a:schemeClr val="tx1"/>
                </a:solidFill>
                <a:latin typeface="Rockwell" panose="02060603020205020403" pitchFamily="18" charset="0"/>
                <a:cs typeface="Times New Roman" panose="02020603050405020304" pitchFamily="18" charset="0"/>
              </a:rPr>
              <a:t>Les opérations d'entrée/sortie disque ont un impact direct sur les performances des applications nécessitant des accès fréquents ou importants aux données. Comprendre et surveiller ces opérations est essentiel pour identifier les goulots d'étranglement, optimiser l'utilisation des ressources et garantir le bon fonctionnement des applications. L'analyse des entrées/sorties disque consiste à examiner comment les données sont lues et écrites sur les périphériques de stockage, à identifier les tendances et à repérer les points d'amélioration des performances.</a:t>
            </a:r>
            <a:r>
              <a:rPr lang="fr-FR" sz="2000" b="1" dirty="0">
                <a:latin typeface="Rockwell" panose="02060603020205020403" pitchFamily="18" charset="0"/>
              </a:rPr>
              <a:t> </a:t>
            </a:r>
            <a:r>
              <a:rPr lang="fr-FR" sz="2000" dirty="0">
                <a:solidFill>
                  <a:schemeClr val="tx1"/>
                </a:solidFill>
                <a:latin typeface="Rockwell" panose="02060603020205020403" pitchFamily="18" charset="0"/>
                <a:cs typeface="Times New Roman" panose="02020603050405020304" pitchFamily="18" charset="0"/>
              </a:rPr>
              <a:t>La performance des disques sous Linux est un facteur crucial pour garantir la réactivité et la stabilité du système, en particulier dans des environnements de production. Une mauvaise gestion des entrées/sorties peut entraîner des ralentissements significatifs, voire des pannes.</a:t>
            </a:r>
            <a:endParaRPr lang="en-US" sz="2000" dirty="0">
              <a:solidFill>
                <a:schemeClr val="tx1"/>
              </a:solidFill>
              <a:latin typeface="Rockwell" panose="02060603020205020403" pitchFamily="18" charset="0"/>
              <a:cs typeface="Times New Roman" panose="02020603050405020304" pitchFamily="18" charset="0"/>
            </a:endParaRPr>
          </a:p>
        </p:txBody>
      </p:sp>
    </p:spTree>
    <p:extLst>
      <p:ext uri="{BB962C8B-B14F-4D97-AF65-F5344CB8AC3E}">
        <p14:creationId xmlns:p14="http://schemas.microsoft.com/office/powerpoint/2010/main" val="22266799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A43E5-FC40-D348-9C8F-2A86AF3AF9AC}"/>
            </a:ext>
          </a:extLst>
        </p:cNvPr>
        <p:cNvGrpSpPr/>
        <p:nvPr/>
      </p:nvGrpSpPr>
      <p:grpSpPr>
        <a:xfrm>
          <a:off x="0" y="0"/>
          <a:ext cx="0" cy="0"/>
          <a:chOff x="0" y="0"/>
          <a:chExt cx="0" cy="0"/>
        </a:xfrm>
      </p:grpSpPr>
      <p:sp>
        <p:nvSpPr>
          <p:cNvPr id="7" name="Oval 6">
            <a:extLst>
              <a:ext uri="{FF2B5EF4-FFF2-40B4-BE49-F238E27FC236}">
                <a16:creationId xmlns:a16="http://schemas.microsoft.com/office/drawing/2014/main" id="{EF65C5D0-A2B7-4681-09E9-5B2067D7380B}"/>
              </a:ext>
            </a:extLst>
          </p:cNvPr>
          <p:cNvSpPr/>
          <p:nvPr/>
        </p:nvSpPr>
        <p:spPr>
          <a:xfrm>
            <a:off x="0" y="0"/>
            <a:ext cx="402771" cy="402772"/>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2</a:t>
            </a:r>
            <a:endParaRPr lang="en-US" dirty="0">
              <a:latin typeface="Rockwell" panose="02060603020205020403" pitchFamily="18" charset="0"/>
            </a:endParaRPr>
          </a:p>
        </p:txBody>
      </p:sp>
      <p:sp>
        <p:nvSpPr>
          <p:cNvPr id="6" name="Rectangle 5">
            <a:extLst>
              <a:ext uri="{FF2B5EF4-FFF2-40B4-BE49-F238E27FC236}">
                <a16:creationId xmlns:a16="http://schemas.microsoft.com/office/drawing/2014/main" id="{AFD135DB-5D5A-B2BB-06A0-4C7FB285D93B}"/>
              </a:ext>
            </a:extLst>
          </p:cNvPr>
          <p:cNvSpPr/>
          <p:nvPr/>
        </p:nvSpPr>
        <p:spPr>
          <a:xfrm>
            <a:off x="915445" y="711865"/>
            <a:ext cx="10602098" cy="64552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lang="fr-FR" dirty="0">
                <a:solidFill>
                  <a:schemeClr val="tx1"/>
                </a:solidFill>
                <a:latin typeface="Times New Roman" panose="02020603050405020304" pitchFamily="18" charset="0"/>
                <a:cs typeface="Times New Roman" panose="02020603050405020304" pitchFamily="18" charset="0"/>
              </a:rPr>
              <a:t>	</a:t>
            </a:r>
            <a:r>
              <a:rPr lang="fr-FR" dirty="0">
                <a:solidFill>
                  <a:schemeClr val="tx1"/>
                </a:solidFill>
                <a:latin typeface="Rockwell" panose="02060603020205020403" pitchFamily="18" charset="0"/>
                <a:cs typeface="Times New Roman" panose="02020603050405020304" pitchFamily="18" charset="0"/>
              </a:rPr>
              <a:t>Les  performances d’un système informatique dépendent étroitement de son sous-système d’entrées/sorties (I/O), en particulier lorsqu’il s’agit d’applications manipulant de grandes quantités de données ou effectuant des accès fréquents au stockage. Les opérations de lecture et d’écriture sur disque influencent directement le temps de réponse des applications, la fluidité de l'exécution des processus et la stabilité globale du système. Ainsi, la capacité à surveiller ces opérations devient indispensable pour identifier les goulots d’étranglement, anticiper les défaillances, et garantir une allocation optimale des ressources.</a:t>
            </a:r>
          </a:p>
          <a:p>
            <a:pPr algn="just">
              <a:lnSpc>
                <a:spcPct val="150000"/>
              </a:lnSpc>
            </a:pPr>
            <a:endParaRPr lang="fr-FR" dirty="0">
              <a:solidFill>
                <a:schemeClr val="tx1"/>
              </a:solidFill>
              <a:latin typeface="Rockwell" panose="02060603020205020403" pitchFamily="18" charset="0"/>
              <a:cs typeface="Times New Roman" panose="02020603050405020304" pitchFamily="18" charset="0"/>
            </a:endParaRPr>
          </a:p>
          <a:p>
            <a:pPr algn="just">
              <a:lnSpc>
                <a:spcPct val="150000"/>
              </a:lnSpc>
            </a:pPr>
            <a:r>
              <a:rPr lang="fr-FR" dirty="0">
                <a:solidFill>
                  <a:schemeClr val="tx1"/>
                </a:solidFill>
                <a:latin typeface="Rockwell" panose="02060603020205020403" pitchFamily="18" charset="0"/>
                <a:cs typeface="Times New Roman" panose="02020603050405020304" pitchFamily="18" charset="0"/>
              </a:rPr>
              <a:t>	Dans ce contexte, </a:t>
            </a:r>
            <a:r>
              <a:rPr lang="fr-FR" b="1" dirty="0">
                <a:solidFill>
                  <a:schemeClr val="tx1"/>
                </a:solidFill>
                <a:latin typeface="Rockwell" panose="02060603020205020403" pitchFamily="18" charset="0"/>
                <a:cs typeface="Times New Roman" panose="02020603050405020304" pitchFamily="18" charset="0"/>
              </a:rPr>
              <a:t>DiskMonitor</a:t>
            </a:r>
            <a:r>
              <a:rPr lang="fr-FR" dirty="0">
                <a:solidFill>
                  <a:schemeClr val="tx1"/>
                </a:solidFill>
                <a:latin typeface="Rockwell" panose="02060603020205020403" pitchFamily="18" charset="0"/>
                <a:cs typeface="Times New Roman" panose="02020603050405020304" pitchFamily="18" charset="0"/>
              </a:rPr>
              <a:t> répond à un besoin réel : disposer d'un outil simple, efficace et en temps réel permettant d’observer l’activité disque sous Linux. Contrairement aux outils existants(</a:t>
            </a:r>
            <a:r>
              <a:rPr lang="fr-FR" b="1" dirty="0">
                <a:solidFill>
                  <a:schemeClr val="tx1"/>
                </a:solidFill>
                <a:latin typeface="Rockwell" panose="02060603020205020403" pitchFamily="18" charset="0"/>
                <a:cs typeface="Times New Roman" panose="02020603050405020304" pitchFamily="18" charset="0"/>
              </a:rPr>
              <a:t>smartctl</a:t>
            </a:r>
          </a:p>
          <a:p>
            <a:pPr algn="just">
              <a:lnSpc>
                <a:spcPct val="150000"/>
              </a:lnSpc>
            </a:pPr>
            <a:r>
              <a:rPr lang="fr-FR" dirty="0">
                <a:solidFill>
                  <a:schemeClr val="tx1"/>
                </a:solidFill>
                <a:latin typeface="Rockwell" panose="02060603020205020403" pitchFamily="18" charset="0"/>
                <a:cs typeface="Times New Roman" panose="02020603050405020304" pitchFamily="18" charset="0"/>
              </a:rPr>
              <a:t>,</a:t>
            </a:r>
            <a:r>
              <a:rPr lang="fr-FR" b="1" dirty="0">
                <a:solidFill>
                  <a:schemeClr val="tx1"/>
                </a:solidFill>
                <a:latin typeface="Rockwell" panose="02060603020205020403" pitchFamily="18" charset="0"/>
                <a:cs typeface="Times New Roman" panose="02020603050405020304" pitchFamily="18" charset="0"/>
              </a:rPr>
              <a:t> iostat, iotop , hdparm)</a:t>
            </a:r>
            <a:r>
              <a:rPr lang="fr-FR" dirty="0">
                <a:solidFill>
                  <a:schemeClr val="tx1"/>
                </a:solidFill>
                <a:latin typeface="Rockwell" panose="02060603020205020403" pitchFamily="18" charset="0"/>
                <a:cs typeface="Times New Roman" panose="02020603050405020304" pitchFamily="18" charset="0"/>
              </a:rPr>
              <a:t> qui sont souvent complexes, fragmentés ou destinés à des utilisateurs avancés, DiskMonitor propose une approche unifiée et accessible pour visualiser instantanément les volumes de lecture et d’écriture, détecter les pics d’activité anormaux, et comprendre quels processus monopolisent le stockage.</a:t>
            </a:r>
          </a:p>
          <a:p>
            <a:pPr algn="just">
              <a:lnSpc>
                <a:spcPct val="150000"/>
              </a:lnSpc>
            </a:pPr>
            <a:r>
              <a:rPr lang="fr-FR" sz="1600" b="1" dirty="0">
                <a:solidFill>
                  <a:schemeClr val="tx1"/>
                </a:solidFill>
                <a:latin typeface="Rockwell" panose="02060603020205020403" pitchFamily="18" charset="0"/>
                <a:cs typeface="Times New Roman" panose="02020603050405020304" pitchFamily="18" charset="0"/>
              </a:rPr>
              <a:t> </a:t>
            </a:r>
            <a:endParaRPr lang="en-US" sz="1600" b="1" dirty="0">
              <a:solidFill>
                <a:schemeClr val="tx1"/>
              </a:solidFill>
              <a:latin typeface="Rockwell" panose="02060603020205020403" pitchFamily="18" charset="0"/>
              <a:cs typeface="Times New Roman" panose="02020603050405020304" pitchFamily="18" charset="0"/>
            </a:endParaRPr>
          </a:p>
        </p:txBody>
      </p:sp>
      <p:sp>
        <p:nvSpPr>
          <p:cNvPr id="3" name="Oval 2">
            <a:extLst>
              <a:ext uri="{FF2B5EF4-FFF2-40B4-BE49-F238E27FC236}">
                <a16:creationId xmlns:a16="http://schemas.microsoft.com/office/drawing/2014/main" id="{00098B0F-58B5-145E-C940-AA59FB0BB9A8}"/>
              </a:ext>
            </a:extLst>
          </p:cNvPr>
          <p:cNvSpPr/>
          <p:nvPr/>
        </p:nvSpPr>
        <p:spPr>
          <a:xfrm>
            <a:off x="11649075" y="6405351"/>
            <a:ext cx="478853" cy="402772"/>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2</a:t>
            </a:r>
            <a:endParaRPr lang="en-US" dirty="0">
              <a:latin typeface="Amasis MT Pro Medium" panose="02040604050005020304" pitchFamily="18" charset="0"/>
            </a:endParaRPr>
          </a:p>
        </p:txBody>
      </p:sp>
      <p:sp>
        <p:nvSpPr>
          <p:cNvPr id="2" name="Rectangle: Rounded Corners 3">
            <a:extLst>
              <a:ext uri="{FF2B5EF4-FFF2-40B4-BE49-F238E27FC236}">
                <a16:creationId xmlns:a16="http://schemas.microsoft.com/office/drawing/2014/main" id="{A87741D6-EA52-7464-E6C4-D69D8615EB65}"/>
              </a:ext>
            </a:extLst>
          </p:cNvPr>
          <p:cNvSpPr/>
          <p:nvPr/>
        </p:nvSpPr>
        <p:spPr>
          <a:xfrm>
            <a:off x="5802086" y="-1"/>
            <a:ext cx="6389914" cy="600713"/>
          </a:xfrm>
          <a:prstGeom prst="roundRect">
            <a:avLst>
              <a:gd name="adj" fmla="val 32456"/>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FFFFFF"/>
                </a:solidFill>
                <a:latin typeface="Rockwell" panose="02060603020205020403" pitchFamily="18" charset="0"/>
                <a:ea typeface="Calibri" panose="020F0502020204030204" pitchFamily="34" charset="0"/>
                <a:cs typeface="Times New Roman" panose="02020603050405020304" pitchFamily="18" charset="0"/>
              </a:rPr>
              <a:t>CONTEXTE ET JUSTIFICATION</a:t>
            </a:r>
            <a:endParaRPr lang="en-US" dirty="0">
              <a:latin typeface="Rockwell" panose="02060603020205020403" pitchFamily="18" charset="0"/>
            </a:endParaRPr>
          </a:p>
        </p:txBody>
      </p:sp>
    </p:spTree>
    <p:extLst>
      <p:ext uri="{BB962C8B-B14F-4D97-AF65-F5344CB8AC3E}">
        <p14:creationId xmlns:p14="http://schemas.microsoft.com/office/powerpoint/2010/main" val="20877775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FDD14C14-AF97-4040-80CE-00DF14368188}"/>
              </a:ext>
            </a:extLst>
          </p:cNvPr>
          <p:cNvSpPr/>
          <p:nvPr/>
        </p:nvSpPr>
        <p:spPr>
          <a:xfrm>
            <a:off x="0" y="0"/>
            <a:ext cx="402771" cy="402772"/>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9</a:t>
            </a:r>
            <a:endParaRPr lang="en-US" dirty="0">
              <a:latin typeface="Rockwell" panose="02060603020205020403" pitchFamily="18" charset="0"/>
            </a:endParaRPr>
          </a:p>
        </p:txBody>
      </p:sp>
      <p:sp>
        <p:nvSpPr>
          <p:cNvPr id="6" name="TextBox 5">
            <a:extLst>
              <a:ext uri="{FF2B5EF4-FFF2-40B4-BE49-F238E27FC236}">
                <a16:creationId xmlns:a16="http://schemas.microsoft.com/office/drawing/2014/main" id="{333B0704-0F48-40DB-BF6C-E8498715E7F9}"/>
              </a:ext>
            </a:extLst>
          </p:cNvPr>
          <p:cNvSpPr txBox="1"/>
          <p:nvPr/>
        </p:nvSpPr>
        <p:spPr>
          <a:xfrm>
            <a:off x="1271656" y="2619775"/>
            <a:ext cx="9297701" cy="706091"/>
          </a:xfrm>
          <a:prstGeom prst="rect">
            <a:avLst/>
          </a:prstGeom>
          <a:solidFill>
            <a:schemeClr val="bg1"/>
          </a:solidFill>
          <a:ln>
            <a:solidFill>
              <a:schemeClr val="bg1"/>
            </a:solidFill>
          </a:ln>
        </p:spPr>
        <p:txBody>
          <a:bodyPr wrap="square">
            <a:spAutoFit/>
          </a:bodyPr>
          <a:lstStyle/>
          <a:p>
            <a:pPr algn="ctr">
              <a:lnSpc>
                <a:spcPct val="107000"/>
              </a:lnSpc>
              <a:spcAft>
                <a:spcPts val="800"/>
              </a:spcAft>
            </a:pPr>
            <a:r>
              <a:rPr lang="fr-FR" sz="4000" b="1" dirty="0">
                <a:solidFill>
                  <a:schemeClr val="accent2">
                    <a:lumMod val="75000"/>
                  </a:schemeClr>
                </a:solidFill>
                <a:effectLst/>
                <a:latin typeface="Rockwell" panose="02060603020205020403" pitchFamily="18" charset="0"/>
                <a:ea typeface="Calibri" panose="020F0502020204030204" pitchFamily="34" charset="0"/>
                <a:cs typeface="Times New Roman" panose="02020603050405020304" pitchFamily="18" charset="0"/>
              </a:rPr>
              <a:t>OBJECTIF GLOBAL</a:t>
            </a:r>
            <a:endParaRPr lang="en-US" sz="4000" dirty="0">
              <a:solidFill>
                <a:schemeClr val="accent2">
                  <a:lumMod val="75000"/>
                </a:schemeClr>
              </a:solidFill>
              <a:effectLst/>
              <a:latin typeface="Rockwell" panose="02060603020205020403" pitchFamily="18" charset="0"/>
              <a:ea typeface="Calibri" panose="020F0502020204030204" pitchFamily="34" charset="0"/>
              <a:cs typeface="Times New Roman" panose="02020603050405020304" pitchFamily="18" charset="0"/>
            </a:endParaRPr>
          </a:p>
        </p:txBody>
      </p:sp>
      <p:sp>
        <p:nvSpPr>
          <p:cNvPr id="14" name="Rectangle 13">
            <a:extLst>
              <a:ext uri="{FF2B5EF4-FFF2-40B4-BE49-F238E27FC236}">
                <a16:creationId xmlns:a16="http://schemas.microsoft.com/office/drawing/2014/main" id="{20208500-EAE2-41CF-BBC7-4D5F21F4584C}"/>
              </a:ext>
            </a:extLst>
          </p:cNvPr>
          <p:cNvSpPr/>
          <p:nvPr/>
        </p:nvSpPr>
        <p:spPr>
          <a:xfrm>
            <a:off x="2324672" y="118559"/>
            <a:ext cx="1151953" cy="2842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accent2">
                  <a:lumMod val="75000"/>
                </a:schemeClr>
              </a:solidFill>
              <a:latin typeface="Rockwell" panose="02060603020205020403" pitchFamily="18" charset="0"/>
            </a:endParaRPr>
          </a:p>
        </p:txBody>
      </p:sp>
      <p:sp>
        <p:nvSpPr>
          <p:cNvPr id="15" name="Oval 14">
            <a:extLst>
              <a:ext uri="{FF2B5EF4-FFF2-40B4-BE49-F238E27FC236}">
                <a16:creationId xmlns:a16="http://schemas.microsoft.com/office/drawing/2014/main" id="{9D18CD90-D8AB-4189-A29E-7AC0D450BB25}"/>
              </a:ext>
            </a:extLst>
          </p:cNvPr>
          <p:cNvSpPr/>
          <p:nvPr/>
        </p:nvSpPr>
        <p:spPr>
          <a:xfrm>
            <a:off x="11649075" y="6405351"/>
            <a:ext cx="478853" cy="402772"/>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9</a:t>
            </a:r>
            <a:endParaRPr lang="en-US" dirty="0">
              <a:latin typeface="Amasis MT Pro Medium" panose="02040604050005020304" pitchFamily="18" charset="0"/>
            </a:endParaRPr>
          </a:p>
        </p:txBody>
      </p:sp>
      <p:sp>
        <p:nvSpPr>
          <p:cNvPr id="2" name="Rectangle: Rounded Corners 3">
            <a:extLst>
              <a:ext uri="{FF2B5EF4-FFF2-40B4-BE49-F238E27FC236}">
                <a16:creationId xmlns:a16="http://schemas.microsoft.com/office/drawing/2014/main" id="{927DEE2E-92F9-E64A-2D78-1AFD072C5C0C}"/>
              </a:ext>
            </a:extLst>
          </p:cNvPr>
          <p:cNvSpPr/>
          <p:nvPr/>
        </p:nvSpPr>
        <p:spPr>
          <a:xfrm>
            <a:off x="5802086" y="-1"/>
            <a:ext cx="6389914" cy="600713"/>
          </a:xfrm>
          <a:prstGeom prst="roundRect">
            <a:avLst>
              <a:gd name="adj" fmla="val 32456"/>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FFFFFF"/>
                </a:solidFill>
                <a:latin typeface="Rockwell" panose="02060603020205020403" pitchFamily="18" charset="0"/>
                <a:ea typeface="Calibri" panose="020F0502020204030204" pitchFamily="34" charset="0"/>
                <a:cs typeface="Times New Roman" panose="02020603050405020304" pitchFamily="18" charset="0"/>
              </a:rPr>
              <a:t>OBJECTIFS DU PROJET</a:t>
            </a:r>
            <a:endParaRPr lang="en-US" dirty="0">
              <a:latin typeface="Rockwell" panose="02060603020205020403" pitchFamily="18" charset="0"/>
            </a:endParaRPr>
          </a:p>
        </p:txBody>
      </p:sp>
      <p:grpSp>
        <p:nvGrpSpPr>
          <p:cNvPr id="17" name="Group 4">
            <a:extLst>
              <a:ext uri="{FF2B5EF4-FFF2-40B4-BE49-F238E27FC236}">
                <a16:creationId xmlns:a16="http://schemas.microsoft.com/office/drawing/2014/main" id="{E6F530FA-6D52-6E8A-E77D-07DB0F76AFD3}"/>
              </a:ext>
            </a:extLst>
          </p:cNvPr>
          <p:cNvGrpSpPr/>
          <p:nvPr/>
        </p:nvGrpSpPr>
        <p:grpSpPr>
          <a:xfrm>
            <a:off x="689932" y="2348867"/>
            <a:ext cx="9986306" cy="1938928"/>
            <a:chOff x="7696201" y="1376386"/>
            <a:chExt cx="4484914" cy="1284842"/>
          </a:xfrm>
        </p:grpSpPr>
        <p:sp>
          <p:nvSpPr>
            <p:cNvPr id="18" name="Rectangle 17">
              <a:extLst>
                <a:ext uri="{FF2B5EF4-FFF2-40B4-BE49-F238E27FC236}">
                  <a16:creationId xmlns:a16="http://schemas.microsoft.com/office/drawing/2014/main" id="{DE18C4FC-FEE1-A1FC-0868-B1633D5AADC4}"/>
                </a:ext>
              </a:extLst>
            </p:cNvPr>
            <p:cNvSpPr/>
            <p:nvPr/>
          </p:nvSpPr>
          <p:spPr>
            <a:xfrm>
              <a:off x="7696201" y="2160485"/>
              <a:ext cx="4484914" cy="5007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lang="fr-FR" sz="2000" dirty="0">
                  <a:solidFill>
                    <a:schemeClr val="tx1"/>
                  </a:solidFill>
                  <a:latin typeface="Rockwell" panose="02060603020205020403" pitchFamily="18" charset="0"/>
                </a:rPr>
                <a:t>Créer une solution web permettant d’analyser et de visualiser les opérations entrée/ sortie  sur disque dur</a:t>
              </a:r>
              <a:endParaRPr lang="en-US" sz="2000" dirty="0">
                <a:solidFill>
                  <a:schemeClr val="tx1"/>
                </a:solidFill>
                <a:latin typeface="Rockwell" panose="02060603020205020403" pitchFamily="18" charset="0"/>
              </a:endParaRPr>
            </a:p>
          </p:txBody>
        </p:sp>
        <p:sp>
          <p:nvSpPr>
            <p:cNvPr id="21" name="Rectangle: Rounded Corners 9">
              <a:extLst>
                <a:ext uri="{FF2B5EF4-FFF2-40B4-BE49-F238E27FC236}">
                  <a16:creationId xmlns:a16="http://schemas.microsoft.com/office/drawing/2014/main" id="{EF7B0124-A52D-FB76-2122-831BCA9BAF14}"/>
                </a:ext>
              </a:extLst>
            </p:cNvPr>
            <p:cNvSpPr/>
            <p:nvPr/>
          </p:nvSpPr>
          <p:spPr>
            <a:xfrm>
              <a:off x="7957457" y="1376386"/>
              <a:ext cx="4223658" cy="593928"/>
            </a:xfrm>
            <a:prstGeom prst="roundRect">
              <a:avLst>
                <a:gd name="adj" fmla="val 3245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tx1"/>
                </a:solidFill>
                <a:latin typeface="Rockwell" panose="02060603020205020403" pitchFamily="18" charset="0"/>
              </a:endParaRPr>
            </a:p>
          </p:txBody>
        </p:sp>
      </p:grpSp>
    </p:spTree>
    <p:extLst>
      <p:ext uri="{BB962C8B-B14F-4D97-AF65-F5344CB8AC3E}">
        <p14:creationId xmlns:p14="http://schemas.microsoft.com/office/powerpoint/2010/main" val="172514019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D3FB6-8BF0-F7B7-7FD2-782D0B06B169}"/>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40E124B6-F5FF-1B5B-8CC5-80B3B9021BEC}"/>
              </a:ext>
            </a:extLst>
          </p:cNvPr>
          <p:cNvSpPr/>
          <p:nvPr/>
        </p:nvSpPr>
        <p:spPr>
          <a:xfrm>
            <a:off x="0" y="0"/>
            <a:ext cx="647700" cy="402772"/>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10</a:t>
            </a:r>
            <a:endParaRPr lang="en-US" dirty="0">
              <a:latin typeface="Rockwell" panose="02060603020205020403" pitchFamily="18" charset="0"/>
            </a:endParaRPr>
          </a:p>
        </p:txBody>
      </p:sp>
      <p:sp>
        <p:nvSpPr>
          <p:cNvPr id="14" name="Rectangle 13">
            <a:extLst>
              <a:ext uri="{FF2B5EF4-FFF2-40B4-BE49-F238E27FC236}">
                <a16:creationId xmlns:a16="http://schemas.microsoft.com/office/drawing/2014/main" id="{B6F985EE-82FB-25F8-BCE0-7E57065C4A8A}"/>
              </a:ext>
            </a:extLst>
          </p:cNvPr>
          <p:cNvSpPr/>
          <p:nvPr/>
        </p:nvSpPr>
        <p:spPr>
          <a:xfrm>
            <a:off x="2324672" y="118559"/>
            <a:ext cx="1151953" cy="2842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accent2">
                  <a:lumMod val="75000"/>
                </a:schemeClr>
              </a:solidFill>
              <a:latin typeface="Rockwell" panose="02060603020205020403" pitchFamily="18" charset="0"/>
            </a:endParaRPr>
          </a:p>
        </p:txBody>
      </p:sp>
      <p:sp>
        <p:nvSpPr>
          <p:cNvPr id="15" name="Oval 14">
            <a:extLst>
              <a:ext uri="{FF2B5EF4-FFF2-40B4-BE49-F238E27FC236}">
                <a16:creationId xmlns:a16="http://schemas.microsoft.com/office/drawing/2014/main" id="{EB7C3D19-1C4A-9F4E-DD02-17516986007C}"/>
              </a:ext>
            </a:extLst>
          </p:cNvPr>
          <p:cNvSpPr/>
          <p:nvPr/>
        </p:nvSpPr>
        <p:spPr>
          <a:xfrm>
            <a:off x="11468101" y="6476999"/>
            <a:ext cx="659828" cy="331123"/>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10</a:t>
            </a:r>
            <a:endParaRPr lang="en-US" dirty="0">
              <a:latin typeface="Amasis MT Pro Medium" panose="02040604050005020304" pitchFamily="18" charset="0"/>
            </a:endParaRPr>
          </a:p>
        </p:txBody>
      </p:sp>
      <p:sp>
        <p:nvSpPr>
          <p:cNvPr id="2" name="Rectangle: Rounded Corners 3">
            <a:extLst>
              <a:ext uri="{FF2B5EF4-FFF2-40B4-BE49-F238E27FC236}">
                <a16:creationId xmlns:a16="http://schemas.microsoft.com/office/drawing/2014/main" id="{5B3CE824-0F19-05A9-5E66-E5D4D162BE74}"/>
              </a:ext>
            </a:extLst>
          </p:cNvPr>
          <p:cNvSpPr/>
          <p:nvPr/>
        </p:nvSpPr>
        <p:spPr>
          <a:xfrm>
            <a:off x="5802086" y="-1"/>
            <a:ext cx="6389914" cy="600713"/>
          </a:xfrm>
          <a:prstGeom prst="roundRect">
            <a:avLst>
              <a:gd name="adj" fmla="val 32456"/>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FFFFFF"/>
                </a:solidFill>
                <a:latin typeface="Rockwell" panose="02060603020205020403" pitchFamily="18" charset="0"/>
                <a:ea typeface="Calibri" panose="020F0502020204030204" pitchFamily="34" charset="0"/>
                <a:cs typeface="Times New Roman" panose="02020603050405020304" pitchFamily="18" charset="0"/>
              </a:rPr>
              <a:t>OBJECTIFS DU PROJET</a:t>
            </a:r>
            <a:endParaRPr lang="en-US" dirty="0">
              <a:latin typeface="Rockwell" panose="02060603020205020403" pitchFamily="18" charset="0"/>
            </a:endParaRPr>
          </a:p>
        </p:txBody>
      </p:sp>
      <p:grpSp>
        <p:nvGrpSpPr>
          <p:cNvPr id="4" name="Group 41">
            <a:extLst>
              <a:ext uri="{FF2B5EF4-FFF2-40B4-BE49-F238E27FC236}">
                <a16:creationId xmlns:a16="http://schemas.microsoft.com/office/drawing/2014/main" id="{52F7CC03-4AC2-F9D2-A2A3-5EF2B5C1D205}"/>
              </a:ext>
            </a:extLst>
          </p:cNvPr>
          <p:cNvGrpSpPr/>
          <p:nvPr/>
        </p:nvGrpSpPr>
        <p:grpSpPr>
          <a:xfrm>
            <a:off x="926757" y="2645831"/>
            <a:ext cx="10722318" cy="3160392"/>
            <a:chOff x="7204933" y="1376386"/>
            <a:chExt cx="4976182" cy="2528697"/>
          </a:xfrm>
        </p:grpSpPr>
        <p:sp>
          <p:nvSpPr>
            <p:cNvPr id="8" name="Rectangle 7">
              <a:extLst>
                <a:ext uri="{FF2B5EF4-FFF2-40B4-BE49-F238E27FC236}">
                  <a16:creationId xmlns:a16="http://schemas.microsoft.com/office/drawing/2014/main" id="{120E7034-885F-E74B-A662-666B879EE52B}"/>
                </a:ext>
              </a:extLst>
            </p:cNvPr>
            <p:cNvSpPr/>
            <p:nvPr/>
          </p:nvSpPr>
          <p:spPr>
            <a:xfrm>
              <a:off x="7696201" y="2160485"/>
              <a:ext cx="4484914" cy="5007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lang="fr-FR" sz="2000" dirty="0">
                  <a:solidFill>
                    <a:schemeClr val="tx1"/>
                  </a:solidFill>
                  <a:latin typeface="Rockwell" panose="02060603020205020403" pitchFamily="18" charset="0"/>
                </a:rPr>
                <a:t>Comprendre le fonctionnement des E/S du sous système Linux</a:t>
              </a:r>
              <a:endParaRPr lang="en-US" sz="2000" dirty="0">
                <a:solidFill>
                  <a:schemeClr val="tx1"/>
                </a:solidFill>
                <a:latin typeface="Rockwell" panose="02060603020205020403" pitchFamily="18" charset="0"/>
              </a:endParaRPr>
            </a:p>
          </p:txBody>
        </p:sp>
        <p:sp>
          <p:nvSpPr>
            <p:cNvPr id="10" name="Rectangle 9">
              <a:extLst>
                <a:ext uri="{FF2B5EF4-FFF2-40B4-BE49-F238E27FC236}">
                  <a16:creationId xmlns:a16="http://schemas.microsoft.com/office/drawing/2014/main" id="{28FE87F4-0224-7820-8C85-9C81F81A5E8D}"/>
                </a:ext>
              </a:extLst>
            </p:cNvPr>
            <p:cNvSpPr/>
            <p:nvPr/>
          </p:nvSpPr>
          <p:spPr>
            <a:xfrm>
              <a:off x="7402286" y="2770249"/>
              <a:ext cx="4475914" cy="3348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lang="fr-FR" sz="2000" dirty="0">
                  <a:solidFill>
                    <a:schemeClr val="tx1"/>
                  </a:solidFill>
                  <a:latin typeface="Rockwell" panose="02060603020205020403" pitchFamily="18" charset="0"/>
                </a:rPr>
                <a:t>Détecter les patterns d’accès disque: séquentiel, aléatoire et mixte</a:t>
              </a:r>
              <a:endParaRPr lang="en-US" sz="2000" dirty="0">
                <a:solidFill>
                  <a:schemeClr val="tx1"/>
                </a:solidFill>
                <a:latin typeface="Rockwell" panose="02060603020205020403" pitchFamily="18" charset="0"/>
              </a:endParaRPr>
            </a:p>
          </p:txBody>
        </p:sp>
        <p:sp>
          <p:nvSpPr>
            <p:cNvPr id="12" name="Rectangle 11">
              <a:extLst>
                <a:ext uri="{FF2B5EF4-FFF2-40B4-BE49-F238E27FC236}">
                  <a16:creationId xmlns:a16="http://schemas.microsoft.com/office/drawing/2014/main" id="{8CC76E48-4C43-6A4E-9820-B8E8469E8AF5}"/>
                </a:ext>
              </a:extLst>
            </p:cNvPr>
            <p:cNvSpPr/>
            <p:nvPr/>
          </p:nvSpPr>
          <p:spPr>
            <a:xfrm>
              <a:off x="7258558" y="3339027"/>
              <a:ext cx="3995086" cy="566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lang="fr-FR" sz="2000" dirty="0">
                  <a:solidFill>
                    <a:schemeClr val="tx1"/>
                  </a:solidFill>
                  <a:latin typeface="Rockwell" panose="02060603020205020403" pitchFamily="18" charset="0"/>
                </a:rPr>
                <a:t>Mesurer la latence, le débit, le blocage, la saturation des queues I/O,</a:t>
              </a:r>
              <a:endParaRPr lang="en-US" sz="2000" dirty="0">
                <a:solidFill>
                  <a:schemeClr val="tx1"/>
                </a:solidFill>
                <a:latin typeface="Rockwell" panose="02060603020205020403" pitchFamily="18" charset="0"/>
              </a:endParaRPr>
            </a:p>
          </p:txBody>
        </p:sp>
        <p:sp>
          <p:nvSpPr>
            <p:cNvPr id="16" name="Rectangle: Rounded Corners 40">
              <a:extLst>
                <a:ext uri="{FF2B5EF4-FFF2-40B4-BE49-F238E27FC236}">
                  <a16:creationId xmlns:a16="http://schemas.microsoft.com/office/drawing/2014/main" id="{E8445410-D9C6-B3F4-0ACC-4AC5BD5F331E}"/>
                </a:ext>
              </a:extLst>
            </p:cNvPr>
            <p:cNvSpPr/>
            <p:nvPr/>
          </p:nvSpPr>
          <p:spPr>
            <a:xfrm>
              <a:off x="7204933" y="1376386"/>
              <a:ext cx="4976182" cy="593928"/>
            </a:xfrm>
            <a:prstGeom prst="roundRect">
              <a:avLst>
                <a:gd name="adj" fmla="val 3245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tx1"/>
                </a:solidFill>
                <a:latin typeface="Rockwell" panose="02060603020205020403" pitchFamily="18" charset="0"/>
              </a:endParaRPr>
            </a:p>
          </p:txBody>
        </p:sp>
      </p:grpSp>
      <p:sp>
        <p:nvSpPr>
          <p:cNvPr id="5" name="TextBox 5">
            <a:extLst>
              <a:ext uri="{FF2B5EF4-FFF2-40B4-BE49-F238E27FC236}">
                <a16:creationId xmlns:a16="http://schemas.microsoft.com/office/drawing/2014/main" id="{34DD4C36-472D-EE58-B905-482BCDAFC00C}"/>
              </a:ext>
            </a:extLst>
          </p:cNvPr>
          <p:cNvSpPr txBox="1"/>
          <p:nvPr/>
        </p:nvSpPr>
        <p:spPr>
          <a:xfrm>
            <a:off x="431322" y="2000480"/>
            <a:ext cx="11485730" cy="706091"/>
          </a:xfrm>
          <a:prstGeom prst="rect">
            <a:avLst/>
          </a:prstGeom>
          <a:solidFill>
            <a:schemeClr val="bg1"/>
          </a:solidFill>
          <a:ln>
            <a:solidFill>
              <a:schemeClr val="bg1"/>
            </a:solidFill>
          </a:ln>
        </p:spPr>
        <p:txBody>
          <a:bodyPr wrap="square">
            <a:spAutoFit/>
          </a:bodyPr>
          <a:lstStyle/>
          <a:p>
            <a:pPr algn="ctr">
              <a:lnSpc>
                <a:spcPct val="107000"/>
              </a:lnSpc>
              <a:spcAft>
                <a:spcPts val="800"/>
              </a:spcAft>
            </a:pPr>
            <a:r>
              <a:rPr lang="fr-FR" sz="4000" b="1" dirty="0">
                <a:solidFill>
                  <a:schemeClr val="accent2">
                    <a:lumMod val="75000"/>
                  </a:schemeClr>
                </a:solidFill>
                <a:effectLst/>
                <a:latin typeface="Rockwell" panose="02060603020205020403" pitchFamily="18" charset="0"/>
                <a:ea typeface="Calibri" panose="020F0502020204030204" pitchFamily="34" charset="0"/>
                <a:cs typeface="Times New Roman" panose="02020603050405020304" pitchFamily="18" charset="0"/>
              </a:rPr>
              <a:t>OBJECTIF</a:t>
            </a:r>
            <a:r>
              <a:rPr lang="fr-FR" sz="4000" b="1" dirty="0">
                <a:solidFill>
                  <a:schemeClr val="accent2">
                    <a:lumMod val="75000"/>
                  </a:schemeClr>
                </a:solidFill>
                <a:latin typeface="Rockwell" panose="02060603020205020403" pitchFamily="18" charset="0"/>
                <a:ea typeface="Calibri" panose="020F0502020204030204" pitchFamily="34" charset="0"/>
                <a:cs typeface="Times New Roman" panose="02020603050405020304" pitchFamily="18" charset="0"/>
              </a:rPr>
              <a:t>S SPECIFIQUES</a:t>
            </a:r>
            <a:endParaRPr lang="en-US" sz="4000" dirty="0">
              <a:solidFill>
                <a:schemeClr val="accent2">
                  <a:lumMod val="75000"/>
                </a:schemeClr>
              </a:solidFill>
              <a:effectLst/>
              <a:latin typeface="Rockwell" panose="020606030202050204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7951924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439868F0-8CA6-4F06-885C-B4345724EEF4}"/>
              </a:ext>
            </a:extLst>
          </p:cNvPr>
          <p:cNvSpPr/>
          <p:nvPr/>
        </p:nvSpPr>
        <p:spPr>
          <a:xfrm>
            <a:off x="0" y="0"/>
            <a:ext cx="609600" cy="3048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11</a:t>
            </a:r>
            <a:endParaRPr lang="en-US" dirty="0">
              <a:latin typeface="Rockwell" panose="02060603020205020403" pitchFamily="18" charset="0"/>
            </a:endParaRPr>
          </a:p>
        </p:txBody>
      </p:sp>
      <p:sp>
        <p:nvSpPr>
          <p:cNvPr id="4" name="Oval 3">
            <a:extLst>
              <a:ext uri="{FF2B5EF4-FFF2-40B4-BE49-F238E27FC236}">
                <a16:creationId xmlns:a16="http://schemas.microsoft.com/office/drawing/2014/main" id="{6BDF3F42-AAF2-4A76-B360-21744FF277F0}"/>
              </a:ext>
            </a:extLst>
          </p:cNvPr>
          <p:cNvSpPr/>
          <p:nvPr/>
        </p:nvSpPr>
        <p:spPr>
          <a:xfrm>
            <a:off x="11318357" y="6400800"/>
            <a:ext cx="809571" cy="407323"/>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12</a:t>
            </a:r>
            <a:endParaRPr lang="en-US" dirty="0">
              <a:latin typeface="Amasis MT Pro Medium" panose="02040604050005020304" pitchFamily="18" charset="0"/>
            </a:endParaRPr>
          </a:p>
        </p:txBody>
      </p:sp>
      <p:sp>
        <p:nvSpPr>
          <p:cNvPr id="5" name="Rectangle: Rounded Corners 3">
            <a:extLst>
              <a:ext uri="{FF2B5EF4-FFF2-40B4-BE49-F238E27FC236}">
                <a16:creationId xmlns:a16="http://schemas.microsoft.com/office/drawing/2014/main" id="{D9C22743-451C-ACC6-22DA-36DE9EF08986}"/>
              </a:ext>
            </a:extLst>
          </p:cNvPr>
          <p:cNvSpPr/>
          <p:nvPr/>
        </p:nvSpPr>
        <p:spPr>
          <a:xfrm>
            <a:off x="5802086" y="-1"/>
            <a:ext cx="6389914" cy="600713"/>
          </a:xfrm>
          <a:prstGeom prst="roundRect">
            <a:avLst>
              <a:gd name="adj" fmla="val 32456"/>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FFFFFF"/>
                </a:solidFill>
                <a:latin typeface="Rockwell" panose="02060603020205020403" pitchFamily="18" charset="0"/>
                <a:ea typeface="Calibri" panose="020F0502020204030204" pitchFamily="34" charset="0"/>
                <a:cs typeface="Times New Roman" panose="02020603050405020304" pitchFamily="18" charset="0"/>
              </a:rPr>
              <a:t>EXPRESSION DES BESOINS UTILISATEURS</a:t>
            </a:r>
            <a:endParaRPr lang="en-US" dirty="0">
              <a:latin typeface="Rockwell" panose="02060603020205020403" pitchFamily="18" charset="0"/>
            </a:endParaRPr>
          </a:p>
        </p:txBody>
      </p:sp>
      <p:pic>
        <p:nvPicPr>
          <p:cNvPr id="6" name="Picture 25">
            <a:extLst>
              <a:ext uri="{FF2B5EF4-FFF2-40B4-BE49-F238E27FC236}">
                <a16:creationId xmlns:a16="http://schemas.microsoft.com/office/drawing/2014/main" id="{6B7E2BED-4468-A625-7625-80E0203ED93F}"/>
              </a:ext>
            </a:extLst>
          </p:cNvPr>
          <p:cNvPicPr>
            <a:picLocks noChangeAspect="1"/>
          </p:cNvPicPr>
          <p:nvPr/>
        </p:nvPicPr>
        <p:blipFill rotWithShape="1">
          <a:blip r:embed="rId3">
            <a:extLst>
              <a:ext uri="{28A0092B-C50C-407E-A947-70E740481C1C}">
                <a14:useLocalDpi xmlns:a14="http://schemas.microsoft.com/office/drawing/2010/main" val="0"/>
              </a:ext>
            </a:extLst>
          </a:blip>
          <a:srcRect l="9754" t="5873" r="9898" b="6600"/>
          <a:stretch/>
        </p:blipFill>
        <p:spPr>
          <a:xfrm>
            <a:off x="190753" y="2996788"/>
            <a:ext cx="2857141" cy="2808340"/>
          </a:xfrm>
          <a:prstGeom prst="rect">
            <a:avLst/>
          </a:prstGeom>
        </p:spPr>
      </p:pic>
      <p:sp>
        <p:nvSpPr>
          <p:cNvPr id="7" name="Rectangle 6">
            <a:extLst>
              <a:ext uri="{FF2B5EF4-FFF2-40B4-BE49-F238E27FC236}">
                <a16:creationId xmlns:a16="http://schemas.microsoft.com/office/drawing/2014/main" id="{D425A8EA-D394-CFCB-0355-10CB51AC0251}"/>
              </a:ext>
            </a:extLst>
          </p:cNvPr>
          <p:cNvSpPr/>
          <p:nvPr/>
        </p:nvSpPr>
        <p:spPr>
          <a:xfrm>
            <a:off x="201385" y="5634231"/>
            <a:ext cx="2857141" cy="6025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accent2">
                    <a:lumMod val="75000"/>
                  </a:schemeClr>
                </a:solidFill>
                <a:latin typeface="Rockwell" panose="02060603020205020403" pitchFamily="18" charset="0"/>
              </a:rPr>
              <a:t>1. Simple utilisateur</a:t>
            </a:r>
            <a:endParaRPr lang="en-US" dirty="0">
              <a:solidFill>
                <a:schemeClr val="accent2">
                  <a:lumMod val="75000"/>
                </a:schemeClr>
              </a:solidFill>
              <a:latin typeface="Rockwell" panose="02060603020205020403" pitchFamily="18" charset="0"/>
            </a:endParaRPr>
          </a:p>
        </p:txBody>
      </p:sp>
      <p:sp>
        <p:nvSpPr>
          <p:cNvPr id="13" name="Rectangle: Rounded Corners 8">
            <a:extLst>
              <a:ext uri="{FF2B5EF4-FFF2-40B4-BE49-F238E27FC236}">
                <a16:creationId xmlns:a16="http://schemas.microsoft.com/office/drawing/2014/main" id="{1F918908-3B96-3337-B2EF-E0256B204983}"/>
              </a:ext>
            </a:extLst>
          </p:cNvPr>
          <p:cNvSpPr/>
          <p:nvPr/>
        </p:nvSpPr>
        <p:spPr>
          <a:xfrm>
            <a:off x="3058526" y="1038787"/>
            <a:ext cx="5135900" cy="998301"/>
          </a:xfrm>
          <a:prstGeom prst="roundRect">
            <a:avLst>
              <a:gd name="adj" fmla="val 32456"/>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M" sz="4000" dirty="0">
                <a:latin typeface="Rockwell" panose="02060603020205020403" pitchFamily="18" charset="0"/>
                <a:ea typeface="Calibri" panose="020F0502020204030204" pitchFamily="34" charset="0"/>
              </a:rPr>
              <a:t>Besoins fonctionnels</a:t>
            </a:r>
            <a:endParaRPr lang="en-US" sz="4000" dirty="0">
              <a:latin typeface="Rockwell" panose="02060603020205020403" pitchFamily="18" charset="0"/>
            </a:endParaRPr>
          </a:p>
        </p:txBody>
      </p:sp>
      <p:sp>
        <p:nvSpPr>
          <p:cNvPr id="2" name="ZoneTexte 1">
            <a:extLst>
              <a:ext uri="{FF2B5EF4-FFF2-40B4-BE49-F238E27FC236}">
                <a16:creationId xmlns:a16="http://schemas.microsoft.com/office/drawing/2014/main" id="{630BA3BD-CECC-EDE0-F6DC-D0C74B687647}"/>
              </a:ext>
            </a:extLst>
          </p:cNvPr>
          <p:cNvSpPr txBox="1"/>
          <p:nvPr/>
        </p:nvSpPr>
        <p:spPr>
          <a:xfrm>
            <a:off x="1619324" y="2336688"/>
            <a:ext cx="8365524" cy="830997"/>
          </a:xfrm>
          <a:prstGeom prst="rect">
            <a:avLst/>
          </a:prstGeom>
          <a:noFill/>
        </p:spPr>
        <p:txBody>
          <a:bodyPr wrap="square">
            <a:spAutoFit/>
          </a:bodyPr>
          <a:lstStyle/>
          <a:p>
            <a:pPr algn="ctr"/>
            <a:r>
              <a:rPr lang="fr-FR" sz="2400" dirty="0">
                <a:latin typeface="Rockwell" panose="02060603020205020403" pitchFamily="18" charset="0"/>
              </a:rPr>
              <a:t>La mise sur pied du projet nécessitera 2 principaux utilisateurs</a:t>
            </a:r>
            <a:r>
              <a:rPr lang="fr-FR" dirty="0">
                <a:solidFill>
                  <a:schemeClr val="accent2">
                    <a:lumMod val="75000"/>
                  </a:schemeClr>
                </a:solidFill>
                <a:latin typeface="Rockwell" panose="02060603020205020403" pitchFamily="18" charset="0"/>
              </a:rPr>
              <a:t>:</a:t>
            </a:r>
            <a:endParaRPr lang="en-US" dirty="0">
              <a:solidFill>
                <a:schemeClr val="accent2">
                  <a:lumMod val="75000"/>
                </a:schemeClr>
              </a:solidFill>
              <a:latin typeface="Rockwell" panose="02060603020205020403" pitchFamily="18" charset="0"/>
            </a:endParaRPr>
          </a:p>
        </p:txBody>
      </p:sp>
      <p:sp>
        <p:nvSpPr>
          <p:cNvPr id="11" name="ZoneTexte 10">
            <a:extLst>
              <a:ext uri="{FF2B5EF4-FFF2-40B4-BE49-F238E27FC236}">
                <a16:creationId xmlns:a16="http://schemas.microsoft.com/office/drawing/2014/main" id="{87C44E3D-DC03-3802-E415-1739EA29BEC0}"/>
              </a:ext>
            </a:extLst>
          </p:cNvPr>
          <p:cNvSpPr txBox="1"/>
          <p:nvPr/>
        </p:nvSpPr>
        <p:spPr>
          <a:xfrm>
            <a:off x="5220211" y="4038978"/>
            <a:ext cx="6098146" cy="873572"/>
          </a:xfrm>
          <a:prstGeom prst="rect">
            <a:avLst/>
          </a:prstGeom>
          <a:noFill/>
        </p:spPr>
        <p:txBody>
          <a:bodyPr wrap="square">
            <a:spAutoFit/>
          </a:bodyPr>
          <a:lstStyle/>
          <a:p>
            <a:pPr marL="342900" lvl="0" indent="-342900" algn="just">
              <a:lnSpc>
                <a:spcPct val="150000"/>
              </a:lnSpc>
              <a:buFont typeface="Wingdings" panose="05000000000000000000" pitchFamily="2" charset="2"/>
              <a:buChar char=""/>
            </a:pPr>
            <a:r>
              <a:rPr lang="fr-FR" sz="1800" kern="100" dirty="0">
                <a:effectLst/>
                <a:latin typeface="Rockwell" panose="02060603020205020403" pitchFamily="18" charset="0"/>
                <a:ea typeface="Calibri" panose="020F0502020204030204" pitchFamily="34" charset="0"/>
                <a:cs typeface="Times New Roman" panose="02020603050405020304" pitchFamily="18" charset="0"/>
              </a:rPr>
              <a:t>Lancer un programme</a:t>
            </a:r>
          </a:p>
          <a:p>
            <a:pPr marL="342900" lvl="0" indent="-342900" algn="just">
              <a:lnSpc>
                <a:spcPct val="150000"/>
              </a:lnSpc>
              <a:spcAft>
                <a:spcPts val="800"/>
              </a:spcAft>
              <a:buFont typeface="Wingdings" panose="05000000000000000000" pitchFamily="2" charset="2"/>
              <a:buChar char=""/>
            </a:pPr>
            <a:r>
              <a:rPr lang="fr-FR" sz="1800" kern="100" dirty="0">
                <a:effectLst/>
                <a:latin typeface="Rockwell" panose="02060603020205020403" pitchFamily="18" charset="0"/>
                <a:ea typeface="Calibri" panose="020F0502020204030204" pitchFamily="34" charset="0"/>
                <a:cs typeface="Times New Roman" panose="02020603050405020304" pitchFamily="18" charset="0"/>
              </a:rPr>
              <a:t>Arrêter un programme</a:t>
            </a:r>
          </a:p>
        </p:txBody>
      </p:sp>
    </p:spTree>
    <p:extLst>
      <p:ext uri="{BB962C8B-B14F-4D97-AF65-F5344CB8AC3E}">
        <p14:creationId xmlns:p14="http://schemas.microsoft.com/office/powerpoint/2010/main" val="288559532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20FC6-86A5-282F-382C-D73573AD85B1}"/>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99EE9C0A-2293-BD75-6C27-D9A2CC52C6CA}"/>
              </a:ext>
            </a:extLst>
          </p:cNvPr>
          <p:cNvSpPr/>
          <p:nvPr/>
        </p:nvSpPr>
        <p:spPr>
          <a:xfrm>
            <a:off x="0" y="0"/>
            <a:ext cx="609600" cy="3048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11</a:t>
            </a:r>
            <a:endParaRPr lang="en-US" dirty="0">
              <a:latin typeface="Rockwell" panose="02060603020205020403" pitchFamily="18" charset="0"/>
            </a:endParaRPr>
          </a:p>
        </p:txBody>
      </p:sp>
      <p:sp>
        <p:nvSpPr>
          <p:cNvPr id="4" name="Oval 3">
            <a:extLst>
              <a:ext uri="{FF2B5EF4-FFF2-40B4-BE49-F238E27FC236}">
                <a16:creationId xmlns:a16="http://schemas.microsoft.com/office/drawing/2014/main" id="{56902FC4-0A6F-3B2B-8182-68D49080CD07}"/>
              </a:ext>
            </a:extLst>
          </p:cNvPr>
          <p:cNvSpPr/>
          <p:nvPr/>
        </p:nvSpPr>
        <p:spPr>
          <a:xfrm>
            <a:off x="11318357" y="6400800"/>
            <a:ext cx="809571" cy="407323"/>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12</a:t>
            </a:r>
            <a:endParaRPr lang="en-US" dirty="0">
              <a:latin typeface="Amasis MT Pro Medium" panose="02040604050005020304" pitchFamily="18" charset="0"/>
            </a:endParaRPr>
          </a:p>
        </p:txBody>
      </p:sp>
      <p:sp>
        <p:nvSpPr>
          <p:cNvPr id="5" name="Rectangle: Rounded Corners 3">
            <a:extLst>
              <a:ext uri="{FF2B5EF4-FFF2-40B4-BE49-F238E27FC236}">
                <a16:creationId xmlns:a16="http://schemas.microsoft.com/office/drawing/2014/main" id="{02D3E5CC-F081-FED0-3D24-D9B57F32B80A}"/>
              </a:ext>
            </a:extLst>
          </p:cNvPr>
          <p:cNvSpPr/>
          <p:nvPr/>
        </p:nvSpPr>
        <p:spPr>
          <a:xfrm>
            <a:off x="5802086" y="-1"/>
            <a:ext cx="6389914" cy="600713"/>
          </a:xfrm>
          <a:prstGeom prst="roundRect">
            <a:avLst>
              <a:gd name="adj" fmla="val 32456"/>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FFFFFF"/>
                </a:solidFill>
                <a:latin typeface="Rockwell" panose="02060603020205020403" pitchFamily="18" charset="0"/>
                <a:ea typeface="Calibri" panose="020F0502020204030204" pitchFamily="34" charset="0"/>
                <a:cs typeface="Times New Roman" panose="02020603050405020304" pitchFamily="18" charset="0"/>
              </a:rPr>
              <a:t>EXPRESSION DES BESOINS UTILISATEURS</a:t>
            </a:r>
            <a:endParaRPr lang="en-US" dirty="0">
              <a:latin typeface="Rockwell" panose="02060603020205020403" pitchFamily="18" charset="0"/>
            </a:endParaRPr>
          </a:p>
        </p:txBody>
      </p:sp>
      <p:sp>
        <p:nvSpPr>
          <p:cNvPr id="12" name="Rectangle 11">
            <a:extLst>
              <a:ext uri="{FF2B5EF4-FFF2-40B4-BE49-F238E27FC236}">
                <a16:creationId xmlns:a16="http://schemas.microsoft.com/office/drawing/2014/main" id="{3CC423DC-5BA4-9D02-3A93-6F5D1C1E448C}"/>
              </a:ext>
            </a:extLst>
          </p:cNvPr>
          <p:cNvSpPr/>
          <p:nvPr/>
        </p:nvSpPr>
        <p:spPr>
          <a:xfrm>
            <a:off x="505738" y="4508059"/>
            <a:ext cx="2857141" cy="6025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accent2">
                    <a:lumMod val="75000"/>
                  </a:schemeClr>
                </a:solidFill>
                <a:latin typeface="Rockwell" panose="02060603020205020403" pitchFamily="18" charset="0"/>
              </a:rPr>
              <a:t>2. Administrateur</a:t>
            </a:r>
            <a:endParaRPr lang="en-US" dirty="0">
              <a:solidFill>
                <a:schemeClr val="accent2">
                  <a:lumMod val="75000"/>
                </a:schemeClr>
              </a:solidFill>
              <a:latin typeface="Rockwell" panose="02060603020205020403" pitchFamily="18" charset="0"/>
            </a:endParaRPr>
          </a:p>
        </p:txBody>
      </p:sp>
      <p:sp>
        <p:nvSpPr>
          <p:cNvPr id="13" name="Rectangle: Rounded Corners 8">
            <a:extLst>
              <a:ext uri="{FF2B5EF4-FFF2-40B4-BE49-F238E27FC236}">
                <a16:creationId xmlns:a16="http://schemas.microsoft.com/office/drawing/2014/main" id="{D9957A74-903A-BF3C-DB09-075769189DA0}"/>
              </a:ext>
            </a:extLst>
          </p:cNvPr>
          <p:cNvSpPr/>
          <p:nvPr/>
        </p:nvSpPr>
        <p:spPr>
          <a:xfrm>
            <a:off x="698537" y="600712"/>
            <a:ext cx="5135900" cy="998301"/>
          </a:xfrm>
          <a:prstGeom prst="roundRect">
            <a:avLst>
              <a:gd name="adj" fmla="val 32456"/>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M" sz="4000" dirty="0">
                <a:latin typeface="Rockwell" panose="02060603020205020403" pitchFamily="18" charset="0"/>
                <a:ea typeface="Calibri" panose="020F0502020204030204" pitchFamily="34" charset="0"/>
              </a:rPr>
              <a:t>Besoins fonctionnels</a:t>
            </a:r>
            <a:endParaRPr lang="en-US" sz="4000" dirty="0">
              <a:latin typeface="Rockwell" panose="02060603020205020403" pitchFamily="18" charset="0"/>
            </a:endParaRPr>
          </a:p>
        </p:txBody>
      </p:sp>
      <p:sp>
        <p:nvSpPr>
          <p:cNvPr id="2" name="ZoneTexte 1">
            <a:extLst>
              <a:ext uri="{FF2B5EF4-FFF2-40B4-BE49-F238E27FC236}">
                <a16:creationId xmlns:a16="http://schemas.microsoft.com/office/drawing/2014/main" id="{E05ADA46-3676-6E11-95A9-DB8DA062B9BA}"/>
              </a:ext>
            </a:extLst>
          </p:cNvPr>
          <p:cNvSpPr txBox="1"/>
          <p:nvPr/>
        </p:nvSpPr>
        <p:spPr>
          <a:xfrm>
            <a:off x="-486218" y="1536651"/>
            <a:ext cx="8365524" cy="830997"/>
          </a:xfrm>
          <a:prstGeom prst="rect">
            <a:avLst/>
          </a:prstGeom>
          <a:noFill/>
        </p:spPr>
        <p:txBody>
          <a:bodyPr wrap="square">
            <a:spAutoFit/>
          </a:bodyPr>
          <a:lstStyle/>
          <a:p>
            <a:pPr algn="ctr"/>
            <a:r>
              <a:rPr lang="fr-FR" sz="2400" dirty="0">
                <a:latin typeface="Rockwell" panose="02060603020205020403" pitchFamily="18" charset="0"/>
              </a:rPr>
              <a:t>La mise sur pied du projet nécessitera 2 principaux utilisateurs</a:t>
            </a:r>
            <a:r>
              <a:rPr lang="fr-FR" dirty="0">
                <a:solidFill>
                  <a:schemeClr val="accent2">
                    <a:lumMod val="75000"/>
                  </a:schemeClr>
                </a:solidFill>
                <a:latin typeface="Rockwell" panose="02060603020205020403" pitchFamily="18" charset="0"/>
              </a:rPr>
              <a:t>:</a:t>
            </a:r>
            <a:endParaRPr lang="en-US" dirty="0">
              <a:solidFill>
                <a:schemeClr val="accent2">
                  <a:lumMod val="75000"/>
                </a:schemeClr>
              </a:solidFill>
              <a:latin typeface="Rockwell" panose="02060603020205020403" pitchFamily="18" charset="0"/>
            </a:endParaRPr>
          </a:p>
        </p:txBody>
      </p:sp>
      <p:sp>
        <p:nvSpPr>
          <p:cNvPr id="9" name="ZoneTexte 8">
            <a:extLst>
              <a:ext uri="{FF2B5EF4-FFF2-40B4-BE49-F238E27FC236}">
                <a16:creationId xmlns:a16="http://schemas.microsoft.com/office/drawing/2014/main" id="{3AB9EF3A-6CF2-94C5-75CB-315B6AB73727}"/>
              </a:ext>
            </a:extLst>
          </p:cNvPr>
          <p:cNvSpPr txBox="1"/>
          <p:nvPr/>
        </p:nvSpPr>
        <p:spPr>
          <a:xfrm>
            <a:off x="5220211" y="2199726"/>
            <a:ext cx="6098146" cy="3366371"/>
          </a:xfrm>
          <a:prstGeom prst="rect">
            <a:avLst/>
          </a:prstGeom>
          <a:noFill/>
        </p:spPr>
        <p:txBody>
          <a:bodyPr wrap="square">
            <a:spAutoFit/>
          </a:bodyPr>
          <a:lstStyle/>
          <a:p>
            <a:pPr marL="342900" lvl="0" indent="-342900" algn="just">
              <a:lnSpc>
                <a:spcPct val="150000"/>
              </a:lnSpc>
              <a:buFont typeface="Wingdings" panose="05000000000000000000" pitchFamily="2" charset="2"/>
              <a:buChar char=""/>
            </a:pPr>
            <a:r>
              <a:rPr lang="fr-FR" sz="1800" kern="100" dirty="0">
                <a:effectLst/>
                <a:latin typeface="Rockwell" panose="02060603020205020403" pitchFamily="18" charset="0"/>
                <a:ea typeface="Calibri" panose="020F0502020204030204" pitchFamily="34" charset="0"/>
                <a:cs typeface="Times New Roman" panose="02020603050405020304" pitchFamily="18" charset="0"/>
              </a:rPr>
              <a:t>Se connecter pour accéder à l’interface de DiskMonitor ;</a:t>
            </a:r>
          </a:p>
          <a:p>
            <a:pPr marL="342900" lvl="0" indent="-342900" algn="just">
              <a:lnSpc>
                <a:spcPct val="150000"/>
              </a:lnSpc>
              <a:buFont typeface="Wingdings" panose="05000000000000000000" pitchFamily="2" charset="2"/>
              <a:buChar char=""/>
            </a:pPr>
            <a:r>
              <a:rPr lang="fr-FR" sz="1800" kern="100" dirty="0">
                <a:effectLst/>
                <a:latin typeface="Rockwell" panose="02060603020205020403" pitchFamily="18" charset="0"/>
                <a:ea typeface="Calibri" panose="020F0502020204030204" pitchFamily="34" charset="0"/>
                <a:cs typeface="Times New Roman" panose="02020603050405020304" pitchFamily="18" charset="0"/>
              </a:rPr>
              <a:t>Démarrer le monitoring pour lancer la surveillance en temps réel ;</a:t>
            </a:r>
          </a:p>
          <a:p>
            <a:pPr marL="342900" lvl="0" indent="-342900" algn="just">
              <a:lnSpc>
                <a:spcPct val="150000"/>
              </a:lnSpc>
              <a:buFont typeface="Wingdings" panose="05000000000000000000" pitchFamily="2" charset="2"/>
              <a:buChar char=""/>
            </a:pPr>
            <a:r>
              <a:rPr lang="fr-FR" sz="1800" kern="100" dirty="0">
                <a:effectLst/>
                <a:latin typeface="Rockwell" panose="02060603020205020403" pitchFamily="18" charset="0"/>
                <a:ea typeface="Calibri" panose="020F0502020204030204" pitchFamily="34" charset="0"/>
                <a:cs typeface="Times New Roman" panose="02020603050405020304" pitchFamily="18" charset="0"/>
              </a:rPr>
              <a:t>Arrêter le monitoring pour mettre fin à l’observation ;</a:t>
            </a:r>
          </a:p>
          <a:p>
            <a:pPr marL="342900" lvl="0" indent="-342900" algn="just">
              <a:lnSpc>
                <a:spcPct val="150000"/>
              </a:lnSpc>
              <a:buFont typeface="Wingdings" panose="05000000000000000000" pitchFamily="2" charset="2"/>
              <a:buChar char=""/>
            </a:pPr>
            <a:r>
              <a:rPr lang="fr-FR" sz="1800" kern="100" dirty="0">
                <a:effectLst/>
                <a:latin typeface="Rockwell" panose="02060603020205020403" pitchFamily="18" charset="0"/>
                <a:ea typeface="Calibri" panose="020F0502020204030204" pitchFamily="34" charset="0"/>
                <a:cs typeface="Times New Roman" panose="02020603050405020304" pitchFamily="18" charset="0"/>
              </a:rPr>
              <a:t>Visualiser les processus actifs pour afficher les programmes qui accèdent au disque ;</a:t>
            </a:r>
          </a:p>
        </p:txBody>
      </p:sp>
    </p:spTree>
    <p:extLst>
      <p:ext uri="{BB962C8B-B14F-4D97-AF65-F5344CB8AC3E}">
        <p14:creationId xmlns:p14="http://schemas.microsoft.com/office/powerpoint/2010/main" val="313804476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1EF27-DA6E-C85F-57CD-1048A39AD79B}"/>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69F5F8D3-129E-854C-E98B-7D9C6E4D604F}"/>
              </a:ext>
            </a:extLst>
          </p:cNvPr>
          <p:cNvSpPr/>
          <p:nvPr/>
        </p:nvSpPr>
        <p:spPr>
          <a:xfrm>
            <a:off x="0" y="0"/>
            <a:ext cx="609600" cy="3048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11</a:t>
            </a:r>
            <a:endParaRPr lang="en-US" dirty="0">
              <a:latin typeface="Rockwell" panose="02060603020205020403" pitchFamily="18" charset="0"/>
            </a:endParaRPr>
          </a:p>
        </p:txBody>
      </p:sp>
      <p:sp>
        <p:nvSpPr>
          <p:cNvPr id="4" name="Oval 3">
            <a:extLst>
              <a:ext uri="{FF2B5EF4-FFF2-40B4-BE49-F238E27FC236}">
                <a16:creationId xmlns:a16="http://schemas.microsoft.com/office/drawing/2014/main" id="{696A3042-5C41-5BE7-57B7-9DFD687965BD}"/>
              </a:ext>
            </a:extLst>
          </p:cNvPr>
          <p:cNvSpPr/>
          <p:nvPr/>
        </p:nvSpPr>
        <p:spPr>
          <a:xfrm>
            <a:off x="11318357" y="6400800"/>
            <a:ext cx="809571" cy="407323"/>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12</a:t>
            </a:r>
            <a:endParaRPr lang="en-US" dirty="0">
              <a:latin typeface="Amasis MT Pro Medium" panose="02040604050005020304" pitchFamily="18" charset="0"/>
            </a:endParaRPr>
          </a:p>
        </p:txBody>
      </p:sp>
      <p:sp>
        <p:nvSpPr>
          <p:cNvPr id="5" name="Rectangle: Rounded Corners 3">
            <a:extLst>
              <a:ext uri="{FF2B5EF4-FFF2-40B4-BE49-F238E27FC236}">
                <a16:creationId xmlns:a16="http://schemas.microsoft.com/office/drawing/2014/main" id="{BC240612-5A49-76DA-7BF1-AE3026523CA0}"/>
              </a:ext>
            </a:extLst>
          </p:cNvPr>
          <p:cNvSpPr/>
          <p:nvPr/>
        </p:nvSpPr>
        <p:spPr>
          <a:xfrm>
            <a:off x="5802086" y="-1"/>
            <a:ext cx="6389914" cy="600713"/>
          </a:xfrm>
          <a:prstGeom prst="roundRect">
            <a:avLst>
              <a:gd name="adj" fmla="val 32456"/>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FFFFFF"/>
                </a:solidFill>
                <a:latin typeface="Rockwell" panose="02060603020205020403" pitchFamily="18" charset="0"/>
                <a:ea typeface="Calibri" panose="020F0502020204030204" pitchFamily="34" charset="0"/>
                <a:cs typeface="Times New Roman" panose="02020603050405020304" pitchFamily="18" charset="0"/>
              </a:rPr>
              <a:t>EXPRESSION DES BESOINS UTILISATEURS</a:t>
            </a:r>
            <a:endParaRPr lang="en-US" dirty="0">
              <a:latin typeface="Rockwell" panose="02060603020205020403" pitchFamily="18" charset="0"/>
            </a:endParaRPr>
          </a:p>
        </p:txBody>
      </p:sp>
      <p:sp>
        <p:nvSpPr>
          <p:cNvPr id="12" name="Rectangle 11">
            <a:extLst>
              <a:ext uri="{FF2B5EF4-FFF2-40B4-BE49-F238E27FC236}">
                <a16:creationId xmlns:a16="http://schemas.microsoft.com/office/drawing/2014/main" id="{29153973-D1DA-8F2D-8428-DF98DFFEE621}"/>
              </a:ext>
            </a:extLst>
          </p:cNvPr>
          <p:cNvSpPr/>
          <p:nvPr/>
        </p:nvSpPr>
        <p:spPr>
          <a:xfrm>
            <a:off x="505738" y="4508059"/>
            <a:ext cx="2857141" cy="6025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accent2">
                    <a:lumMod val="75000"/>
                  </a:schemeClr>
                </a:solidFill>
                <a:latin typeface="Rockwell" panose="02060603020205020403" pitchFamily="18" charset="0"/>
              </a:rPr>
              <a:t>2. Administrateur</a:t>
            </a:r>
            <a:endParaRPr lang="en-US" dirty="0">
              <a:solidFill>
                <a:schemeClr val="accent2">
                  <a:lumMod val="75000"/>
                </a:schemeClr>
              </a:solidFill>
              <a:latin typeface="Rockwell" panose="02060603020205020403" pitchFamily="18" charset="0"/>
            </a:endParaRPr>
          </a:p>
        </p:txBody>
      </p:sp>
      <p:sp>
        <p:nvSpPr>
          <p:cNvPr id="13" name="Rectangle: Rounded Corners 8">
            <a:extLst>
              <a:ext uri="{FF2B5EF4-FFF2-40B4-BE49-F238E27FC236}">
                <a16:creationId xmlns:a16="http://schemas.microsoft.com/office/drawing/2014/main" id="{C175A828-837B-C4B4-684C-5EED123D856A}"/>
              </a:ext>
            </a:extLst>
          </p:cNvPr>
          <p:cNvSpPr/>
          <p:nvPr/>
        </p:nvSpPr>
        <p:spPr>
          <a:xfrm>
            <a:off x="698537" y="600712"/>
            <a:ext cx="5135900" cy="998301"/>
          </a:xfrm>
          <a:prstGeom prst="roundRect">
            <a:avLst>
              <a:gd name="adj" fmla="val 32456"/>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M" sz="4000" dirty="0">
                <a:latin typeface="Rockwell" panose="02060603020205020403" pitchFamily="18" charset="0"/>
                <a:ea typeface="Calibri" panose="020F0502020204030204" pitchFamily="34" charset="0"/>
              </a:rPr>
              <a:t>Besoins fonctionnels</a:t>
            </a:r>
            <a:endParaRPr lang="en-US" sz="4000" dirty="0">
              <a:latin typeface="Rockwell" panose="02060603020205020403" pitchFamily="18" charset="0"/>
            </a:endParaRPr>
          </a:p>
        </p:txBody>
      </p:sp>
      <p:sp>
        <p:nvSpPr>
          <p:cNvPr id="2" name="ZoneTexte 1">
            <a:extLst>
              <a:ext uri="{FF2B5EF4-FFF2-40B4-BE49-F238E27FC236}">
                <a16:creationId xmlns:a16="http://schemas.microsoft.com/office/drawing/2014/main" id="{C2D9EB95-A7CC-A6CF-7F5D-E24CAAE7204C}"/>
              </a:ext>
            </a:extLst>
          </p:cNvPr>
          <p:cNvSpPr txBox="1"/>
          <p:nvPr/>
        </p:nvSpPr>
        <p:spPr>
          <a:xfrm>
            <a:off x="1651675" y="1639736"/>
            <a:ext cx="8365524" cy="830997"/>
          </a:xfrm>
          <a:prstGeom prst="rect">
            <a:avLst/>
          </a:prstGeom>
          <a:noFill/>
        </p:spPr>
        <p:txBody>
          <a:bodyPr wrap="square">
            <a:spAutoFit/>
          </a:bodyPr>
          <a:lstStyle/>
          <a:p>
            <a:pPr algn="ctr"/>
            <a:r>
              <a:rPr lang="fr-FR" sz="2400" dirty="0">
                <a:latin typeface="Rockwell" panose="02060603020205020403" pitchFamily="18" charset="0"/>
              </a:rPr>
              <a:t>La mise sur pied du projet nécessitera 2 principaux utilisateurs</a:t>
            </a:r>
            <a:r>
              <a:rPr lang="fr-FR" dirty="0">
                <a:solidFill>
                  <a:schemeClr val="accent2">
                    <a:lumMod val="75000"/>
                  </a:schemeClr>
                </a:solidFill>
                <a:latin typeface="Rockwell" panose="02060603020205020403" pitchFamily="18" charset="0"/>
              </a:rPr>
              <a:t>:</a:t>
            </a:r>
            <a:endParaRPr lang="en-US" dirty="0">
              <a:solidFill>
                <a:schemeClr val="accent2">
                  <a:lumMod val="75000"/>
                </a:schemeClr>
              </a:solidFill>
              <a:latin typeface="Rockwell" panose="02060603020205020403" pitchFamily="18" charset="0"/>
            </a:endParaRPr>
          </a:p>
        </p:txBody>
      </p:sp>
      <p:sp>
        <p:nvSpPr>
          <p:cNvPr id="9" name="ZoneTexte 8">
            <a:extLst>
              <a:ext uri="{FF2B5EF4-FFF2-40B4-BE49-F238E27FC236}">
                <a16:creationId xmlns:a16="http://schemas.microsoft.com/office/drawing/2014/main" id="{5B2D4FD8-3A1C-4A38-74D3-1673399570C5}"/>
              </a:ext>
            </a:extLst>
          </p:cNvPr>
          <p:cNvSpPr txBox="1"/>
          <p:nvPr/>
        </p:nvSpPr>
        <p:spPr>
          <a:xfrm>
            <a:off x="4787720" y="2448195"/>
            <a:ext cx="6098146" cy="1566070"/>
          </a:xfrm>
          <a:prstGeom prst="rect">
            <a:avLst/>
          </a:prstGeom>
          <a:noFill/>
        </p:spPr>
        <p:txBody>
          <a:bodyPr wrap="square">
            <a:spAutoFit/>
          </a:bodyPr>
          <a:lstStyle/>
          <a:p>
            <a:pPr marL="285750" lvl="0" indent="-285750">
              <a:lnSpc>
                <a:spcPct val="200000"/>
              </a:lnSpc>
              <a:buFont typeface="Wingdings" panose="05000000000000000000" pitchFamily="2" charset="2"/>
              <a:buChar char="Ø"/>
            </a:pPr>
            <a:r>
              <a:rPr lang="fr-FR" dirty="0">
                <a:latin typeface="Rockwell" panose="02060603020205020403" pitchFamily="18" charset="0"/>
                <a:cs typeface="Times New Roman" panose="02020603050405020304" pitchFamily="18" charset="0"/>
              </a:rPr>
              <a:t>Visualiser le tableau de bord pour visualiser les graphiques en temps réel ;</a:t>
            </a:r>
          </a:p>
          <a:p>
            <a:pPr lvl="0" algn="just">
              <a:lnSpc>
                <a:spcPct val="150000"/>
              </a:lnSpc>
            </a:pP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5582394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931BA-31FD-3D6A-3A61-0851B3AE19AE}"/>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E1FF8AC6-BF00-0D9E-C9B5-3CB363DC692D}"/>
              </a:ext>
            </a:extLst>
          </p:cNvPr>
          <p:cNvSpPr/>
          <p:nvPr/>
        </p:nvSpPr>
        <p:spPr>
          <a:xfrm>
            <a:off x="0" y="0"/>
            <a:ext cx="781050" cy="4572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12</a:t>
            </a:r>
            <a:endParaRPr lang="en-US" dirty="0">
              <a:latin typeface="Rockwell" panose="02060603020205020403" pitchFamily="18" charset="0"/>
            </a:endParaRPr>
          </a:p>
        </p:txBody>
      </p:sp>
      <p:sp>
        <p:nvSpPr>
          <p:cNvPr id="4" name="Oval 3">
            <a:extLst>
              <a:ext uri="{FF2B5EF4-FFF2-40B4-BE49-F238E27FC236}">
                <a16:creationId xmlns:a16="http://schemas.microsoft.com/office/drawing/2014/main" id="{435F042F-54DA-B4B4-BE94-8326BB61CE82}"/>
              </a:ext>
            </a:extLst>
          </p:cNvPr>
          <p:cNvSpPr/>
          <p:nvPr/>
        </p:nvSpPr>
        <p:spPr>
          <a:xfrm>
            <a:off x="11516499" y="6257286"/>
            <a:ext cx="611430" cy="550837"/>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12</a:t>
            </a:r>
            <a:endParaRPr lang="en-US" dirty="0">
              <a:latin typeface="Amasis MT Pro Medium" panose="02040604050005020304" pitchFamily="18" charset="0"/>
            </a:endParaRPr>
          </a:p>
        </p:txBody>
      </p:sp>
      <p:sp>
        <p:nvSpPr>
          <p:cNvPr id="5" name="Rectangle: Rounded Corners 3">
            <a:extLst>
              <a:ext uri="{FF2B5EF4-FFF2-40B4-BE49-F238E27FC236}">
                <a16:creationId xmlns:a16="http://schemas.microsoft.com/office/drawing/2014/main" id="{521A32A9-9AB2-85EF-D427-6DBF0AA72276}"/>
              </a:ext>
            </a:extLst>
          </p:cNvPr>
          <p:cNvSpPr/>
          <p:nvPr/>
        </p:nvSpPr>
        <p:spPr>
          <a:xfrm>
            <a:off x="5802086" y="-1"/>
            <a:ext cx="6389914" cy="600713"/>
          </a:xfrm>
          <a:prstGeom prst="roundRect">
            <a:avLst>
              <a:gd name="adj" fmla="val 32456"/>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FFFFFF"/>
                </a:solidFill>
                <a:latin typeface="Rockwell" panose="02060603020205020403" pitchFamily="18" charset="0"/>
                <a:ea typeface="Calibri" panose="020F0502020204030204" pitchFamily="34" charset="0"/>
                <a:cs typeface="Times New Roman" panose="02020603050405020304" pitchFamily="18" charset="0"/>
              </a:rPr>
              <a:t>EXPRESSION DES BESOINS UTILISATEURS</a:t>
            </a:r>
            <a:endParaRPr lang="en-US" dirty="0">
              <a:latin typeface="Rockwell" panose="02060603020205020403" pitchFamily="18" charset="0"/>
            </a:endParaRPr>
          </a:p>
        </p:txBody>
      </p:sp>
      <p:sp>
        <p:nvSpPr>
          <p:cNvPr id="7" name="Rectangle 6">
            <a:extLst>
              <a:ext uri="{FF2B5EF4-FFF2-40B4-BE49-F238E27FC236}">
                <a16:creationId xmlns:a16="http://schemas.microsoft.com/office/drawing/2014/main" id="{D5DCC121-FC2D-FB60-1ED4-6D30A52815C5}"/>
              </a:ext>
            </a:extLst>
          </p:cNvPr>
          <p:cNvSpPr/>
          <p:nvPr/>
        </p:nvSpPr>
        <p:spPr>
          <a:xfrm>
            <a:off x="402772" y="2078528"/>
            <a:ext cx="11113726" cy="38796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accent2">
                  <a:lumMod val="75000"/>
                </a:schemeClr>
              </a:solidFill>
              <a:latin typeface="Rockwell" panose="02060603020205020403" pitchFamily="18" charset="0"/>
            </a:endParaRPr>
          </a:p>
          <a:p>
            <a:pPr algn="ctr"/>
            <a:endParaRPr lang="fr-FR" dirty="0">
              <a:solidFill>
                <a:schemeClr val="accent2">
                  <a:lumMod val="75000"/>
                </a:schemeClr>
              </a:solidFill>
              <a:latin typeface="Rockwell" panose="02060603020205020403" pitchFamily="18" charset="0"/>
            </a:endParaRPr>
          </a:p>
          <a:p>
            <a:pPr marL="2114550" lvl="4" indent="-285750">
              <a:lnSpc>
                <a:spcPct val="200000"/>
              </a:lnSpc>
              <a:buFont typeface="Wingdings" panose="05000000000000000000" pitchFamily="2" charset="2"/>
              <a:buChar char="§"/>
            </a:pPr>
            <a:r>
              <a:rPr lang="en-US" sz="2400" b="1" dirty="0">
                <a:solidFill>
                  <a:schemeClr val="tx1"/>
                </a:solidFill>
                <a:latin typeface="Rockwell" panose="02060603020205020403" pitchFamily="18" charset="0"/>
              </a:rPr>
              <a:t>Integrabilité: faciliter à intégrer de Nouvelles fonctionnalités,</a:t>
            </a:r>
          </a:p>
          <a:p>
            <a:pPr marL="2114550" lvl="4" indent="-285750">
              <a:lnSpc>
                <a:spcPct val="200000"/>
              </a:lnSpc>
              <a:buFont typeface="Wingdings" panose="05000000000000000000" pitchFamily="2" charset="2"/>
              <a:buChar char="§"/>
            </a:pPr>
            <a:r>
              <a:rPr lang="en-US" sz="2400" b="1" dirty="0">
                <a:solidFill>
                  <a:schemeClr val="tx1"/>
                </a:solidFill>
                <a:latin typeface="Rockwell" panose="02060603020205020403" pitchFamily="18" charset="0"/>
              </a:rPr>
              <a:t>La maintenabilité: apporter des correctifs des fonctionnalités;</a:t>
            </a:r>
          </a:p>
          <a:p>
            <a:pPr marL="2114550" lvl="4" indent="-285750">
              <a:lnSpc>
                <a:spcPct val="200000"/>
              </a:lnSpc>
              <a:buFont typeface="Wingdings" panose="05000000000000000000" pitchFamily="2" charset="2"/>
              <a:buChar char="§"/>
            </a:pPr>
            <a:r>
              <a:rPr lang="en-US" sz="2400" b="1" dirty="0">
                <a:solidFill>
                  <a:schemeClr val="tx1"/>
                </a:solidFill>
                <a:latin typeface="Rockwell" panose="02060603020205020403" pitchFamily="18" charset="0"/>
              </a:rPr>
              <a:t>Le design: conception de belles interfaces;    </a:t>
            </a:r>
          </a:p>
          <a:p>
            <a:pPr marL="2114550" lvl="4" indent="-285750">
              <a:lnSpc>
                <a:spcPct val="200000"/>
              </a:lnSpc>
              <a:buFont typeface="Wingdings" panose="05000000000000000000" pitchFamily="2" charset="2"/>
              <a:buChar char="§"/>
            </a:pPr>
            <a:r>
              <a:rPr lang="en-US" sz="2400" b="1" dirty="0">
                <a:solidFill>
                  <a:schemeClr val="tx1"/>
                </a:solidFill>
                <a:latin typeface="Rockwell" panose="02060603020205020403" pitchFamily="18" charset="0"/>
              </a:rPr>
              <a:t>Fiabilité : precision des calculs;</a:t>
            </a:r>
          </a:p>
          <a:p>
            <a:pPr marL="2114550" lvl="4" indent="-285750">
              <a:lnSpc>
                <a:spcPct val="200000"/>
              </a:lnSpc>
              <a:buFont typeface="Wingdings" panose="05000000000000000000" pitchFamily="2" charset="2"/>
              <a:buChar char="§"/>
            </a:pPr>
            <a:r>
              <a:rPr lang="en-US" sz="2400" b="1" dirty="0">
                <a:solidFill>
                  <a:schemeClr val="tx1"/>
                </a:solidFill>
                <a:latin typeface="Rockwell" panose="02060603020205020403" pitchFamily="18" charset="0"/>
              </a:rPr>
              <a:t>La securité.</a:t>
            </a:r>
          </a:p>
        </p:txBody>
      </p:sp>
      <p:sp>
        <p:nvSpPr>
          <p:cNvPr id="13" name="Rectangle: Rounded Corners 8">
            <a:extLst>
              <a:ext uri="{FF2B5EF4-FFF2-40B4-BE49-F238E27FC236}">
                <a16:creationId xmlns:a16="http://schemas.microsoft.com/office/drawing/2014/main" id="{BB52D9A5-54E0-9D9D-52A1-0F547DC59946}"/>
              </a:ext>
            </a:extLst>
          </p:cNvPr>
          <p:cNvSpPr/>
          <p:nvPr/>
        </p:nvSpPr>
        <p:spPr>
          <a:xfrm>
            <a:off x="3234135" y="899868"/>
            <a:ext cx="6651269" cy="879505"/>
          </a:xfrm>
          <a:prstGeom prst="roundRect">
            <a:avLst>
              <a:gd name="adj" fmla="val 32456"/>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M" sz="4000" dirty="0">
                <a:latin typeface="Rockwell" panose="02060603020205020403" pitchFamily="18" charset="0"/>
                <a:ea typeface="Calibri" panose="020F0502020204030204" pitchFamily="34" charset="0"/>
              </a:rPr>
              <a:t>Besoins non fonctionnels</a:t>
            </a:r>
            <a:endParaRPr lang="en-US" sz="4000" dirty="0">
              <a:latin typeface="Rockwell" panose="02060603020205020403" pitchFamily="18" charset="0"/>
            </a:endParaRPr>
          </a:p>
        </p:txBody>
      </p:sp>
    </p:spTree>
    <p:extLst>
      <p:ext uri="{BB962C8B-B14F-4D97-AF65-F5344CB8AC3E}">
        <p14:creationId xmlns:p14="http://schemas.microsoft.com/office/powerpoint/2010/main" val="110351056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C9EDBAE8-AA16-4E06-B334-B2CA11F7936E}"/>
              </a:ext>
            </a:extLst>
          </p:cNvPr>
          <p:cNvSpPr/>
          <p:nvPr/>
        </p:nvSpPr>
        <p:spPr>
          <a:xfrm>
            <a:off x="0" y="0"/>
            <a:ext cx="742950" cy="600712"/>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13</a:t>
            </a:r>
            <a:endParaRPr lang="en-US" dirty="0">
              <a:latin typeface="Rockwell" panose="02060603020205020403" pitchFamily="18" charset="0"/>
            </a:endParaRPr>
          </a:p>
        </p:txBody>
      </p:sp>
      <p:sp>
        <p:nvSpPr>
          <p:cNvPr id="4" name="Oval 3">
            <a:extLst>
              <a:ext uri="{FF2B5EF4-FFF2-40B4-BE49-F238E27FC236}">
                <a16:creationId xmlns:a16="http://schemas.microsoft.com/office/drawing/2014/main" id="{484A90AD-36DA-447E-A577-BF38434C145F}"/>
              </a:ext>
            </a:extLst>
          </p:cNvPr>
          <p:cNvSpPr/>
          <p:nvPr/>
        </p:nvSpPr>
        <p:spPr>
          <a:xfrm>
            <a:off x="11430001" y="6207410"/>
            <a:ext cx="697928" cy="600713"/>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13</a:t>
            </a:r>
            <a:endParaRPr lang="en-US" dirty="0">
              <a:latin typeface="Amasis MT Pro Medium" panose="02040604050005020304" pitchFamily="18" charset="0"/>
            </a:endParaRPr>
          </a:p>
        </p:txBody>
      </p:sp>
      <p:sp>
        <p:nvSpPr>
          <p:cNvPr id="2" name="Rectangle: Rounded Corners 3">
            <a:extLst>
              <a:ext uri="{FF2B5EF4-FFF2-40B4-BE49-F238E27FC236}">
                <a16:creationId xmlns:a16="http://schemas.microsoft.com/office/drawing/2014/main" id="{7E66AF0B-D679-392F-B49D-1A8836426C48}"/>
              </a:ext>
            </a:extLst>
          </p:cNvPr>
          <p:cNvSpPr/>
          <p:nvPr/>
        </p:nvSpPr>
        <p:spPr>
          <a:xfrm>
            <a:off x="5802086" y="-1"/>
            <a:ext cx="6389914" cy="600713"/>
          </a:xfrm>
          <a:prstGeom prst="roundRect">
            <a:avLst>
              <a:gd name="adj" fmla="val 32456"/>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FFFFFF"/>
                </a:solidFill>
                <a:latin typeface="Rockwell" panose="02060603020205020403" pitchFamily="18" charset="0"/>
                <a:ea typeface="Calibri" panose="020F0502020204030204" pitchFamily="34" charset="0"/>
                <a:cs typeface="Times New Roman" panose="02020603050405020304" pitchFamily="18" charset="0"/>
              </a:rPr>
              <a:t>PLANIFICATION DU PROJET</a:t>
            </a:r>
            <a:endParaRPr lang="en-US" dirty="0">
              <a:latin typeface="Rockwell" panose="02060603020205020403" pitchFamily="18" charset="0"/>
            </a:endParaRPr>
          </a:p>
        </p:txBody>
      </p:sp>
      <p:sp>
        <p:nvSpPr>
          <p:cNvPr id="16" name="ZoneTexte 15">
            <a:extLst>
              <a:ext uri="{FF2B5EF4-FFF2-40B4-BE49-F238E27FC236}">
                <a16:creationId xmlns:a16="http://schemas.microsoft.com/office/drawing/2014/main" id="{4580BD9B-AD95-61AB-9DCB-BC9DC5CF7334}"/>
              </a:ext>
            </a:extLst>
          </p:cNvPr>
          <p:cNvSpPr txBox="1"/>
          <p:nvPr/>
        </p:nvSpPr>
        <p:spPr>
          <a:xfrm>
            <a:off x="2489885" y="1759676"/>
            <a:ext cx="6098058" cy="523220"/>
          </a:xfrm>
          <a:prstGeom prst="rect">
            <a:avLst/>
          </a:prstGeom>
          <a:noFill/>
        </p:spPr>
        <p:txBody>
          <a:bodyPr wrap="square">
            <a:spAutoFit/>
          </a:bodyPr>
          <a:lstStyle/>
          <a:p>
            <a:pPr algn="ctr"/>
            <a:r>
              <a:rPr lang="fr-FR" sz="2800" dirty="0">
                <a:solidFill>
                  <a:schemeClr val="accent2">
                    <a:lumMod val="75000"/>
                  </a:schemeClr>
                </a:solidFill>
                <a:latin typeface="Rockwell" panose="02060603020205020403" pitchFamily="18" charset="0"/>
              </a:rPr>
              <a:t>Intervenants</a:t>
            </a:r>
            <a:endParaRPr lang="en-US" sz="2800" dirty="0">
              <a:solidFill>
                <a:schemeClr val="accent2">
                  <a:lumMod val="75000"/>
                </a:schemeClr>
              </a:solidFill>
              <a:latin typeface="Rockwell" panose="02060603020205020403" pitchFamily="18" charset="0"/>
            </a:endParaRPr>
          </a:p>
        </p:txBody>
      </p:sp>
      <p:graphicFrame>
        <p:nvGraphicFramePr>
          <p:cNvPr id="5" name="Tableau 4">
            <a:extLst>
              <a:ext uri="{FF2B5EF4-FFF2-40B4-BE49-F238E27FC236}">
                <a16:creationId xmlns:a16="http://schemas.microsoft.com/office/drawing/2014/main" id="{3A6F9F1A-6F7B-6A22-40DC-6F8AD3C54B47}"/>
              </a:ext>
            </a:extLst>
          </p:cNvPr>
          <p:cNvGraphicFramePr>
            <a:graphicFrameLocks noGrp="1"/>
          </p:cNvGraphicFramePr>
          <p:nvPr>
            <p:extLst>
              <p:ext uri="{D42A27DB-BD31-4B8C-83A1-F6EECF244321}">
                <p14:modId xmlns:p14="http://schemas.microsoft.com/office/powerpoint/2010/main" val="2866155359"/>
              </p:ext>
            </p:extLst>
          </p:nvPr>
        </p:nvGraphicFramePr>
        <p:xfrm>
          <a:off x="1879600" y="2719916"/>
          <a:ext cx="8127999" cy="21996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152625304"/>
                    </a:ext>
                  </a:extLst>
                </a:gridCol>
                <a:gridCol w="2709333">
                  <a:extLst>
                    <a:ext uri="{9D8B030D-6E8A-4147-A177-3AD203B41FA5}">
                      <a16:colId xmlns:a16="http://schemas.microsoft.com/office/drawing/2014/main" val="4134844096"/>
                    </a:ext>
                  </a:extLst>
                </a:gridCol>
                <a:gridCol w="2709333">
                  <a:extLst>
                    <a:ext uri="{9D8B030D-6E8A-4147-A177-3AD203B41FA5}">
                      <a16:colId xmlns:a16="http://schemas.microsoft.com/office/drawing/2014/main" val="2048676434"/>
                    </a:ext>
                  </a:extLst>
                </a:gridCol>
              </a:tblGrid>
              <a:tr h="370840">
                <a:tc>
                  <a:txBody>
                    <a:bodyPr/>
                    <a:lstStyle/>
                    <a:p>
                      <a:r>
                        <a:rPr lang="fr-FR" dirty="0">
                          <a:latin typeface="Rockwell" panose="02060603020205020403" pitchFamily="18" charset="0"/>
                        </a:rPr>
                        <a:t>NOMS et PRENOMS</a:t>
                      </a:r>
                    </a:p>
                  </a:txBody>
                  <a:tcPr/>
                </a:tc>
                <a:tc>
                  <a:txBody>
                    <a:bodyPr/>
                    <a:lstStyle/>
                    <a:p>
                      <a:r>
                        <a:rPr lang="fr-FR" dirty="0">
                          <a:latin typeface="Rockwell" panose="02060603020205020403" pitchFamily="18" charset="0"/>
                        </a:rPr>
                        <a:t>PROFESSION</a:t>
                      </a:r>
                    </a:p>
                  </a:txBody>
                  <a:tcPr/>
                </a:tc>
                <a:tc>
                  <a:txBody>
                    <a:bodyPr/>
                    <a:lstStyle/>
                    <a:p>
                      <a:r>
                        <a:rPr lang="fr-FR" dirty="0">
                          <a:latin typeface="Rockwell" panose="02060603020205020403" pitchFamily="18" charset="0"/>
                        </a:rPr>
                        <a:t>ROLES</a:t>
                      </a:r>
                    </a:p>
                  </a:txBody>
                  <a:tcPr/>
                </a:tc>
                <a:extLst>
                  <a:ext uri="{0D108BD9-81ED-4DB2-BD59-A6C34878D82A}">
                    <a16:rowId xmlns:a16="http://schemas.microsoft.com/office/drawing/2014/main" val="2148637244"/>
                  </a:ext>
                </a:extLst>
              </a:tr>
              <a:tr h="370840">
                <a:tc>
                  <a:txBody>
                    <a:bodyPr/>
                    <a:lstStyle/>
                    <a:p>
                      <a:r>
                        <a:rPr lang="fr-FR" dirty="0">
                          <a:latin typeface="Rockwell" panose="02060603020205020403" pitchFamily="18" charset="0"/>
                        </a:rPr>
                        <a:t>M. NGUIMBUS</a:t>
                      </a:r>
                    </a:p>
                  </a:txBody>
                  <a:tcPr/>
                </a:tc>
                <a:tc>
                  <a:txBody>
                    <a:bodyPr/>
                    <a:lstStyle/>
                    <a:p>
                      <a:r>
                        <a:rPr lang="fr-FR" dirty="0">
                          <a:latin typeface="Rockwell" panose="02060603020205020403" pitchFamily="18" charset="0"/>
                        </a:rPr>
                        <a:t>Professeur et superviseur du projet</a:t>
                      </a:r>
                    </a:p>
                  </a:txBody>
                  <a:tcPr/>
                </a:tc>
                <a:tc>
                  <a:txBody>
                    <a:bodyPr/>
                    <a:lstStyle/>
                    <a:p>
                      <a:r>
                        <a:rPr lang="fr-FR" dirty="0">
                          <a:latin typeface="Rockwell" panose="02060603020205020403" pitchFamily="18" charset="0"/>
                        </a:rPr>
                        <a:t>Encadrer et suivre l’évolution du projet tout en donnant des directives</a:t>
                      </a:r>
                    </a:p>
                  </a:txBody>
                  <a:tcPr/>
                </a:tc>
                <a:extLst>
                  <a:ext uri="{0D108BD9-81ED-4DB2-BD59-A6C34878D82A}">
                    <a16:rowId xmlns:a16="http://schemas.microsoft.com/office/drawing/2014/main" val="1592651661"/>
                  </a:ext>
                </a:extLst>
              </a:tr>
              <a:tr h="370840">
                <a:tc>
                  <a:txBody>
                    <a:bodyPr/>
                    <a:lstStyle/>
                    <a:p>
                      <a:r>
                        <a:rPr lang="fr-FR" dirty="0">
                          <a:latin typeface="Rockwell" panose="02060603020205020403" pitchFamily="18" charset="0"/>
                        </a:rPr>
                        <a:t>EKOSSO Sylvain, FOGOU Jessi</a:t>
                      </a:r>
                    </a:p>
                  </a:txBody>
                  <a:tcPr/>
                </a:tc>
                <a:tc>
                  <a:txBody>
                    <a:bodyPr/>
                    <a:lstStyle/>
                    <a:p>
                      <a:r>
                        <a:rPr lang="fr-FR" dirty="0">
                          <a:latin typeface="Rockwell" panose="02060603020205020403" pitchFamily="18" charset="0"/>
                        </a:rPr>
                        <a:t>Etudiants à SJI niveau master 2</a:t>
                      </a:r>
                    </a:p>
                  </a:txBody>
                  <a:tcPr/>
                </a:tc>
                <a:tc>
                  <a:txBody>
                    <a:bodyPr/>
                    <a:lstStyle/>
                    <a:p>
                      <a:r>
                        <a:rPr lang="fr-FR" dirty="0">
                          <a:latin typeface="Rockwell" panose="02060603020205020403" pitchFamily="18" charset="0"/>
                        </a:rPr>
                        <a:t>Concepteur et réalisateur du projet</a:t>
                      </a:r>
                    </a:p>
                  </a:txBody>
                  <a:tcPr/>
                </a:tc>
                <a:extLst>
                  <a:ext uri="{0D108BD9-81ED-4DB2-BD59-A6C34878D82A}">
                    <a16:rowId xmlns:a16="http://schemas.microsoft.com/office/drawing/2014/main" val="1159025200"/>
                  </a:ext>
                </a:extLst>
              </a:tr>
            </a:tbl>
          </a:graphicData>
        </a:graphic>
      </p:graphicFrame>
    </p:spTree>
    <p:extLst>
      <p:ext uri="{BB962C8B-B14F-4D97-AF65-F5344CB8AC3E}">
        <p14:creationId xmlns:p14="http://schemas.microsoft.com/office/powerpoint/2010/main" val="18924514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58452-A96D-221C-4BA6-12D619857101}"/>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51ABDEBE-D88C-CDA4-E8BC-C82189495767}"/>
              </a:ext>
            </a:extLst>
          </p:cNvPr>
          <p:cNvSpPr/>
          <p:nvPr/>
        </p:nvSpPr>
        <p:spPr>
          <a:xfrm>
            <a:off x="0" y="0"/>
            <a:ext cx="742950" cy="600712"/>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14</a:t>
            </a:r>
            <a:endParaRPr lang="en-US" dirty="0">
              <a:latin typeface="Rockwell" panose="02060603020205020403" pitchFamily="18" charset="0"/>
            </a:endParaRPr>
          </a:p>
        </p:txBody>
      </p:sp>
      <p:sp>
        <p:nvSpPr>
          <p:cNvPr id="4" name="Oval 3">
            <a:extLst>
              <a:ext uri="{FF2B5EF4-FFF2-40B4-BE49-F238E27FC236}">
                <a16:creationId xmlns:a16="http://schemas.microsoft.com/office/drawing/2014/main" id="{3B272C0B-B1D0-9F84-5BD9-66AFBEC14C4A}"/>
              </a:ext>
            </a:extLst>
          </p:cNvPr>
          <p:cNvSpPr/>
          <p:nvPr/>
        </p:nvSpPr>
        <p:spPr>
          <a:xfrm>
            <a:off x="11449051" y="6207410"/>
            <a:ext cx="678878" cy="600713"/>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14</a:t>
            </a:r>
            <a:endParaRPr lang="en-US" dirty="0">
              <a:latin typeface="Amasis MT Pro Medium" panose="02040604050005020304" pitchFamily="18" charset="0"/>
            </a:endParaRPr>
          </a:p>
        </p:txBody>
      </p:sp>
      <p:grpSp>
        <p:nvGrpSpPr>
          <p:cNvPr id="32" name="Group 31">
            <a:extLst>
              <a:ext uri="{FF2B5EF4-FFF2-40B4-BE49-F238E27FC236}">
                <a16:creationId xmlns:a16="http://schemas.microsoft.com/office/drawing/2014/main" id="{27EFDA94-5F84-4412-78E6-49582EFFBB07}"/>
              </a:ext>
            </a:extLst>
          </p:cNvPr>
          <p:cNvGrpSpPr/>
          <p:nvPr/>
        </p:nvGrpSpPr>
        <p:grpSpPr>
          <a:xfrm>
            <a:off x="2145008" y="286470"/>
            <a:ext cx="7339914" cy="6521653"/>
            <a:chOff x="4556681" y="1662053"/>
            <a:chExt cx="3102351" cy="2363131"/>
          </a:xfrm>
        </p:grpSpPr>
        <p:pic>
          <p:nvPicPr>
            <p:cNvPr id="36" name="Picture 35">
              <a:extLst>
                <a:ext uri="{FF2B5EF4-FFF2-40B4-BE49-F238E27FC236}">
                  <a16:creationId xmlns:a16="http://schemas.microsoft.com/office/drawing/2014/main" id="{089459CE-582C-BA36-5552-44798FC5DA1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556681" y="2514126"/>
              <a:ext cx="3102351" cy="1511058"/>
            </a:xfrm>
            <a:prstGeom prst="rect">
              <a:avLst/>
            </a:prstGeom>
          </p:spPr>
        </p:pic>
        <p:sp>
          <p:nvSpPr>
            <p:cNvPr id="34" name="Rectangle 33">
              <a:extLst>
                <a:ext uri="{FF2B5EF4-FFF2-40B4-BE49-F238E27FC236}">
                  <a16:creationId xmlns:a16="http://schemas.microsoft.com/office/drawing/2014/main" id="{08B516E2-E505-DE94-EB50-925DAEAD097A}"/>
                </a:ext>
              </a:extLst>
            </p:cNvPr>
            <p:cNvSpPr/>
            <p:nvPr/>
          </p:nvSpPr>
          <p:spPr>
            <a:xfrm>
              <a:off x="5063047" y="1662053"/>
              <a:ext cx="2438400" cy="6007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accent2">
                    <a:lumMod val="75000"/>
                  </a:schemeClr>
                </a:solidFill>
                <a:latin typeface="Rockwell" panose="02060603020205020403" pitchFamily="18" charset="0"/>
              </a:endParaRPr>
            </a:p>
            <a:p>
              <a:pPr algn="ctr"/>
              <a:r>
                <a:rPr lang="fr-FR" sz="2800" b="1" dirty="0">
                  <a:solidFill>
                    <a:schemeClr val="accent2">
                      <a:lumMod val="75000"/>
                    </a:schemeClr>
                  </a:solidFill>
                  <a:latin typeface="Rockwell" panose="02060603020205020403" pitchFamily="18" charset="0"/>
                </a:rPr>
                <a:t>Diagramme de Gantt</a:t>
              </a:r>
              <a:endParaRPr lang="en-US" sz="2800" b="1" dirty="0">
                <a:solidFill>
                  <a:schemeClr val="accent2">
                    <a:lumMod val="75000"/>
                  </a:schemeClr>
                </a:solidFill>
                <a:latin typeface="Rockwell" panose="02060603020205020403" pitchFamily="18" charset="0"/>
              </a:endParaRPr>
            </a:p>
          </p:txBody>
        </p:sp>
      </p:grpSp>
      <p:sp>
        <p:nvSpPr>
          <p:cNvPr id="2" name="Rectangle: Rounded Corners 3">
            <a:extLst>
              <a:ext uri="{FF2B5EF4-FFF2-40B4-BE49-F238E27FC236}">
                <a16:creationId xmlns:a16="http://schemas.microsoft.com/office/drawing/2014/main" id="{D4AEB5CB-C38E-5603-FE70-39D0BC6F862B}"/>
              </a:ext>
            </a:extLst>
          </p:cNvPr>
          <p:cNvSpPr/>
          <p:nvPr/>
        </p:nvSpPr>
        <p:spPr>
          <a:xfrm>
            <a:off x="5802086" y="-1"/>
            <a:ext cx="6389914" cy="600713"/>
          </a:xfrm>
          <a:prstGeom prst="roundRect">
            <a:avLst>
              <a:gd name="adj" fmla="val 32456"/>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FFFFFF"/>
                </a:solidFill>
                <a:latin typeface="Rockwell" panose="02060603020205020403" pitchFamily="18" charset="0"/>
                <a:ea typeface="Calibri" panose="020F0502020204030204" pitchFamily="34" charset="0"/>
                <a:cs typeface="Times New Roman" panose="02020603050405020304" pitchFamily="18" charset="0"/>
              </a:rPr>
              <a:t>PLANIFICATION DU PROJET</a:t>
            </a:r>
            <a:endParaRPr lang="en-US" dirty="0">
              <a:latin typeface="Rockwell" panose="02060603020205020403" pitchFamily="18" charset="0"/>
            </a:endParaRPr>
          </a:p>
        </p:txBody>
      </p:sp>
    </p:spTree>
    <p:extLst>
      <p:ext uri="{BB962C8B-B14F-4D97-AF65-F5344CB8AC3E}">
        <p14:creationId xmlns:p14="http://schemas.microsoft.com/office/powerpoint/2010/main" val="33753850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1000" fill="hold"/>
                                        <p:tgtEl>
                                          <p:spTgt spid="32"/>
                                        </p:tgtEl>
                                        <p:attrNameLst>
                                          <p:attrName>ppt_w</p:attrName>
                                        </p:attrNameLst>
                                      </p:cBhvr>
                                      <p:tavLst>
                                        <p:tav tm="0">
                                          <p:val>
                                            <p:fltVal val="0"/>
                                          </p:val>
                                        </p:tav>
                                        <p:tav tm="100000">
                                          <p:val>
                                            <p:strVal val="#ppt_w"/>
                                          </p:val>
                                        </p:tav>
                                      </p:tavLst>
                                    </p:anim>
                                    <p:anim calcmode="lin" valueType="num">
                                      <p:cBhvr>
                                        <p:cTn id="8" dur="1000" fill="hold"/>
                                        <p:tgtEl>
                                          <p:spTgt spid="32"/>
                                        </p:tgtEl>
                                        <p:attrNameLst>
                                          <p:attrName>ppt_h</p:attrName>
                                        </p:attrNameLst>
                                      </p:cBhvr>
                                      <p:tavLst>
                                        <p:tav tm="0">
                                          <p:val>
                                            <p:fltVal val="0"/>
                                          </p:val>
                                        </p:tav>
                                        <p:tav tm="100000">
                                          <p:val>
                                            <p:strVal val="#ppt_h"/>
                                          </p:val>
                                        </p:tav>
                                      </p:tavLst>
                                    </p:anim>
                                    <p:anim calcmode="lin" valueType="num">
                                      <p:cBhvr>
                                        <p:cTn id="9" dur="1000" fill="hold"/>
                                        <p:tgtEl>
                                          <p:spTgt spid="3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2"/>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16508-E7CD-9485-9B22-0669F40C7756}"/>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861686C8-1ECC-03C6-F229-80AC86003F87}"/>
              </a:ext>
            </a:extLst>
          </p:cNvPr>
          <p:cNvSpPr/>
          <p:nvPr/>
        </p:nvSpPr>
        <p:spPr>
          <a:xfrm>
            <a:off x="0" y="0"/>
            <a:ext cx="635308" cy="4572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15</a:t>
            </a:r>
            <a:endParaRPr lang="en-US" dirty="0">
              <a:latin typeface="Rockwell" panose="02060603020205020403" pitchFamily="18" charset="0"/>
            </a:endParaRPr>
          </a:p>
        </p:txBody>
      </p:sp>
      <p:sp>
        <p:nvSpPr>
          <p:cNvPr id="4" name="Oval 3">
            <a:extLst>
              <a:ext uri="{FF2B5EF4-FFF2-40B4-BE49-F238E27FC236}">
                <a16:creationId xmlns:a16="http://schemas.microsoft.com/office/drawing/2014/main" id="{F21726D5-AAF9-B70E-CF91-A08D908DFB95}"/>
              </a:ext>
            </a:extLst>
          </p:cNvPr>
          <p:cNvSpPr/>
          <p:nvPr/>
        </p:nvSpPr>
        <p:spPr>
          <a:xfrm>
            <a:off x="11258551" y="6271138"/>
            <a:ext cx="869378" cy="53698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15</a:t>
            </a:r>
            <a:endParaRPr lang="en-US" dirty="0">
              <a:latin typeface="Amasis MT Pro Medium" panose="02040604050005020304" pitchFamily="18" charset="0"/>
            </a:endParaRPr>
          </a:p>
        </p:txBody>
      </p:sp>
      <p:sp>
        <p:nvSpPr>
          <p:cNvPr id="5" name="Rectangle 4">
            <a:extLst>
              <a:ext uri="{FF2B5EF4-FFF2-40B4-BE49-F238E27FC236}">
                <a16:creationId xmlns:a16="http://schemas.microsoft.com/office/drawing/2014/main" id="{F24FF088-3D91-0EE8-BFE8-EA2D72F7C248}"/>
              </a:ext>
            </a:extLst>
          </p:cNvPr>
          <p:cNvSpPr/>
          <p:nvPr/>
        </p:nvSpPr>
        <p:spPr>
          <a:xfrm>
            <a:off x="1349041" y="841138"/>
            <a:ext cx="9436608" cy="17355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accent2">
                    <a:lumMod val="75000"/>
                  </a:schemeClr>
                </a:solidFill>
                <a:latin typeface="Rockwell" panose="02060603020205020403" pitchFamily="18" charset="0"/>
                <a:cs typeface="Raavi" panose="020B0502040204020203" pitchFamily="34" charset="0"/>
              </a:rPr>
              <a:t>Ressources logicielles</a:t>
            </a:r>
            <a:endParaRPr lang="en-US" sz="3200" b="1" dirty="0">
              <a:solidFill>
                <a:schemeClr val="accent2">
                  <a:lumMod val="75000"/>
                </a:schemeClr>
              </a:solidFill>
              <a:latin typeface="Rockwell" panose="02060603020205020403" pitchFamily="18" charset="0"/>
              <a:cs typeface="Raavi" panose="020B0502040204020203" pitchFamily="34" charset="0"/>
            </a:endParaRPr>
          </a:p>
        </p:txBody>
      </p:sp>
      <p:sp>
        <p:nvSpPr>
          <p:cNvPr id="2" name="Rectangle: Rounded Corners 3">
            <a:extLst>
              <a:ext uri="{FF2B5EF4-FFF2-40B4-BE49-F238E27FC236}">
                <a16:creationId xmlns:a16="http://schemas.microsoft.com/office/drawing/2014/main" id="{745FC83E-B360-36AB-C1C5-FD22A6655725}"/>
              </a:ext>
            </a:extLst>
          </p:cNvPr>
          <p:cNvSpPr/>
          <p:nvPr/>
        </p:nvSpPr>
        <p:spPr>
          <a:xfrm>
            <a:off x="5802086" y="-1"/>
            <a:ext cx="6389914" cy="600713"/>
          </a:xfrm>
          <a:prstGeom prst="roundRect">
            <a:avLst>
              <a:gd name="adj" fmla="val 32456"/>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FFFFFF"/>
                </a:solidFill>
                <a:latin typeface="Rockwell" panose="02060603020205020403" pitchFamily="18" charset="0"/>
                <a:ea typeface="Calibri" panose="020F0502020204030204" pitchFamily="34" charset="0"/>
                <a:cs typeface="Times New Roman" panose="02020603050405020304" pitchFamily="18" charset="0"/>
              </a:rPr>
              <a:t>ESTIMATION ET COUT TOTAL DU PROJET</a:t>
            </a:r>
            <a:endParaRPr lang="en-US" dirty="0">
              <a:latin typeface="Rockwell" panose="02060603020205020403" pitchFamily="18" charset="0"/>
            </a:endParaRPr>
          </a:p>
        </p:txBody>
      </p:sp>
      <p:graphicFrame>
        <p:nvGraphicFramePr>
          <p:cNvPr id="7" name="Tableau 6">
            <a:extLst>
              <a:ext uri="{FF2B5EF4-FFF2-40B4-BE49-F238E27FC236}">
                <a16:creationId xmlns:a16="http://schemas.microsoft.com/office/drawing/2014/main" id="{4B1F148C-DB88-FD9B-37CF-8324DC3E0651}"/>
              </a:ext>
            </a:extLst>
          </p:cNvPr>
          <p:cNvGraphicFramePr>
            <a:graphicFrameLocks noGrp="1"/>
          </p:cNvGraphicFramePr>
          <p:nvPr>
            <p:extLst>
              <p:ext uri="{D42A27DB-BD31-4B8C-83A1-F6EECF244321}">
                <p14:modId xmlns:p14="http://schemas.microsoft.com/office/powerpoint/2010/main" val="1125394291"/>
              </p:ext>
            </p:extLst>
          </p:nvPr>
        </p:nvGraphicFramePr>
        <p:xfrm>
          <a:off x="2032000" y="2576732"/>
          <a:ext cx="8127999" cy="2743200"/>
        </p:xfrm>
        <a:graphic>
          <a:graphicData uri="http://schemas.openxmlformats.org/drawingml/2006/table">
            <a:tbl>
              <a:tblPr firstRow="1" bandRow="1">
                <a:tableStyleId>{5C22544A-7EE6-4342-B048-85BDC9FD1C3A}</a:tableStyleId>
              </a:tblPr>
              <a:tblGrid>
                <a:gridCol w="2808169">
                  <a:extLst>
                    <a:ext uri="{9D8B030D-6E8A-4147-A177-3AD203B41FA5}">
                      <a16:colId xmlns:a16="http://schemas.microsoft.com/office/drawing/2014/main" val="2085541416"/>
                    </a:ext>
                  </a:extLst>
                </a:gridCol>
                <a:gridCol w="3937683">
                  <a:extLst>
                    <a:ext uri="{9D8B030D-6E8A-4147-A177-3AD203B41FA5}">
                      <a16:colId xmlns:a16="http://schemas.microsoft.com/office/drawing/2014/main" val="1721820741"/>
                    </a:ext>
                  </a:extLst>
                </a:gridCol>
                <a:gridCol w="1382147">
                  <a:extLst>
                    <a:ext uri="{9D8B030D-6E8A-4147-A177-3AD203B41FA5}">
                      <a16:colId xmlns:a16="http://schemas.microsoft.com/office/drawing/2014/main" val="3932061129"/>
                    </a:ext>
                  </a:extLst>
                </a:gridCol>
              </a:tblGrid>
              <a:tr h="556567">
                <a:tc>
                  <a:txBody>
                    <a:bodyPr/>
                    <a:lstStyle/>
                    <a:p>
                      <a:r>
                        <a:rPr lang="fr-FR" dirty="0">
                          <a:latin typeface="Rockwell" panose="02060603020205020403" pitchFamily="18" charset="0"/>
                        </a:rPr>
                        <a:t>Ressources</a:t>
                      </a:r>
                    </a:p>
                  </a:txBody>
                  <a:tcPr/>
                </a:tc>
                <a:tc>
                  <a:txBody>
                    <a:bodyPr/>
                    <a:lstStyle/>
                    <a:p>
                      <a:r>
                        <a:rPr lang="fr-FR" dirty="0">
                          <a:latin typeface="Rockwell" panose="02060603020205020403" pitchFamily="18" charset="0"/>
                        </a:rPr>
                        <a:t>Description</a:t>
                      </a:r>
                    </a:p>
                  </a:txBody>
                  <a:tcPr/>
                </a:tc>
                <a:tc>
                  <a:txBody>
                    <a:bodyPr/>
                    <a:lstStyle/>
                    <a:p>
                      <a:r>
                        <a:rPr lang="fr-FR" dirty="0">
                          <a:latin typeface="Rockwell" panose="02060603020205020403" pitchFamily="18" charset="0"/>
                        </a:rPr>
                        <a:t>Cout en frcfa</a:t>
                      </a:r>
                    </a:p>
                  </a:txBody>
                  <a:tcPr/>
                </a:tc>
                <a:extLst>
                  <a:ext uri="{0D108BD9-81ED-4DB2-BD59-A6C34878D82A}">
                    <a16:rowId xmlns:a16="http://schemas.microsoft.com/office/drawing/2014/main" val="277598990"/>
                  </a:ext>
                </a:extLst>
              </a:tr>
              <a:tr h="322455">
                <a:tc>
                  <a:txBody>
                    <a:bodyPr/>
                    <a:lstStyle/>
                    <a:p>
                      <a:r>
                        <a:rPr lang="fr-FR" dirty="0">
                          <a:latin typeface="Rockwell" panose="02060603020205020403" pitchFamily="18" charset="0"/>
                        </a:rPr>
                        <a:t>CentOS  Stream</a:t>
                      </a:r>
                    </a:p>
                  </a:txBody>
                  <a:tcPr/>
                </a:tc>
                <a:tc>
                  <a:txBody>
                    <a:bodyPr/>
                    <a:lstStyle/>
                    <a:p>
                      <a:r>
                        <a:rPr lang="fr-FR" dirty="0">
                          <a:latin typeface="Rockwell" panose="02060603020205020403" pitchFamily="18" charset="0"/>
                        </a:rPr>
                        <a:t>Système d’exploitation </a:t>
                      </a:r>
                    </a:p>
                  </a:txBody>
                  <a:tcPr/>
                </a:tc>
                <a:tc>
                  <a:txBody>
                    <a:bodyPr/>
                    <a:lstStyle/>
                    <a:p>
                      <a:r>
                        <a:rPr lang="fr-FR" dirty="0">
                          <a:latin typeface="Rockwell" panose="02060603020205020403" pitchFamily="18" charset="0"/>
                        </a:rPr>
                        <a:t>Free</a:t>
                      </a:r>
                    </a:p>
                  </a:txBody>
                  <a:tcPr/>
                </a:tc>
                <a:extLst>
                  <a:ext uri="{0D108BD9-81ED-4DB2-BD59-A6C34878D82A}">
                    <a16:rowId xmlns:a16="http://schemas.microsoft.com/office/drawing/2014/main" val="1537686766"/>
                  </a:ext>
                </a:extLst>
              </a:tr>
              <a:tr h="322455">
                <a:tc>
                  <a:txBody>
                    <a:bodyPr/>
                    <a:lstStyle/>
                    <a:p>
                      <a:r>
                        <a:rPr lang="fr-FR" dirty="0">
                          <a:latin typeface="Rockwell" panose="02060603020205020403" pitchFamily="18" charset="0"/>
                        </a:rPr>
                        <a:t>Gantt Project</a:t>
                      </a:r>
                    </a:p>
                  </a:txBody>
                  <a:tcPr/>
                </a:tc>
                <a:tc>
                  <a:txBody>
                    <a:bodyPr/>
                    <a:lstStyle/>
                    <a:p>
                      <a:r>
                        <a:rPr lang="fr-FR" dirty="0">
                          <a:latin typeface="Rockwell" panose="02060603020205020403" pitchFamily="18" charset="0"/>
                        </a:rPr>
                        <a:t>Logiciel de planification</a:t>
                      </a:r>
                    </a:p>
                  </a:txBody>
                  <a:tcPr/>
                </a:tc>
                <a:tc>
                  <a:txBody>
                    <a:bodyPr/>
                    <a:lstStyle/>
                    <a:p>
                      <a:r>
                        <a:rPr lang="fr-FR" dirty="0">
                          <a:latin typeface="Rockwell" panose="02060603020205020403" pitchFamily="18" charset="0"/>
                        </a:rPr>
                        <a:t>Free</a:t>
                      </a:r>
                    </a:p>
                  </a:txBody>
                  <a:tcPr/>
                </a:tc>
                <a:extLst>
                  <a:ext uri="{0D108BD9-81ED-4DB2-BD59-A6C34878D82A}">
                    <a16:rowId xmlns:a16="http://schemas.microsoft.com/office/drawing/2014/main" val="3674018790"/>
                  </a:ext>
                </a:extLst>
              </a:tr>
              <a:tr h="322455">
                <a:tc>
                  <a:txBody>
                    <a:bodyPr/>
                    <a:lstStyle/>
                    <a:p>
                      <a:r>
                        <a:rPr lang="fr-FR" dirty="0">
                          <a:latin typeface="Rockwell" panose="02060603020205020403" pitchFamily="18" charset="0"/>
                        </a:rPr>
                        <a:t>VM WARE Workstation</a:t>
                      </a:r>
                    </a:p>
                  </a:txBody>
                  <a:tcPr/>
                </a:tc>
                <a:tc>
                  <a:txBody>
                    <a:bodyPr/>
                    <a:lstStyle/>
                    <a:p>
                      <a:r>
                        <a:rPr lang="fr-FR" dirty="0">
                          <a:latin typeface="Rockwell" panose="02060603020205020403" pitchFamily="18" charset="0"/>
                        </a:rPr>
                        <a:t>Hyperviseur</a:t>
                      </a:r>
                    </a:p>
                  </a:txBody>
                  <a:tcPr/>
                </a:tc>
                <a:tc>
                  <a:txBody>
                    <a:bodyPr/>
                    <a:lstStyle/>
                    <a:p>
                      <a:r>
                        <a:rPr lang="fr-FR" dirty="0">
                          <a:latin typeface="Rockwell" panose="02060603020205020403" pitchFamily="18" charset="0"/>
                        </a:rPr>
                        <a:t>Free</a:t>
                      </a:r>
                    </a:p>
                  </a:txBody>
                  <a:tcPr/>
                </a:tc>
                <a:extLst>
                  <a:ext uri="{0D108BD9-81ED-4DB2-BD59-A6C34878D82A}">
                    <a16:rowId xmlns:a16="http://schemas.microsoft.com/office/drawing/2014/main" val="2342443161"/>
                  </a:ext>
                </a:extLst>
              </a:tr>
              <a:tr h="322455">
                <a:tc>
                  <a:txBody>
                    <a:bodyPr/>
                    <a:lstStyle/>
                    <a:p>
                      <a:r>
                        <a:rPr lang="fr-FR" dirty="0">
                          <a:latin typeface="Rockwell" panose="02060603020205020403" pitchFamily="18" charset="0"/>
                        </a:rPr>
                        <a:t>Apache</a:t>
                      </a:r>
                    </a:p>
                  </a:txBody>
                  <a:tcPr/>
                </a:tc>
                <a:tc>
                  <a:txBody>
                    <a:bodyPr/>
                    <a:lstStyle/>
                    <a:p>
                      <a:r>
                        <a:rPr lang="fr-FR" dirty="0">
                          <a:latin typeface="Rockwell" panose="02060603020205020403" pitchFamily="18" charset="0"/>
                        </a:rPr>
                        <a:t>Serveur web</a:t>
                      </a:r>
                    </a:p>
                  </a:txBody>
                  <a:tcPr/>
                </a:tc>
                <a:tc>
                  <a:txBody>
                    <a:bodyPr/>
                    <a:lstStyle/>
                    <a:p>
                      <a:r>
                        <a:rPr lang="fr-FR" dirty="0">
                          <a:latin typeface="Rockwell" panose="02060603020205020403" pitchFamily="18" charset="0"/>
                        </a:rPr>
                        <a:t>Free</a:t>
                      </a:r>
                    </a:p>
                  </a:txBody>
                  <a:tcPr/>
                </a:tc>
                <a:extLst>
                  <a:ext uri="{0D108BD9-81ED-4DB2-BD59-A6C34878D82A}">
                    <a16:rowId xmlns:a16="http://schemas.microsoft.com/office/drawing/2014/main" val="2952734018"/>
                  </a:ext>
                </a:extLst>
              </a:tr>
              <a:tr h="556567">
                <a:tc>
                  <a:txBody>
                    <a:bodyPr/>
                    <a:lstStyle/>
                    <a:p>
                      <a:r>
                        <a:rPr lang="fr-FR" dirty="0">
                          <a:latin typeface="Rockwell" panose="02060603020205020403" pitchFamily="18" charset="0"/>
                        </a:rPr>
                        <a:t>Sybase Power AMC</a:t>
                      </a:r>
                    </a:p>
                  </a:txBody>
                  <a:tcPr/>
                </a:tc>
                <a:tc>
                  <a:txBody>
                    <a:bodyPr/>
                    <a:lstStyle/>
                    <a:p>
                      <a:r>
                        <a:rPr lang="fr-FR" dirty="0">
                          <a:latin typeface="Rockwell" panose="02060603020205020403" pitchFamily="18" charset="0"/>
                        </a:rPr>
                        <a:t>Logiciel de modélisation et de conception des données</a:t>
                      </a:r>
                    </a:p>
                  </a:txBody>
                  <a:tcPr/>
                </a:tc>
                <a:tc>
                  <a:txBody>
                    <a:bodyPr/>
                    <a:lstStyle/>
                    <a:p>
                      <a:r>
                        <a:rPr lang="fr-FR" dirty="0">
                          <a:latin typeface="Rockwell" panose="02060603020205020403" pitchFamily="18" charset="0"/>
                        </a:rPr>
                        <a:t>free</a:t>
                      </a:r>
                    </a:p>
                  </a:txBody>
                  <a:tcPr/>
                </a:tc>
                <a:extLst>
                  <a:ext uri="{0D108BD9-81ED-4DB2-BD59-A6C34878D82A}">
                    <a16:rowId xmlns:a16="http://schemas.microsoft.com/office/drawing/2014/main" val="293835210"/>
                  </a:ext>
                </a:extLst>
              </a:tr>
            </a:tbl>
          </a:graphicData>
        </a:graphic>
      </p:graphicFrame>
    </p:spTree>
    <p:extLst>
      <p:ext uri="{BB962C8B-B14F-4D97-AF65-F5344CB8AC3E}">
        <p14:creationId xmlns:p14="http://schemas.microsoft.com/office/powerpoint/2010/main" val="423901009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257E6-EFA0-FB2A-2416-8125A3456AF7}"/>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CC721584-4084-4986-361E-4766FB953C7B}"/>
              </a:ext>
            </a:extLst>
          </p:cNvPr>
          <p:cNvSpPr/>
          <p:nvPr/>
        </p:nvSpPr>
        <p:spPr>
          <a:xfrm>
            <a:off x="0" y="0"/>
            <a:ext cx="635308" cy="4572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15</a:t>
            </a:r>
            <a:endParaRPr lang="en-US" dirty="0">
              <a:latin typeface="Rockwell" panose="02060603020205020403" pitchFamily="18" charset="0"/>
            </a:endParaRPr>
          </a:p>
        </p:txBody>
      </p:sp>
      <p:sp>
        <p:nvSpPr>
          <p:cNvPr id="4" name="Oval 3">
            <a:extLst>
              <a:ext uri="{FF2B5EF4-FFF2-40B4-BE49-F238E27FC236}">
                <a16:creationId xmlns:a16="http://schemas.microsoft.com/office/drawing/2014/main" id="{32E5E455-4D3E-0E5E-D78D-29AB386C2E24}"/>
              </a:ext>
            </a:extLst>
          </p:cNvPr>
          <p:cNvSpPr/>
          <p:nvPr/>
        </p:nvSpPr>
        <p:spPr>
          <a:xfrm>
            <a:off x="11258551" y="6271138"/>
            <a:ext cx="869378" cy="53698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15</a:t>
            </a:r>
            <a:endParaRPr lang="en-US" dirty="0">
              <a:latin typeface="Amasis MT Pro Medium" panose="02040604050005020304" pitchFamily="18" charset="0"/>
            </a:endParaRPr>
          </a:p>
        </p:txBody>
      </p:sp>
      <p:sp>
        <p:nvSpPr>
          <p:cNvPr id="5" name="Rectangle 4">
            <a:extLst>
              <a:ext uri="{FF2B5EF4-FFF2-40B4-BE49-F238E27FC236}">
                <a16:creationId xmlns:a16="http://schemas.microsoft.com/office/drawing/2014/main" id="{43432A25-FAC3-A387-C3FE-D9D411C4BE91}"/>
              </a:ext>
            </a:extLst>
          </p:cNvPr>
          <p:cNvSpPr/>
          <p:nvPr/>
        </p:nvSpPr>
        <p:spPr>
          <a:xfrm>
            <a:off x="1349041" y="841138"/>
            <a:ext cx="9436608" cy="7676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a:solidFill>
                  <a:schemeClr val="accent2">
                    <a:lumMod val="75000"/>
                  </a:schemeClr>
                </a:solidFill>
                <a:latin typeface="Rockwell" panose="02060603020205020403" pitchFamily="18" charset="0"/>
                <a:cs typeface="Raavi" panose="020B0502040204020203" pitchFamily="34" charset="0"/>
              </a:rPr>
              <a:t>Ressources humaines</a:t>
            </a:r>
            <a:endParaRPr lang="en-US" sz="2800" b="1" dirty="0">
              <a:solidFill>
                <a:schemeClr val="accent2">
                  <a:lumMod val="75000"/>
                </a:schemeClr>
              </a:solidFill>
              <a:latin typeface="Rockwell" panose="02060603020205020403" pitchFamily="18" charset="0"/>
              <a:cs typeface="Raavi" panose="020B0502040204020203" pitchFamily="34" charset="0"/>
            </a:endParaRPr>
          </a:p>
        </p:txBody>
      </p:sp>
      <p:sp>
        <p:nvSpPr>
          <p:cNvPr id="2" name="Rectangle: Rounded Corners 3">
            <a:extLst>
              <a:ext uri="{FF2B5EF4-FFF2-40B4-BE49-F238E27FC236}">
                <a16:creationId xmlns:a16="http://schemas.microsoft.com/office/drawing/2014/main" id="{3AF6773D-DC80-6938-4FBA-5900DCF42A98}"/>
              </a:ext>
            </a:extLst>
          </p:cNvPr>
          <p:cNvSpPr/>
          <p:nvPr/>
        </p:nvSpPr>
        <p:spPr>
          <a:xfrm>
            <a:off x="5802086" y="-1"/>
            <a:ext cx="6389914" cy="600713"/>
          </a:xfrm>
          <a:prstGeom prst="roundRect">
            <a:avLst>
              <a:gd name="adj" fmla="val 32456"/>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FFFFFF"/>
                </a:solidFill>
                <a:latin typeface="Rockwell" panose="02060603020205020403" pitchFamily="18" charset="0"/>
                <a:ea typeface="Calibri" panose="020F0502020204030204" pitchFamily="34" charset="0"/>
                <a:cs typeface="Times New Roman" panose="02020603050405020304" pitchFamily="18" charset="0"/>
              </a:rPr>
              <a:t>ESTIMATION ET COUT TOTAL DU PROJET</a:t>
            </a:r>
            <a:endParaRPr lang="en-US" dirty="0">
              <a:latin typeface="Rockwell" panose="02060603020205020403" pitchFamily="18" charset="0"/>
            </a:endParaRPr>
          </a:p>
        </p:txBody>
      </p:sp>
      <p:graphicFrame>
        <p:nvGraphicFramePr>
          <p:cNvPr id="12" name="Tableau 11">
            <a:extLst>
              <a:ext uri="{FF2B5EF4-FFF2-40B4-BE49-F238E27FC236}">
                <a16:creationId xmlns:a16="http://schemas.microsoft.com/office/drawing/2014/main" id="{D2253506-1276-075A-2DD5-05394C4CF5AC}"/>
              </a:ext>
            </a:extLst>
          </p:cNvPr>
          <p:cNvGraphicFramePr>
            <a:graphicFrameLocks noGrp="1"/>
          </p:cNvGraphicFramePr>
          <p:nvPr>
            <p:extLst>
              <p:ext uri="{D42A27DB-BD31-4B8C-83A1-F6EECF244321}">
                <p14:modId xmlns:p14="http://schemas.microsoft.com/office/powerpoint/2010/main" val="977625292"/>
              </p:ext>
            </p:extLst>
          </p:nvPr>
        </p:nvGraphicFramePr>
        <p:xfrm>
          <a:off x="635309" y="2062424"/>
          <a:ext cx="10468120" cy="3656093"/>
        </p:xfrm>
        <a:graphic>
          <a:graphicData uri="http://schemas.openxmlformats.org/drawingml/2006/table">
            <a:tbl>
              <a:tblPr firstRow="1" bandRow="1">
                <a:tableStyleId>{5C22544A-7EE6-4342-B048-85BDC9FD1C3A}</a:tableStyleId>
              </a:tblPr>
              <a:tblGrid>
                <a:gridCol w="1477568">
                  <a:extLst>
                    <a:ext uri="{9D8B030D-6E8A-4147-A177-3AD203B41FA5}">
                      <a16:colId xmlns:a16="http://schemas.microsoft.com/office/drawing/2014/main" val="2442335771"/>
                    </a:ext>
                  </a:extLst>
                </a:gridCol>
                <a:gridCol w="1420674">
                  <a:extLst>
                    <a:ext uri="{9D8B030D-6E8A-4147-A177-3AD203B41FA5}">
                      <a16:colId xmlns:a16="http://schemas.microsoft.com/office/drawing/2014/main" val="2163578775"/>
                    </a:ext>
                  </a:extLst>
                </a:gridCol>
                <a:gridCol w="1476751">
                  <a:extLst>
                    <a:ext uri="{9D8B030D-6E8A-4147-A177-3AD203B41FA5}">
                      <a16:colId xmlns:a16="http://schemas.microsoft.com/office/drawing/2014/main" val="3239843502"/>
                    </a:ext>
                  </a:extLst>
                </a:gridCol>
                <a:gridCol w="2603754">
                  <a:extLst>
                    <a:ext uri="{9D8B030D-6E8A-4147-A177-3AD203B41FA5}">
                      <a16:colId xmlns:a16="http://schemas.microsoft.com/office/drawing/2014/main" val="854597155"/>
                    </a:ext>
                  </a:extLst>
                </a:gridCol>
                <a:gridCol w="1359177">
                  <a:extLst>
                    <a:ext uri="{9D8B030D-6E8A-4147-A177-3AD203B41FA5}">
                      <a16:colId xmlns:a16="http://schemas.microsoft.com/office/drawing/2014/main" val="1457150774"/>
                    </a:ext>
                  </a:extLst>
                </a:gridCol>
                <a:gridCol w="2130196">
                  <a:extLst>
                    <a:ext uri="{9D8B030D-6E8A-4147-A177-3AD203B41FA5}">
                      <a16:colId xmlns:a16="http://schemas.microsoft.com/office/drawing/2014/main" val="3810109753"/>
                    </a:ext>
                  </a:extLst>
                </a:gridCol>
              </a:tblGrid>
              <a:tr h="556977">
                <a:tc>
                  <a:txBody>
                    <a:bodyPr/>
                    <a:lstStyle/>
                    <a:p>
                      <a:r>
                        <a:rPr lang="fr-FR" dirty="0">
                          <a:latin typeface="Rockwell" panose="02060603020205020403" pitchFamily="18" charset="0"/>
                        </a:rPr>
                        <a:t>Fonction</a:t>
                      </a:r>
                    </a:p>
                  </a:txBody>
                  <a:tcPr/>
                </a:tc>
                <a:tc>
                  <a:txBody>
                    <a:bodyPr/>
                    <a:lstStyle/>
                    <a:p>
                      <a:r>
                        <a:rPr lang="fr-FR" dirty="0">
                          <a:latin typeface="Rockwell" panose="02060603020205020403" pitchFamily="18" charset="0"/>
                        </a:rPr>
                        <a:t>Quantité</a:t>
                      </a:r>
                    </a:p>
                  </a:txBody>
                  <a:tcPr/>
                </a:tc>
                <a:tc>
                  <a:txBody>
                    <a:bodyPr/>
                    <a:lstStyle/>
                    <a:p>
                      <a:r>
                        <a:rPr lang="fr-FR" dirty="0">
                          <a:latin typeface="Rockwell" panose="02060603020205020403" pitchFamily="18" charset="0"/>
                        </a:rPr>
                        <a:t>Durée mois</a:t>
                      </a:r>
                    </a:p>
                  </a:txBody>
                  <a:tcPr/>
                </a:tc>
                <a:tc>
                  <a:txBody>
                    <a:bodyPr/>
                    <a:lstStyle/>
                    <a:p>
                      <a:r>
                        <a:rPr lang="fr-FR" dirty="0">
                          <a:latin typeface="Rockwell" panose="02060603020205020403" pitchFamily="18" charset="0"/>
                        </a:rPr>
                        <a:t>Description</a:t>
                      </a:r>
                    </a:p>
                  </a:txBody>
                  <a:tcPr/>
                </a:tc>
                <a:tc>
                  <a:txBody>
                    <a:bodyPr/>
                    <a:lstStyle/>
                    <a:p>
                      <a:r>
                        <a:rPr lang="fr-FR" dirty="0">
                          <a:latin typeface="Rockwell" panose="02060603020205020403" pitchFamily="18" charset="0"/>
                        </a:rPr>
                        <a:t>Prix –uni</a:t>
                      </a:r>
                    </a:p>
                  </a:txBody>
                  <a:tcPr/>
                </a:tc>
                <a:tc>
                  <a:txBody>
                    <a:bodyPr/>
                    <a:lstStyle/>
                    <a:p>
                      <a:r>
                        <a:rPr lang="fr-FR" dirty="0">
                          <a:latin typeface="Rockwell" panose="02060603020205020403" pitchFamily="18" charset="0"/>
                        </a:rPr>
                        <a:t>Prix-total</a:t>
                      </a:r>
                    </a:p>
                  </a:txBody>
                  <a:tcPr/>
                </a:tc>
                <a:extLst>
                  <a:ext uri="{0D108BD9-81ED-4DB2-BD59-A6C34878D82A}">
                    <a16:rowId xmlns:a16="http://schemas.microsoft.com/office/drawing/2014/main" val="1913010565"/>
                  </a:ext>
                </a:extLst>
              </a:tr>
              <a:tr h="947245">
                <a:tc>
                  <a:txBody>
                    <a:bodyPr/>
                    <a:lstStyle/>
                    <a:p>
                      <a:r>
                        <a:rPr lang="fr-FR" dirty="0">
                          <a:latin typeface="Rockwell" panose="02060603020205020403" pitchFamily="18" charset="0"/>
                        </a:rPr>
                        <a:t>Architecte système</a:t>
                      </a:r>
                    </a:p>
                  </a:txBody>
                  <a:tcPr/>
                </a:tc>
                <a:tc>
                  <a:txBody>
                    <a:bodyPr/>
                    <a:lstStyle/>
                    <a:p>
                      <a:r>
                        <a:rPr lang="fr-FR" dirty="0">
                          <a:latin typeface="Rockwell" panose="02060603020205020403" pitchFamily="18" charset="0"/>
                        </a:rPr>
                        <a:t>01</a:t>
                      </a:r>
                    </a:p>
                  </a:txBody>
                  <a:tcPr/>
                </a:tc>
                <a:tc>
                  <a:txBody>
                    <a:bodyPr/>
                    <a:lstStyle/>
                    <a:p>
                      <a:r>
                        <a:rPr lang="fr-FR" dirty="0">
                          <a:latin typeface="Rockwell" panose="02060603020205020403" pitchFamily="18" charset="0"/>
                        </a:rPr>
                        <a:t>3</a:t>
                      </a:r>
                    </a:p>
                  </a:txBody>
                  <a:tcPr/>
                </a:tc>
                <a:tc>
                  <a:txBody>
                    <a:bodyPr/>
                    <a:lstStyle/>
                    <a:p>
                      <a:r>
                        <a:rPr lang="fr-FR" dirty="0">
                          <a:latin typeface="Rockwell" panose="02060603020205020403" pitchFamily="18" charset="0"/>
                        </a:rPr>
                        <a:t>Personne chargée d’établir la structure globale du système</a:t>
                      </a:r>
                    </a:p>
                  </a:txBody>
                  <a:tcPr/>
                </a:tc>
                <a:tc>
                  <a:txBody>
                    <a:bodyPr/>
                    <a:lstStyle/>
                    <a:p>
                      <a:r>
                        <a:rPr lang="fr-FR" dirty="0">
                          <a:latin typeface="Rockwell" panose="02060603020205020403" pitchFamily="18" charset="0"/>
                        </a:rPr>
                        <a:t>405 000</a:t>
                      </a:r>
                    </a:p>
                  </a:txBody>
                  <a:tcPr/>
                </a:tc>
                <a:tc>
                  <a:txBody>
                    <a:bodyPr/>
                    <a:lstStyle/>
                    <a:p>
                      <a:r>
                        <a:rPr lang="fr-FR" dirty="0">
                          <a:latin typeface="Rockwell" panose="02060603020205020403" pitchFamily="18" charset="0"/>
                        </a:rPr>
                        <a:t>405 000</a:t>
                      </a:r>
                    </a:p>
                  </a:txBody>
                  <a:tcPr/>
                </a:tc>
                <a:extLst>
                  <a:ext uri="{0D108BD9-81ED-4DB2-BD59-A6C34878D82A}">
                    <a16:rowId xmlns:a16="http://schemas.microsoft.com/office/drawing/2014/main" val="1549265406"/>
                  </a:ext>
                </a:extLst>
              </a:tr>
              <a:tr h="1034384">
                <a:tc>
                  <a:txBody>
                    <a:bodyPr/>
                    <a:lstStyle/>
                    <a:p>
                      <a:r>
                        <a:rPr lang="fr-FR" dirty="0">
                          <a:latin typeface="Rockwell" panose="02060603020205020403" pitchFamily="18" charset="0"/>
                        </a:rPr>
                        <a:t>Analyste concepteur</a:t>
                      </a:r>
                    </a:p>
                  </a:txBody>
                  <a:tcPr/>
                </a:tc>
                <a:tc>
                  <a:txBody>
                    <a:bodyPr/>
                    <a:lstStyle/>
                    <a:p>
                      <a:r>
                        <a:rPr lang="fr-FR" dirty="0">
                          <a:latin typeface="Rockwell" panose="02060603020205020403" pitchFamily="18" charset="0"/>
                        </a:rPr>
                        <a:t>01</a:t>
                      </a:r>
                    </a:p>
                  </a:txBody>
                  <a:tcPr/>
                </a:tc>
                <a:tc>
                  <a:txBody>
                    <a:bodyPr/>
                    <a:lstStyle/>
                    <a:p>
                      <a:r>
                        <a:rPr lang="fr-FR" dirty="0">
                          <a:latin typeface="Rockwell" panose="02060603020205020403" pitchFamily="18" charset="0"/>
                        </a:rPr>
                        <a:t>3</a:t>
                      </a:r>
                    </a:p>
                  </a:txBody>
                  <a:tcPr/>
                </a:tc>
                <a:tc>
                  <a:txBody>
                    <a:bodyPr/>
                    <a:lstStyle/>
                    <a:p>
                      <a:r>
                        <a:rPr lang="fr-FR" dirty="0">
                          <a:latin typeface="Rockwell" panose="02060603020205020403" pitchFamily="18" charset="0"/>
                        </a:rPr>
                        <a:t>Personne chargée de la réalisation du projet</a:t>
                      </a:r>
                    </a:p>
                  </a:txBody>
                  <a:tcPr/>
                </a:tc>
                <a:tc>
                  <a:txBody>
                    <a:bodyPr/>
                    <a:lstStyle/>
                    <a:p>
                      <a:r>
                        <a:rPr lang="fr-FR" dirty="0">
                          <a:latin typeface="Rockwell" panose="02060603020205020403" pitchFamily="18" charset="0"/>
                        </a:rPr>
                        <a:t>340 000</a:t>
                      </a:r>
                    </a:p>
                  </a:txBody>
                  <a:tcPr/>
                </a:tc>
                <a:tc>
                  <a:txBody>
                    <a:bodyPr/>
                    <a:lstStyle/>
                    <a:p>
                      <a:r>
                        <a:rPr lang="fr-FR" dirty="0">
                          <a:latin typeface="Rockwell" panose="02060603020205020403" pitchFamily="18" charset="0"/>
                        </a:rPr>
                        <a:t>340 000</a:t>
                      </a:r>
                    </a:p>
                  </a:txBody>
                  <a:tcPr/>
                </a:tc>
                <a:extLst>
                  <a:ext uri="{0D108BD9-81ED-4DB2-BD59-A6C34878D82A}">
                    <a16:rowId xmlns:a16="http://schemas.microsoft.com/office/drawing/2014/main" val="2610004172"/>
                  </a:ext>
                </a:extLst>
              </a:tr>
              <a:tr h="1034384">
                <a:tc gridSpan="5">
                  <a:txBody>
                    <a:bodyPr/>
                    <a:lstStyle/>
                    <a:p>
                      <a:r>
                        <a:rPr lang="fr-FR" dirty="0">
                          <a:latin typeface="Rockwell" panose="02060603020205020403" pitchFamily="18" charset="0"/>
                        </a:rPr>
                        <a:t>Total</a:t>
                      </a:r>
                    </a:p>
                  </a:txBody>
                  <a:tcPr/>
                </a:tc>
                <a:tc hMerge="1">
                  <a:txBody>
                    <a:bodyPr/>
                    <a:lstStyle/>
                    <a:p>
                      <a:endParaRPr lang="fr-FR" dirty="0">
                        <a:latin typeface="Rockwell" panose="02060603020205020403" pitchFamily="18" charset="0"/>
                      </a:endParaRPr>
                    </a:p>
                  </a:txBody>
                  <a:tcPr/>
                </a:tc>
                <a:tc hMerge="1">
                  <a:txBody>
                    <a:bodyPr/>
                    <a:lstStyle/>
                    <a:p>
                      <a:endParaRPr lang="fr-FR" dirty="0">
                        <a:latin typeface="Rockwell" panose="02060603020205020403" pitchFamily="18" charset="0"/>
                      </a:endParaRPr>
                    </a:p>
                  </a:txBody>
                  <a:tcPr/>
                </a:tc>
                <a:tc hMerge="1">
                  <a:txBody>
                    <a:bodyPr/>
                    <a:lstStyle/>
                    <a:p>
                      <a:endParaRPr lang="fr-FR" dirty="0">
                        <a:latin typeface="Rockwell" panose="02060603020205020403" pitchFamily="18" charset="0"/>
                      </a:endParaRPr>
                    </a:p>
                  </a:txBody>
                  <a:tcPr/>
                </a:tc>
                <a:tc hMerge="1">
                  <a:txBody>
                    <a:bodyPr/>
                    <a:lstStyle/>
                    <a:p>
                      <a:endParaRPr lang="fr-FR" dirty="0">
                        <a:latin typeface="Rockwell" panose="02060603020205020403" pitchFamily="18" charset="0"/>
                      </a:endParaRPr>
                    </a:p>
                  </a:txBody>
                  <a:tcPr/>
                </a:tc>
                <a:tc>
                  <a:txBody>
                    <a:bodyPr/>
                    <a:lstStyle/>
                    <a:p>
                      <a:r>
                        <a:rPr lang="fr-FR" dirty="0">
                          <a:latin typeface="Rockwell" panose="02060603020205020403" pitchFamily="18" charset="0"/>
                        </a:rPr>
                        <a:t>745 000</a:t>
                      </a:r>
                    </a:p>
                  </a:txBody>
                  <a:tcPr/>
                </a:tc>
                <a:extLst>
                  <a:ext uri="{0D108BD9-81ED-4DB2-BD59-A6C34878D82A}">
                    <a16:rowId xmlns:a16="http://schemas.microsoft.com/office/drawing/2014/main" val="3681689872"/>
                  </a:ext>
                </a:extLst>
              </a:tr>
            </a:tbl>
          </a:graphicData>
        </a:graphic>
      </p:graphicFrame>
    </p:spTree>
    <p:extLst>
      <p:ext uri="{BB962C8B-B14F-4D97-AF65-F5344CB8AC3E}">
        <p14:creationId xmlns:p14="http://schemas.microsoft.com/office/powerpoint/2010/main" val="319492328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86855-3B34-4FCF-B91D-068638D82347}"/>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D9A6159B-5381-5FF1-9DAF-C1E7E0AC35E4}"/>
              </a:ext>
            </a:extLst>
          </p:cNvPr>
          <p:cNvSpPr/>
          <p:nvPr/>
        </p:nvSpPr>
        <p:spPr>
          <a:xfrm>
            <a:off x="0" y="0"/>
            <a:ext cx="635308" cy="4572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15</a:t>
            </a:r>
            <a:endParaRPr lang="en-US" dirty="0">
              <a:latin typeface="Rockwell" panose="02060603020205020403" pitchFamily="18" charset="0"/>
            </a:endParaRPr>
          </a:p>
        </p:txBody>
      </p:sp>
      <p:sp>
        <p:nvSpPr>
          <p:cNvPr id="4" name="Oval 3">
            <a:extLst>
              <a:ext uri="{FF2B5EF4-FFF2-40B4-BE49-F238E27FC236}">
                <a16:creationId xmlns:a16="http://schemas.microsoft.com/office/drawing/2014/main" id="{5B364CEF-C9AE-6D60-2D82-B078F48FC2F3}"/>
              </a:ext>
            </a:extLst>
          </p:cNvPr>
          <p:cNvSpPr/>
          <p:nvPr/>
        </p:nvSpPr>
        <p:spPr>
          <a:xfrm>
            <a:off x="11258551" y="6271138"/>
            <a:ext cx="869378" cy="53698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15</a:t>
            </a:r>
            <a:endParaRPr lang="en-US" dirty="0">
              <a:latin typeface="Amasis MT Pro Medium" panose="02040604050005020304" pitchFamily="18" charset="0"/>
            </a:endParaRPr>
          </a:p>
        </p:txBody>
      </p:sp>
      <p:sp>
        <p:nvSpPr>
          <p:cNvPr id="5" name="Rectangle 4">
            <a:extLst>
              <a:ext uri="{FF2B5EF4-FFF2-40B4-BE49-F238E27FC236}">
                <a16:creationId xmlns:a16="http://schemas.microsoft.com/office/drawing/2014/main" id="{DCDEFEDC-4080-A2BD-3A0F-53FAD495A708}"/>
              </a:ext>
            </a:extLst>
          </p:cNvPr>
          <p:cNvSpPr/>
          <p:nvPr/>
        </p:nvSpPr>
        <p:spPr>
          <a:xfrm>
            <a:off x="1349041" y="841138"/>
            <a:ext cx="9436608" cy="7676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a:solidFill>
                  <a:schemeClr val="accent2">
                    <a:lumMod val="75000"/>
                  </a:schemeClr>
                </a:solidFill>
                <a:latin typeface="Rockwell" panose="02060603020205020403" pitchFamily="18" charset="0"/>
                <a:cs typeface="Raavi" panose="020B0502040204020203" pitchFamily="34" charset="0"/>
              </a:rPr>
              <a:t>Ressources matérielles</a:t>
            </a:r>
            <a:endParaRPr lang="en-US" sz="2800" b="1" dirty="0">
              <a:solidFill>
                <a:schemeClr val="accent2">
                  <a:lumMod val="75000"/>
                </a:schemeClr>
              </a:solidFill>
              <a:latin typeface="Rockwell" panose="02060603020205020403" pitchFamily="18" charset="0"/>
              <a:cs typeface="Raavi" panose="020B0502040204020203" pitchFamily="34" charset="0"/>
            </a:endParaRPr>
          </a:p>
        </p:txBody>
      </p:sp>
      <p:sp>
        <p:nvSpPr>
          <p:cNvPr id="2" name="Rectangle: Rounded Corners 3">
            <a:extLst>
              <a:ext uri="{FF2B5EF4-FFF2-40B4-BE49-F238E27FC236}">
                <a16:creationId xmlns:a16="http://schemas.microsoft.com/office/drawing/2014/main" id="{1BFAA606-536A-811D-62F3-BC13BEEB9BA9}"/>
              </a:ext>
            </a:extLst>
          </p:cNvPr>
          <p:cNvSpPr/>
          <p:nvPr/>
        </p:nvSpPr>
        <p:spPr>
          <a:xfrm>
            <a:off x="5802086" y="-1"/>
            <a:ext cx="6389914" cy="600713"/>
          </a:xfrm>
          <a:prstGeom prst="roundRect">
            <a:avLst>
              <a:gd name="adj" fmla="val 32456"/>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FFFFFF"/>
                </a:solidFill>
                <a:latin typeface="Rockwell" panose="02060603020205020403" pitchFamily="18" charset="0"/>
                <a:ea typeface="Calibri" panose="020F0502020204030204" pitchFamily="34" charset="0"/>
                <a:cs typeface="Times New Roman" panose="02020603050405020304" pitchFamily="18" charset="0"/>
              </a:rPr>
              <a:t>ESTIMATION ET COUT TOTAL DU PROJET</a:t>
            </a:r>
            <a:endParaRPr lang="en-US" dirty="0">
              <a:latin typeface="Rockwell" panose="02060603020205020403" pitchFamily="18" charset="0"/>
            </a:endParaRPr>
          </a:p>
        </p:txBody>
      </p:sp>
      <p:graphicFrame>
        <p:nvGraphicFramePr>
          <p:cNvPr id="6" name="Tableau 5">
            <a:extLst>
              <a:ext uri="{FF2B5EF4-FFF2-40B4-BE49-F238E27FC236}">
                <a16:creationId xmlns:a16="http://schemas.microsoft.com/office/drawing/2014/main" id="{D58C0F30-3CEB-5D83-4A2A-14B19500C9C3}"/>
              </a:ext>
            </a:extLst>
          </p:cNvPr>
          <p:cNvGraphicFramePr>
            <a:graphicFrameLocks noGrp="1"/>
          </p:cNvGraphicFramePr>
          <p:nvPr>
            <p:extLst>
              <p:ext uri="{D42A27DB-BD31-4B8C-83A1-F6EECF244321}">
                <p14:modId xmlns:p14="http://schemas.microsoft.com/office/powerpoint/2010/main" val="625526032"/>
              </p:ext>
            </p:extLst>
          </p:nvPr>
        </p:nvGraphicFramePr>
        <p:xfrm>
          <a:off x="1005114" y="1608798"/>
          <a:ext cx="9593943" cy="5411980"/>
        </p:xfrm>
        <a:graphic>
          <a:graphicData uri="http://schemas.openxmlformats.org/drawingml/2006/table">
            <a:tbl>
              <a:tblPr firstRow="1" firstCol="1" bandRow="1">
                <a:tableStyleId>{5C22544A-7EE6-4342-B048-85BDC9FD1C3A}</a:tableStyleId>
              </a:tblPr>
              <a:tblGrid>
                <a:gridCol w="1422400">
                  <a:extLst>
                    <a:ext uri="{9D8B030D-6E8A-4147-A177-3AD203B41FA5}">
                      <a16:colId xmlns:a16="http://schemas.microsoft.com/office/drawing/2014/main" val="1962286873"/>
                    </a:ext>
                  </a:extLst>
                </a:gridCol>
                <a:gridCol w="928915">
                  <a:extLst>
                    <a:ext uri="{9D8B030D-6E8A-4147-A177-3AD203B41FA5}">
                      <a16:colId xmlns:a16="http://schemas.microsoft.com/office/drawing/2014/main" val="1492024086"/>
                    </a:ext>
                  </a:extLst>
                </a:gridCol>
                <a:gridCol w="3946894">
                  <a:extLst>
                    <a:ext uri="{9D8B030D-6E8A-4147-A177-3AD203B41FA5}">
                      <a16:colId xmlns:a16="http://schemas.microsoft.com/office/drawing/2014/main" val="3128874275"/>
                    </a:ext>
                  </a:extLst>
                </a:gridCol>
                <a:gridCol w="1416541">
                  <a:extLst>
                    <a:ext uri="{9D8B030D-6E8A-4147-A177-3AD203B41FA5}">
                      <a16:colId xmlns:a16="http://schemas.microsoft.com/office/drawing/2014/main" val="3890706896"/>
                    </a:ext>
                  </a:extLst>
                </a:gridCol>
                <a:gridCol w="1879193">
                  <a:extLst>
                    <a:ext uri="{9D8B030D-6E8A-4147-A177-3AD203B41FA5}">
                      <a16:colId xmlns:a16="http://schemas.microsoft.com/office/drawing/2014/main" val="584067021"/>
                    </a:ext>
                  </a:extLst>
                </a:gridCol>
              </a:tblGrid>
              <a:tr h="399012">
                <a:tc>
                  <a:txBody>
                    <a:bodyPr/>
                    <a:lstStyle/>
                    <a:p>
                      <a:pPr algn="just">
                        <a:lnSpc>
                          <a:spcPct val="150000"/>
                        </a:lnSpc>
                        <a:spcAft>
                          <a:spcPts val="800"/>
                        </a:spcAft>
                        <a:buNone/>
                      </a:pPr>
                      <a:r>
                        <a:rPr lang="fr-FR" sz="1600" b="1" kern="100" dirty="0">
                          <a:effectLst/>
                          <a:latin typeface="Rockwell" panose="02060603020205020403" pitchFamily="18" charset="0"/>
                          <a:cs typeface="Times New Roman" panose="02020603050405020304" pitchFamily="18" charset="0"/>
                        </a:rPr>
                        <a:t>Désignation</a:t>
                      </a:r>
                      <a:endParaRPr lang="fr-FR" sz="1600" b="1"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fr-FR" sz="1600" b="1" kern="100" dirty="0">
                          <a:effectLst/>
                          <a:latin typeface="Rockwell" panose="02060603020205020403" pitchFamily="18" charset="0"/>
                          <a:cs typeface="Times New Roman" panose="02020603050405020304" pitchFamily="18" charset="0"/>
                        </a:rPr>
                        <a:t>Quantité</a:t>
                      </a:r>
                      <a:endParaRPr lang="fr-FR" sz="1600" b="1"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fr-FR" sz="1600" b="1" kern="100" dirty="0">
                          <a:effectLst/>
                          <a:latin typeface="Rockwell" panose="02060603020205020403" pitchFamily="18" charset="0"/>
                          <a:cs typeface="Times New Roman" panose="02020603050405020304" pitchFamily="18" charset="0"/>
                        </a:rPr>
                        <a:t>Caractéristiques</a:t>
                      </a:r>
                      <a:endParaRPr lang="fr-FR" sz="1600" b="1"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fr-FR" sz="1600" b="1" kern="100" dirty="0">
                          <a:effectLst/>
                          <a:latin typeface="Rockwell" panose="02060603020205020403" pitchFamily="18" charset="0"/>
                          <a:cs typeface="Times New Roman" panose="02020603050405020304" pitchFamily="18" charset="0"/>
                        </a:rPr>
                        <a:t>Prix-unitaire</a:t>
                      </a:r>
                      <a:endParaRPr lang="fr-FR" sz="1600" b="1"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fr-FR" sz="1600" b="1" kern="100" dirty="0">
                          <a:effectLst/>
                          <a:latin typeface="Rockwell" panose="02060603020205020403" pitchFamily="18" charset="0"/>
                          <a:cs typeface="Times New Roman" panose="02020603050405020304" pitchFamily="18" charset="0"/>
                        </a:rPr>
                        <a:t>Cout-total en frcfa</a:t>
                      </a:r>
                      <a:endParaRPr lang="fr-FR" sz="1600" b="1"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32464050"/>
                  </a:ext>
                </a:extLst>
              </a:tr>
              <a:tr h="1322278">
                <a:tc>
                  <a:txBody>
                    <a:bodyPr/>
                    <a:lstStyle/>
                    <a:p>
                      <a:pPr algn="just">
                        <a:lnSpc>
                          <a:spcPct val="150000"/>
                        </a:lnSpc>
                        <a:spcAft>
                          <a:spcPts val="800"/>
                        </a:spcAft>
                        <a:buNone/>
                      </a:pPr>
                      <a:r>
                        <a:rPr lang="fr-FR" sz="1600" b="1" kern="100" dirty="0">
                          <a:effectLst/>
                          <a:latin typeface="Rockwell" panose="02060603020205020403" pitchFamily="18" charset="0"/>
                          <a:cs typeface="Times New Roman" panose="02020603050405020304" pitchFamily="18" charset="0"/>
                        </a:rPr>
                        <a:t>Ordinateur</a:t>
                      </a:r>
                      <a:endParaRPr lang="fr-FR" sz="1600" b="1"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fr-FR" sz="1600" b="1" kern="100" dirty="0">
                          <a:effectLst/>
                          <a:latin typeface="Rockwell" panose="02060603020205020403" pitchFamily="18" charset="0"/>
                          <a:cs typeface="Times New Roman" panose="02020603050405020304" pitchFamily="18" charset="0"/>
                        </a:rPr>
                        <a:t>01</a:t>
                      </a:r>
                      <a:endParaRPr lang="fr-FR" sz="1600" b="1"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fr-FR" sz="1600" b="1" kern="100" dirty="0">
                          <a:effectLst/>
                          <a:latin typeface="Rockwell" panose="02060603020205020403" pitchFamily="18" charset="0"/>
                          <a:cs typeface="Times New Roman" panose="02020603050405020304" pitchFamily="18" charset="0"/>
                        </a:rPr>
                        <a:t>Laptop Thinkpad i5 10</a:t>
                      </a:r>
                      <a:r>
                        <a:rPr lang="fr-FR" sz="1600" b="1" kern="100" baseline="30000" dirty="0">
                          <a:effectLst/>
                          <a:latin typeface="Rockwell" panose="02060603020205020403" pitchFamily="18" charset="0"/>
                          <a:cs typeface="Times New Roman" panose="02020603050405020304" pitchFamily="18" charset="0"/>
                        </a:rPr>
                        <a:t>e</a:t>
                      </a:r>
                      <a:r>
                        <a:rPr lang="fr-FR" sz="1600" b="1" kern="100" dirty="0">
                          <a:effectLst/>
                          <a:latin typeface="Rockwell" panose="02060603020205020403" pitchFamily="18" charset="0"/>
                          <a:cs typeface="Times New Roman" panose="02020603050405020304" pitchFamily="18" charset="0"/>
                        </a:rPr>
                        <a:t> génération 8coeurs, 16Go de ram, stockage 500Go ssd carte graphique AMD, Ethernet Gigabit (important pour transférer des logs lourds), USB 3.0 pour sauvegardes de traces, Wi-Fi 6 (facultatif mais utile</a:t>
                      </a:r>
                    </a:p>
                    <a:p>
                      <a:pPr algn="just">
                        <a:lnSpc>
                          <a:spcPct val="150000"/>
                        </a:lnSpc>
                        <a:spcAft>
                          <a:spcPts val="800"/>
                        </a:spcAft>
                        <a:buNone/>
                      </a:pPr>
                      <a:r>
                        <a:rPr lang="fr-FR" sz="1600" b="1" kern="100" dirty="0">
                          <a:effectLst/>
                          <a:latin typeface="Rockwell" panose="02060603020205020403" pitchFamily="18" charset="0"/>
                          <a:cs typeface="Times New Roman" panose="02020603050405020304" pitchFamily="18" charset="0"/>
                        </a:rPr>
                        <a:t> </a:t>
                      </a:r>
                      <a:endParaRPr lang="fr-FR" sz="1600" b="1"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fr-FR" sz="1600" b="1" kern="100" dirty="0">
                          <a:effectLst/>
                          <a:latin typeface="Rockwell" panose="02060603020205020403" pitchFamily="18" charset="0"/>
                          <a:cs typeface="Times New Roman" panose="02020603050405020304" pitchFamily="18" charset="0"/>
                        </a:rPr>
                        <a:t>838600</a:t>
                      </a:r>
                      <a:endParaRPr lang="fr-FR" sz="1600" b="1"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fr-FR" sz="1600" b="1" kern="100" dirty="0">
                          <a:effectLst/>
                          <a:latin typeface="Rockwell" panose="02060603020205020403" pitchFamily="18" charset="0"/>
                          <a:cs typeface="Times New Roman" panose="02020603050405020304" pitchFamily="18" charset="0"/>
                        </a:rPr>
                        <a:t>838600</a:t>
                      </a:r>
                      <a:endParaRPr lang="fr-FR" sz="1600" b="1"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28787996"/>
                  </a:ext>
                </a:extLst>
              </a:tr>
              <a:tr h="988077">
                <a:tc>
                  <a:txBody>
                    <a:bodyPr/>
                    <a:lstStyle/>
                    <a:p>
                      <a:pPr algn="just">
                        <a:lnSpc>
                          <a:spcPct val="150000"/>
                        </a:lnSpc>
                        <a:spcAft>
                          <a:spcPts val="800"/>
                        </a:spcAft>
                        <a:buNone/>
                      </a:pPr>
                      <a:r>
                        <a:rPr lang="fr-FR" sz="1600" b="1" kern="100" dirty="0">
                          <a:effectLst/>
                          <a:latin typeface="Rockwell" panose="02060603020205020403" pitchFamily="18" charset="0"/>
                          <a:cs typeface="Times New Roman" panose="02020603050405020304" pitchFamily="18" charset="0"/>
                        </a:rPr>
                        <a:t>Serveur</a:t>
                      </a:r>
                      <a:endParaRPr lang="fr-FR" sz="1600" b="1"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fr-FR" sz="1600" b="1" kern="100" dirty="0">
                          <a:effectLst/>
                          <a:latin typeface="Rockwell" panose="02060603020205020403" pitchFamily="18" charset="0"/>
                          <a:cs typeface="Times New Roman" panose="02020603050405020304" pitchFamily="18" charset="0"/>
                        </a:rPr>
                        <a:t>01</a:t>
                      </a:r>
                      <a:endParaRPr lang="fr-FR" sz="1600" b="1"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fr-FR" sz="1600" b="1" kern="100" dirty="0">
                          <a:effectLst/>
                          <a:latin typeface="Rockwell" panose="02060603020205020403" pitchFamily="18" charset="0"/>
                          <a:cs typeface="Times New Roman" panose="02020603050405020304" pitchFamily="18" charset="0"/>
                        </a:rPr>
                        <a:t>Rveur HP ProLiant Mlio Gen9 Xeon E3-1225vs/3.3ghz, Processeur Intel 1, Ram 8go Ddr4 SDRAM, Dd 2to Sata, Lecteur Dvdrw Sata, 3 Ports USB, Rj45</a:t>
                      </a:r>
                      <a:endParaRPr lang="fr-FR" sz="1600" b="1"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fr-FR" sz="1600" b="1" kern="100" dirty="0">
                          <a:effectLst/>
                          <a:latin typeface="Rockwell" panose="02060603020205020403" pitchFamily="18" charset="0"/>
                          <a:cs typeface="Times New Roman" panose="02020603050405020304" pitchFamily="18" charset="0"/>
                        </a:rPr>
                        <a:t>759000</a:t>
                      </a:r>
                      <a:endParaRPr lang="fr-FR" sz="1600" b="1"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fr-FR" sz="1600" b="1" kern="100" dirty="0">
                          <a:effectLst/>
                          <a:latin typeface="Rockwell" panose="02060603020205020403" pitchFamily="18" charset="0"/>
                          <a:cs typeface="Times New Roman" panose="02020603050405020304" pitchFamily="18" charset="0"/>
                        </a:rPr>
                        <a:t>759000</a:t>
                      </a:r>
                      <a:endParaRPr lang="fr-FR" sz="1600" b="1"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27774579"/>
                  </a:ext>
                </a:extLst>
              </a:tr>
              <a:tr h="193007">
                <a:tc gridSpan="4">
                  <a:txBody>
                    <a:bodyPr/>
                    <a:lstStyle/>
                    <a:p>
                      <a:pPr algn="just">
                        <a:lnSpc>
                          <a:spcPct val="150000"/>
                        </a:lnSpc>
                        <a:spcAft>
                          <a:spcPts val="800"/>
                        </a:spcAft>
                        <a:buNone/>
                      </a:pPr>
                      <a:r>
                        <a:rPr lang="fr-FR" sz="1600" b="1" kern="100" dirty="0">
                          <a:effectLst/>
                          <a:latin typeface="Rockwell" panose="02060603020205020403" pitchFamily="18" charset="0"/>
                          <a:cs typeface="Times New Roman" panose="02020603050405020304" pitchFamily="18" charset="0"/>
                        </a:rPr>
                        <a:t>Total :</a:t>
                      </a:r>
                      <a:endParaRPr lang="fr-FR" sz="1600" b="1"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fr-FR"/>
                    </a:p>
                  </a:txBody>
                  <a:tcPr/>
                </a:tc>
                <a:tc hMerge="1">
                  <a:txBody>
                    <a:bodyPr/>
                    <a:lstStyle/>
                    <a:p>
                      <a:endParaRPr lang="fr-FR"/>
                    </a:p>
                  </a:txBody>
                  <a:tcPr/>
                </a:tc>
                <a:tc hMerge="1">
                  <a:txBody>
                    <a:bodyPr/>
                    <a:lstStyle/>
                    <a:p>
                      <a:endParaRPr lang="fr-FR"/>
                    </a:p>
                  </a:txBody>
                  <a:tcPr/>
                </a:tc>
                <a:tc>
                  <a:txBody>
                    <a:bodyPr/>
                    <a:lstStyle/>
                    <a:p>
                      <a:pPr algn="just">
                        <a:lnSpc>
                          <a:spcPct val="150000"/>
                        </a:lnSpc>
                        <a:spcAft>
                          <a:spcPts val="800"/>
                        </a:spcAft>
                        <a:buNone/>
                      </a:pPr>
                      <a:r>
                        <a:rPr lang="fr-FR" sz="1600" b="1" kern="100" dirty="0">
                          <a:effectLst/>
                          <a:latin typeface="Rockwell" panose="02060603020205020403" pitchFamily="18" charset="0"/>
                          <a:cs typeface="Times New Roman" panose="02020603050405020304" pitchFamily="18" charset="0"/>
                        </a:rPr>
                        <a:t>1 797 006</a:t>
                      </a:r>
                      <a:endParaRPr lang="fr-FR" sz="1600" b="1"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29640677"/>
                  </a:ext>
                </a:extLst>
              </a:tr>
            </a:tbl>
          </a:graphicData>
        </a:graphic>
      </p:graphicFrame>
    </p:spTree>
    <p:extLst>
      <p:ext uri="{BB962C8B-B14F-4D97-AF65-F5344CB8AC3E}">
        <p14:creationId xmlns:p14="http://schemas.microsoft.com/office/powerpoint/2010/main" val="23489465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36D32-6C40-AE07-E155-EA8FDCF1E619}"/>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AD37684A-7AFA-4671-1E10-DEC27D013A64}"/>
              </a:ext>
            </a:extLst>
          </p:cNvPr>
          <p:cNvSpPr/>
          <p:nvPr/>
        </p:nvSpPr>
        <p:spPr>
          <a:xfrm>
            <a:off x="0" y="0"/>
            <a:ext cx="635308" cy="4572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15</a:t>
            </a:r>
            <a:endParaRPr lang="en-US" dirty="0">
              <a:latin typeface="Rockwell" panose="02060603020205020403" pitchFamily="18" charset="0"/>
            </a:endParaRPr>
          </a:p>
        </p:txBody>
      </p:sp>
      <p:sp>
        <p:nvSpPr>
          <p:cNvPr id="4" name="Oval 3">
            <a:extLst>
              <a:ext uri="{FF2B5EF4-FFF2-40B4-BE49-F238E27FC236}">
                <a16:creationId xmlns:a16="http://schemas.microsoft.com/office/drawing/2014/main" id="{DD7A9B1E-2039-7B6C-F1D0-0041DC6BB406}"/>
              </a:ext>
            </a:extLst>
          </p:cNvPr>
          <p:cNvSpPr/>
          <p:nvPr/>
        </p:nvSpPr>
        <p:spPr>
          <a:xfrm>
            <a:off x="11258551" y="6271138"/>
            <a:ext cx="869378" cy="53698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15</a:t>
            </a:r>
            <a:endParaRPr lang="en-US" dirty="0">
              <a:latin typeface="Amasis MT Pro Medium" panose="02040604050005020304" pitchFamily="18" charset="0"/>
            </a:endParaRPr>
          </a:p>
        </p:txBody>
      </p:sp>
      <p:sp>
        <p:nvSpPr>
          <p:cNvPr id="5" name="Rectangle 4">
            <a:extLst>
              <a:ext uri="{FF2B5EF4-FFF2-40B4-BE49-F238E27FC236}">
                <a16:creationId xmlns:a16="http://schemas.microsoft.com/office/drawing/2014/main" id="{46CEE00A-8C4E-3F43-98CF-8EA6EF7E860D}"/>
              </a:ext>
            </a:extLst>
          </p:cNvPr>
          <p:cNvSpPr/>
          <p:nvPr/>
        </p:nvSpPr>
        <p:spPr>
          <a:xfrm>
            <a:off x="1349041" y="841138"/>
            <a:ext cx="9436608" cy="7676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a:solidFill>
                  <a:schemeClr val="accent2">
                    <a:lumMod val="75000"/>
                  </a:schemeClr>
                </a:solidFill>
                <a:latin typeface="Rockwell" panose="02060603020205020403" pitchFamily="18" charset="0"/>
                <a:cs typeface="Raavi" panose="020B0502040204020203" pitchFamily="34" charset="0"/>
              </a:rPr>
              <a:t>COUT TOTAL DU PROJET</a:t>
            </a:r>
            <a:endParaRPr lang="en-US" sz="2800" b="1" dirty="0">
              <a:solidFill>
                <a:schemeClr val="accent2">
                  <a:lumMod val="75000"/>
                </a:schemeClr>
              </a:solidFill>
              <a:latin typeface="Rockwell" panose="02060603020205020403" pitchFamily="18" charset="0"/>
              <a:cs typeface="Raavi" panose="020B0502040204020203" pitchFamily="34" charset="0"/>
            </a:endParaRPr>
          </a:p>
        </p:txBody>
      </p:sp>
      <p:sp>
        <p:nvSpPr>
          <p:cNvPr id="2" name="Rectangle: Rounded Corners 3">
            <a:extLst>
              <a:ext uri="{FF2B5EF4-FFF2-40B4-BE49-F238E27FC236}">
                <a16:creationId xmlns:a16="http://schemas.microsoft.com/office/drawing/2014/main" id="{3937E222-8179-CECB-5D0F-9733F8479434}"/>
              </a:ext>
            </a:extLst>
          </p:cNvPr>
          <p:cNvSpPr/>
          <p:nvPr/>
        </p:nvSpPr>
        <p:spPr>
          <a:xfrm>
            <a:off x="5802086" y="-1"/>
            <a:ext cx="6389914" cy="600713"/>
          </a:xfrm>
          <a:prstGeom prst="roundRect">
            <a:avLst>
              <a:gd name="adj" fmla="val 32456"/>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FFFFFF"/>
                </a:solidFill>
                <a:latin typeface="Rockwell" panose="02060603020205020403" pitchFamily="18" charset="0"/>
                <a:ea typeface="Calibri" panose="020F0502020204030204" pitchFamily="34" charset="0"/>
                <a:cs typeface="Times New Roman" panose="02020603050405020304" pitchFamily="18" charset="0"/>
              </a:rPr>
              <a:t>ESTIMATION ET COUT TOTAL DU PROJET</a:t>
            </a:r>
            <a:endParaRPr lang="en-US" dirty="0">
              <a:latin typeface="Rockwell" panose="02060603020205020403" pitchFamily="18" charset="0"/>
            </a:endParaRPr>
          </a:p>
        </p:txBody>
      </p:sp>
      <p:graphicFrame>
        <p:nvGraphicFramePr>
          <p:cNvPr id="7" name="Tableau 6">
            <a:extLst>
              <a:ext uri="{FF2B5EF4-FFF2-40B4-BE49-F238E27FC236}">
                <a16:creationId xmlns:a16="http://schemas.microsoft.com/office/drawing/2014/main" id="{DF968AD4-7B31-AB50-A8E3-7D08644EB890}"/>
              </a:ext>
            </a:extLst>
          </p:cNvPr>
          <p:cNvGraphicFramePr>
            <a:graphicFrameLocks noGrp="1"/>
          </p:cNvGraphicFramePr>
          <p:nvPr>
            <p:extLst>
              <p:ext uri="{D42A27DB-BD31-4B8C-83A1-F6EECF244321}">
                <p14:modId xmlns:p14="http://schemas.microsoft.com/office/powerpoint/2010/main" val="871548584"/>
              </p:ext>
            </p:extLst>
          </p:nvPr>
        </p:nvGraphicFramePr>
        <p:xfrm>
          <a:off x="1349041" y="2540001"/>
          <a:ext cx="9043188" cy="2595156"/>
        </p:xfrm>
        <a:graphic>
          <a:graphicData uri="http://schemas.openxmlformats.org/drawingml/2006/table">
            <a:tbl>
              <a:tblPr firstRow="1" firstCol="1" bandRow="1">
                <a:tableStyleId>{5C22544A-7EE6-4342-B048-85BDC9FD1C3A}</a:tableStyleId>
              </a:tblPr>
              <a:tblGrid>
                <a:gridCol w="4521594">
                  <a:extLst>
                    <a:ext uri="{9D8B030D-6E8A-4147-A177-3AD203B41FA5}">
                      <a16:colId xmlns:a16="http://schemas.microsoft.com/office/drawing/2014/main" val="2935184582"/>
                    </a:ext>
                  </a:extLst>
                </a:gridCol>
                <a:gridCol w="4521594">
                  <a:extLst>
                    <a:ext uri="{9D8B030D-6E8A-4147-A177-3AD203B41FA5}">
                      <a16:colId xmlns:a16="http://schemas.microsoft.com/office/drawing/2014/main" val="1981709631"/>
                    </a:ext>
                  </a:extLst>
                </a:gridCol>
              </a:tblGrid>
              <a:tr h="432526">
                <a:tc>
                  <a:txBody>
                    <a:bodyPr/>
                    <a:lstStyle/>
                    <a:p>
                      <a:pPr algn="just">
                        <a:lnSpc>
                          <a:spcPct val="115000"/>
                        </a:lnSpc>
                        <a:spcAft>
                          <a:spcPts val="800"/>
                        </a:spcAft>
                        <a:buNone/>
                      </a:pPr>
                      <a:r>
                        <a:rPr lang="fr-FR" sz="1800" kern="100" dirty="0">
                          <a:effectLst/>
                          <a:latin typeface="Rockwell" panose="02060603020205020403" pitchFamily="18" charset="0"/>
                        </a:rPr>
                        <a:t>Ressources</a:t>
                      </a:r>
                      <a:endParaRPr lang="fr-FR" sz="1800"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800"/>
                        </a:spcAft>
                        <a:buNone/>
                      </a:pPr>
                      <a:r>
                        <a:rPr lang="fr-FR" sz="1800" kern="100" dirty="0">
                          <a:effectLst/>
                          <a:latin typeface="Rockwell" panose="02060603020205020403" pitchFamily="18" charset="0"/>
                        </a:rPr>
                        <a:t>Montant en frcfa</a:t>
                      </a:r>
                      <a:endParaRPr lang="fr-FR" sz="1800"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90382556"/>
                  </a:ext>
                </a:extLst>
              </a:tr>
              <a:tr h="432526">
                <a:tc>
                  <a:txBody>
                    <a:bodyPr/>
                    <a:lstStyle/>
                    <a:p>
                      <a:pPr algn="just">
                        <a:lnSpc>
                          <a:spcPct val="115000"/>
                        </a:lnSpc>
                        <a:spcAft>
                          <a:spcPts val="800"/>
                        </a:spcAft>
                        <a:buNone/>
                      </a:pPr>
                      <a:r>
                        <a:rPr lang="fr-FR" sz="1800" kern="100" dirty="0">
                          <a:effectLst/>
                          <a:latin typeface="Rockwell" panose="02060603020205020403" pitchFamily="18" charset="0"/>
                        </a:rPr>
                        <a:t>Matérielles</a:t>
                      </a:r>
                      <a:endParaRPr lang="fr-FR" sz="1800"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800"/>
                        </a:spcAft>
                        <a:buNone/>
                      </a:pPr>
                      <a:r>
                        <a:rPr lang="fr-FR" sz="1800" kern="100" dirty="0">
                          <a:effectLst/>
                          <a:latin typeface="Rockwell" panose="02060603020205020403" pitchFamily="18" charset="0"/>
                        </a:rPr>
                        <a:t>1 797 006</a:t>
                      </a:r>
                      <a:endParaRPr lang="fr-FR" sz="1800"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9338276"/>
                  </a:ext>
                </a:extLst>
              </a:tr>
              <a:tr h="432526">
                <a:tc>
                  <a:txBody>
                    <a:bodyPr/>
                    <a:lstStyle/>
                    <a:p>
                      <a:pPr algn="just">
                        <a:lnSpc>
                          <a:spcPct val="115000"/>
                        </a:lnSpc>
                        <a:spcAft>
                          <a:spcPts val="800"/>
                        </a:spcAft>
                        <a:buNone/>
                      </a:pPr>
                      <a:r>
                        <a:rPr lang="fr-FR" sz="1800" kern="100" dirty="0">
                          <a:effectLst/>
                          <a:latin typeface="Rockwell" panose="02060603020205020403" pitchFamily="18" charset="0"/>
                        </a:rPr>
                        <a:t>Logicielles</a:t>
                      </a:r>
                      <a:endParaRPr lang="fr-FR" sz="1800"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800"/>
                        </a:spcAft>
                        <a:buNone/>
                      </a:pPr>
                      <a:r>
                        <a:rPr lang="fr-FR" sz="1800" kern="100" dirty="0">
                          <a:effectLst/>
                          <a:latin typeface="Rockwell" panose="02060603020205020403" pitchFamily="18" charset="0"/>
                        </a:rPr>
                        <a:t> </a:t>
                      </a:r>
                      <a:endParaRPr lang="fr-FR" sz="1800"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99512868"/>
                  </a:ext>
                </a:extLst>
              </a:tr>
              <a:tr h="432526">
                <a:tc>
                  <a:txBody>
                    <a:bodyPr/>
                    <a:lstStyle/>
                    <a:p>
                      <a:pPr algn="just">
                        <a:lnSpc>
                          <a:spcPct val="115000"/>
                        </a:lnSpc>
                        <a:spcAft>
                          <a:spcPts val="800"/>
                        </a:spcAft>
                        <a:buNone/>
                      </a:pPr>
                      <a:r>
                        <a:rPr lang="fr-FR" sz="1800" kern="100" dirty="0">
                          <a:effectLst/>
                          <a:latin typeface="Rockwell" panose="02060603020205020403" pitchFamily="18" charset="0"/>
                        </a:rPr>
                        <a:t>Humaines</a:t>
                      </a:r>
                      <a:endParaRPr lang="fr-FR" sz="1800"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800"/>
                        </a:spcAft>
                        <a:buNone/>
                      </a:pPr>
                      <a:r>
                        <a:rPr lang="fr-FR" sz="1800" kern="100" dirty="0">
                          <a:effectLst/>
                          <a:latin typeface="Rockwell" panose="02060603020205020403" pitchFamily="18" charset="0"/>
                          <a:ea typeface="Calibri" panose="020F0502020204030204" pitchFamily="34" charset="0"/>
                          <a:cs typeface="Times New Roman" panose="02020603050405020304" pitchFamily="18" charset="0"/>
                        </a:rPr>
                        <a:t>450 000</a:t>
                      </a:r>
                    </a:p>
                  </a:txBody>
                  <a:tcPr marL="68580" marR="68580" marT="0" marB="0"/>
                </a:tc>
                <a:extLst>
                  <a:ext uri="{0D108BD9-81ED-4DB2-BD59-A6C34878D82A}">
                    <a16:rowId xmlns:a16="http://schemas.microsoft.com/office/drawing/2014/main" val="920389746"/>
                  </a:ext>
                </a:extLst>
              </a:tr>
              <a:tr h="432526">
                <a:tc>
                  <a:txBody>
                    <a:bodyPr/>
                    <a:lstStyle/>
                    <a:p>
                      <a:pPr algn="just">
                        <a:lnSpc>
                          <a:spcPct val="115000"/>
                        </a:lnSpc>
                        <a:spcAft>
                          <a:spcPts val="800"/>
                        </a:spcAft>
                        <a:buNone/>
                      </a:pPr>
                      <a:r>
                        <a:rPr lang="fr-FR" sz="1800" kern="100" dirty="0">
                          <a:effectLst/>
                          <a:latin typeface="Rockwell" panose="02060603020205020403" pitchFamily="18" charset="0"/>
                          <a:ea typeface="Calibri" panose="020F0502020204030204" pitchFamily="34" charset="0"/>
                          <a:cs typeface="Times New Roman" panose="02020603050405020304" pitchFamily="18" charset="0"/>
                        </a:rPr>
                        <a:t>Total </a:t>
                      </a:r>
                    </a:p>
                  </a:txBody>
                  <a:tcPr marL="68580" marR="68580" marT="0" marB="0"/>
                </a:tc>
                <a:tc>
                  <a:txBody>
                    <a:bodyPr/>
                    <a:lstStyle/>
                    <a:p>
                      <a:pPr algn="just">
                        <a:lnSpc>
                          <a:spcPct val="115000"/>
                        </a:lnSpc>
                        <a:spcAft>
                          <a:spcPts val="800"/>
                        </a:spcAft>
                        <a:buNone/>
                      </a:pPr>
                      <a:r>
                        <a:rPr lang="fr-FR" sz="1800" kern="100" dirty="0">
                          <a:effectLst/>
                          <a:latin typeface="Rockwell" panose="02060603020205020403" pitchFamily="18" charset="0"/>
                          <a:ea typeface="Calibri" panose="020F0502020204030204" pitchFamily="34" charset="0"/>
                          <a:cs typeface="Times New Roman" panose="02020603050405020304" pitchFamily="18" charset="0"/>
                        </a:rPr>
                        <a:t>2 247 006</a:t>
                      </a:r>
                    </a:p>
                  </a:txBody>
                  <a:tcPr marL="68580" marR="68580" marT="0" marB="0"/>
                </a:tc>
                <a:extLst>
                  <a:ext uri="{0D108BD9-81ED-4DB2-BD59-A6C34878D82A}">
                    <a16:rowId xmlns:a16="http://schemas.microsoft.com/office/drawing/2014/main" val="4234309564"/>
                  </a:ext>
                </a:extLst>
              </a:tr>
              <a:tr h="432526">
                <a:tc>
                  <a:txBody>
                    <a:bodyPr/>
                    <a:lstStyle/>
                    <a:p>
                      <a:pPr algn="just">
                        <a:lnSpc>
                          <a:spcPct val="115000"/>
                        </a:lnSpc>
                        <a:spcAft>
                          <a:spcPts val="800"/>
                        </a:spcAft>
                        <a:buNone/>
                      </a:pPr>
                      <a:r>
                        <a:rPr lang="fr-FR" sz="1800" kern="100" dirty="0">
                          <a:effectLst/>
                          <a:latin typeface="Rockwell" panose="02060603020205020403" pitchFamily="18" charset="0"/>
                        </a:rPr>
                        <a:t>Marge (10%)</a:t>
                      </a:r>
                      <a:endParaRPr lang="fr-FR" sz="1800" kern="100" dirty="0">
                        <a:effectLst/>
                        <a:latin typeface="Rockwell" panose="02060603020205020403"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800"/>
                        </a:spcAft>
                        <a:buNone/>
                      </a:pPr>
                      <a:r>
                        <a:rPr lang="fr-FR" sz="1800" kern="100" dirty="0">
                          <a:effectLst/>
                          <a:latin typeface="Rockwell" panose="02060603020205020403" pitchFamily="18" charset="0"/>
                          <a:ea typeface="Calibri" panose="020F0502020204030204" pitchFamily="34" charset="0"/>
                          <a:cs typeface="Times New Roman" panose="02020603050405020304" pitchFamily="18" charset="0"/>
                        </a:rPr>
                        <a:t>2 571 606,7</a:t>
                      </a:r>
                    </a:p>
                  </a:txBody>
                  <a:tcPr marL="68580" marR="68580" marT="0" marB="0"/>
                </a:tc>
                <a:extLst>
                  <a:ext uri="{0D108BD9-81ED-4DB2-BD59-A6C34878D82A}">
                    <a16:rowId xmlns:a16="http://schemas.microsoft.com/office/drawing/2014/main" val="3937298975"/>
                  </a:ext>
                </a:extLst>
              </a:tr>
            </a:tbl>
          </a:graphicData>
        </a:graphic>
      </p:graphicFrame>
    </p:spTree>
    <p:extLst>
      <p:ext uri="{BB962C8B-B14F-4D97-AF65-F5344CB8AC3E}">
        <p14:creationId xmlns:p14="http://schemas.microsoft.com/office/powerpoint/2010/main" val="101656205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69A32-0117-8B52-CC46-2631C74E1A00}"/>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8A3AD6DC-AE84-8F33-22DA-544E52A1F0C4}"/>
              </a:ext>
            </a:extLst>
          </p:cNvPr>
          <p:cNvSpPr/>
          <p:nvPr/>
        </p:nvSpPr>
        <p:spPr>
          <a:xfrm>
            <a:off x="0" y="-1"/>
            <a:ext cx="647700" cy="452649"/>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16</a:t>
            </a:r>
            <a:endParaRPr lang="en-US" dirty="0">
              <a:latin typeface="Rockwell" panose="02060603020205020403" pitchFamily="18" charset="0"/>
            </a:endParaRPr>
          </a:p>
        </p:txBody>
      </p:sp>
      <p:sp>
        <p:nvSpPr>
          <p:cNvPr id="6" name="TextBox 5">
            <a:extLst>
              <a:ext uri="{FF2B5EF4-FFF2-40B4-BE49-F238E27FC236}">
                <a16:creationId xmlns:a16="http://schemas.microsoft.com/office/drawing/2014/main" id="{67282A83-AA59-FF4C-DB0A-B521327BDFA1}"/>
              </a:ext>
            </a:extLst>
          </p:cNvPr>
          <p:cNvSpPr txBox="1"/>
          <p:nvPr/>
        </p:nvSpPr>
        <p:spPr>
          <a:xfrm>
            <a:off x="402771" y="1305849"/>
            <a:ext cx="11522529" cy="706091"/>
          </a:xfrm>
          <a:prstGeom prst="rect">
            <a:avLst/>
          </a:prstGeom>
          <a:solidFill>
            <a:schemeClr val="bg1"/>
          </a:solidFill>
          <a:ln>
            <a:solidFill>
              <a:schemeClr val="bg1"/>
            </a:solidFill>
          </a:ln>
        </p:spPr>
        <p:txBody>
          <a:bodyPr wrap="square">
            <a:spAutoFit/>
          </a:bodyPr>
          <a:lstStyle/>
          <a:p>
            <a:pPr algn="ctr">
              <a:lnSpc>
                <a:spcPct val="107000"/>
              </a:lnSpc>
              <a:spcAft>
                <a:spcPts val="800"/>
              </a:spcAft>
            </a:pPr>
            <a:r>
              <a:rPr lang="fr-FR" sz="4000" b="1" dirty="0">
                <a:solidFill>
                  <a:schemeClr val="accent2">
                    <a:lumMod val="75000"/>
                  </a:schemeClr>
                </a:solidFill>
                <a:latin typeface="Rockwell" panose="02060603020205020403" pitchFamily="18" charset="0"/>
                <a:ea typeface="Calibri" panose="020F0502020204030204" pitchFamily="34" charset="0"/>
                <a:cs typeface="Times New Roman" panose="02020603050405020304" pitchFamily="18" charset="0"/>
              </a:rPr>
              <a:t>Les contraintes du projet</a:t>
            </a:r>
            <a:endParaRPr lang="en-US" sz="4000" dirty="0">
              <a:solidFill>
                <a:schemeClr val="accent2">
                  <a:lumMod val="75000"/>
                </a:schemeClr>
              </a:solidFill>
              <a:effectLst/>
              <a:latin typeface="Rockwell" panose="02060603020205020403" pitchFamily="18" charset="0"/>
              <a:ea typeface="Calibri" panose="020F0502020204030204" pitchFamily="34" charset="0"/>
              <a:cs typeface="Times New Roman" panose="02020603050405020304" pitchFamily="18" charset="0"/>
            </a:endParaRPr>
          </a:p>
        </p:txBody>
      </p:sp>
      <p:grpSp>
        <p:nvGrpSpPr>
          <p:cNvPr id="11" name="Group 10">
            <a:extLst>
              <a:ext uri="{FF2B5EF4-FFF2-40B4-BE49-F238E27FC236}">
                <a16:creationId xmlns:a16="http://schemas.microsoft.com/office/drawing/2014/main" id="{D97EDBE1-667C-B2EE-F6E5-5F60190FA99C}"/>
              </a:ext>
            </a:extLst>
          </p:cNvPr>
          <p:cNvGrpSpPr/>
          <p:nvPr/>
        </p:nvGrpSpPr>
        <p:grpSpPr>
          <a:xfrm>
            <a:off x="402771" y="3012623"/>
            <a:ext cx="5429250" cy="3555797"/>
            <a:chOff x="402771" y="3012623"/>
            <a:chExt cx="5429250" cy="3555797"/>
          </a:xfrm>
        </p:grpSpPr>
        <p:pic>
          <p:nvPicPr>
            <p:cNvPr id="5" name="Picture 4">
              <a:extLst>
                <a:ext uri="{FF2B5EF4-FFF2-40B4-BE49-F238E27FC236}">
                  <a16:creationId xmlns:a16="http://schemas.microsoft.com/office/drawing/2014/main" id="{DEFB9B40-81AC-AC56-28D2-1E253C5010F6}"/>
                </a:ext>
              </a:extLst>
            </p:cNvPr>
            <p:cNvPicPr>
              <a:picLocks noChangeAspect="1"/>
            </p:cNvPicPr>
            <p:nvPr/>
          </p:nvPicPr>
          <p:blipFill>
            <a:blip r:embed="rId2">
              <a:extLst>
                <a:ext uri="{28A0092B-C50C-407E-A947-70E740481C1C}">
                  <a14:useLocalDpi xmlns:a14="http://schemas.microsoft.com/office/drawing/2010/main" val="0"/>
                </a:ext>
              </a:extLst>
            </a:blip>
            <a:srcRect t="26299" b="26299"/>
            <a:stretch/>
          </p:blipFill>
          <p:spPr>
            <a:xfrm>
              <a:off x="402771" y="3012623"/>
              <a:ext cx="5429250" cy="3392728"/>
            </a:xfrm>
            <a:prstGeom prst="rect">
              <a:avLst/>
            </a:prstGeom>
          </p:spPr>
        </p:pic>
        <p:sp>
          <p:nvSpPr>
            <p:cNvPr id="9" name="Rectangle 8">
              <a:extLst>
                <a:ext uri="{FF2B5EF4-FFF2-40B4-BE49-F238E27FC236}">
                  <a16:creationId xmlns:a16="http://schemas.microsoft.com/office/drawing/2014/main" id="{D3E8339C-7DCF-0858-D249-D0609E9E717A}"/>
                </a:ext>
              </a:extLst>
            </p:cNvPr>
            <p:cNvSpPr/>
            <p:nvPr/>
          </p:nvSpPr>
          <p:spPr>
            <a:xfrm>
              <a:off x="1381696" y="6226379"/>
              <a:ext cx="3552253" cy="3420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accent2">
                    <a:lumMod val="75000"/>
                  </a:schemeClr>
                </a:solidFill>
                <a:latin typeface="Rockwell" panose="02060603020205020403" pitchFamily="18" charset="0"/>
              </a:endParaRPr>
            </a:p>
          </p:txBody>
        </p:sp>
      </p:grpSp>
      <p:sp>
        <p:nvSpPr>
          <p:cNvPr id="14" name="Rectangle 13">
            <a:extLst>
              <a:ext uri="{FF2B5EF4-FFF2-40B4-BE49-F238E27FC236}">
                <a16:creationId xmlns:a16="http://schemas.microsoft.com/office/drawing/2014/main" id="{BC6F1225-5269-D14A-F8C5-3C697925FF8A}"/>
              </a:ext>
            </a:extLst>
          </p:cNvPr>
          <p:cNvSpPr/>
          <p:nvPr/>
        </p:nvSpPr>
        <p:spPr>
          <a:xfrm>
            <a:off x="2324672" y="118559"/>
            <a:ext cx="1151953" cy="2842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accent2">
                  <a:lumMod val="75000"/>
                </a:schemeClr>
              </a:solidFill>
              <a:latin typeface="Rockwell" panose="02060603020205020403" pitchFamily="18" charset="0"/>
            </a:endParaRPr>
          </a:p>
        </p:txBody>
      </p:sp>
      <p:sp>
        <p:nvSpPr>
          <p:cNvPr id="15" name="Oval 14">
            <a:extLst>
              <a:ext uri="{FF2B5EF4-FFF2-40B4-BE49-F238E27FC236}">
                <a16:creationId xmlns:a16="http://schemas.microsoft.com/office/drawing/2014/main" id="{8EF4EAB0-3755-706E-7540-8338E9AC6FBA}"/>
              </a:ext>
            </a:extLst>
          </p:cNvPr>
          <p:cNvSpPr/>
          <p:nvPr/>
        </p:nvSpPr>
        <p:spPr>
          <a:xfrm>
            <a:off x="11258551" y="6405351"/>
            <a:ext cx="869378" cy="402772"/>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16</a:t>
            </a:r>
            <a:endParaRPr lang="en-US" dirty="0">
              <a:latin typeface="Amasis MT Pro Medium" panose="02040604050005020304" pitchFamily="18" charset="0"/>
            </a:endParaRPr>
          </a:p>
        </p:txBody>
      </p:sp>
      <p:sp>
        <p:nvSpPr>
          <p:cNvPr id="4" name="Rectangle 3">
            <a:extLst>
              <a:ext uri="{FF2B5EF4-FFF2-40B4-BE49-F238E27FC236}">
                <a16:creationId xmlns:a16="http://schemas.microsoft.com/office/drawing/2014/main" id="{18D836E2-E4E9-2ECF-E25F-00CC27EAA2E0}"/>
              </a:ext>
            </a:extLst>
          </p:cNvPr>
          <p:cNvSpPr/>
          <p:nvPr/>
        </p:nvSpPr>
        <p:spPr>
          <a:xfrm>
            <a:off x="5447404" y="2562269"/>
            <a:ext cx="3097882" cy="32927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Ø"/>
            </a:pPr>
            <a:r>
              <a:rPr lang="fr-FR" sz="2400" b="1" dirty="0">
                <a:solidFill>
                  <a:schemeClr val="tx1"/>
                </a:solidFill>
                <a:latin typeface="Rockwell" panose="02060603020205020403" pitchFamily="18" charset="0"/>
              </a:rPr>
              <a:t>Cout: 2 287 805,4</a:t>
            </a:r>
          </a:p>
          <a:p>
            <a:pPr marL="285750" indent="-285750" algn="ctr">
              <a:buFont typeface="Wingdings" panose="05000000000000000000" pitchFamily="2" charset="2"/>
              <a:buChar char="Ø"/>
            </a:pPr>
            <a:endParaRPr lang="fr-FR" sz="2400" b="1" dirty="0">
              <a:solidFill>
                <a:schemeClr val="tx1"/>
              </a:solidFill>
              <a:latin typeface="Rockwell" panose="02060603020205020403" pitchFamily="18" charset="0"/>
            </a:endParaRPr>
          </a:p>
          <a:p>
            <a:pPr algn="ctr"/>
            <a:endParaRPr lang="fr-FR" sz="2400" b="1" dirty="0">
              <a:solidFill>
                <a:schemeClr val="tx1"/>
              </a:solidFill>
              <a:latin typeface="Rockwell" panose="02060603020205020403" pitchFamily="18" charset="0"/>
            </a:endParaRPr>
          </a:p>
          <a:p>
            <a:pPr marL="285750" indent="-285750" algn="ctr">
              <a:buFont typeface="Wingdings" panose="05000000000000000000" pitchFamily="2" charset="2"/>
              <a:buChar char="Ø"/>
            </a:pPr>
            <a:r>
              <a:rPr lang="fr-FR" sz="2400" b="1" dirty="0">
                <a:solidFill>
                  <a:schemeClr val="tx1"/>
                </a:solidFill>
                <a:latin typeface="Rockwell" panose="02060603020205020403" pitchFamily="18" charset="0"/>
              </a:rPr>
              <a:t>Délais: 3 mois</a:t>
            </a:r>
          </a:p>
          <a:p>
            <a:pPr marL="285750" indent="-285750" algn="ctr">
              <a:buFont typeface="Wingdings" panose="05000000000000000000" pitchFamily="2" charset="2"/>
              <a:buChar char="Ø"/>
            </a:pPr>
            <a:endParaRPr lang="fr-FR" sz="2400" b="1" dirty="0">
              <a:solidFill>
                <a:schemeClr val="tx1"/>
              </a:solidFill>
              <a:latin typeface="Rockwell" panose="02060603020205020403" pitchFamily="18" charset="0"/>
            </a:endParaRPr>
          </a:p>
          <a:p>
            <a:pPr algn="ctr"/>
            <a:endParaRPr lang="fr-FR" sz="2400" b="1" dirty="0">
              <a:solidFill>
                <a:schemeClr val="tx1"/>
              </a:solidFill>
              <a:latin typeface="Rockwell" panose="02060603020205020403" pitchFamily="18" charset="0"/>
            </a:endParaRPr>
          </a:p>
          <a:p>
            <a:pPr marL="285750" indent="-285750" algn="ctr">
              <a:buFont typeface="Wingdings" panose="05000000000000000000" pitchFamily="2" charset="2"/>
              <a:buChar char="Ø"/>
            </a:pPr>
            <a:r>
              <a:rPr lang="fr-FR" sz="2400" b="1" dirty="0">
                <a:solidFill>
                  <a:schemeClr val="tx1"/>
                </a:solidFill>
                <a:latin typeface="Rockwell" panose="02060603020205020403" pitchFamily="18" charset="0"/>
              </a:rPr>
              <a:t>Qualité </a:t>
            </a:r>
          </a:p>
          <a:p>
            <a:pPr marL="285750" indent="-285750" algn="ctr">
              <a:buFont typeface="Wingdings" panose="05000000000000000000" pitchFamily="2" charset="2"/>
              <a:buChar char="Ø"/>
            </a:pPr>
            <a:endParaRPr lang="fr-FR" dirty="0">
              <a:solidFill>
                <a:schemeClr val="accent2">
                  <a:lumMod val="75000"/>
                </a:schemeClr>
              </a:solidFill>
              <a:latin typeface="Rockwell" panose="02060603020205020403" pitchFamily="18" charset="0"/>
            </a:endParaRPr>
          </a:p>
          <a:p>
            <a:pPr algn="ctr"/>
            <a:endParaRPr lang="en-US" dirty="0">
              <a:solidFill>
                <a:schemeClr val="accent2">
                  <a:lumMod val="75000"/>
                </a:schemeClr>
              </a:solidFill>
              <a:latin typeface="Rockwell" panose="02060603020205020403" pitchFamily="18" charset="0"/>
            </a:endParaRPr>
          </a:p>
        </p:txBody>
      </p:sp>
      <p:sp>
        <p:nvSpPr>
          <p:cNvPr id="7" name="Rectangle: Rounded Corners 3">
            <a:extLst>
              <a:ext uri="{FF2B5EF4-FFF2-40B4-BE49-F238E27FC236}">
                <a16:creationId xmlns:a16="http://schemas.microsoft.com/office/drawing/2014/main" id="{0490066E-2FC8-84DB-4D4E-42F9059527FE}"/>
              </a:ext>
            </a:extLst>
          </p:cNvPr>
          <p:cNvSpPr/>
          <p:nvPr/>
        </p:nvSpPr>
        <p:spPr>
          <a:xfrm>
            <a:off x="5802086" y="-1"/>
            <a:ext cx="6389914" cy="600713"/>
          </a:xfrm>
          <a:prstGeom prst="roundRect">
            <a:avLst>
              <a:gd name="adj" fmla="val 32456"/>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FFFFFF"/>
                </a:solidFill>
                <a:latin typeface="Rockwell" panose="02060603020205020403" pitchFamily="18" charset="0"/>
                <a:ea typeface="Calibri" panose="020F0502020204030204" pitchFamily="34" charset="0"/>
                <a:cs typeface="Times New Roman" panose="02020603050405020304" pitchFamily="18" charset="0"/>
              </a:rPr>
              <a:t>CONCEPTION ET MISE EN ŒUVRE DE DISKMONITOR</a:t>
            </a:r>
            <a:endParaRPr lang="en-US" dirty="0">
              <a:latin typeface="Rockwell" panose="02060603020205020403" pitchFamily="18" charset="0"/>
            </a:endParaRPr>
          </a:p>
        </p:txBody>
      </p:sp>
    </p:spTree>
    <p:extLst>
      <p:ext uri="{BB962C8B-B14F-4D97-AF65-F5344CB8AC3E}">
        <p14:creationId xmlns:p14="http://schemas.microsoft.com/office/powerpoint/2010/main" val="345786408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4585E6CF-2F87-49D2-B370-F3C0D5FC127E}"/>
              </a:ext>
            </a:extLst>
          </p:cNvPr>
          <p:cNvSpPr/>
          <p:nvPr/>
        </p:nvSpPr>
        <p:spPr>
          <a:xfrm>
            <a:off x="0" y="0"/>
            <a:ext cx="838200" cy="600712"/>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Rockwell" panose="02060603020205020403" pitchFamily="18" charset="0"/>
              </a:rPr>
              <a:t>17</a:t>
            </a:r>
          </a:p>
        </p:txBody>
      </p:sp>
      <p:sp>
        <p:nvSpPr>
          <p:cNvPr id="10" name="Rectangle: Rounded Corners 9">
            <a:extLst>
              <a:ext uri="{FF2B5EF4-FFF2-40B4-BE49-F238E27FC236}">
                <a16:creationId xmlns:a16="http://schemas.microsoft.com/office/drawing/2014/main" id="{B020B9A3-3EEC-48A7-B570-17FC1619A475}"/>
              </a:ext>
            </a:extLst>
          </p:cNvPr>
          <p:cNvSpPr/>
          <p:nvPr/>
        </p:nvSpPr>
        <p:spPr>
          <a:xfrm>
            <a:off x="1185967" y="3817841"/>
            <a:ext cx="4223658" cy="593928"/>
          </a:xfrm>
          <a:prstGeom prst="roundRect">
            <a:avLst>
              <a:gd name="adj" fmla="val 3245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dirty="0">
                <a:solidFill>
                  <a:schemeClr val="tx1"/>
                </a:solidFill>
                <a:latin typeface="Rockwell" panose="02060603020205020403" pitchFamily="18" charset="0"/>
              </a:rPr>
              <a:t>Livrables</a:t>
            </a:r>
            <a:endParaRPr lang="en-US" sz="4000" dirty="0">
              <a:solidFill>
                <a:schemeClr val="tx1"/>
              </a:solidFill>
              <a:latin typeface="Rockwell" panose="02060603020205020403" pitchFamily="18" charset="0"/>
            </a:endParaRPr>
          </a:p>
        </p:txBody>
      </p:sp>
      <p:sp>
        <p:nvSpPr>
          <p:cNvPr id="14" name="Oval 13">
            <a:extLst>
              <a:ext uri="{FF2B5EF4-FFF2-40B4-BE49-F238E27FC236}">
                <a16:creationId xmlns:a16="http://schemas.microsoft.com/office/drawing/2014/main" id="{313DB825-6F3C-4760-A6F5-5A00DDD96141}"/>
              </a:ext>
            </a:extLst>
          </p:cNvPr>
          <p:cNvSpPr/>
          <p:nvPr/>
        </p:nvSpPr>
        <p:spPr>
          <a:xfrm>
            <a:off x="11144251" y="6207410"/>
            <a:ext cx="983678" cy="600713"/>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17</a:t>
            </a:r>
            <a:endParaRPr lang="en-US" dirty="0">
              <a:latin typeface="Amasis MT Pro Medium" panose="02040604050005020304" pitchFamily="18" charset="0"/>
            </a:endParaRPr>
          </a:p>
        </p:txBody>
      </p:sp>
      <p:grpSp>
        <p:nvGrpSpPr>
          <p:cNvPr id="38" name="Group 37">
            <a:extLst>
              <a:ext uri="{FF2B5EF4-FFF2-40B4-BE49-F238E27FC236}">
                <a16:creationId xmlns:a16="http://schemas.microsoft.com/office/drawing/2014/main" id="{07C8435B-8635-41DC-9374-19B0CB7171D4}"/>
              </a:ext>
            </a:extLst>
          </p:cNvPr>
          <p:cNvGrpSpPr/>
          <p:nvPr/>
        </p:nvGrpSpPr>
        <p:grpSpPr>
          <a:xfrm>
            <a:off x="5665998" y="1410448"/>
            <a:ext cx="2871448" cy="4664411"/>
            <a:chOff x="5059042" y="1439758"/>
            <a:chExt cx="2871448" cy="4664411"/>
          </a:xfrm>
        </p:grpSpPr>
        <p:grpSp>
          <p:nvGrpSpPr>
            <p:cNvPr id="15" name="Group 14">
              <a:extLst>
                <a:ext uri="{FF2B5EF4-FFF2-40B4-BE49-F238E27FC236}">
                  <a16:creationId xmlns:a16="http://schemas.microsoft.com/office/drawing/2014/main" id="{713E03D4-CF3B-4E0C-98B2-E39104DFFABE}"/>
                </a:ext>
              </a:extLst>
            </p:cNvPr>
            <p:cNvGrpSpPr/>
            <p:nvPr/>
          </p:nvGrpSpPr>
          <p:grpSpPr>
            <a:xfrm>
              <a:off x="5059042" y="1439758"/>
              <a:ext cx="2871448" cy="4664411"/>
              <a:chOff x="73384" y="1672337"/>
              <a:chExt cx="2871448" cy="4664411"/>
            </a:xfrm>
          </p:grpSpPr>
          <p:cxnSp>
            <p:nvCxnSpPr>
              <p:cNvPr id="16" name="Straight Connector 15">
                <a:extLst>
                  <a:ext uri="{FF2B5EF4-FFF2-40B4-BE49-F238E27FC236}">
                    <a16:creationId xmlns:a16="http://schemas.microsoft.com/office/drawing/2014/main" id="{663740B3-774E-432E-BDF4-66F353CB2DDD}"/>
                  </a:ext>
                </a:extLst>
              </p:cNvPr>
              <p:cNvCxnSpPr>
                <a:cxnSpLocks/>
              </p:cNvCxnSpPr>
              <p:nvPr/>
            </p:nvCxnSpPr>
            <p:spPr>
              <a:xfrm flipH="1">
                <a:off x="1486203" y="1672337"/>
                <a:ext cx="30541" cy="4664411"/>
              </a:xfrm>
              <a:prstGeom prst="line">
                <a:avLst/>
              </a:prstGeom>
              <a:ln w="149225">
                <a:solidFill>
                  <a:schemeClr val="accent6">
                    <a:lumMod val="75000"/>
                  </a:schemeClr>
                </a:solidFill>
              </a:ln>
              <a:scene3d>
                <a:camera prst="orthographicFront"/>
                <a:lightRig rig="threePt" dir="t"/>
              </a:scene3d>
              <a:sp3d>
                <a:bevelT w="139700" h="139700" prst="divot"/>
              </a:sp3d>
            </p:spPr>
            <p:style>
              <a:lnRef idx="3">
                <a:schemeClr val="accent1"/>
              </a:lnRef>
              <a:fillRef idx="0">
                <a:schemeClr val="accent1"/>
              </a:fillRef>
              <a:effectRef idx="2">
                <a:schemeClr val="accent1"/>
              </a:effectRef>
              <a:fontRef idx="minor">
                <a:schemeClr val="tx1"/>
              </a:fontRef>
            </p:style>
          </p:cxnSp>
          <p:sp>
            <p:nvSpPr>
              <p:cNvPr id="18" name="Rectangle: Rounded Corners 17">
                <a:extLst>
                  <a:ext uri="{FF2B5EF4-FFF2-40B4-BE49-F238E27FC236}">
                    <a16:creationId xmlns:a16="http://schemas.microsoft.com/office/drawing/2014/main" id="{5C23A7A2-C68E-4017-A787-013BF77E07A3}"/>
                  </a:ext>
                </a:extLst>
              </p:cNvPr>
              <p:cNvSpPr/>
              <p:nvPr/>
            </p:nvSpPr>
            <p:spPr>
              <a:xfrm>
                <a:off x="73384" y="2358982"/>
                <a:ext cx="2856178" cy="500742"/>
              </a:xfrm>
              <a:prstGeom prst="roundRect">
                <a:avLst>
                  <a:gd name="adj" fmla="val 33231"/>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Prototype de l’APK gravé sur CD</a:t>
                </a:r>
                <a:endParaRPr lang="en-US" dirty="0">
                  <a:latin typeface="Rockwell" panose="02060603020205020403" pitchFamily="18" charset="0"/>
                </a:endParaRPr>
              </a:p>
            </p:txBody>
          </p:sp>
          <p:sp>
            <p:nvSpPr>
              <p:cNvPr id="19" name="Rectangle: Rounded Corners 18">
                <a:extLst>
                  <a:ext uri="{FF2B5EF4-FFF2-40B4-BE49-F238E27FC236}">
                    <a16:creationId xmlns:a16="http://schemas.microsoft.com/office/drawing/2014/main" id="{36D19208-8621-4AF6-AD5C-F3F0E1551CEF}"/>
                  </a:ext>
                </a:extLst>
              </p:cNvPr>
              <p:cNvSpPr/>
              <p:nvPr/>
            </p:nvSpPr>
            <p:spPr>
              <a:xfrm>
                <a:off x="88655" y="3070408"/>
                <a:ext cx="2856177" cy="513064"/>
              </a:xfrm>
              <a:prstGeom prst="roundRect">
                <a:avLst>
                  <a:gd name="adj" fmla="val 33231"/>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Rapport bien structuré et rédigé</a:t>
                </a:r>
                <a:endParaRPr lang="en-US" dirty="0">
                  <a:latin typeface="Rockwell" panose="02060603020205020403" pitchFamily="18" charset="0"/>
                </a:endParaRPr>
              </a:p>
            </p:txBody>
          </p:sp>
        </p:grpSp>
        <p:sp>
          <p:nvSpPr>
            <p:cNvPr id="20" name="Rectangle: Rounded Corners 19">
              <a:extLst>
                <a:ext uri="{FF2B5EF4-FFF2-40B4-BE49-F238E27FC236}">
                  <a16:creationId xmlns:a16="http://schemas.microsoft.com/office/drawing/2014/main" id="{FDA5798E-7E2E-40DC-BB2D-F452532EF2BE}"/>
                </a:ext>
              </a:extLst>
            </p:cNvPr>
            <p:cNvSpPr/>
            <p:nvPr/>
          </p:nvSpPr>
          <p:spPr>
            <a:xfrm>
              <a:off x="5059042" y="3571045"/>
              <a:ext cx="2856178" cy="500742"/>
            </a:xfrm>
            <a:prstGeom prst="roundRect">
              <a:avLst>
                <a:gd name="adj" fmla="val 33231"/>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Cahier de maintenance</a:t>
              </a:r>
              <a:endParaRPr lang="en-US" dirty="0">
                <a:latin typeface="Rockwell" panose="02060603020205020403" pitchFamily="18" charset="0"/>
              </a:endParaRPr>
            </a:p>
          </p:txBody>
        </p:sp>
      </p:grpSp>
      <p:sp>
        <p:nvSpPr>
          <p:cNvPr id="2" name="Rectangle: Rounded Corners 3">
            <a:extLst>
              <a:ext uri="{FF2B5EF4-FFF2-40B4-BE49-F238E27FC236}">
                <a16:creationId xmlns:a16="http://schemas.microsoft.com/office/drawing/2014/main" id="{27C2628A-9303-CC3D-06D4-C3C8547EA1A9}"/>
              </a:ext>
            </a:extLst>
          </p:cNvPr>
          <p:cNvSpPr/>
          <p:nvPr/>
        </p:nvSpPr>
        <p:spPr>
          <a:xfrm>
            <a:off x="5802086" y="-1"/>
            <a:ext cx="6389914" cy="600713"/>
          </a:xfrm>
          <a:prstGeom prst="roundRect">
            <a:avLst>
              <a:gd name="adj" fmla="val 32456"/>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FFFFFF"/>
                </a:solidFill>
                <a:latin typeface="Rockwell" panose="02060603020205020403" pitchFamily="18" charset="0"/>
                <a:ea typeface="Calibri" panose="020F0502020204030204" pitchFamily="34" charset="0"/>
                <a:cs typeface="Times New Roman" panose="02020603050405020304" pitchFamily="18" charset="0"/>
              </a:rPr>
              <a:t>LIVRABLES</a:t>
            </a:r>
            <a:endParaRPr lang="en-US" dirty="0">
              <a:latin typeface="Rockwell" panose="02060603020205020403" pitchFamily="18" charset="0"/>
            </a:endParaRPr>
          </a:p>
        </p:txBody>
      </p:sp>
      <p:sp>
        <p:nvSpPr>
          <p:cNvPr id="6" name="Rectangle: Rounded Corners 19">
            <a:extLst>
              <a:ext uri="{FF2B5EF4-FFF2-40B4-BE49-F238E27FC236}">
                <a16:creationId xmlns:a16="http://schemas.microsoft.com/office/drawing/2014/main" id="{3485076C-A3D0-70FB-0E76-06601CBA0B1F}"/>
              </a:ext>
            </a:extLst>
          </p:cNvPr>
          <p:cNvSpPr/>
          <p:nvPr/>
        </p:nvSpPr>
        <p:spPr>
          <a:xfrm>
            <a:off x="5650728" y="4262629"/>
            <a:ext cx="2856178" cy="500742"/>
          </a:xfrm>
          <a:prstGeom prst="roundRect">
            <a:avLst>
              <a:gd name="adj" fmla="val 33231"/>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Code source de l’application</a:t>
            </a:r>
            <a:endParaRPr lang="en-US" dirty="0">
              <a:latin typeface="Rockwell" panose="02060603020205020403" pitchFamily="18" charset="0"/>
            </a:endParaRPr>
          </a:p>
        </p:txBody>
      </p:sp>
    </p:spTree>
    <p:extLst>
      <p:ext uri="{BB962C8B-B14F-4D97-AF65-F5344CB8AC3E}">
        <p14:creationId xmlns:p14="http://schemas.microsoft.com/office/powerpoint/2010/main" val="381678372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94DD2306-8E85-4271-8ABF-8B51CC95A68B}"/>
              </a:ext>
            </a:extLst>
          </p:cNvPr>
          <p:cNvSpPr/>
          <p:nvPr/>
        </p:nvSpPr>
        <p:spPr>
          <a:xfrm>
            <a:off x="0" y="0"/>
            <a:ext cx="723900" cy="43815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18</a:t>
            </a:r>
            <a:endParaRPr lang="en-US" dirty="0">
              <a:latin typeface="Rockwell" panose="02060603020205020403" pitchFamily="18" charset="0"/>
            </a:endParaRPr>
          </a:p>
        </p:txBody>
      </p:sp>
      <p:sp>
        <p:nvSpPr>
          <p:cNvPr id="4" name="Oval 3">
            <a:extLst>
              <a:ext uri="{FF2B5EF4-FFF2-40B4-BE49-F238E27FC236}">
                <a16:creationId xmlns:a16="http://schemas.microsoft.com/office/drawing/2014/main" id="{741C2143-5FD3-445D-AC94-3A81ABE69037}"/>
              </a:ext>
            </a:extLst>
          </p:cNvPr>
          <p:cNvSpPr/>
          <p:nvPr/>
        </p:nvSpPr>
        <p:spPr>
          <a:xfrm>
            <a:off x="11649075" y="6405351"/>
            <a:ext cx="478853" cy="402772"/>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8</a:t>
            </a:r>
            <a:endParaRPr lang="en-US" dirty="0">
              <a:latin typeface="Amasis MT Pro Medium" panose="02040604050005020304" pitchFamily="18" charset="0"/>
            </a:endParaRPr>
          </a:p>
        </p:txBody>
      </p:sp>
      <p:sp>
        <p:nvSpPr>
          <p:cNvPr id="24" name="Rectangle 23">
            <a:extLst>
              <a:ext uri="{FF2B5EF4-FFF2-40B4-BE49-F238E27FC236}">
                <a16:creationId xmlns:a16="http://schemas.microsoft.com/office/drawing/2014/main" id="{90B4F671-8273-4248-BFC5-AFD1D8AC5A22}"/>
              </a:ext>
            </a:extLst>
          </p:cNvPr>
          <p:cNvSpPr/>
          <p:nvPr/>
        </p:nvSpPr>
        <p:spPr>
          <a:xfrm>
            <a:off x="1924050" y="1371600"/>
            <a:ext cx="9010650" cy="426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lang="fr-FR" sz="2000" dirty="0">
                <a:solidFill>
                  <a:schemeClr val="tx1"/>
                </a:solidFill>
                <a:latin typeface="Rockwell" panose="02060603020205020403" pitchFamily="18" charset="0"/>
              </a:rPr>
              <a:t>	L’analyse régulière des performances des disques est essentielle pour garantir la stabilité et la réactivité d’un système Linux. En suivant des bonnes pratiques telles que la planification des analyses, la surveillance des processus et la vérification de la santé des disques, vous pouvez prévenir les problèmes, optimiser les ressources et prolonger la durée de vie de vos disques. Une gestion proactive des performances permet d’assurer un fonctionnement fluide et sécurisé du système</a:t>
            </a:r>
            <a:endParaRPr lang="en-US" sz="2000" dirty="0">
              <a:solidFill>
                <a:schemeClr val="tx1"/>
              </a:solidFill>
              <a:latin typeface="Rockwell" panose="02060603020205020403" pitchFamily="18" charset="0"/>
            </a:endParaRPr>
          </a:p>
        </p:txBody>
      </p:sp>
      <p:sp>
        <p:nvSpPr>
          <p:cNvPr id="42" name="Oval 41">
            <a:extLst>
              <a:ext uri="{FF2B5EF4-FFF2-40B4-BE49-F238E27FC236}">
                <a16:creationId xmlns:a16="http://schemas.microsoft.com/office/drawing/2014/main" id="{B9542142-65D0-4866-A85F-E1E389BD522A}"/>
              </a:ext>
            </a:extLst>
          </p:cNvPr>
          <p:cNvSpPr/>
          <p:nvPr/>
        </p:nvSpPr>
        <p:spPr>
          <a:xfrm>
            <a:off x="11410951" y="6405351"/>
            <a:ext cx="743872" cy="410848"/>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18</a:t>
            </a:r>
            <a:endParaRPr lang="en-US" dirty="0">
              <a:latin typeface="Amasis MT Pro Medium" panose="02040604050005020304" pitchFamily="18" charset="0"/>
            </a:endParaRPr>
          </a:p>
        </p:txBody>
      </p:sp>
      <p:sp>
        <p:nvSpPr>
          <p:cNvPr id="2" name="Rectangle: Rounded Corners 3">
            <a:extLst>
              <a:ext uri="{FF2B5EF4-FFF2-40B4-BE49-F238E27FC236}">
                <a16:creationId xmlns:a16="http://schemas.microsoft.com/office/drawing/2014/main" id="{A6E1851F-8B28-190F-1D46-F2840B2B5869}"/>
              </a:ext>
            </a:extLst>
          </p:cNvPr>
          <p:cNvSpPr/>
          <p:nvPr/>
        </p:nvSpPr>
        <p:spPr>
          <a:xfrm>
            <a:off x="5802086" y="-1"/>
            <a:ext cx="6389914" cy="600713"/>
          </a:xfrm>
          <a:prstGeom prst="roundRect">
            <a:avLst>
              <a:gd name="adj" fmla="val 32456"/>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FFFFFF"/>
                </a:solidFill>
                <a:latin typeface="Rockwell" panose="02060603020205020403" pitchFamily="18" charset="0"/>
                <a:ea typeface="Calibri" panose="020F0502020204030204" pitchFamily="34" charset="0"/>
                <a:cs typeface="Times New Roman" panose="02020603050405020304" pitchFamily="18" charset="0"/>
              </a:rPr>
              <a:t>CONCLUSION</a:t>
            </a:r>
            <a:endParaRPr lang="en-US" dirty="0">
              <a:latin typeface="Rockwell" panose="02060603020205020403" pitchFamily="18" charset="0"/>
            </a:endParaRPr>
          </a:p>
        </p:txBody>
      </p:sp>
    </p:spTree>
    <p:extLst>
      <p:ext uri="{BB962C8B-B14F-4D97-AF65-F5344CB8AC3E}">
        <p14:creationId xmlns:p14="http://schemas.microsoft.com/office/powerpoint/2010/main" val="76881763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1000" fill="hold"/>
                                        <p:tgtEl>
                                          <p:spTgt spid="24"/>
                                        </p:tgtEl>
                                        <p:attrNameLst>
                                          <p:attrName>ppt_w</p:attrName>
                                        </p:attrNameLst>
                                      </p:cBhvr>
                                      <p:tavLst>
                                        <p:tav tm="0">
                                          <p:val>
                                            <p:fltVal val="0"/>
                                          </p:val>
                                        </p:tav>
                                        <p:tav tm="100000">
                                          <p:val>
                                            <p:strVal val="#ppt_w"/>
                                          </p:val>
                                        </p:tav>
                                      </p:tavLst>
                                    </p:anim>
                                    <p:anim calcmode="lin" valueType="num">
                                      <p:cBhvr>
                                        <p:cTn id="8" dur="1000" fill="hold"/>
                                        <p:tgtEl>
                                          <p:spTgt spid="24"/>
                                        </p:tgtEl>
                                        <p:attrNameLst>
                                          <p:attrName>ppt_h</p:attrName>
                                        </p:attrNameLst>
                                      </p:cBhvr>
                                      <p:tavLst>
                                        <p:tav tm="0">
                                          <p:val>
                                            <p:fltVal val="0"/>
                                          </p:val>
                                        </p:tav>
                                        <p:tav tm="100000">
                                          <p:val>
                                            <p:strVal val="#ppt_h"/>
                                          </p:val>
                                        </p:tav>
                                      </p:tavLst>
                                    </p:anim>
                                    <p:anim calcmode="lin" valueType="num">
                                      <p:cBhvr>
                                        <p:cTn id="9" dur="1000" fill="hold"/>
                                        <p:tgtEl>
                                          <p:spTgt spid="24"/>
                                        </p:tgtEl>
                                        <p:attrNameLst>
                                          <p:attrName>style.rotation</p:attrName>
                                        </p:attrNameLst>
                                      </p:cBhvr>
                                      <p:tavLst>
                                        <p:tav tm="0">
                                          <p:val>
                                            <p:fltVal val="90"/>
                                          </p:val>
                                        </p:tav>
                                        <p:tav tm="100000">
                                          <p:val>
                                            <p:fltVal val="0"/>
                                          </p:val>
                                        </p:tav>
                                      </p:tavLst>
                                    </p:anim>
                                    <p:animEffect transition="in" filter="fade">
                                      <p:cBhvr>
                                        <p:cTn id="10"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19D6048-91F5-4CA9-B0FB-4CC24ED94BF4}"/>
              </a:ext>
            </a:extLst>
          </p:cNvPr>
          <p:cNvSpPr/>
          <p:nvPr/>
        </p:nvSpPr>
        <p:spPr>
          <a:xfrm>
            <a:off x="0" y="0"/>
            <a:ext cx="5328138" cy="6858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7" name="Oval 6">
            <a:extLst>
              <a:ext uri="{FF2B5EF4-FFF2-40B4-BE49-F238E27FC236}">
                <a16:creationId xmlns:a16="http://schemas.microsoft.com/office/drawing/2014/main" id="{7F7CE487-4024-453B-9B0A-65C30A0CCC35}"/>
              </a:ext>
            </a:extLst>
          </p:cNvPr>
          <p:cNvSpPr/>
          <p:nvPr/>
        </p:nvSpPr>
        <p:spPr>
          <a:xfrm>
            <a:off x="6308691" y="647700"/>
            <a:ext cx="5153966" cy="5562600"/>
          </a:xfrm>
          <a:prstGeom prst="ellipse">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fr-FR" sz="4400" dirty="0">
                <a:solidFill>
                  <a:schemeClr val="accent2">
                    <a:lumMod val="75000"/>
                  </a:schemeClr>
                </a:solidFill>
                <a:latin typeface="Rockwell" panose="02060603020205020403" pitchFamily="18" charset="0"/>
              </a:rPr>
              <a:t>MERCI POUR VOTRE ATTENTION</a:t>
            </a:r>
            <a:endParaRPr lang="en-US" sz="4400" dirty="0">
              <a:solidFill>
                <a:schemeClr val="accent2">
                  <a:lumMod val="75000"/>
                </a:schemeClr>
              </a:solidFill>
              <a:latin typeface="Rockwell" panose="02060603020205020403" pitchFamily="18" charset="0"/>
            </a:endParaRPr>
          </a:p>
        </p:txBody>
      </p:sp>
      <p:sp>
        <p:nvSpPr>
          <p:cNvPr id="8" name="Rectangle 7">
            <a:extLst>
              <a:ext uri="{FF2B5EF4-FFF2-40B4-BE49-F238E27FC236}">
                <a16:creationId xmlns:a16="http://schemas.microsoft.com/office/drawing/2014/main" id="{B288D1ED-4D15-4B60-B181-089874231C3D}"/>
              </a:ext>
            </a:extLst>
          </p:cNvPr>
          <p:cNvSpPr/>
          <p:nvPr/>
        </p:nvSpPr>
        <p:spPr>
          <a:xfrm>
            <a:off x="5869459" y="6433457"/>
            <a:ext cx="6322542" cy="4245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solidFill>
                  <a:schemeClr val="tx1"/>
                </a:solidFill>
                <a:latin typeface="Rockwell" panose="02060603020205020403" pitchFamily="18" charset="0"/>
              </a:rPr>
              <a:t>présenté par EKOSSO &amp; FOGOU.</a:t>
            </a:r>
            <a:endParaRPr lang="en-US" sz="2400" dirty="0">
              <a:solidFill>
                <a:schemeClr val="tx1"/>
              </a:solidFill>
              <a:latin typeface="Rockwell" panose="02060603020205020403" pitchFamily="18" charset="0"/>
            </a:endParaRPr>
          </a:p>
        </p:txBody>
      </p:sp>
    </p:spTree>
    <p:extLst>
      <p:ext uri="{BB962C8B-B14F-4D97-AF65-F5344CB8AC3E}">
        <p14:creationId xmlns:p14="http://schemas.microsoft.com/office/powerpoint/2010/main" val="3760948058"/>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mph" presetSubtype="0" repeatCount="indefinite" fill="hold" nodeType="afterEffect">
                                  <p:stCondLst>
                                    <p:cond delay="0"/>
                                  </p:stCondLst>
                                  <p:endCondLst>
                                    <p:cond evt="onNext" delay="0">
                                      <p:tgtEl>
                                        <p:sldTgt/>
                                      </p:tgtEl>
                                    </p:cond>
                                  </p:endCondLst>
                                  <p:iterate type="lt">
                                    <p:tmPct val="0"/>
                                  </p:iterate>
                                  <p:childTnLst>
                                    <p:animClr clrSpc="rgb" dir="cw">
                                      <p:cBhvr override="childStyle">
                                        <p:cTn id="6" dur="500" fill="hold"/>
                                        <p:tgtEl>
                                          <p:spTgt spid="7">
                                            <p:txEl>
                                              <p:pRg st="0" end="0"/>
                                            </p:txEl>
                                          </p:spTgt>
                                        </p:tgtEl>
                                        <p:attrNameLst>
                                          <p:attrName>style.color</p:attrName>
                                        </p:attrNameLst>
                                      </p:cBhvr>
                                      <p:to>
                                        <a:schemeClr val="accent2"/>
                                      </p:to>
                                    </p:animClr>
                                    <p:animClr clrSpc="rgb" dir="cw">
                                      <p:cBhvr>
                                        <p:cTn id="7" dur="500" fill="hold"/>
                                        <p:tgtEl>
                                          <p:spTgt spid="7">
                                            <p:txEl>
                                              <p:pRg st="0" end="0"/>
                                            </p:txEl>
                                          </p:spTgt>
                                        </p:tgtEl>
                                        <p:attrNameLst>
                                          <p:attrName>fillcolor</p:attrName>
                                        </p:attrNameLst>
                                      </p:cBhvr>
                                      <p:to>
                                        <a:schemeClr val="accent2"/>
                                      </p:to>
                                    </p:animClr>
                                    <p:set>
                                      <p:cBhvr>
                                        <p:cTn id="8" dur="500" fill="hold"/>
                                        <p:tgtEl>
                                          <p:spTgt spid="7">
                                            <p:txEl>
                                              <p:pRg st="0" end="0"/>
                                            </p:txEl>
                                          </p:spTgt>
                                        </p:tgtEl>
                                        <p:attrNameLst>
                                          <p:attrName>fill.type</p:attrName>
                                        </p:attrNameLst>
                                      </p:cBhvr>
                                      <p:to>
                                        <p:strVal val="solid"/>
                                      </p:to>
                                    </p:set>
                                    <p:set>
                                      <p:cBhvr>
                                        <p:cTn id="9" dur="500" fill="hold"/>
                                        <p:tgtEl>
                                          <p:spTgt spid="7">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3736</TotalTime>
  <Words>1094</Words>
  <Application>Microsoft Office PowerPoint</Application>
  <PresentationFormat>Grand écran</PresentationFormat>
  <Paragraphs>231</Paragraphs>
  <Slides>20</Slides>
  <Notes>5</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20</vt:i4>
      </vt:variant>
    </vt:vector>
  </HeadingPairs>
  <TitlesOfParts>
    <vt:vector size="28" baseType="lpstr">
      <vt:lpstr>Amasis MT Pro Medium</vt:lpstr>
      <vt:lpstr>Arial</vt:lpstr>
      <vt:lpstr>Calibri</vt:lpstr>
      <vt:lpstr>Calibri Light</vt:lpstr>
      <vt:lpstr>Rockwell</vt:lpstr>
      <vt:lpstr>Times New Roman</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sylvain ekosso</cp:lastModifiedBy>
  <cp:revision>188</cp:revision>
  <dcterms:created xsi:type="dcterms:W3CDTF">2021-09-26T17:03:00Z</dcterms:created>
  <dcterms:modified xsi:type="dcterms:W3CDTF">2026-01-05T12:52:42Z</dcterms:modified>
</cp:coreProperties>
</file>