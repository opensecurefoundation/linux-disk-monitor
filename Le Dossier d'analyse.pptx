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79" r:id="rId2"/>
    <p:sldId id="280" r:id="rId3"/>
    <p:sldId id="281" r:id="rId4"/>
    <p:sldId id="305" r:id="rId5"/>
    <p:sldId id="259" r:id="rId6"/>
    <p:sldId id="268" r:id="rId7"/>
    <p:sldId id="262" r:id="rId8"/>
    <p:sldId id="283" r:id="rId9"/>
    <p:sldId id="284" r:id="rId10"/>
    <p:sldId id="267" r:id="rId11"/>
    <p:sldId id="285" r:id="rId12"/>
    <p:sldId id="306" r:id="rId13"/>
    <p:sldId id="282" r:id="rId14"/>
    <p:sldId id="286" r:id="rId15"/>
    <p:sldId id="273" r:id="rId16"/>
    <p:sldId id="288" r:id="rId17"/>
    <p:sldId id="290" r:id="rId18"/>
    <p:sldId id="289" r:id="rId19"/>
    <p:sldId id="291" r:id="rId20"/>
    <p:sldId id="292" r:id="rId21"/>
    <p:sldId id="293" r:id="rId22"/>
    <p:sldId id="294" r:id="rId23"/>
    <p:sldId id="270" r:id="rId24"/>
    <p:sldId id="263" r:id="rId25"/>
    <p:sldId id="274" r:id="rId26"/>
    <p:sldId id="27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3" d="100"/>
          <a:sy n="53" d="100"/>
        </p:scale>
        <p:origin x="426" y="3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4F76A-13AE-446D-ADA9-35A317D0A816}" type="datetimeFigureOut">
              <a:rPr lang="fr-FR" smtClean="0"/>
              <a:t>24/01/2026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0F66D-0E8E-412F-9E40-1FC819F6B49E}" type="slidenum">
              <a:rPr lang="fr-FR" smtClean="0"/>
              <a:t>‹N°›</a:t>
            </a:fld>
            <a:endParaRPr lang="fr-FR"/>
          </a:p>
        </p:txBody>
      </p:sp>
    </p:spTree>
    <p:extLst>
      <p:ext uri="{BB962C8B-B14F-4D97-AF65-F5344CB8AC3E}">
        <p14:creationId xmlns:p14="http://schemas.microsoft.com/office/powerpoint/2010/main" val="1552210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Pour bien mener</a:t>
            </a:r>
            <a:r>
              <a:rPr lang="fr-FR" baseline="0" dirty="0"/>
              <a:t> à notre travail nous avons élaborer notre plan de travail comme suite</a:t>
            </a:r>
            <a:endParaRPr lang="fr-FR" dirty="0"/>
          </a:p>
        </p:txBody>
      </p:sp>
      <p:sp>
        <p:nvSpPr>
          <p:cNvPr id="4" name="Espace réservé du numéro de diapositive 3"/>
          <p:cNvSpPr>
            <a:spLocks noGrp="1"/>
          </p:cNvSpPr>
          <p:nvPr>
            <p:ph type="sldNum" sz="quarter" idx="10"/>
          </p:nvPr>
        </p:nvSpPr>
        <p:spPr/>
        <p:txBody>
          <a:bodyPr/>
          <a:lstStyle/>
          <a:p>
            <a:fld id="{37C0F66D-0E8E-412F-9E40-1FC819F6B49E}" type="slidenum">
              <a:rPr lang="fr-FR" smtClean="0"/>
              <a:t>2</a:t>
            </a:fld>
            <a:endParaRPr lang="fr-FR"/>
          </a:p>
        </p:txBody>
      </p:sp>
    </p:spTree>
    <p:extLst>
      <p:ext uri="{BB962C8B-B14F-4D97-AF65-F5344CB8AC3E}">
        <p14:creationId xmlns:p14="http://schemas.microsoft.com/office/powerpoint/2010/main" val="4080919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UML et MERISE sont consécutivement des langages et méthodes de modélisation des systèmes d’information. Pour la réalisation de notre travail, nous avons opté pour le langage UML pour des raisons de compatibilité et pour son approche orienté objet. UML n’est pas une méthode mais un langage de modélisation à qui on doit associer un processus pour en faire une méthode</a:t>
            </a:r>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6</a:t>
            </a:fld>
            <a:endParaRPr lang="fr-FR"/>
          </a:p>
        </p:txBody>
      </p:sp>
    </p:spTree>
    <p:extLst>
      <p:ext uri="{BB962C8B-B14F-4D97-AF65-F5344CB8AC3E}">
        <p14:creationId xmlns:p14="http://schemas.microsoft.com/office/powerpoint/2010/main" val="344405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regroupe les activités à mener pour transformer les besoins d’un utilisateur en système logiciel. Il n’existe pas un seul processus de développement, ni de processus standard, cependant des caractéristiques essentielles peuvent être mises en avant :</a:t>
            </a:r>
          </a:p>
          <a:p>
            <a:r>
              <a:rPr lang="fr-FR" dirty="0"/>
              <a:t>Le processus 2TUP (</a:t>
            </a:r>
            <a:r>
              <a:rPr lang="fr-FR" dirty="0" err="1"/>
              <a:t>Two</a:t>
            </a:r>
            <a:r>
              <a:rPr lang="fr-FR" dirty="0"/>
              <a:t> Tracks </a:t>
            </a:r>
            <a:r>
              <a:rPr lang="fr-FR" dirty="0" err="1"/>
              <a:t>Unified</a:t>
            </a:r>
            <a:r>
              <a:rPr lang="fr-FR" dirty="0"/>
              <a:t> Process) est un processus unifié construit sur le langage UML. Le processus unifié répète un certain nombre de fois une série de cycles. Tout cycle se conclut par la livraison d’une version du produit aux clients et s’articule en 4 phases : création, élaboration, construction et transition, chacune d’entre elles se subdivisant à son tour en itérations. Dans le processus 2TUP, les activités de développement sont organisées suivant 5 workflows qui décrivent : La capture des besoins ; L’analyse ; La conception ; L’implémentation ;le test</a:t>
            </a:r>
          </a:p>
          <a:p>
            <a:r>
              <a:rPr lang="fr-FR" dirty="0"/>
              <a:t>Le processus s'articule autour de 3 phases essentielles à savoir : une branche technique, une branche fonctionnelle et une phase de réalisation. ➢ La branche fonctionnelle : capitalise la connaissance du métier de l’entreprise. ➢ La branche technique : capitalise un savoir-faire technique et/ou des contraintes techniques ➢ La phase de réalisation : consiste à réunir les deux branches, permettant de mener une conception applicative et enfin la livraison d'une solution adaptée aux besoins</a:t>
            </a:r>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7</a:t>
            </a:fld>
            <a:endParaRPr lang="fr-FR"/>
          </a:p>
        </p:txBody>
      </p:sp>
    </p:spTree>
    <p:extLst>
      <p:ext uri="{BB962C8B-B14F-4D97-AF65-F5344CB8AC3E}">
        <p14:creationId xmlns:p14="http://schemas.microsoft.com/office/powerpoint/2010/main" val="3824227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diagramme de use case permet donc de : ➢ Représenter les objectifs des interactions entre le système et les utilisateurs ; ➢ Définir et organiser les exigences fonctionnelles dans un système ; ➢ Préciser le contexte et les exigences d'un système ; ➢ Modéliser le flux de base des événements dans un cas d'utilisation. Les cas d’utilisation se prolongent au-delà des diagrammes imagés. En fait, des descriptions textuelles des cas d’utilisation sont souvent employées pour compléter ces derniers et représentent leurs fonctionnalités plus en détail. </a:t>
            </a:r>
          </a:p>
          <a:p>
            <a:endParaRPr lang="fr-FR" dirty="0"/>
          </a:p>
          <a:p>
            <a:r>
              <a:rPr lang="fr-FR" dirty="0"/>
              <a:t>Composants du diagramme de use case:</a:t>
            </a:r>
          </a:p>
          <a:p>
            <a:r>
              <a:rPr lang="fr-FR" dirty="0"/>
              <a:t>Acteur (interne et externe);</a:t>
            </a:r>
          </a:p>
          <a:p>
            <a:r>
              <a:rPr lang="fr-FR" dirty="0"/>
              <a:t>Le cas d’utilisation;</a:t>
            </a:r>
          </a:p>
          <a:p>
            <a:r>
              <a:rPr lang="fr-FR" dirty="0"/>
              <a:t>Association;</a:t>
            </a:r>
          </a:p>
          <a:p>
            <a:r>
              <a:rPr lang="fr-FR" dirty="0"/>
              <a:t>Extension;</a:t>
            </a:r>
          </a:p>
          <a:p>
            <a:r>
              <a:rPr lang="fr-FR" dirty="0"/>
              <a:t>Inclusion;</a:t>
            </a:r>
          </a:p>
          <a:p>
            <a:r>
              <a:rPr lang="fr-FR" dirty="0" err="1"/>
              <a:t>Heritage</a:t>
            </a:r>
            <a:r>
              <a:rPr lang="fr-FR" dirty="0"/>
              <a:t>( </a:t>
            </a:r>
            <a:r>
              <a:rPr lang="fr-FR" dirty="0" err="1"/>
              <a:t>generalisation</a:t>
            </a:r>
            <a:r>
              <a:rPr lang="fr-FR" dirty="0"/>
              <a:t> / </a:t>
            </a:r>
            <a:r>
              <a:rPr lang="fr-FR" dirty="0" err="1"/>
              <a:t>specialisation</a:t>
            </a:r>
            <a:r>
              <a:rPr lang="fr-FR" dirty="0"/>
              <a:t>);</a:t>
            </a:r>
          </a:p>
          <a:p>
            <a:r>
              <a:rPr lang="fr-FR" dirty="0"/>
              <a:t>Relation entre les acteur</a:t>
            </a:r>
          </a:p>
          <a:p>
            <a:endParaRPr lang="fr-FR" dirty="0"/>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8</a:t>
            </a:fld>
            <a:endParaRPr lang="fr-FR"/>
          </a:p>
        </p:txBody>
      </p:sp>
    </p:spTree>
    <p:extLst>
      <p:ext uri="{BB962C8B-B14F-4D97-AF65-F5344CB8AC3E}">
        <p14:creationId xmlns:p14="http://schemas.microsoft.com/office/powerpoint/2010/main" val="2621439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Qui est un diagramme UML et qui permet de représenter tout les besoins fonctionnelles</a:t>
            </a:r>
            <a:r>
              <a:rPr lang="fr-FR" baseline="0" dirty="0"/>
              <a:t> des</a:t>
            </a:r>
            <a:r>
              <a:rPr lang="fr-FR" dirty="0"/>
              <a:t> utilisateurs</a:t>
            </a:r>
          </a:p>
        </p:txBody>
      </p:sp>
      <p:sp>
        <p:nvSpPr>
          <p:cNvPr id="4" name="Espace réservé du numéro de diapositive 3"/>
          <p:cNvSpPr>
            <a:spLocks noGrp="1"/>
          </p:cNvSpPr>
          <p:nvPr>
            <p:ph type="sldNum" sz="quarter" idx="10"/>
          </p:nvPr>
        </p:nvSpPr>
        <p:spPr/>
        <p:txBody>
          <a:bodyPr/>
          <a:lstStyle/>
          <a:p>
            <a:fld id="{37C0F66D-0E8E-412F-9E40-1FC819F6B49E}" type="slidenum">
              <a:rPr lang="fr-FR" smtClean="0"/>
              <a:t>9</a:t>
            </a:fld>
            <a:endParaRPr lang="fr-FR"/>
          </a:p>
        </p:txBody>
      </p:sp>
    </p:spTree>
    <p:extLst>
      <p:ext uri="{BB962C8B-B14F-4D97-AF65-F5344CB8AC3E}">
        <p14:creationId xmlns:p14="http://schemas.microsoft.com/office/powerpoint/2010/main" val="4062232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Scénario principal ou nominal : il correspond à l’instance principale du cas d’utilisation. C’est le scénario typique de succès ; ➢ Scénarios secondaires : il peut être un cas alternatif (un choix), un cas exceptionnel ou une erreur. </a:t>
            </a:r>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13</a:t>
            </a:fld>
            <a:endParaRPr lang="fr-FR"/>
          </a:p>
        </p:txBody>
      </p:sp>
    </p:spTree>
    <p:extLst>
      <p:ext uri="{BB962C8B-B14F-4D97-AF65-F5344CB8AC3E}">
        <p14:creationId xmlns:p14="http://schemas.microsoft.com/office/powerpoint/2010/main" val="3435020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Le présupposé : ce sont les actions qui doivent être remplies avant le lancement du cas d’utilisation ; </a:t>
            </a:r>
          </a:p>
          <a:p>
            <a:r>
              <a:rPr lang="fr-FR" dirty="0"/>
              <a:t>– La précondition : ce sont les conditions qui doivent être remplies avant le lancement du cas d’utilisation ; </a:t>
            </a:r>
          </a:p>
          <a:p>
            <a:r>
              <a:rPr lang="fr-FR" dirty="0"/>
              <a:t>– Le déclencheur : C’est l’élément qui déclenche le cas d’utilisation ; </a:t>
            </a:r>
          </a:p>
          <a:p>
            <a:r>
              <a:rPr lang="fr-FR" dirty="0"/>
              <a:t>– Le dialogue : C’est le scénario principal et le Scénario secondaire ;</a:t>
            </a:r>
          </a:p>
          <a:p>
            <a:r>
              <a:rPr lang="fr-FR" dirty="0"/>
              <a:t> – La post condition : Ce sont les différents mécanismes pouvant conduire à la fin de l’exécution du cas d’utilisation ; </a:t>
            </a:r>
          </a:p>
          <a:p>
            <a:r>
              <a:rPr lang="fr-FR" dirty="0"/>
              <a:t>– L’arrêt : C’est l’état du système à l’arrêt du cas d’utilisation. </a:t>
            </a:r>
          </a:p>
        </p:txBody>
      </p:sp>
      <p:sp>
        <p:nvSpPr>
          <p:cNvPr id="4" name="Espace réservé du numéro de diapositive 3"/>
          <p:cNvSpPr>
            <a:spLocks noGrp="1"/>
          </p:cNvSpPr>
          <p:nvPr>
            <p:ph type="sldNum" sz="quarter" idx="5"/>
          </p:nvPr>
        </p:nvSpPr>
        <p:spPr/>
        <p:txBody>
          <a:bodyPr/>
          <a:lstStyle/>
          <a:p>
            <a:fld id="{37C0F66D-0E8E-412F-9E40-1FC819F6B49E}" type="slidenum">
              <a:rPr lang="fr-FR" smtClean="0"/>
              <a:t>14</a:t>
            </a:fld>
            <a:endParaRPr lang="fr-FR"/>
          </a:p>
        </p:txBody>
      </p:sp>
    </p:spTree>
    <p:extLst>
      <p:ext uri="{BB962C8B-B14F-4D97-AF65-F5344CB8AC3E}">
        <p14:creationId xmlns:p14="http://schemas.microsoft.com/office/powerpoint/2010/main" val="1094066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p:cNvSpPr>
            <a:spLocks noGrp="1"/>
          </p:cNvSpPr>
          <p:nvPr>
            <p:ph type="sldNum" sz="quarter" idx="10"/>
          </p:nvPr>
        </p:nvSpPr>
        <p:spPr/>
        <p:txBody>
          <a:bodyPr/>
          <a:lstStyle/>
          <a:p>
            <a:fld id="{37C0F66D-0E8E-412F-9E40-1FC819F6B49E}" type="slidenum">
              <a:rPr lang="fr-FR" smtClean="0"/>
              <a:t>15</a:t>
            </a:fld>
            <a:endParaRPr lang="fr-FR"/>
          </a:p>
        </p:txBody>
      </p:sp>
    </p:spTree>
    <p:extLst>
      <p:ext uri="{BB962C8B-B14F-4D97-AF65-F5344CB8AC3E}">
        <p14:creationId xmlns:p14="http://schemas.microsoft.com/office/powerpoint/2010/main" val="1821526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4928E-22C8-1EFA-32B4-CCD893D5A4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51A256-9E5E-99F6-1FB2-AD5BDF263887}"/>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9EC1261-457E-E609-C075-3F1F93074C21}"/>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B46C3F8D-A1FB-3A20-4F1E-2ACB676EBE26}"/>
              </a:ext>
            </a:extLst>
          </p:cNvPr>
          <p:cNvSpPr>
            <a:spLocks noGrp="1"/>
          </p:cNvSpPr>
          <p:nvPr>
            <p:ph type="sldNum" sz="quarter" idx="10"/>
          </p:nvPr>
        </p:nvSpPr>
        <p:spPr/>
        <p:txBody>
          <a:bodyPr/>
          <a:lstStyle/>
          <a:p>
            <a:fld id="{37C0F66D-0E8E-412F-9E40-1FC819F6B49E}" type="slidenum">
              <a:rPr lang="fr-FR" smtClean="0"/>
              <a:t>16</a:t>
            </a:fld>
            <a:endParaRPr lang="fr-FR"/>
          </a:p>
        </p:txBody>
      </p:sp>
    </p:spTree>
    <p:extLst>
      <p:ext uri="{BB962C8B-B14F-4D97-AF65-F5344CB8AC3E}">
        <p14:creationId xmlns:p14="http://schemas.microsoft.com/office/powerpoint/2010/main" val="2262261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C3099-9402-7A71-33A8-46BFA717ED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24A10D-D632-3B6B-D9F1-9D9F9362C44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C9BDB67-1DD6-C0B4-01CD-2E4102CB3BF1}"/>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DAADEF77-2B1A-6D5A-96F8-C7C7E06B5A29}"/>
              </a:ext>
            </a:extLst>
          </p:cNvPr>
          <p:cNvSpPr>
            <a:spLocks noGrp="1"/>
          </p:cNvSpPr>
          <p:nvPr>
            <p:ph type="sldNum" sz="quarter" idx="10"/>
          </p:nvPr>
        </p:nvSpPr>
        <p:spPr/>
        <p:txBody>
          <a:bodyPr/>
          <a:lstStyle/>
          <a:p>
            <a:fld id="{37C0F66D-0E8E-412F-9E40-1FC819F6B49E}" type="slidenum">
              <a:rPr lang="fr-FR" smtClean="0"/>
              <a:t>17</a:t>
            </a:fld>
            <a:endParaRPr lang="fr-FR"/>
          </a:p>
        </p:txBody>
      </p:sp>
    </p:spTree>
    <p:extLst>
      <p:ext uri="{BB962C8B-B14F-4D97-AF65-F5344CB8AC3E}">
        <p14:creationId xmlns:p14="http://schemas.microsoft.com/office/powerpoint/2010/main" val="1746195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BBC52-5AC7-C074-8169-BBAA78C1D9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D3997AD-1E81-FDEA-6978-950D94BBF44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CF6ED7A-6D48-A953-62B0-0AB934FF3585}"/>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F450ADF5-644C-6559-835D-98574D399EB6}"/>
              </a:ext>
            </a:extLst>
          </p:cNvPr>
          <p:cNvSpPr>
            <a:spLocks noGrp="1"/>
          </p:cNvSpPr>
          <p:nvPr>
            <p:ph type="sldNum" sz="quarter" idx="10"/>
          </p:nvPr>
        </p:nvSpPr>
        <p:spPr/>
        <p:txBody>
          <a:bodyPr/>
          <a:lstStyle/>
          <a:p>
            <a:fld id="{37C0F66D-0E8E-412F-9E40-1FC819F6B49E}" type="slidenum">
              <a:rPr lang="fr-FR" smtClean="0"/>
              <a:t>18</a:t>
            </a:fld>
            <a:endParaRPr lang="fr-FR"/>
          </a:p>
        </p:txBody>
      </p:sp>
    </p:spTree>
    <p:extLst>
      <p:ext uri="{BB962C8B-B14F-4D97-AF65-F5344CB8AC3E}">
        <p14:creationId xmlns:p14="http://schemas.microsoft.com/office/powerpoint/2010/main" val="1929866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184A5-F1B1-D38E-6AD6-1368D0479B5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8EDF312-4E54-6C02-A097-AB1901EAFD6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1C5E079-9A07-0686-4D8A-123120A4AC10}"/>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B986807C-E6B8-2711-6E75-7B80C0649915}"/>
              </a:ext>
            </a:extLst>
          </p:cNvPr>
          <p:cNvSpPr>
            <a:spLocks noGrp="1"/>
          </p:cNvSpPr>
          <p:nvPr>
            <p:ph type="sldNum" sz="quarter" idx="10"/>
          </p:nvPr>
        </p:nvSpPr>
        <p:spPr/>
        <p:txBody>
          <a:bodyPr/>
          <a:lstStyle/>
          <a:p>
            <a:fld id="{37C0F66D-0E8E-412F-9E40-1FC819F6B49E}" type="slidenum">
              <a:rPr lang="fr-FR" smtClean="0"/>
              <a:t>19</a:t>
            </a:fld>
            <a:endParaRPr lang="fr-FR"/>
          </a:p>
        </p:txBody>
      </p:sp>
    </p:spTree>
    <p:extLst>
      <p:ext uri="{BB962C8B-B14F-4D97-AF65-F5344CB8AC3E}">
        <p14:creationId xmlns:p14="http://schemas.microsoft.com/office/powerpoint/2010/main" val="2359070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6C505-69E6-F20F-B477-69939002350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C0A673-D825-9DDA-819A-27518EBEDE9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36D321E-24A0-9172-5ACF-D4F58516D484}"/>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3D5B323D-9A08-9F6D-9F11-FF91A4CAC3F1}"/>
              </a:ext>
            </a:extLst>
          </p:cNvPr>
          <p:cNvSpPr>
            <a:spLocks noGrp="1"/>
          </p:cNvSpPr>
          <p:nvPr>
            <p:ph type="sldNum" sz="quarter" idx="10"/>
          </p:nvPr>
        </p:nvSpPr>
        <p:spPr/>
        <p:txBody>
          <a:bodyPr/>
          <a:lstStyle/>
          <a:p>
            <a:fld id="{37C0F66D-0E8E-412F-9E40-1FC819F6B49E}" type="slidenum">
              <a:rPr lang="fr-FR" smtClean="0"/>
              <a:t>20</a:t>
            </a:fld>
            <a:endParaRPr lang="fr-FR"/>
          </a:p>
        </p:txBody>
      </p:sp>
    </p:spTree>
    <p:extLst>
      <p:ext uri="{BB962C8B-B14F-4D97-AF65-F5344CB8AC3E}">
        <p14:creationId xmlns:p14="http://schemas.microsoft.com/office/powerpoint/2010/main" val="1912945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09A85-2278-001D-6102-51C53AC0DE4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8052A3-B348-293B-52F2-D9BF5D02484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97FA0B5-52CE-1C6E-B025-4FC1F91B7E1C}"/>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5B5043A3-3878-62D7-3AFA-60748E4684D0}"/>
              </a:ext>
            </a:extLst>
          </p:cNvPr>
          <p:cNvSpPr>
            <a:spLocks noGrp="1"/>
          </p:cNvSpPr>
          <p:nvPr>
            <p:ph type="sldNum" sz="quarter" idx="10"/>
          </p:nvPr>
        </p:nvSpPr>
        <p:spPr/>
        <p:txBody>
          <a:bodyPr/>
          <a:lstStyle/>
          <a:p>
            <a:fld id="{37C0F66D-0E8E-412F-9E40-1FC819F6B49E}" type="slidenum">
              <a:rPr lang="fr-FR" smtClean="0"/>
              <a:t>21</a:t>
            </a:fld>
            <a:endParaRPr lang="fr-FR"/>
          </a:p>
        </p:txBody>
      </p:sp>
    </p:spTree>
    <p:extLst>
      <p:ext uri="{BB962C8B-B14F-4D97-AF65-F5344CB8AC3E}">
        <p14:creationId xmlns:p14="http://schemas.microsoft.com/office/powerpoint/2010/main" val="791326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6B65-7665-574A-462B-F816EFA4CA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5BC28F-1A80-3A9A-2D72-FFC140848E5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8711A2E-B82B-B7D2-9B44-ED03F5F4CA73}"/>
              </a:ext>
            </a:extLst>
          </p:cNvPr>
          <p:cNvSpPr>
            <a:spLocks noGrp="1"/>
          </p:cNvSpPr>
          <p:nvPr>
            <p:ph type="body" idx="1"/>
          </p:nvPr>
        </p:nvSpPr>
        <p:spPr/>
        <p:txBody>
          <a:bodyPr/>
          <a:lstStyle/>
          <a:p>
            <a:r>
              <a:rPr lang="fr-FR" dirty="0"/>
              <a:t>Diagramme de classe qui permet de représenter</a:t>
            </a:r>
            <a:r>
              <a:rPr lang="fr-FR" baseline="0" dirty="0"/>
              <a:t> les différentes classes et les relations qui existes entre elles.</a:t>
            </a:r>
            <a:endParaRPr lang="fr-FR" dirty="0"/>
          </a:p>
        </p:txBody>
      </p:sp>
      <p:sp>
        <p:nvSpPr>
          <p:cNvPr id="4" name="Espace réservé du numéro de diapositive 3">
            <a:extLst>
              <a:ext uri="{FF2B5EF4-FFF2-40B4-BE49-F238E27FC236}">
                <a16:creationId xmlns:a16="http://schemas.microsoft.com/office/drawing/2014/main" id="{3781E794-47A9-99CE-F7B1-84841C77126F}"/>
              </a:ext>
            </a:extLst>
          </p:cNvPr>
          <p:cNvSpPr>
            <a:spLocks noGrp="1"/>
          </p:cNvSpPr>
          <p:nvPr>
            <p:ph type="sldNum" sz="quarter" idx="10"/>
          </p:nvPr>
        </p:nvSpPr>
        <p:spPr/>
        <p:txBody>
          <a:bodyPr/>
          <a:lstStyle/>
          <a:p>
            <a:fld id="{37C0F66D-0E8E-412F-9E40-1FC819F6B49E}" type="slidenum">
              <a:rPr lang="fr-FR" smtClean="0"/>
              <a:t>22</a:t>
            </a:fld>
            <a:endParaRPr lang="fr-FR"/>
          </a:p>
        </p:txBody>
      </p:sp>
    </p:spTree>
    <p:extLst>
      <p:ext uri="{BB962C8B-B14F-4D97-AF65-F5344CB8AC3E}">
        <p14:creationId xmlns:p14="http://schemas.microsoft.com/office/powerpoint/2010/main" val="1190219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Qui est un diagramme UML et qui permet de représenter tout les besoins fonctionnelles</a:t>
            </a:r>
            <a:r>
              <a:rPr lang="fr-FR" baseline="0" dirty="0"/>
              <a:t> des</a:t>
            </a:r>
            <a:r>
              <a:rPr lang="fr-FR" dirty="0"/>
              <a:t> utilisateurs</a:t>
            </a:r>
          </a:p>
        </p:txBody>
      </p:sp>
      <p:sp>
        <p:nvSpPr>
          <p:cNvPr id="4" name="Espace réservé du numéro de diapositive 3"/>
          <p:cNvSpPr>
            <a:spLocks noGrp="1"/>
          </p:cNvSpPr>
          <p:nvPr>
            <p:ph type="sldNum" sz="quarter" idx="10"/>
          </p:nvPr>
        </p:nvSpPr>
        <p:spPr/>
        <p:txBody>
          <a:bodyPr/>
          <a:lstStyle/>
          <a:p>
            <a:fld id="{37C0F66D-0E8E-412F-9E40-1FC819F6B49E}" type="slidenum">
              <a:rPr lang="fr-FR" smtClean="0"/>
              <a:t>23</a:t>
            </a:fld>
            <a:endParaRPr lang="fr-FR"/>
          </a:p>
        </p:txBody>
      </p:sp>
    </p:spTree>
    <p:extLst>
      <p:ext uri="{BB962C8B-B14F-4D97-AF65-F5344CB8AC3E}">
        <p14:creationId xmlns:p14="http://schemas.microsoft.com/office/powerpoint/2010/main" val="4062232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171A7-F445-4F61-BA73-47538832A9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16EBD2-7D1E-4BEA-BF41-6451A7DA5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280EA1-84AC-4F6C-871A-F8B08501FF9F}"/>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E76D1E61-D4F5-423F-AD89-54BFBD591A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8FAF5-63D5-4524-A454-243750EAD923}"/>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212758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6177-373C-43CF-A81F-46D832E3B9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C82EEC-9D99-4055-A049-36D25CE705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620C1-205E-4357-8F82-3B18185C0D59}"/>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CC0670E6-A1E4-4A87-8D70-16E4D45D4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E94A96-E414-40C5-9C42-5B313AC8A4DC}"/>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02563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0DE5A-A3C4-4246-AC83-4B02A5AF67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506A27-CBE5-4DE1-9A3B-1DCA2875D2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D4C7CF-D265-42EE-BC07-C5CA4DD576C9}"/>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538DBA2E-16C6-416D-8DBC-3595AAC09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B8A69-8342-4803-AAE4-2455CB0EFA14}"/>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4045203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AD22D-E0FC-447D-9B92-C7F1F42DF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5C01DA-D8B8-42E3-819F-97B3126FC4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FCD86F-812F-4C7E-BD4C-16D840120E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BAE446-0E3E-478D-BCEC-1BB386AF4E0D}"/>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6" name="Footer Placeholder 5">
            <a:extLst>
              <a:ext uri="{FF2B5EF4-FFF2-40B4-BE49-F238E27FC236}">
                <a16:creationId xmlns:a16="http://schemas.microsoft.com/office/drawing/2014/main" id="{6AEA6C5E-2AB3-4CD9-8AB3-42C2998198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FB21D-0CF7-4F88-B8C9-D637E15C7969}"/>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422958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F8DD7-BCD2-4B72-BB41-DC9C351A32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35C04C-6F86-4E05-9DBE-1FE3AAC894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9FDD6E-1D02-459D-AC1E-98538BA033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C4309A-7C74-4F92-90B5-95F8252AD9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44E603-3D3E-47EA-A082-7DDEFCF75E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6D727-85F2-4126-AFDE-2B9A08376318}"/>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8" name="Footer Placeholder 7">
            <a:extLst>
              <a:ext uri="{FF2B5EF4-FFF2-40B4-BE49-F238E27FC236}">
                <a16:creationId xmlns:a16="http://schemas.microsoft.com/office/drawing/2014/main" id="{89B1DE8E-8E21-4170-90BC-7AEDC156EF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FEFDC7-E738-4425-9C4E-A216D6686417}"/>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99059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62-175A-4225-9CFC-899A8A4AEB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CA855D-DF5E-4CFE-8750-1BA079840676}"/>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4" name="Footer Placeholder 3">
            <a:extLst>
              <a:ext uri="{FF2B5EF4-FFF2-40B4-BE49-F238E27FC236}">
                <a16:creationId xmlns:a16="http://schemas.microsoft.com/office/drawing/2014/main" id="{28FF19F0-B71A-4DAE-B03F-C28C697461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F56B7F-8CC9-4F92-A2FB-DD8FC08155F6}"/>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2420597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8C07F6-D258-4876-835A-5C904059A491}"/>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3" name="Footer Placeholder 2">
            <a:extLst>
              <a:ext uri="{FF2B5EF4-FFF2-40B4-BE49-F238E27FC236}">
                <a16:creationId xmlns:a16="http://schemas.microsoft.com/office/drawing/2014/main" id="{D710343E-C439-46D9-93AA-3EEA30F41D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C11F50-100F-4106-A076-0C1356C9F3EB}"/>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56017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6C4BD-AB36-4FBB-B8A0-1A3A2AED4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E039EA-D04F-486A-8AF0-FBE3A6A172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1E4CD7-1F95-4584-A451-CF937B6C4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7DC98-8619-470E-A21C-DB116D4A3D59}"/>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6" name="Footer Placeholder 5">
            <a:extLst>
              <a:ext uri="{FF2B5EF4-FFF2-40B4-BE49-F238E27FC236}">
                <a16:creationId xmlns:a16="http://schemas.microsoft.com/office/drawing/2014/main" id="{422C37AD-BC04-41B7-98E9-62BE06FC0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49BE2C-8A53-4656-8CD2-65D31B3D00C3}"/>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73943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7D397-D632-4DE1-96A9-7AB3084A08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EA127A-8300-4986-BE78-2EC9CBF4CF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0B776F-3D57-4192-A000-B0389B4E5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AA18F-2004-473D-8BEA-9E7A8F2CCB4D}"/>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6" name="Footer Placeholder 5">
            <a:extLst>
              <a:ext uri="{FF2B5EF4-FFF2-40B4-BE49-F238E27FC236}">
                <a16:creationId xmlns:a16="http://schemas.microsoft.com/office/drawing/2014/main" id="{63C032C2-2FC1-404E-8863-B897185A9E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9F4B7F-389A-4B09-B48E-3A30BA879B77}"/>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1226952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B4F7-8337-45B6-8C08-BFD67D8BF9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290DDE-AA34-4E6F-A6AE-EBC444C609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472F36-6057-452B-95B0-F0258703E67A}"/>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66703784-2809-44D6-AB60-DD0C657C16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E9A282-DB41-4117-9DB2-0C94D5DCBFF9}"/>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507909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EDBA10-FA40-4E0B-960A-88E75BE5E3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73773A-74C6-4F7E-9A02-8FC2F015E7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8821A-5EAC-4F58-9FD3-06D33F26F893}"/>
              </a:ext>
            </a:extLst>
          </p:cNvPr>
          <p:cNvSpPr>
            <a:spLocks noGrp="1"/>
          </p:cNvSpPr>
          <p:nvPr>
            <p:ph type="dt" sz="half" idx="10"/>
          </p:nvPr>
        </p:nvSpPr>
        <p:spPr/>
        <p:txBody>
          <a:body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2B7CC662-8729-4AA5-8C15-4A00A1B78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D338EB-C9C6-4D8F-8C1D-27A7810F1D34}"/>
              </a:ext>
            </a:extLst>
          </p:cNvPr>
          <p:cNvSpPr>
            <a:spLocks noGrp="1"/>
          </p:cNvSpPr>
          <p:nvPr>
            <p:ph type="sldNum" sz="quarter" idx="12"/>
          </p:nvPr>
        </p:nvSpPr>
        <p:spPr/>
        <p:txBody>
          <a:bodyPr/>
          <a:lstStyle/>
          <a:p>
            <a:fld id="{CA607AD0-2C37-4EE0-BE88-741CF00A1674}" type="slidenum">
              <a:rPr lang="en-US" smtClean="0"/>
              <a:t>‹N°›</a:t>
            </a:fld>
            <a:endParaRPr lang="en-US"/>
          </a:p>
        </p:txBody>
      </p:sp>
    </p:spTree>
    <p:extLst>
      <p:ext uri="{BB962C8B-B14F-4D97-AF65-F5344CB8AC3E}">
        <p14:creationId xmlns:p14="http://schemas.microsoft.com/office/powerpoint/2010/main" val="3489618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FEFCE1-A8E6-4981-BD38-DF0B372AFA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ED305F-2B82-44E4-B744-196F85D95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5DC62-7603-4CFA-A683-E553FC811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232FFB-8376-4DB3-A1E5-8F070361AEC0}" type="datetimeFigureOut">
              <a:rPr lang="en-US" smtClean="0"/>
              <a:t>1/24/2026</a:t>
            </a:fld>
            <a:endParaRPr lang="en-US"/>
          </a:p>
        </p:txBody>
      </p:sp>
      <p:sp>
        <p:nvSpPr>
          <p:cNvPr id="5" name="Footer Placeholder 4">
            <a:extLst>
              <a:ext uri="{FF2B5EF4-FFF2-40B4-BE49-F238E27FC236}">
                <a16:creationId xmlns:a16="http://schemas.microsoft.com/office/drawing/2014/main" id="{7BFBEEC8-7BE9-4492-8816-2E021C0935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7D69DC-1F40-49BE-9BCC-6BCBECB0C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607AD0-2C37-4EE0-BE88-741CF00A1674}" type="slidenum">
              <a:rPr lang="en-US" smtClean="0"/>
              <a:t>‹N°›</a:t>
            </a:fld>
            <a:endParaRPr lang="en-US"/>
          </a:p>
        </p:txBody>
      </p:sp>
    </p:spTree>
    <p:extLst>
      <p:ext uri="{BB962C8B-B14F-4D97-AF65-F5344CB8AC3E}">
        <p14:creationId xmlns:p14="http://schemas.microsoft.com/office/powerpoint/2010/main" val="816440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 de texte 6"/>
          <p:cNvSpPr txBox="1"/>
          <p:nvPr/>
        </p:nvSpPr>
        <p:spPr>
          <a:xfrm>
            <a:off x="5954725" y="2754244"/>
            <a:ext cx="1274445" cy="764540"/>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fr-FR" sz="900">
              <a:effectLst/>
              <a:ea typeface="Calibri" panose="020F0502020204030204" pitchFamily="34" charset="0"/>
              <a:cs typeface="Times New Roman" panose="02020603050405020304" pitchFamily="18" charset="0"/>
            </a:endParaRPr>
          </a:p>
        </p:txBody>
      </p:sp>
      <p:sp>
        <p:nvSpPr>
          <p:cNvPr id="22" name="Parchemin horizontal 21"/>
          <p:cNvSpPr/>
          <p:nvPr/>
        </p:nvSpPr>
        <p:spPr>
          <a:xfrm>
            <a:off x="3558152" y="2324091"/>
            <a:ext cx="6067590" cy="1624846"/>
          </a:xfrm>
          <a:prstGeom prst="horizontalScroll">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endParaRPr lang="fr-FR" sz="1050" dirty="0">
              <a:ln>
                <a:noFill/>
              </a:ln>
              <a:solidFill>
                <a:srgbClr val="000000"/>
              </a:solidFill>
              <a:effectLst>
                <a:outerShdw blurRad="38100" dist="19050" dir="2700000" algn="tl">
                  <a:schemeClr val="dk1">
                    <a:alpha val="40000"/>
                  </a:schemeClr>
                </a:outerShdw>
              </a:effectLst>
              <a:latin typeface="Times New Roman" panose="02020603050405020304" pitchFamily="18" charset="0"/>
            </a:endParaRPr>
          </a:p>
          <a:p>
            <a:pPr algn="ctr">
              <a:lnSpc>
                <a:spcPct val="115000"/>
              </a:lnSpc>
            </a:pPr>
            <a:r>
              <a:rPr lang="fr-FR" sz="2400" b="1" dirty="0">
                <a:solidFill>
                  <a:schemeClr val="bg1"/>
                </a:solidFill>
                <a:effectLst>
                  <a:outerShdw blurRad="38100" dist="19050" dir="2700000" algn="tl">
                    <a:schemeClr val="dk1">
                      <a:alpha val="40000"/>
                    </a:schemeClr>
                  </a:outerShdw>
                </a:effectLst>
                <a:latin typeface="Rockwell" panose="02060603020205020403" pitchFamily="18" charset="0"/>
              </a:rPr>
              <a:t>CONCEPTION ET MISE EN ŒUVRE DE DISKMONITOR: Le dossier d’analyse</a:t>
            </a:r>
            <a:endParaRPr lang="fr-FR" b="1" dirty="0">
              <a:solidFill>
                <a:schemeClr val="bg1"/>
              </a:solidFill>
              <a:effectLst/>
              <a:latin typeface="Rockwell" panose="02060603020205020403" pitchFamily="18" charset="0"/>
            </a:endParaRPr>
          </a:p>
          <a:p>
            <a:pPr algn="ctr">
              <a:lnSpc>
                <a:spcPct val="115000"/>
              </a:lnSpc>
            </a:pPr>
            <a:r>
              <a:rPr lang="fr-FR" sz="1050" dirty="0">
                <a:ln>
                  <a:noFill/>
                </a:ln>
                <a:solidFill>
                  <a:srgbClr val="000000"/>
                </a:solidFill>
                <a:effectLst>
                  <a:outerShdw blurRad="38100" dist="19050" dir="2700000" algn="tl">
                    <a:schemeClr val="dk1">
                      <a:alpha val="40000"/>
                    </a:schemeClr>
                  </a:outerShdw>
                </a:effectLst>
                <a:latin typeface="Times New Roman" panose="02020603050405020304" pitchFamily="18" charset="0"/>
              </a:rPr>
              <a:t>                                                        </a:t>
            </a:r>
            <a:endParaRPr lang="fr-FR" sz="1050" dirty="0">
              <a:effectLst/>
            </a:endParaRPr>
          </a:p>
        </p:txBody>
      </p:sp>
      <p:sp>
        <p:nvSpPr>
          <p:cNvPr id="24" name="Zone de texte 14"/>
          <p:cNvSpPr txBox="1"/>
          <p:nvPr/>
        </p:nvSpPr>
        <p:spPr>
          <a:xfrm>
            <a:off x="667385" y="4516758"/>
            <a:ext cx="7369791" cy="1051377"/>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fr-FR" dirty="0">
                <a:latin typeface="Rockwell" panose="02060603020205020403" pitchFamily="18" charset="0"/>
              </a:rPr>
              <a:t>Rédigé et présenté par </a:t>
            </a:r>
            <a:r>
              <a:rPr lang="fr-FR" b="1" dirty="0">
                <a:latin typeface="Rockwell" panose="02060603020205020403" pitchFamily="18" charset="0"/>
              </a:rPr>
              <a:t>: </a:t>
            </a:r>
          </a:p>
          <a:p>
            <a:pPr marL="285750" indent="-285750">
              <a:buFont typeface="Wingdings" panose="05000000000000000000" pitchFamily="2" charset="2"/>
              <a:buChar char="Ø"/>
            </a:pPr>
            <a:r>
              <a:rPr lang="fr-FR" b="1" dirty="0">
                <a:latin typeface="Rockwell" panose="02060603020205020403" pitchFamily="18" charset="0"/>
              </a:rPr>
              <a:t>EKOSSO LANG’LE Sylvain </a:t>
            </a:r>
          </a:p>
          <a:p>
            <a:pPr marL="285750" indent="-285750">
              <a:buFont typeface="Wingdings" panose="05000000000000000000" pitchFamily="2" charset="2"/>
              <a:buChar char="Ø"/>
            </a:pPr>
            <a:r>
              <a:rPr lang="fr-FR" b="1" dirty="0">
                <a:latin typeface="Rockwell" panose="02060603020205020403" pitchFamily="18" charset="0"/>
              </a:rPr>
              <a:t>FOGOU JESSI</a:t>
            </a:r>
          </a:p>
          <a:p>
            <a:pPr algn="ctr"/>
            <a:r>
              <a:rPr lang="fr-FR" dirty="0">
                <a:latin typeface="Rockwell" panose="02060603020205020403" pitchFamily="18" charset="0"/>
              </a:rPr>
              <a:t>Étudiants en Master I filière </a:t>
            </a:r>
            <a:r>
              <a:rPr lang="fr-FR" b="1" dirty="0">
                <a:latin typeface="Rockwell" panose="02060603020205020403" pitchFamily="18" charset="0"/>
              </a:rPr>
              <a:t>sécurité des systèmes d’information</a:t>
            </a:r>
            <a:r>
              <a:rPr lang="fr-FR" dirty="0">
                <a:latin typeface="Rockwell" panose="02060603020205020403" pitchFamily="18" charset="0"/>
              </a:rPr>
              <a:t>.</a:t>
            </a:r>
          </a:p>
          <a:p>
            <a:pPr>
              <a:spcAft>
                <a:spcPts val="800"/>
              </a:spcAft>
            </a:pPr>
            <a:r>
              <a:rPr lang="fr-FR"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sz="1200" dirty="0">
              <a:effectLst/>
              <a:ea typeface="Calibri" panose="020F0502020204030204" pitchFamily="34" charset="0"/>
              <a:cs typeface="Times New Roman" panose="02020603050405020304" pitchFamily="18" charset="0"/>
            </a:endParaRPr>
          </a:p>
          <a:p>
            <a:pPr>
              <a:lnSpc>
                <a:spcPct val="107000"/>
              </a:lnSpc>
              <a:spcAft>
                <a:spcPts val="800"/>
              </a:spcAft>
            </a:pPr>
            <a:r>
              <a:rPr lang="fr-FR" sz="900" dirty="0">
                <a:effectLst/>
                <a:ea typeface="Calibri" panose="020F0502020204030204" pitchFamily="34" charset="0"/>
                <a:cs typeface="Times New Roman" panose="02020603050405020304" pitchFamily="18" charset="0"/>
              </a:rPr>
              <a:t> </a:t>
            </a:r>
          </a:p>
          <a:p>
            <a:pPr>
              <a:lnSpc>
                <a:spcPct val="107000"/>
              </a:lnSpc>
              <a:spcAft>
                <a:spcPts val="800"/>
              </a:spcAft>
            </a:pPr>
            <a:r>
              <a:rPr lang="fr-FR" sz="900" dirty="0">
                <a:effectLst/>
                <a:ea typeface="Calibri" panose="020F0502020204030204" pitchFamily="34" charset="0"/>
                <a:cs typeface="Times New Roman" panose="02020603050405020304" pitchFamily="18" charset="0"/>
              </a:rPr>
              <a:t> </a:t>
            </a:r>
          </a:p>
          <a:p>
            <a:pPr>
              <a:lnSpc>
                <a:spcPct val="107000"/>
              </a:lnSpc>
              <a:spcAft>
                <a:spcPts val="800"/>
              </a:spcAft>
            </a:pPr>
            <a:r>
              <a:rPr lang="fr-FR" sz="900" dirty="0">
                <a:effectLst/>
                <a:ea typeface="Calibri" panose="020F0502020204030204" pitchFamily="34" charset="0"/>
                <a:cs typeface="Times New Roman" panose="02020603050405020304" pitchFamily="18" charset="0"/>
              </a:rPr>
              <a:t> </a:t>
            </a:r>
          </a:p>
          <a:p>
            <a:pPr>
              <a:lnSpc>
                <a:spcPct val="107000"/>
              </a:lnSpc>
              <a:spcAft>
                <a:spcPts val="800"/>
              </a:spcAft>
            </a:pPr>
            <a:r>
              <a:rPr lang="fr-FR" sz="900" dirty="0">
                <a:effectLst/>
                <a:ea typeface="Calibri" panose="020F0502020204030204" pitchFamily="34" charset="0"/>
                <a:cs typeface="Times New Roman" panose="02020603050405020304" pitchFamily="18" charset="0"/>
              </a:rPr>
              <a:t> </a:t>
            </a:r>
          </a:p>
        </p:txBody>
      </p:sp>
      <p:sp>
        <p:nvSpPr>
          <p:cNvPr id="25" name="Zone de texte 4"/>
          <p:cNvSpPr txBox="1"/>
          <p:nvPr/>
        </p:nvSpPr>
        <p:spPr>
          <a:xfrm>
            <a:off x="667385" y="9566275"/>
            <a:ext cx="6260465" cy="566420"/>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fr-FR" sz="900">
              <a:effectLst/>
              <a:ea typeface="Calibri" panose="020F0502020204030204" pitchFamily="34" charset="0"/>
              <a:cs typeface="Times New Roman" panose="02020603050405020304" pitchFamily="18" charset="0"/>
            </a:endParaRPr>
          </a:p>
        </p:txBody>
      </p:sp>
      <p:sp>
        <p:nvSpPr>
          <p:cNvPr id="26" name="Rectangle 15"/>
          <p:cNvSpPr>
            <a:spLocks noChangeArrowheads="1"/>
          </p:cNvSpPr>
          <p:nvPr/>
        </p:nvSpPr>
        <p:spPr bwMode="auto">
          <a:xfrm>
            <a:off x="0" y="113184"/>
            <a:ext cx="184731"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sz="900"/>
          </a:p>
        </p:txBody>
      </p:sp>
      <p:sp>
        <p:nvSpPr>
          <p:cNvPr id="27" name="Rectangle 18"/>
          <p:cNvSpPr>
            <a:spLocks noChangeArrowheads="1"/>
          </p:cNvSpPr>
          <p:nvPr/>
        </p:nvSpPr>
        <p:spPr bwMode="auto">
          <a:xfrm>
            <a:off x="0" y="45720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28" name="Rectangle 19"/>
          <p:cNvSpPr>
            <a:spLocks noChangeArrowheads="1"/>
          </p:cNvSpPr>
          <p:nvPr/>
        </p:nvSpPr>
        <p:spPr bwMode="auto">
          <a:xfrm>
            <a:off x="0" y="1190625"/>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30" name="Rectangle 25"/>
          <p:cNvSpPr>
            <a:spLocks noChangeArrowheads="1"/>
          </p:cNvSpPr>
          <p:nvPr/>
        </p:nvSpPr>
        <p:spPr bwMode="auto">
          <a:xfrm>
            <a:off x="9444002" y="5203750"/>
            <a:ext cx="2281272" cy="638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866900" algn="l"/>
              </a:tabLst>
              <a:defRPr>
                <a:solidFill>
                  <a:schemeClr val="tx1"/>
                </a:solidFill>
                <a:latin typeface="Arial" panose="020B0604020202020204" pitchFamily="34" charset="0"/>
              </a:defRPr>
            </a:lvl1pPr>
            <a:lvl2pPr eaLnBrk="0" fontAlgn="base" hangingPunct="0">
              <a:spcBef>
                <a:spcPct val="0"/>
              </a:spcBef>
              <a:spcAft>
                <a:spcPct val="0"/>
              </a:spcAft>
              <a:tabLst>
                <a:tab pos="1866900" algn="l"/>
              </a:tabLst>
              <a:defRPr>
                <a:solidFill>
                  <a:schemeClr val="tx1"/>
                </a:solidFill>
                <a:latin typeface="Arial" panose="020B0604020202020204" pitchFamily="34" charset="0"/>
              </a:defRPr>
            </a:lvl2pPr>
            <a:lvl3pPr eaLnBrk="0" fontAlgn="base" hangingPunct="0">
              <a:spcBef>
                <a:spcPct val="0"/>
              </a:spcBef>
              <a:spcAft>
                <a:spcPct val="0"/>
              </a:spcAft>
              <a:tabLst>
                <a:tab pos="1866900" algn="l"/>
              </a:tabLst>
              <a:defRPr>
                <a:solidFill>
                  <a:schemeClr val="tx1"/>
                </a:solidFill>
                <a:latin typeface="Arial" panose="020B0604020202020204" pitchFamily="34" charset="0"/>
              </a:defRPr>
            </a:lvl3pPr>
            <a:lvl4pPr eaLnBrk="0" fontAlgn="base" hangingPunct="0">
              <a:spcBef>
                <a:spcPct val="0"/>
              </a:spcBef>
              <a:spcAft>
                <a:spcPct val="0"/>
              </a:spcAft>
              <a:tabLst>
                <a:tab pos="1866900" algn="l"/>
              </a:tabLst>
              <a:defRPr>
                <a:solidFill>
                  <a:schemeClr val="tx1"/>
                </a:solidFill>
                <a:latin typeface="Arial" panose="020B0604020202020204" pitchFamily="34" charset="0"/>
              </a:defRPr>
            </a:lvl4pPr>
            <a:lvl5pPr eaLnBrk="0" fontAlgn="base" hangingPunct="0">
              <a:spcBef>
                <a:spcPct val="0"/>
              </a:spcBef>
              <a:spcAft>
                <a:spcPct val="0"/>
              </a:spcAft>
              <a:tabLst>
                <a:tab pos="1866900" algn="l"/>
              </a:tabLst>
              <a:defRPr>
                <a:solidFill>
                  <a:schemeClr val="tx1"/>
                </a:solidFill>
                <a:latin typeface="Arial" panose="020B0604020202020204" pitchFamily="34" charset="0"/>
              </a:defRPr>
            </a:lvl5pPr>
            <a:lvl6pPr eaLnBrk="0" fontAlgn="base" hangingPunct="0">
              <a:spcBef>
                <a:spcPct val="0"/>
              </a:spcBef>
              <a:spcAft>
                <a:spcPct val="0"/>
              </a:spcAft>
              <a:tabLst>
                <a:tab pos="1866900" algn="l"/>
              </a:tabLst>
              <a:defRPr>
                <a:solidFill>
                  <a:schemeClr val="tx1"/>
                </a:solidFill>
                <a:latin typeface="Arial" panose="020B0604020202020204" pitchFamily="34" charset="0"/>
              </a:defRPr>
            </a:lvl6pPr>
            <a:lvl7pPr eaLnBrk="0" fontAlgn="base" hangingPunct="0">
              <a:spcBef>
                <a:spcPct val="0"/>
              </a:spcBef>
              <a:spcAft>
                <a:spcPct val="0"/>
              </a:spcAft>
              <a:tabLst>
                <a:tab pos="1866900" algn="l"/>
              </a:tabLst>
              <a:defRPr>
                <a:solidFill>
                  <a:schemeClr val="tx1"/>
                </a:solidFill>
                <a:latin typeface="Arial" panose="020B0604020202020204" pitchFamily="34" charset="0"/>
              </a:defRPr>
            </a:lvl7pPr>
            <a:lvl8pPr eaLnBrk="0" fontAlgn="base" hangingPunct="0">
              <a:spcBef>
                <a:spcPct val="0"/>
              </a:spcBef>
              <a:spcAft>
                <a:spcPct val="0"/>
              </a:spcAft>
              <a:tabLst>
                <a:tab pos="1866900" algn="l"/>
              </a:tabLst>
              <a:defRPr>
                <a:solidFill>
                  <a:schemeClr val="tx1"/>
                </a:solidFill>
                <a:latin typeface="Arial" panose="020B0604020202020204" pitchFamily="34" charset="0"/>
              </a:defRPr>
            </a:lvl8pPr>
            <a:lvl9pPr eaLnBrk="0" fontAlgn="base" hangingPunct="0">
              <a:spcBef>
                <a:spcPct val="0"/>
              </a:spcBef>
              <a:spcAft>
                <a:spcPct val="0"/>
              </a:spcAft>
              <a:tabLst>
                <a:tab pos="18669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866900" algn="l"/>
              </a:tabLst>
            </a:pPr>
            <a:r>
              <a:rPr kumimoji="0" lang="fr-FR" sz="105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fr-FR" sz="1600" b="1" i="0" u="sng" strike="noStrike" cap="none" normalizeH="0" baseline="0" dirty="0">
                <a:ln>
                  <a:noFill/>
                </a:ln>
                <a:solidFill>
                  <a:schemeClr val="accent2">
                    <a:lumMod val="50000"/>
                  </a:schemeClr>
                </a:solidFill>
                <a:effectLst/>
                <a:latin typeface="Rockwell" panose="02060603020205020403" pitchFamily="18" charset="0"/>
                <a:ea typeface="Calibri" panose="020F0502020204030204" pitchFamily="34" charset="0"/>
                <a:cs typeface="Times New Roman" panose="02020603050405020304" pitchFamily="18" charset="0"/>
              </a:rPr>
              <a:t>Sous la supervision </a:t>
            </a:r>
            <a:r>
              <a:rPr kumimoji="0" lang="fr-FR" sz="1050" b="1" i="0" u="none" strike="noStrike" cap="none" normalizeH="0" baseline="0" dirty="0">
                <a:ln>
                  <a:noFill/>
                </a:ln>
                <a:solidFill>
                  <a:schemeClr val="accent2">
                    <a:lumMod val="50000"/>
                  </a:schemeClr>
                </a:solidFill>
                <a:effectLst/>
                <a:latin typeface="Rockwell" panose="02060603020205020403" pitchFamily="18" charset="0"/>
                <a:ea typeface="Calibri" panose="020F0502020204030204" pitchFamily="34" charset="0"/>
                <a:cs typeface="Times New Roman" panose="02020603050405020304" pitchFamily="18" charset="0"/>
              </a:rPr>
              <a:t>:</a:t>
            </a:r>
            <a:endParaRPr kumimoji="0" lang="fr-FR" sz="1050" b="0" i="0" u="none" strike="noStrike" cap="none" normalizeH="0" baseline="0" dirty="0">
              <a:ln>
                <a:noFill/>
              </a:ln>
              <a:solidFill>
                <a:schemeClr val="accent2">
                  <a:lumMod val="50000"/>
                </a:schemeClr>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866900" algn="l"/>
              </a:tabLst>
            </a:pPr>
            <a:endParaRPr kumimoji="0" lang="fr-FR" sz="900" b="0" i="0" u="none" strike="noStrike" cap="none" normalizeH="0" baseline="0" dirty="0">
              <a:ln>
                <a:noFill/>
              </a:ln>
              <a:solidFill>
                <a:schemeClr val="tx1"/>
              </a:solidFill>
              <a:effectLst/>
            </a:endParaRPr>
          </a:p>
        </p:txBody>
      </p:sp>
      <p:sp>
        <p:nvSpPr>
          <p:cNvPr id="31" name="Rectangle 28"/>
          <p:cNvSpPr>
            <a:spLocks noChangeArrowheads="1"/>
          </p:cNvSpPr>
          <p:nvPr/>
        </p:nvSpPr>
        <p:spPr bwMode="auto">
          <a:xfrm>
            <a:off x="0" y="2131710"/>
            <a:ext cx="1107996"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sz="900" b="0" i="0" u="none" strike="noStrike" cap="none" normalizeH="0" baseline="0" dirty="0">
                <a:ln>
                  <a:noFill/>
                </a:ln>
                <a:solidFill>
                  <a:schemeClr val="tx1"/>
                </a:solidFill>
                <a:effectLst/>
                <a:latin typeface="Arial" panose="020B0604020202020204" pitchFamily="34" charset="0"/>
              </a:rPr>
            </a:br>
            <a:endParaRPr kumimoji="0" lang="fr-FR"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9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fr-FR"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900" b="0" i="0" u="none" strike="noStrike" cap="none" normalizeH="0" baseline="0" dirty="0">
              <a:ln>
                <a:noFill/>
              </a:ln>
              <a:solidFill>
                <a:schemeClr val="tx1"/>
              </a:solidFill>
              <a:effectLst/>
              <a:latin typeface="Arial" panose="020B0604020202020204" pitchFamily="34" charset="0"/>
            </a:endParaRPr>
          </a:p>
        </p:txBody>
      </p:sp>
      <p:sp>
        <p:nvSpPr>
          <p:cNvPr id="32" name="Rectangle 29"/>
          <p:cNvSpPr>
            <a:spLocks noChangeArrowheads="1"/>
          </p:cNvSpPr>
          <p:nvPr/>
        </p:nvSpPr>
        <p:spPr bwMode="auto">
          <a:xfrm>
            <a:off x="0" y="2752725"/>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sz="900"/>
          </a:p>
        </p:txBody>
      </p:sp>
      <p:sp>
        <p:nvSpPr>
          <p:cNvPr id="34" name="ZoneTexte 33"/>
          <p:cNvSpPr txBox="1"/>
          <p:nvPr/>
        </p:nvSpPr>
        <p:spPr>
          <a:xfrm>
            <a:off x="9578963" y="5568135"/>
            <a:ext cx="2728884" cy="1109727"/>
          </a:xfrm>
          <a:prstGeom prst="rect">
            <a:avLst/>
          </a:prstGeom>
          <a:noFill/>
        </p:spPr>
        <p:txBody>
          <a:bodyPr wrap="square" rtlCol="0">
            <a:spAutoFit/>
          </a:bodyPr>
          <a:lstStyle/>
          <a:p>
            <a:pPr>
              <a:lnSpc>
                <a:spcPct val="150000"/>
              </a:lnSpc>
            </a:pPr>
            <a:r>
              <a:rPr lang="fr-FR" sz="1600" dirty="0">
                <a:solidFill>
                  <a:schemeClr val="accent5">
                    <a:lumMod val="75000"/>
                  </a:schemeClr>
                </a:solidFill>
                <a:latin typeface="Rockwell" panose="02060603020205020403" pitchFamily="18" charset="0"/>
                <a:cs typeface="Times New Roman" panose="02020603050405020304" pitchFamily="18" charset="0"/>
              </a:rPr>
              <a:t>  Académique de :</a:t>
            </a:r>
          </a:p>
          <a:p>
            <a:pPr>
              <a:lnSpc>
                <a:spcPct val="150000"/>
              </a:lnSpc>
            </a:pPr>
            <a:r>
              <a:rPr lang="fr-FR" sz="1200" b="1" dirty="0">
                <a:latin typeface="Rockwell" panose="02060603020205020403" pitchFamily="18" charset="0"/>
              </a:rPr>
              <a:t>  </a:t>
            </a:r>
            <a:r>
              <a:rPr lang="fr-FR" sz="1400" b="1" dirty="0">
                <a:latin typeface="Rockwell" panose="02060603020205020403" pitchFamily="18" charset="0"/>
              </a:rPr>
              <a:t>M. NGUIMBUS</a:t>
            </a:r>
          </a:p>
          <a:p>
            <a:pPr>
              <a:lnSpc>
                <a:spcPct val="150000"/>
              </a:lnSpc>
            </a:pPr>
            <a:r>
              <a:rPr lang="fr-FR" sz="1600" i="1" dirty="0">
                <a:latin typeface="Rockwell" panose="02060603020205020403" pitchFamily="18" charset="0"/>
              </a:rPr>
              <a:t>Enseignant à IUSJ</a:t>
            </a:r>
          </a:p>
        </p:txBody>
      </p:sp>
      <p:sp>
        <p:nvSpPr>
          <p:cNvPr id="37" name="Zone de texte 1"/>
          <p:cNvSpPr txBox="1"/>
          <p:nvPr/>
        </p:nvSpPr>
        <p:spPr>
          <a:xfrm>
            <a:off x="0" y="113037"/>
            <a:ext cx="3785527" cy="2827306"/>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50000"/>
              </a:lnSpc>
            </a:pPr>
            <a:r>
              <a:rPr lang="fr-FR" sz="900" dirty="0">
                <a:effectLst/>
                <a:latin typeface="Rockwell" panose="02060603020205020403" pitchFamily="18" charset="0"/>
              </a:rPr>
              <a:t>      </a:t>
            </a:r>
          </a:p>
          <a:p>
            <a:pPr algn="ctr"/>
            <a:r>
              <a:rPr lang="fr-FR" sz="1200" b="1" dirty="0">
                <a:latin typeface="Rockwell" panose="02060603020205020403" pitchFamily="18" charset="0"/>
              </a:rPr>
              <a:t>REPUBLIQUE DU CAMEROUN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PAIX-TRAVAIL-PATRIE</a:t>
            </a:r>
            <a:endParaRPr lang="fr-FR" sz="1200" dirty="0">
              <a:latin typeface="Rockwell" panose="02060603020205020403" pitchFamily="18" charset="0"/>
            </a:endParaRPr>
          </a:p>
          <a:p>
            <a:pPr algn="ctr">
              <a:lnSpc>
                <a:spcPct val="150000"/>
              </a:lnSpc>
            </a:pPr>
            <a:r>
              <a:rPr lang="fr-FR" sz="2000" b="1" dirty="0">
                <a:effectLst/>
                <a:latin typeface="Rockwell" panose="02060603020205020403" pitchFamily="18" charset="0"/>
              </a:rPr>
              <a:t> </a:t>
            </a:r>
          </a:p>
          <a:p>
            <a:pPr algn="ctr">
              <a:lnSpc>
                <a:spcPct val="150000"/>
              </a:lnSpc>
            </a:pPr>
            <a:endParaRPr lang="fr-FR" sz="2000" b="1" dirty="0">
              <a:effectLst/>
              <a:latin typeface="Rockwell" panose="02060603020205020403" pitchFamily="18" charset="0"/>
            </a:endParaRPr>
          </a:p>
          <a:p>
            <a:pPr algn="ctr"/>
            <a:r>
              <a:rPr lang="fr-FR" sz="1400" b="1" dirty="0">
                <a:effectLst/>
                <a:latin typeface="Rockwell" panose="02060603020205020403" pitchFamily="18" charset="0"/>
              </a:rPr>
              <a:t>    </a:t>
            </a:r>
            <a:r>
              <a:rPr lang="fr-FR" sz="1400" b="1" dirty="0">
                <a:latin typeface="Rockwell" panose="02060603020205020403" pitchFamily="18" charset="0"/>
              </a:rPr>
              <a:t> </a:t>
            </a:r>
            <a:r>
              <a:rPr lang="fr-FR" sz="1400" b="1" dirty="0">
                <a:effectLst/>
                <a:latin typeface="Rockwell" panose="02060603020205020403" pitchFamily="18" charset="0"/>
              </a:rPr>
              <a:t> </a:t>
            </a:r>
            <a:r>
              <a:rPr lang="fr-FR" sz="1200" b="1" dirty="0">
                <a:latin typeface="Rockwell" panose="02060603020205020403" pitchFamily="18" charset="0"/>
              </a:rPr>
              <a:t>MINISTERE DE L’ENSEIGNEMENT SUPERIEUR</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UNIVERSITE DE YAOUNDE I</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INSTITUT SAINT-JEAN</a:t>
            </a:r>
            <a:endParaRPr lang="fr-FR" sz="1200" dirty="0">
              <a:latin typeface="Rockwell" panose="02060603020205020403" pitchFamily="18" charset="0"/>
            </a:endParaRPr>
          </a:p>
          <a:p>
            <a:pPr algn="ctr">
              <a:lnSpc>
                <a:spcPct val="150000"/>
              </a:lnSpc>
            </a:pPr>
            <a:r>
              <a:rPr lang="en-US" dirty="0">
                <a:effectLst/>
              </a:rPr>
              <a:t> </a:t>
            </a:r>
            <a:endParaRPr lang="fr-FR" dirty="0">
              <a:effectLst/>
            </a:endParaRPr>
          </a:p>
        </p:txBody>
      </p:sp>
      <p:pic>
        <p:nvPicPr>
          <p:cNvPr id="38" name="Image 37"/>
          <p:cNvPicPr/>
          <p:nvPr/>
        </p:nvPicPr>
        <p:blipFill>
          <a:blip r:embed="rId2">
            <a:extLst>
              <a:ext uri="{28A0092B-C50C-407E-A947-70E740481C1C}">
                <a14:useLocalDpi xmlns:a14="http://schemas.microsoft.com/office/drawing/2010/main" val="0"/>
              </a:ext>
            </a:extLst>
          </a:blip>
          <a:srcRect/>
          <a:stretch/>
        </p:blipFill>
        <p:spPr bwMode="auto">
          <a:xfrm>
            <a:off x="1225488" y="1035930"/>
            <a:ext cx="911225" cy="728980"/>
          </a:xfrm>
          <a:prstGeom prst="rect">
            <a:avLst/>
          </a:prstGeom>
          <a:noFill/>
          <a:ln>
            <a:noFill/>
          </a:ln>
        </p:spPr>
      </p:pic>
      <p:sp>
        <p:nvSpPr>
          <p:cNvPr id="39" name="Zone de texte 2"/>
          <p:cNvSpPr txBox="1">
            <a:spLocks noChangeArrowheads="1"/>
          </p:cNvSpPr>
          <p:nvPr/>
        </p:nvSpPr>
        <p:spPr bwMode="auto">
          <a:xfrm>
            <a:off x="9444002" y="268590"/>
            <a:ext cx="2747997" cy="26479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r>
              <a:rPr lang="fr-FR" sz="1200" b="1" dirty="0">
                <a:latin typeface="Rockwell" panose="02060603020205020403" pitchFamily="18" charset="0"/>
              </a:rPr>
              <a:t>REPUBLIC OF CAMEROON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PEACE-WORK-FATHERLAND</a:t>
            </a:r>
            <a:endParaRPr lang="fr-FR" sz="1200" dirty="0">
              <a:latin typeface="Rockwell" panose="02060603020205020403" pitchFamily="18" charset="0"/>
            </a:endParaRPr>
          </a:p>
          <a:p>
            <a:pPr>
              <a:lnSpc>
                <a:spcPct val="107000"/>
              </a:lnSpc>
              <a:spcAft>
                <a:spcPts val="800"/>
              </a:spcAft>
            </a:pPr>
            <a:endParaRPr lang="fr-FR" sz="1050" b="1" dirty="0">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050" b="1" dirty="0">
              <a:effectLst/>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050" b="1" dirty="0">
              <a:latin typeface="Rockwell" panose="02060603020205020403" pitchFamily="18" charset="0"/>
              <a:ea typeface="Calibri" panose="020F0502020204030204" pitchFamily="34" charset="0"/>
              <a:cs typeface="Times New Roman" panose="02020603050405020304" pitchFamily="18" charset="0"/>
            </a:endParaRPr>
          </a:p>
          <a:p>
            <a:pPr>
              <a:lnSpc>
                <a:spcPct val="107000"/>
              </a:lnSpc>
              <a:spcAft>
                <a:spcPts val="800"/>
              </a:spcAft>
            </a:pPr>
            <a:endParaRPr lang="fr-FR" sz="1200" dirty="0">
              <a:effectLst/>
              <a:latin typeface="Rockwell" panose="02060603020205020403" pitchFamily="18" charset="0"/>
              <a:ea typeface="Calibri" panose="020F0502020204030204" pitchFamily="34" charset="0"/>
              <a:cs typeface="Times New Roman" panose="02020603050405020304" pitchFamily="18" charset="0"/>
            </a:endParaRPr>
          </a:p>
          <a:p>
            <a:pPr algn="ctr"/>
            <a:r>
              <a:rPr lang="fr-FR" sz="1200" b="1" dirty="0">
                <a:latin typeface="Rockwell" panose="02060603020205020403" pitchFamily="18" charset="0"/>
              </a:rPr>
              <a:t>MINISTERY OF HIGHER EDUCATION</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UNIVERSITY OF YAOUNDE I</a:t>
            </a:r>
            <a:endParaRPr lang="fr-FR" sz="1200" dirty="0">
              <a:latin typeface="Rockwell" panose="02060603020205020403" pitchFamily="18" charset="0"/>
            </a:endParaRPr>
          </a:p>
          <a:p>
            <a:pPr algn="ctr"/>
            <a:r>
              <a:rPr lang="fr-FR" sz="1200" b="1" dirty="0">
                <a:latin typeface="Rockwell" panose="02060603020205020403" pitchFamily="18" charset="0"/>
              </a:rPr>
              <a:t>***************</a:t>
            </a:r>
            <a:endParaRPr lang="fr-FR" sz="1200" dirty="0">
              <a:latin typeface="Rockwell" panose="02060603020205020403" pitchFamily="18" charset="0"/>
            </a:endParaRPr>
          </a:p>
          <a:p>
            <a:pPr algn="ctr"/>
            <a:r>
              <a:rPr lang="fr-FR" sz="1200" b="1" dirty="0">
                <a:latin typeface="Rockwell" panose="02060603020205020403" pitchFamily="18" charset="0"/>
              </a:rPr>
              <a:t>SAINT-JEAN INSTITUTE</a:t>
            </a:r>
            <a:endParaRPr lang="fr-FR" sz="1200" dirty="0">
              <a:latin typeface="Rockwell" panose="02060603020205020403" pitchFamily="18" charset="0"/>
            </a:endParaRPr>
          </a:p>
          <a:p>
            <a:pPr>
              <a:lnSpc>
                <a:spcPct val="107000"/>
              </a:lnSpc>
              <a:spcAft>
                <a:spcPts val="80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 </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0" name="Image 39"/>
          <p:cNvPicPr/>
          <p:nvPr/>
        </p:nvPicPr>
        <p:blipFill>
          <a:blip r:embed="rId2">
            <a:extLst>
              <a:ext uri="{28A0092B-C50C-407E-A947-70E740481C1C}">
                <a14:useLocalDpi xmlns:a14="http://schemas.microsoft.com/office/drawing/2010/main" val="0"/>
              </a:ext>
            </a:extLst>
          </a:blip>
          <a:srcRect/>
          <a:stretch/>
        </p:blipFill>
        <p:spPr>
          <a:xfrm>
            <a:off x="10301793" y="1091935"/>
            <a:ext cx="1070768" cy="672975"/>
          </a:xfrm>
          <a:prstGeom prst="rect">
            <a:avLst/>
          </a:prstGeom>
        </p:spPr>
      </p:pic>
      <p:sp>
        <p:nvSpPr>
          <p:cNvPr id="2" name="Rectangle 1"/>
          <p:cNvSpPr/>
          <p:nvPr/>
        </p:nvSpPr>
        <p:spPr>
          <a:xfrm>
            <a:off x="4883003" y="6370662"/>
            <a:ext cx="3085653" cy="307200"/>
          </a:xfrm>
          <a:prstGeom prst="rect">
            <a:avLst/>
          </a:prstGeom>
        </p:spPr>
        <p:txBody>
          <a:bodyPr wrap="none">
            <a:spAutoFit/>
          </a:bodyPr>
          <a:lstStyle/>
          <a:p>
            <a:pPr algn="ctr">
              <a:lnSpc>
                <a:spcPct val="107000"/>
              </a:lnSpc>
              <a:spcAft>
                <a:spcPts val="800"/>
              </a:spcAft>
            </a:pPr>
            <a:r>
              <a:rPr lang="fr-FR" sz="1400" b="1" dirty="0">
                <a:solidFill>
                  <a:schemeClr val="accent2">
                    <a:lumMod val="50000"/>
                  </a:schemeClr>
                </a:solidFill>
                <a:effectLst>
                  <a:outerShdw blurRad="38100" dist="19050" dir="2700000" algn="tl">
                    <a:schemeClr val="dk1">
                      <a:alpha val="40000"/>
                    </a:schemeClr>
                  </a:outerShdw>
                </a:effectLst>
                <a:latin typeface="Rockwell" panose="02060603020205020403" pitchFamily="18" charset="0"/>
                <a:ea typeface="Calibri" panose="020F0502020204030204" pitchFamily="34" charset="0"/>
                <a:cs typeface="Times New Roman" panose="02020603050405020304" pitchFamily="18" charset="0"/>
              </a:rPr>
              <a:t>ANNÉE ACADÉMIQUE 2025-2026</a:t>
            </a:r>
            <a:endParaRPr lang="fr-FR" sz="1400" b="1" dirty="0">
              <a:solidFill>
                <a:schemeClr val="accent2">
                  <a:lumMod val="50000"/>
                </a:schemeClr>
              </a:solidFill>
              <a:latin typeface="Rockwell" panose="02060603020205020403" pitchFamily="18" charset="0"/>
              <a:ea typeface="Calibri" panose="020F0502020204030204" pitchFamily="34" charset="0"/>
              <a:cs typeface="Times New Roman" panose="02020603050405020304" pitchFamily="18" charset="0"/>
            </a:endParaRPr>
          </a:p>
        </p:txBody>
      </p:sp>
      <p:sp>
        <p:nvSpPr>
          <p:cNvPr id="3" name="ZoneTexte 2"/>
          <p:cNvSpPr txBox="1"/>
          <p:nvPr/>
        </p:nvSpPr>
        <p:spPr>
          <a:xfrm>
            <a:off x="4420943" y="1107027"/>
            <a:ext cx="4248450" cy="1410707"/>
          </a:xfrm>
          <a:prstGeom prst="rect">
            <a:avLst/>
          </a:prstGeom>
          <a:noFill/>
        </p:spPr>
        <p:txBody>
          <a:bodyPr wrap="square" rtlCol="0">
            <a:spAutoFit/>
          </a:bodyPr>
          <a:lstStyle/>
          <a:p>
            <a:pPr algn="ctr">
              <a:lnSpc>
                <a:spcPct val="150000"/>
              </a:lnSpc>
            </a:pPr>
            <a:r>
              <a:rPr lang="fr-FR" b="1" i="1" dirty="0">
                <a:latin typeface="Rockwell" panose="02060603020205020403" pitchFamily="18" charset="0"/>
              </a:rPr>
              <a:t>PROJET DE SYSTÈME D’EXPLOITATION</a:t>
            </a:r>
            <a:endParaRPr lang="fr-FR" b="1" dirty="0">
              <a:solidFill>
                <a:schemeClr val="accent2">
                  <a:lumMod val="50000"/>
                </a:schemeClr>
              </a:solidFill>
              <a:latin typeface="Rockwell" panose="02060603020205020403" pitchFamily="18" charset="0"/>
            </a:endParaRPr>
          </a:p>
          <a:p>
            <a:pPr algn="ctr">
              <a:lnSpc>
                <a:spcPct val="150000"/>
              </a:lnSpc>
            </a:pPr>
            <a:r>
              <a:rPr lang="fr-FR" dirty="0">
                <a:latin typeface="Rockwell" panose="02060603020205020403" pitchFamily="18" charset="0"/>
              </a:rPr>
              <a:t> </a:t>
            </a:r>
            <a:r>
              <a:rPr lang="fr-FR" sz="2400" u="sng" dirty="0">
                <a:solidFill>
                  <a:schemeClr val="accent1"/>
                </a:solidFill>
                <a:latin typeface="Rockwell" panose="02060603020205020403" pitchFamily="18" charset="0"/>
              </a:rPr>
              <a:t>Thème:</a:t>
            </a:r>
            <a:r>
              <a:rPr lang="fr-FR" sz="2400" u="sng" dirty="0">
                <a:latin typeface="Rockwell" panose="02060603020205020403" pitchFamily="18" charset="0"/>
              </a:rPr>
              <a:t> </a:t>
            </a:r>
            <a:endParaRPr lang="fr-FR" u="sng" dirty="0">
              <a:solidFill>
                <a:schemeClr val="accent1"/>
              </a:solidFill>
              <a:latin typeface="Rockwell" panose="02060603020205020403" pitchFamily="18" charset="0"/>
            </a:endParaRPr>
          </a:p>
        </p:txBody>
      </p:sp>
    </p:spTree>
    <p:extLst>
      <p:ext uri="{BB962C8B-B14F-4D97-AF65-F5344CB8AC3E}">
        <p14:creationId xmlns:p14="http://schemas.microsoft.com/office/powerpoint/2010/main" val="27850282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195C801-FEC2-4935-BC79-CDA576786FDD}"/>
              </a:ext>
            </a:extLst>
          </p:cNvPr>
          <p:cNvSpPr/>
          <p:nvPr/>
        </p:nvSpPr>
        <p:spPr>
          <a:xfrm>
            <a:off x="3984591" y="0"/>
            <a:ext cx="82074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pic>
        <p:nvPicPr>
          <p:cNvPr id="3" name="Picture 2" descr="A picture containing text, clipart&#10;&#10;Description automatically generated">
            <a:extLst>
              <a:ext uri="{FF2B5EF4-FFF2-40B4-BE49-F238E27FC236}">
                <a16:creationId xmlns:a16="http://schemas.microsoft.com/office/drawing/2014/main" id="{389989F5-ABEB-4577-832F-6CD1B885E6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58" y="0"/>
            <a:ext cx="5151121" cy="6858000"/>
          </a:xfrm>
          <a:prstGeom prst="rect">
            <a:avLst/>
          </a:prstGeom>
        </p:spPr>
      </p:pic>
      <p:sp>
        <p:nvSpPr>
          <p:cNvPr id="4" name="Oval 3">
            <a:extLst>
              <a:ext uri="{FF2B5EF4-FFF2-40B4-BE49-F238E27FC236}">
                <a16:creationId xmlns:a16="http://schemas.microsoft.com/office/drawing/2014/main" id="{8D03F5C1-9AEE-41FA-B838-C1AF70BBE1E8}"/>
              </a:ext>
            </a:extLst>
          </p:cNvPr>
          <p:cNvSpPr/>
          <p:nvPr/>
        </p:nvSpPr>
        <p:spPr>
          <a:xfrm>
            <a:off x="3534792" y="769333"/>
            <a:ext cx="5122416" cy="532971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latin typeface="Rockwell" panose="02060603020205020403" pitchFamily="18" charset="0"/>
            </a:endParaRPr>
          </a:p>
        </p:txBody>
      </p:sp>
      <p:sp>
        <p:nvSpPr>
          <p:cNvPr id="6" name="Oval 5">
            <a:extLst>
              <a:ext uri="{FF2B5EF4-FFF2-40B4-BE49-F238E27FC236}">
                <a16:creationId xmlns:a16="http://schemas.microsoft.com/office/drawing/2014/main" id="{E494758F-13A0-4BB3-B8AF-5AC2ABD264CE}"/>
              </a:ext>
            </a:extLst>
          </p:cNvPr>
          <p:cNvSpPr/>
          <p:nvPr/>
        </p:nvSpPr>
        <p:spPr>
          <a:xfrm>
            <a:off x="4527589" y="1793482"/>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1</a:t>
            </a:r>
            <a:endParaRPr lang="en-US" sz="1400" b="1" dirty="0">
              <a:solidFill>
                <a:schemeClr val="bg1"/>
              </a:solidFill>
              <a:latin typeface="Rockwell" panose="02060603020205020403" pitchFamily="18" charset="0"/>
            </a:endParaRPr>
          </a:p>
        </p:txBody>
      </p:sp>
      <p:sp>
        <p:nvSpPr>
          <p:cNvPr id="9" name="Oval 8">
            <a:extLst>
              <a:ext uri="{FF2B5EF4-FFF2-40B4-BE49-F238E27FC236}">
                <a16:creationId xmlns:a16="http://schemas.microsoft.com/office/drawing/2014/main" id="{F89CFFD7-2829-4532-8596-AA0A1D577B8B}"/>
              </a:ext>
            </a:extLst>
          </p:cNvPr>
          <p:cNvSpPr/>
          <p:nvPr/>
        </p:nvSpPr>
        <p:spPr>
          <a:xfrm>
            <a:off x="4495100" y="3160455"/>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3</a:t>
            </a:r>
            <a:endParaRPr lang="en-US" sz="1400" b="1" dirty="0">
              <a:solidFill>
                <a:schemeClr val="bg1"/>
              </a:solidFill>
              <a:latin typeface="Rockwell" panose="02060603020205020403" pitchFamily="18" charset="0"/>
            </a:endParaRPr>
          </a:p>
        </p:txBody>
      </p:sp>
      <p:sp>
        <p:nvSpPr>
          <p:cNvPr id="11" name="Oval 10">
            <a:extLst>
              <a:ext uri="{FF2B5EF4-FFF2-40B4-BE49-F238E27FC236}">
                <a16:creationId xmlns:a16="http://schemas.microsoft.com/office/drawing/2014/main" id="{035C173E-AE4F-45E5-B63F-1FF2A8B7F831}"/>
              </a:ext>
            </a:extLst>
          </p:cNvPr>
          <p:cNvSpPr/>
          <p:nvPr/>
        </p:nvSpPr>
        <p:spPr>
          <a:xfrm>
            <a:off x="4556391" y="3915333"/>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4</a:t>
            </a:r>
            <a:endParaRPr lang="en-US" sz="1400" b="1" dirty="0">
              <a:solidFill>
                <a:schemeClr val="bg1"/>
              </a:solidFill>
              <a:latin typeface="Rockwell" panose="02060603020205020403" pitchFamily="18" charset="0"/>
            </a:endParaRPr>
          </a:p>
        </p:txBody>
      </p:sp>
      <p:sp>
        <p:nvSpPr>
          <p:cNvPr id="12" name="Oval 11">
            <a:extLst>
              <a:ext uri="{FF2B5EF4-FFF2-40B4-BE49-F238E27FC236}">
                <a16:creationId xmlns:a16="http://schemas.microsoft.com/office/drawing/2014/main" id="{0ED611DB-9154-4AFF-9602-C088129257DC}"/>
              </a:ext>
            </a:extLst>
          </p:cNvPr>
          <p:cNvSpPr/>
          <p:nvPr/>
        </p:nvSpPr>
        <p:spPr>
          <a:xfrm>
            <a:off x="4556392" y="4874027"/>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5</a:t>
            </a:r>
            <a:endParaRPr lang="en-US" sz="1400" b="1" dirty="0">
              <a:solidFill>
                <a:schemeClr val="bg1"/>
              </a:solidFill>
              <a:latin typeface="Rockwell" panose="02060603020205020403" pitchFamily="18" charset="0"/>
            </a:endParaRPr>
          </a:p>
        </p:txBody>
      </p:sp>
      <p:sp>
        <p:nvSpPr>
          <p:cNvPr id="7" name="Rectangle 6">
            <a:extLst>
              <a:ext uri="{FF2B5EF4-FFF2-40B4-BE49-F238E27FC236}">
                <a16:creationId xmlns:a16="http://schemas.microsoft.com/office/drawing/2014/main" id="{193C7864-99AE-43E7-A386-D37ECB4C0A0F}"/>
              </a:ext>
            </a:extLst>
          </p:cNvPr>
          <p:cNvSpPr/>
          <p:nvPr/>
        </p:nvSpPr>
        <p:spPr>
          <a:xfrm>
            <a:off x="4850207" y="1787437"/>
            <a:ext cx="2182428" cy="367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INTRODUCTION</a:t>
            </a:r>
            <a:endParaRPr lang="en-US" sz="1400" b="1" dirty="0">
              <a:solidFill>
                <a:schemeClr val="bg1"/>
              </a:solidFill>
              <a:latin typeface="Rockwell" panose="02060603020205020403" pitchFamily="18" charset="0"/>
            </a:endParaRPr>
          </a:p>
        </p:txBody>
      </p:sp>
      <p:sp>
        <p:nvSpPr>
          <p:cNvPr id="15" name="Rectangle 14">
            <a:extLst>
              <a:ext uri="{FF2B5EF4-FFF2-40B4-BE49-F238E27FC236}">
                <a16:creationId xmlns:a16="http://schemas.microsoft.com/office/drawing/2014/main" id="{0536CD49-99B7-4890-8F2B-49424FD08AEE}"/>
              </a:ext>
            </a:extLst>
          </p:cNvPr>
          <p:cNvSpPr/>
          <p:nvPr/>
        </p:nvSpPr>
        <p:spPr>
          <a:xfrm>
            <a:off x="4882696" y="3169214"/>
            <a:ext cx="2867482" cy="382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latin typeface="Rockwell" panose="02060603020205020403" pitchFamily="18" charset="0"/>
              </a:rPr>
              <a:t>DÉMARCHE D’ANALYSE </a:t>
            </a:r>
            <a:endParaRPr lang="en-US" sz="1600" b="1" dirty="0">
              <a:solidFill>
                <a:schemeClr val="bg1"/>
              </a:solidFill>
              <a:latin typeface="Rockwell" panose="02060603020205020403" pitchFamily="18" charset="0"/>
            </a:endParaRPr>
          </a:p>
        </p:txBody>
      </p:sp>
      <p:sp>
        <p:nvSpPr>
          <p:cNvPr id="16" name="Rectangle 15">
            <a:extLst>
              <a:ext uri="{FF2B5EF4-FFF2-40B4-BE49-F238E27FC236}">
                <a16:creationId xmlns:a16="http://schemas.microsoft.com/office/drawing/2014/main" id="{B62C60CA-F3F5-40A2-85EA-101C29C86EFE}"/>
              </a:ext>
            </a:extLst>
          </p:cNvPr>
          <p:cNvSpPr/>
          <p:nvPr/>
        </p:nvSpPr>
        <p:spPr>
          <a:xfrm>
            <a:off x="4874102" y="4147114"/>
            <a:ext cx="3585100" cy="302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latin typeface="Rockwell" panose="02060603020205020403" pitchFamily="18" charset="0"/>
              </a:rPr>
              <a:t>DIAGRAMME INTERVENANTS</a:t>
            </a:r>
            <a:endParaRPr lang="en-US" sz="1600" b="1" dirty="0">
              <a:solidFill>
                <a:schemeClr val="bg1"/>
              </a:solidFill>
              <a:latin typeface="Rockwell" panose="02060603020205020403" pitchFamily="18" charset="0"/>
            </a:endParaRPr>
          </a:p>
        </p:txBody>
      </p:sp>
      <p:sp>
        <p:nvSpPr>
          <p:cNvPr id="20"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a:t>
            </a:r>
            <a:endParaRPr lang="en-US" dirty="0">
              <a:latin typeface="Amasis MT Pro Medium" panose="02040604050005020304" pitchFamily="18" charset="0"/>
            </a:endParaRPr>
          </a:p>
        </p:txBody>
      </p:sp>
      <p:sp>
        <p:nvSpPr>
          <p:cNvPr id="8" name="Rectangle 7">
            <a:extLst>
              <a:ext uri="{FF2B5EF4-FFF2-40B4-BE49-F238E27FC236}">
                <a16:creationId xmlns:a16="http://schemas.microsoft.com/office/drawing/2014/main" id="{C56FFE68-40C3-AF9C-BB5B-244573EEB12F}"/>
              </a:ext>
            </a:extLst>
          </p:cNvPr>
          <p:cNvSpPr/>
          <p:nvPr/>
        </p:nvSpPr>
        <p:spPr>
          <a:xfrm>
            <a:off x="4733946" y="4851837"/>
            <a:ext cx="2182428" cy="367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latin typeface="Rockwell" panose="02060603020205020403" pitchFamily="18" charset="0"/>
              </a:rPr>
              <a:t>CONCLUSION</a:t>
            </a:r>
            <a:endParaRPr lang="en-US" sz="1600" b="1" dirty="0">
              <a:solidFill>
                <a:schemeClr val="bg1"/>
              </a:solidFill>
              <a:latin typeface="Rockwell" panose="02060603020205020403" pitchFamily="18" charset="0"/>
            </a:endParaRPr>
          </a:p>
        </p:txBody>
      </p:sp>
      <p:sp>
        <p:nvSpPr>
          <p:cNvPr id="2" name="Rectangle 1">
            <a:extLst>
              <a:ext uri="{FF2B5EF4-FFF2-40B4-BE49-F238E27FC236}">
                <a16:creationId xmlns:a16="http://schemas.microsoft.com/office/drawing/2014/main" id="{0653DC3C-E86C-994F-E743-4923F9E2FB31}"/>
              </a:ext>
            </a:extLst>
          </p:cNvPr>
          <p:cNvSpPr/>
          <p:nvPr/>
        </p:nvSpPr>
        <p:spPr>
          <a:xfrm>
            <a:off x="4733944" y="2465816"/>
            <a:ext cx="2182428" cy="367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latin typeface="Rockwell" panose="02060603020205020403" pitchFamily="18" charset="0"/>
              </a:rPr>
              <a:t>CONTEXTE</a:t>
            </a:r>
            <a:endParaRPr lang="en-US" sz="1600" b="1" dirty="0">
              <a:solidFill>
                <a:schemeClr val="bg1"/>
              </a:solidFill>
              <a:latin typeface="Rockwell" panose="02060603020205020403" pitchFamily="18" charset="0"/>
            </a:endParaRPr>
          </a:p>
        </p:txBody>
      </p:sp>
      <p:sp>
        <p:nvSpPr>
          <p:cNvPr id="5" name="Oval 5">
            <a:extLst>
              <a:ext uri="{FF2B5EF4-FFF2-40B4-BE49-F238E27FC236}">
                <a16:creationId xmlns:a16="http://schemas.microsoft.com/office/drawing/2014/main" id="{E5480518-23CE-0A6E-31CE-D5DF6836CDB4}"/>
              </a:ext>
            </a:extLst>
          </p:cNvPr>
          <p:cNvSpPr/>
          <p:nvPr/>
        </p:nvSpPr>
        <p:spPr>
          <a:xfrm>
            <a:off x="4518995" y="2370807"/>
            <a:ext cx="355107" cy="35510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Rockwell" panose="02060603020205020403" pitchFamily="18" charset="0"/>
              </a:rPr>
              <a:t>2</a:t>
            </a:r>
            <a:endParaRPr lang="en-US" sz="1400" b="1" dirty="0">
              <a:solidFill>
                <a:schemeClr val="bg1"/>
              </a:solidFill>
              <a:latin typeface="Rockwell" panose="02060603020205020403" pitchFamily="18" charset="0"/>
            </a:endParaRPr>
          </a:p>
        </p:txBody>
      </p:sp>
    </p:spTree>
    <p:extLst>
      <p:ext uri="{BB962C8B-B14F-4D97-AF65-F5344CB8AC3E}">
        <p14:creationId xmlns:p14="http://schemas.microsoft.com/office/powerpoint/2010/main" val="382265240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par>
                                <p:cTn id="9" presetID="47"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strVal val="#ppt_h"/>
                                          </p:val>
                                        </p:tav>
                                        <p:tav tm="100000">
                                          <p:val>
                                            <p:strVal val="#ppt_h"/>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anim calcmode="lin" valueType="num">
                                      <p:cBhvr>
                                        <p:cTn id="23" dur="500" fill="hold"/>
                                        <p:tgtEl>
                                          <p:spTgt spid="15"/>
                                        </p:tgtEl>
                                        <p:attrNameLst>
                                          <p:attrName>ppt_x</p:attrName>
                                        </p:attrNameLst>
                                      </p:cBhvr>
                                      <p:tavLst>
                                        <p:tav tm="0">
                                          <p:val>
                                            <p:strVal val="#ppt_x"/>
                                          </p:val>
                                        </p:tav>
                                        <p:tav tm="100000">
                                          <p:val>
                                            <p:strVal val="#ppt_x"/>
                                          </p:val>
                                        </p:tav>
                                      </p:tavLst>
                                    </p:anim>
                                    <p:anim calcmode="lin" valueType="num">
                                      <p:cBhvr>
                                        <p:cTn id="2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strVal val="#ppt_h"/>
                                          </p:val>
                                        </p:tav>
                                        <p:tav tm="100000">
                                          <p:val>
                                            <p:strVal val="#ppt_h"/>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anim calcmode="lin" valueType="num">
                                      <p:cBhvr>
                                        <p:cTn id="34" dur="500" fill="hold"/>
                                        <p:tgtEl>
                                          <p:spTgt spid="16"/>
                                        </p:tgtEl>
                                        <p:attrNameLst>
                                          <p:attrName>ppt_x</p:attrName>
                                        </p:attrNameLst>
                                      </p:cBhvr>
                                      <p:tavLst>
                                        <p:tav tm="0">
                                          <p:val>
                                            <p:strVal val="#ppt_x"/>
                                          </p:val>
                                        </p:tav>
                                        <p:tav tm="100000">
                                          <p:val>
                                            <p:strVal val="#ppt_x"/>
                                          </p:val>
                                        </p:tav>
                                      </p:tavLst>
                                    </p:anim>
                                    <p:anim calcmode="lin" valueType="num">
                                      <p:cBhvr>
                                        <p:cTn id="35"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strVal val="#ppt_h"/>
                                          </p:val>
                                        </p:tav>
                                        <p:tav tm="100000">
                                          <p:val>
                                            <p:strVal val="#ppt_h"/>
                                          </p:val>
                                        </p:tav>
                                      </p:tavLst>
                                    </p:anim>
                                  </p:childTnLst>
                                </p:cTn>
                              </p:par>
                              <p:par>
                                <p:cTn id="42" presetID="47"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anim calcmode="lin" valueType="num">
                                      <p:cBhvr>
                                        <p:cTn id="45" dur="500" fill="hold"/>
                                        <p:tgtEl>
                                          <p:spTgt spid="8"/>
                                        </p:tgtEl>
                                        <p:attrNameLst>
                                          <p:attrName>ppt_x</p:attrName>
                                        </p:attrNameLst>
                                      </p:cBhvr>
                                      <p:tavLst>
                                        <p:tav tm="0">
                                          <p:val>
                                            <p:strVal val="#ppt_x"/>
                                          </p:val>
                                        </p:tav>
                                        <p:tav tm="100000">
                                          <p:val>
                                            <p:strVal val="#ppt_x"/>
                                          </p:val>
                                        </p:tav>
                                      </p:tavLst>
                                    </p:anim>
                                    <p:anim calcmode="lin" valueType="num">
                                      <p:cBhvr>
                                        <p:cTn id="46" dur="500" fill="hold"/>
                                        <p:tgtEl>
                                          <p:spTgt spid="8"/>
                                        </p:tgtEl>
                                        <p:attrNameLst>
                                          <p:attrName>ppt_y</p:attrName>
                                        </p:attrNameLst>
                                      </p:cBhvr>
                                      <p:tavLst>
                                        <p:tav tm="0">
                                          <p:val>
                                            <p:strVal val="#ppt_y-.1"/>
                                          </p:val>
                                        </p:tav>
                                        <p:tav tm="100000">
                                          <p:val>
                                            <p:strVal val="#ppt_y"/>
                                          </p:val>
                                        </p:tav>
                                      </p:tavLst>
                                    </p:anim>
                                  </p:childTnLst>
                                </p:cTn>
                              </p:par>
                              <p:par>
                                <p:cTn id="47" presetID="47"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500"/>
                                        <p:tgtEl>
                                          <p:spTgt spid="2"/>
                                        </p:tgtEl>
                                      </p:cBhvr>
                                    </p:animEffect>
                                    <p:anim calcmode="lin" valueType="num">
                                      <p:cBhvr>
                                        <p:cTn id="50" dur="500" fill="hold"/>
                                        <p:tgtEl>
                                          <p:spTgt spid="2"/>
                                        </p:tgtEl>
                                        <p:attrNameLst>
                                          <p:attrName>ppt_x</p:attrName>
                                        </p:attrNameLst>
                                      </p:cBhvr>
                                      <p:tavLst>
                                        <p:tav tm="0">
                                          <p:val>
                                            <p:strVal val="#ppt_x"/>
                                          </p:val>
                                        </p:tav>
                                        <p:tav tm="100000">
                                          <p:val>
                                            <p:strVal val="#ppt_x"/>
                                          </p:val>
                                        </p:tav>
                                      </p:tavLst>
                                    </p:anim>
                                    <p:anim calcmode="lin" valueType="num">
                                      <p:cBhvr>
                                        <p:cTn id="51"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7" presetClass="entr" presetSubtype="10"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 calcmode="lin" valueType="num">
                                      <p:cBhvr>
                                        <p:cTn id="56" dur="500" fill="hold"/>
                                        <p:tgtEl>
                                          <p:spTgt spid="5"/>
                                        </p:tgtEl>
                                        <p:attrNameLst>
                                          <p:attrName>ppt_w</p:attrName>
                                        </p:attrNameLst>
                                      </p:cBhvr>
                                      <p:tavLst>
                                        <p:tav tm="0">
                                          <p:val>
                                            <p:fltVal val="0"/>
                                          </p:val>
                                        </p:tav>
                                        <p:tav tm="100000">
                                          <p:val>
                                            <p:strVal val="#ppt_w"/>
                                          </p:val>
                                        </p:tav>
                                      </p:tavLst>
                                    </p:anim>
                                    <p:anim calcmode="lin" valueType="num">
                                      <p:cBhvr>
                                        <p:cTn id="57"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2" grpId="0" animBg="1"/>
      <p:bldP spid="7" grpId="0"/>
      <p:bldP spid="15" grpId="0"/>
      <p:bldP spid="16" grpId="0"/>
      <p:bldP spid="8" grpId="0"/>
      <p:bldP spid="2"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0756A9C-BEC7-41EE-A6BE-9C0DCF9944DB}"/>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Rockwell" panose="02060603020205020403" pitchFamily="18" charset="0"/>
              </a:rPr>
              <a:t>DISKMONITOR: Cas de CentOS Stream</a:t>
            </a:r>
            <a:endParaRPr lang="en-US" b="1" dirty="0">
              <a:latin typeface="Rockwell" panose="02060603020205020403" pitchFamily="18" charset="0"/>
            </a:endParaRPr>
          </a:p>
        </p:txBody>
      </p:sp>
      <p:sp>
        <p:nvSpPr>
          <p:cNvPr id="7" name="Oval 6">
            <a:extLst>
              <a:ext uri="{FF2B5EF4-FFF2-40B4-BE49-F238E27FC236}">
                <a16:creationId xmlns:a16="http://schemas.microsoft.com/office/drawing/2014/main" id="{0AF00FE2-8B4E-4C4E-91C3-94FD5C9CCE15}"/>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12" name="Rectangle à coins arrondis 11"/>
          <p:cNvSpPr/>
          <p:nvPr/>
        </p:nvSpPr>
        <p:spPr>
          <a:xfrm>
            <a:off x="3450800" y="567230"/>
            <a:ext cx="5290400" cy="402772"/>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INTRODUCTION</a:t>
            </a:r>
          </a:p>
        </p:txBody>
      </p:sp>
      <p:sp>
        <p:nvSpPr>
          <p:cNvPr id="15" name="ZoneTexte 14"/>
          <p:cNvSpPr txBox="1"/>
          <p:nvPr/>
        </p:nvSpPr>
        <p:spPr>
          <a:xfrm>
            <a:off x="64072" y="792134"/>
            <a:ext cx="11918661" cy="6673686"/>
          </a:xfrm>
          <a:prstGeom prst="rect">
            <a:avLst/>
          </a:prstGeom>
          <a:noFill/>
        </p:spPr>
        <p:txBody>
          <a:bodyPr wrap="square" rtlCol="0">
            <a:spAutoFit/>
          </a:bodyPr>
          <a:lstStyle/>
          <a:p>
            <a:pPr algn="just">
              <a:lnSpc>
                <a:spcPct val="150000"/>
              </a:lnSpc>
            </a:pPr>
            <a:r>
              <a:rPr lang="fr-FR" sz="2400" dirty="0">
                <a:latin typeface="Rockwell" panose="02060603020205020403" pitchFamily="18" charset="0"/>
              </a:rPr>
              <a:t>	La réussite d’un projet informatique repose avant tout sur une analyse rigoureuse du système existant. En effet, une analyse insuffisante conduit généralement à des solutions inadaptées. Dans le cadre de ce travail intitulé </a:t>
            </a:r>
            <a:r>
              <a:rPr lang="fr-FR" sz="2400" b="1" dirty="0">
                <a:latin typeface="Rockwell" panose="02060603020205020403" pitchFamily="18" charset="0"/>
              </a:rPr>
              <a:t>« Conception et mise en œuvre de </a:t>
            </a:r>
            <a:r>
              <a:rPr lang="fr-FR" sz="2400" b="1" dirty="0" err="1">
                <a:latin typeface="Rockwell" panose="02060603020205020403" pitchFamily="18" charset="0"/>
              </a:rPr>
              <a:t>DiskMonitor</a:t>
            </a:r>
            <a:r>
              <a:rPr lang="fr-FR" sz="2400" b="1" dirty="0">
                <a:latin typeface="Rockwell" panose="02060603020205020403" pitchFamily="18" charset="0"/>
              </a:rPr>
              <a:t> : Cas de CentOS Stream »</a:t>
            </a:r>
            <a:r>
              <a:rPr lang="fr-FR" sz="2400" dirty="0">
                <a:latin typeface="Rockwell" panose="02060603020205020403" pitchFamily="18" charset="0"/>
              </a:rPr>
              <a:t>, il est essentiel de comprendre en profondeur le fonctionnement du disque sous CentOS Stream. Cette analyse débute par l’étude de l’état actuel du système de gestion et de surveillance du disque, suivie de l’identification de ses limites et des difficultés rencontrées. Sur cette base, des solutions d’amélioration seront proposées. Enfin, le choix de la méthode d’analyse retenue sera justifié, et l’ensemble des informations nécessaires à la conception d’un </a:t>
            </a:r>
            <a:r>
              <a:rPr lang="fr-FR" sz="2400" dirty="0" err="1">
                <a:latin typeface="Rockwell" panose="02060603020205020403" pitchFamily="18" charset="0"/>
              </a:rPr>
              <a:t>DiskMonitor</a:t>
            </a:r>
            <a:r>
              <a:rPr lang="fr-FR" sz="2400" dirty="0">
                <a:latin typeface="Rockwell" panose="02060603020205020403" pitchFamily="18" charset="0"/>
              </a:rPr>
              <a:t> efficace et adapté à l’environnement CentOS Stream sera recensé.</a:t>
            </a:r>
          </a:p>
          <a:p>
            <a:pPr lvl="0" algn="just">
              <a:lnSpc>
                <a:spcPct val="150000"/>
              </a:lnSpc>
            </a:pPr>
            <a:endParaRPr lang="fr-FR" sz="2400" dirty="0">
              <a:latin typeface="Rockwell" panose="02060603020205020403" pitchFamily="18" charset="0"/>
            </a:endParaRPr>
          </a:p>
        </p:txBody>
      </p:sp>
    </p:spTree>
    <p:extLst>
      <p:ext uri="{BB962C8B-B14F-4D97-AF65-F5344CB8AC3E}">
        <p14:creationId xmlns:p14="http://schemas.microsoft.com/office/powerpoint/2010/main" val="26757873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grpId="1" nodeType="clickEffect">
                                  <p:stCondLst>
                                    <p:cond delay="0"/>
                                  </p:stCondLst>
                                  <p:childTnLst>
                                    <p:animEffect transition="out" filter="wipe(down)">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par>
                                <p:cTn id="21" presetID="22" presetClass="exit" presetSubtype="4" fill="hold" grpId="1" nodeType="withEffect">
                                  <p:stCondLst>
                                    <p:cond delay="0"/>
                                  </p:stCondLst>
                                  <p:childTnLst>
                                    <p:animEffect transition="out" filter="wipe(down)">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5" grpId="0"/>
      <p:bldP spid="15"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709E1-F5A6-A2E1-9368-C122E2CB328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80A58A8-44B3-57DC-B618-25540B485135}"/>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Rockwell" panose="02060603020205020403" pitchFamily="18" charset="0"/>
              </a:rPr>
              <a:t>DISKMONITOR: Cas de CentOS Stream</a:t>
            </a:r>
            <a:endParaRPr lang="en-US" b="1" dirty="0">
              <a:latin typeface="Rockwell" panose="02060603020205020403" pitchFamily="18" charset="0"/>
            </a:endParaRPr>
          </a:p>
        </p:txBody>
      </p:sp>
      <p:sp>
        <p:nvSpPr>
          <p:cNvPr id="7" name="Oval 6">
            <a:extLst>
              <a:ext uri="{FF2B5EF4-FFF2-40B4-BE49-F238E27FC236}">
                <a16:creationId xmlns:a16="http://schemas.microsoft.com/office/drawing/2014/main" id="{D045C0B1-18C2-4259-BDE4-1D5BA71DB280}"/>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3275DD40-AD72-4CE3-B664-AE5601B3E2F0}"/>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graphicFrame>
        <p:nvGraphicFramePr>
          <p:cNvPr id="2" name="Tableau 1">
            <a:extLst>
              <a:ext uri="{FF2B5EF4-FFF2-40B4-BE49-F238E27FC236}">
                <a16:creationId xmlns:a16="http://schemas.microsoft.com/office/drawing/2014/main" id="{6E294FDD-4D23-D469-1BEB-FBA7C66D9D44}"/>
              </a:ext>
            </a:extLst>
          </p:cNvPr>
          <p:cNvGraphicFramePr>
            <a:graphicFrameLocks noGrp="1"/>
          </p:cNvGraphicFramePr>
          <p:nvPr>
            <p:extLst>
              <p:ext uri="{D42A27DB-BD31-4B8C-83A1-F6EECF244321}">
                <p14:modId xmlns:p14="http://schemas.microsoft.com/office/powerpoint/2010/main" val="3460946865"/>
              </p:ext>
            </p:extLst>
          </p:nvPr>
        </p:nvGraphicFramePr>
        <p:xfrm>
          <a:off x="688074" y="1467591"/>
          <a:ext cx="10515600" cy="4937760"/>
        </p:xfrm>
        <a:graphic>
          <a:graphicData uri="http://schemas.openxmlformats.org/drawingml/2006/table">
            <a:tbl>
              <a:tblPr>
                <a:tableStyleId>{35758FB7-9AC5-4552-8A53-C91805E547FA}</a:tableStyleId>
              </a:tblPr>
              <a:tblGrid>
                <a:gridCol w="3505200">
                  <a:extLst>
                    <a:ext uri="{9D8B030D-6E8A-4147-A177-3AD203B41FA5}">
                      <a16:colId xmlns:a16="http://schemas.microsoft.com/office/drawing/2014/main" val="3269370721"/>
                    </a:ext>
                  </a:extLst>
                </a:gridCol>
                <a:gridCol w="3505200">
                  <a:extLst>
                    <a:ext uri="{9D8B030D-6E8A-4147-A177-3AD203B41FA5}">
                      <a16:colId xmlns:a16="http://schemas.microsoft.com/office/drawing/2014/main" val="1355833147"/>
                    </a:ext>
                  </a:extLst>
                </a:gridCol>
                <a:gridCol w="3505200">
                  <a:extLst>
                    <a:ext uri="{9D8B030D-6E8A-4147-A177-3AD203B41FA5}">
                      <a16:colId xmlns:a16="http://schemas.microsoft.com/office/drawing/2014/main" val="4292628072"/>
                    </a:ext>
                  </a:extLst>
                </a:gridCol>
              </a:tblGrid>
              <a:tr h="0">
                <a:tc>
                  <a:txBody>
                    <a:bodyPr/>
                    <a:lstStyle/>
                    <a:p>
                      <a:pPr>
                        <a:buNone/>
                      </a:pPr>
                      <a:r>
                        <a:rPr lang="fr-FR" sz="2400">
                          <a:latin typeface="Rockwell" panose="02060603020205020403" pitchFamily="18" charset="0"/>
                        </a:rPr>
                        <a:t>Aspect</a:t>
                      </a:r>
                    </a:p>
                  </a:txBody>
                  <a:tcPr anchor="ctr"/>
                </a:tc>
                <a:tc>
                  <a:txBody>
                    <a:bodyPr/>
                    <a:lstStyle/>
                    <a:p>
                      <a:pPr>
                        <a:buNone/>
                      </a:pPr>
                      <a:r>
                        <a:rPr lang="fr-FR" sz="2400">
                          <a:latin typeface="Rockwell" panose="02060603020205020403" pitchFamily="18" charset="0"/>
                        </a:rPr>
                        <a:t>Avant DiskMonitor</a:t>
                      </a:r>
                    </a:p>
                  </a:txBody>
                  <a:tcPr anchor="ctr"/>
                </a:tc>
                <a:tc>
                  <a:txBody>
                    <a:bodyPr/>
                    <a:lstStyle/>
                    <a:p>
                      <a:pPr>
                        <a:buNone/>
                      </a:pPr>
                      <a:r>
                        <a:rPr lang="fr-FR" sz="2400">
                          <a:latin typeface="Rockwell" panose="02060603020205020403" pitchFamily="18" charset="0"/>
                        </a:rPr>
                        <a:t>Après DiskMonitor</a:t>
                      </a:r>
                    </a:p>
                  </a:txBody>
                  <a:tcPr anchor="ctr"/>
                </a:tc>
                <a:extLst>
                  <a:ext uri="{0D108BD9-81ED-4DB2-BD59-A6C34878D82A}">
                    <a16:rowId xmlns:a16="http://schemas.microsoft.com/office/drawing/2014/main" val="1893466705"/>
                  </a:ext>
                </a:extLst>
              </a:tr>
              <a:tr h="0">
                <a:tc>
                  <a:txBody>
                    <a:bodyPr/>
                    <a:lstStyle/>
                    <a:p>
                      <a:pPr>
                        <a:buNone/>
                      </a:pPr>
                      <a:r>
                        <a:rPr lang="fr-FR" sz="2400">
                          <a:latin typeface="Rockwell" panose="02060603020205020403" pitchFamily="18" charset="0"/>
                        </a:rPr>
                        <a:t>Mode de surveillance</a:t>
                      </a:r>
                    </a:p>
                  </a:txBody>
                  <a:tcPr anchor="ctr"/>
                </a:tc>
                <a:tc>
                  <a:txBody>
                    <a:bodyPr/>
                    <a:lstStyle/>
                    <a:p>
                      <a:pPr>
                        <a:buNone/>
                      </a:pPr>
                      <a:r>
                        <a:rPr lang="fr-FR" sz="2400">
                          <a:latin typeface="Rockwell" panose="02060603020205020403" pitchFamily="18" charset="0"/>
                        </a:rPr>
                        <a:t>Manuelle et ponctuelle</a:t>
                      </a:r>
                    </a:p>
                  </a:txBody>
                  <a:tcPr anchor="ctr"/>
                </a:tc>
                <a:tc>
                  <a:txBody>
                    <a:bodyPr/>
                    <a:lstStyle/>
                    <a:p>
                      <a:pPr>
                        <a:buNone/>
                      </a:pPr>
                      <a:r>
                        <a:rPr lang="fr-FR" sz="2400">
                          <a:latin typeface="Rockwell" panose="02060603020205020403" pitchFamily="18" charset="0"/>
                        </a:rPr>
                        <a:t>Automatisée et continue</a:t>
                      </a:r>
                    </a:p>
                  </a:txBody>
                  <a:tcPr anchor="ctr"/>
                </a:tc>
                <a:extLst>
                  <a:ext uri="{0D108BD9-81ED-4DB2-BD59-A6C34878D82A}">
                    <a16:rowId xmlns:a16="http://schemas.microsoft.com/office/drawing/2014/main" val="983091753"/>
                  </a:ext>
                </a:extLst>
              </a:tr>
              <a:tr h="0">
                <a:tc>
                  <a:txBody>
                    <a:bodyPr/>
                    <a:lstStyle/>
                    <a:p>
                      <a:pPr>
                        <a:buNone/>
                      </a:pPr>
                      <a:r>
                        <a:rPr lang="fr-FR" sz="2400">
                          <a:latin typeface="Rockwell" panose="02060603020205020403" pitchFamily="18" charset="0"/>
                        </a:rPr>
                        <a:t>Outils utilisés</a:t>
                      </a:r>
                    </a:p>
                  </a:txBody>
                  <a:tcPr anchor="ctr"/>
                </a:tc>
                <a:tc>
                  <a:txBody>
                    <a:bodyPr/>
                    <a:lstStyle/>
                    <a:p>
                      <a:pPr>
                        <a:buNone/>
                      </a:pPr>
                      <a:r>
                        <a:rPr lang="fr-FR" sz="2400">
                          <a:latin typeface="Rockwell" panose="02060603020205020403" pitchFamily="18" charset="0"/>
                        </a:rPr>
                        <a:t>Commandes système dispersées</a:t>
                      </a:r>
                    </a:p>
                  </a:txBody>
                  <a:tcPr anchor="ctr"/>
                </a:tc>
                <a:tc>
                  <a:txBody>
                    <a:bodyPr/>
                    <a:lstStyle/>
                    <a:p>
                      <a:pPr>
                        <a:buNone/>
                      </a:pPr>
                      <a:r>
                        <a:rPr lang="fr-FR" sz="2400">
                          <a:latin typeface="Rockwell" panose="02060603020205020403" pitchFamily="18" charset="0"/>
                        </a:rPr>
                        <a:t>Outil centralisé</a:t>
                      </a:r>
                    </a:p>
                  </a:txBody>
                  <a:tcPr anchor="ctr"/>
                </a:tc>
                <a:extLst>
                  <a:ext uri="{0D108BD9-81ED-4DB2-BD59-A6C34878D82A}">
                    <a16:rowId xmlns:a16="http://schemas.microsoft.com/office/drawing/2014/main" val="1610325982"/>
                  </a:ext>
                </a:extLst>
              </a:tr>
              <a:tr h="0">
                <a:tc>
                  <a:txBody>
                    <a:bodyPr/>
                    <a:lstStyle/>
                    <a:p>
                      <a:pPr>
                        <a:buNone/>
                      </a:pPr>
                      <a:r>
                        <a:rPr lang="fr-FR" sz="2400">
                          <a:latin typeface="Rockwell" panose="02060603020205020403" pitchFamily="18" charset="0"/>
                        </a:rPr>
                        <a:t>Détection des anomalies</a:t>
                      </a:r>
                    </a:p>
                  </a:txBody>
                  <a:tcPr anchor="ctr"/>
                </a:tc>
                <a:tc>
                  <a:txBody>
                    <a:bodyPr/>
                    <a:lstStyle/>
                    <a:p>
                      <a:pPr>
                        <a:buNone/>
                      </a:pPr>
                      <a:r>
                        <a:rPr lang="fr-FR" sz="2400">
                          <a:latin typeface="Rockwell" panose="02060603020205020403" pitchFamily="18" charset="0"/>
                        </a:rPr>
                        <a:t>Réactive</a:t>
                      </a:r>
                    </a:p>
                  </a:txBody>
                  <a:tcPr anchor="ctr"/>
                </a:tc>
                <a:tc>
                  <a:txBody>
                    <a:bodyPr/>
                    <a:lstStyle/>
                    <a:p>
                      <a:pPr>
                        <a:buNone/>
                      </a:pPr>
                      <a:r>
                        <a:rPr lang="fr-FR" sz="2400">
                          <a:latin typeface="Rockwell" panose="02060603020205020403" pitchFamily="18" charset="0"/>
                        </a:rPr>
                        <a:t>Proactive</a:t>
                      </a:r>
                    </a:p>
                  </a:txBody>
                  <a:tcPr anchor="ctr"/>
                </a:tc>
                <a:extLst>
                  <a:ext uri="{0D108BD9-81ED-4DB2-BD59-A6C34878D82A}">
                    <a16:rowId xmlns:a16="http://schemas.microsoft.com/office/drawing/2014/main" val="1083134876"/>
                  </a:ext>
                </a:extLst>
              </a:tr>
              <a:tr h="0">
                <a:tc>
                  <a:txBody>
                    <a:bodyPr/>
                    <a:lstStyle/>
                    <a:p>
                      <a:pPr>
                        <a:buNone/>
                      </a:pPr>
                      <a:r>
                        <a:rPr lang="fr-FR" sz="2400">
                          <a:latin typeface="Rockwell" panose="02060603020205020403" pitchFamily="18" charset="0"/>
                        </a:rPr>
                        <a:t>Interface</a:t>
                      </a:r>
                    </a:p>
                  </a:txBody>
                  <a:tcPr anchor="ctr"/>
                </a:tc>
                <a:tc>
                  <a:txBody>
                    <a:bodyPr/>
                    <a:lstStyle/>
                    <a:p>
                      <a:pPr>
                        <a:buNone/>
                      </a:pPr>
                      <a:r>
                        <a:rPr lang="fr-FR" sz="2400">
                          <a:latin typeface="Rockwell" panose="02060603020205020403" pitchFamily="18" charset="0"/>
                        </a:rPr>
                        <a:t>Ligne de commande</a:t>
                      </a:r>
                    </a:p>
                  </a:txBody>
                  <a:tcPr anchor="ctr"/>
                </a:tc>
                <a:tc>
                  <a:txBody>
                    <a:bodyPr/>
                    <a:lstStyle/>
                    <a:p>
                      <a:pPr>
                        <a:buNone/>
                      </a:pPr>
                      <a:r>
                        <a:rPr lang="fr-FR" sz="2400">
                          <a:latin typeface="Rockwell" panose="02060603020205020403" pitchFamily="18" charset="0"/>
                        </a:rPr>
                        <a:t>Interface claire (graphique ou console structurée)</a:t>
                      </a:r>
                    </a:p>
                  </a:txBody>
                  <a:tcPr anchor="ctr"/>
                </a:tc>
                <a:extLst>
                  <a:ext uri="{0D108BD9-81ED-4DB2-BD59-A6C34878D82A}">
                    <a16:rowId xmlns:a16="http://schemas.microsoft.com/office/drawing/2014/main" val="4243976080"/>
                  </a:ext>
                </a:extLst>
              </a:tr>
              <a:tr h="0">
                <a:tc>
                  <a:txBody>
                    <a:bodyPr/>
                    <a:lstStyle/>
                    <a:p>
                      <a:pPr>
                        <a:buNone/>
                      </a:pPr>
                      <a:r>
                        <a:rPr lang="fr-FR" sz="2400">
                          <a:latin typeface="Rockwell" panose="02060603020205020403" pitchFamily="18" charset="0"/>
                        </a:rPr>
                        <a:t>Analyse historique</a:t>
                      </a:r>
                    </a:p>
                  </a:txBody>
                  <a:tcPr anchor="ctr"/>
                </a:tc>
                <a:tc>
                  <a:txBody>
                    <a:bodyPr/>
                    <a:lstStyle/>
                    <a:p>
                      <a:pPr>
                        <a:buNone/>
                      </a:pPr>
                      <a:r>
                        <a:rPr lang="fr-FR" sz="2400">
                          <a:latin typeface="Rockwell" panose="02060603020205020403" pitchFamily="18" charset="0"/>
                        </a:rPr>
                        <a:t>Limitée</a:t>
                      </a:r>
                    </a:p>
                  </a:txBody>
                  <a:tcPr anchor="ctr"/>
                </a:tc>
                <a:tc>
                  <a:txBody>
                    <a:bodyPr/>
                    <a:lstStyle/>
                    <a:p>
                      <a:pPr>
                        <a:buNone/>
                      </a:pPr>
                      <a:r>
                        <a:rPr lang="fr-FR" sz="2400" dirty="0">
                          <a:latin typeface="Rockwell" panose="02060603020205020403" pitchFamily="18" charset="0"/>
                        </a:rPr>
                        <a:t>Complète et exploitable</a:t>
                      </a:r>
                    </a:p>
                  </a:txBody>
                  <a:tcPr anchor="ctr"/>
                </a:tc>
                <a:extLst>
                  <a:ext uri="{0D108BD9-81ED-4DB2-BD59-A6C34878D82A}">
                    <a16:rowId xmlns:a16="http://schemas.microsoft.com/office/drawing/2014/main" val="3169914812"/>
                  </a:ext>
                </a:extLst>
              </a:tr>
            </a:tbl>
          </a:graphicData>
        </a:graphic>
      </p:graphicFrame>
    </p:spTree>
    <p:extLst>
      <p:ext uri="{BB962C8B-B14F-4D97-AF65-F5344CB8AC3E}">
        <p14:creationId xmlns:p14="http://schemas.microsoft.com/office/powerpoint/2010/main" val="32083489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0756A9C-BEC7-41EE-A6BE-9C0DCF9944DB}"/>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Rockwell" panose="02060603020205020403" pitchFamily="18" charset="0"/>
            </a:endParaRPr>
          </a:p>
          <a:p>
            <a:pPr algn="ctr"/>
            <a:r>
              <a:rPr lang="fr-FR" dirty="0">
                <a:latin typeface="Rockwell" panose="02060603020205020403" pitchFamily="18" charset="0"/>
              </a:rPr>
              <a:t>DEMARCHE D’ANALYSE: méthodologies d’analyse</a:t>
            </a:r>
          </a:p>
          <a:p>
            <a:pPr algn="ctr"/>
            <a:endParaRPr lang="en-US" dirty="0">
              <a:latin typeface="Rockwell" panose="02060603020205020403" pitchFamily="18" charset="0"/>
            </a:endParaRPr>
          </a:p>
        </p:txBody>
      </p:sp>
      <p:sp>
        <p:nvSpPr>
          <p:cNvPr id="7" name="Oval 6">
            <a:extLst>
              <a:ext uri="{FF2B5EF4-FFF2-40B4-BE49-F238E27FC236}">
                <a16:creationId xmlns:a16="http://schemas.microsoft.com/office/drawing/2014/main" id="{0AF00FE2-8B4E-4C4E-91C3-94FD5C9CCE15}"/>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BAC5AB55-F21F-40B8-98CE-667D01020499}"/>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3</a:t>
            </a:r>
            <a:endParaRPr lang="en-US" dirty="0">
              <a:latin typeface="Rockwell" panose="02060603020205020403" pitchFamily="18" charset="0"/>
            </a:endParaRPr>
          </a:p>
        </p:txBody>
      </p:sp>
      <p:pic>
        <p:nvPicPr>
          <p:cNvPr id="48" name="Picture 3065"/>
          <p:cNvPicPr/>
          <p:nvPr/>
        </p:nvPicPr>
        <p:blipFill>
          <a:blip r:embed="rId2">
            <a:extLst>
              <a:ext uri="{28A0092B-C50C-407E-A947-70E740481C1C}">
                <a14:useLocalDpi xmlns:a14="http://schemas.microsoft.com/office/drawing/2010/main" val="0"/>
              </a:ext>
            </a:extLst>
          </a:blip>
          <a:srcRect/>
          <a:stretch/>
        </p:blipFill>
        <p:spPr>
          <a:xfrm>
            <a:off x="2663012" y="1842810"/>
            <a:ext cx="6958824" cy="4763927"/>
          </a:xfrm>
          <a:prstGeom prst="rect">
            <a:avLst/>
          </a:prstGeom>
        </p:spPr>
      </p:pic>
      <p:pic>
        <p:nvPicPr>
          <p:cNvPr id="49" name="Image 48"/>
          <p:cNvPicPr/>
          <p:nvPr/>
        </p:nvPicPr>
        <p:blipFill>
          <a:blip r:embed="rId3">
            <a:extLst>
              <a:ext uri="{28A0092B-C50C-407E-A947-70E740481C1C}">
                <a14:useLocalDpi xmlns:a14="http://schemas.microsoft.com/office/drawing/2010/main" val="0"/>
              </a:ext>
            </a:extLst>
          </a:blip>
          <a:srcRect/>
          <a:stretch/>
        </p:blipFill>
        <p:spPr>
          <a:xfrm>
            <a:off x="2514251" y="3272258"/>
            <a:ext cx="7256349" cy="2355229"/>
          </a:xfrm>
          <a:prstGeom prst="rect">
            <a:avLst/>
          </a:prstGeom>
        </p:spPr>
      </p:pic>
      <p:sp>
        <p:nvSpPr>
          <p:cNvPr id="8" name="ZoneTexte 7">
            <a:extLst>
              <a:ext uri="{FF2B5EF4-FFF2-40B4-BE49-F238E27FC236}">
                <a16:creationId xmlns:a16="http://schemas.microsoft.com/office/drawing/2014/main" id="{A75E36CA-7849-E39D-681B-987D6C436F36}"/>
              </a:ext>
            </a:extLst>
          </p:cNvPr>
          <p:cNvSpPr txBox="1"/>
          <p:nvPr/>
        </p:nvSpPr>
        <p:spPr>
          <a:xfrm>
            <a:off x="1700078" y="630348"/>
            <a:ext cx="8884693" cy="1200329"/>
          </a:xfrm>
          <a:prstGeom prst="rect">
            <a:avLst/>
          </a:prstGeom>
          <a:noFill/>
        </p:spPr>
        <p:txBody>
          <a:bodyPr wrap="square">
            <a:spAutoFit/>
          </a:bodyPr>
          <a:lstStyle/>
          <a:p>
            <a:pPr algn="just"/>
            <a:r>
              <a:rPr lang="fr-FR" dirty="0">
                <a:latin typeface="Rockwell" panose="02060603020205020403" pitchFamily="18" charset="0"/>
              </a:rPr>
              <a:t>	De nombreuses approches d’analyses sont utilisées pour représenter et modéliser un système donné. Il en existe ainsi plusieurs, notamment l’approche merise, </a:t>
            </a:r>
            <a:r>
              <a:rPr lang="fr-FR" dirty="0" err="1">
                <a:latin typeface="Rockwell" panose="02060603020205020403" pitchFamily="18" charset="0"/>
              </a:rPr>
              <a:t>uml</a:t>
            </a:r>
            <a:r>
              <a:rPr lang="fr-FR" dirty="0">
                <a:latin typeface="Rockwell" panose="02060603020205020403" pitchFamily="18" charset="0"/>
              </a:rPr>
              <a:t> ,les méthodes agiles etc. Dans notre cas d’étude, nous effectuerons une comparaison entre l’approche </a:t>
            </a:r>
            <a:r>
              <a:rPr lang="fr-FR" dirty="0" err="1">
                <a:latin typeface="Rockwell" panose="02060603020205020403" pitchFamily="18" charset="0"/>
              </a:rPr>
              <a:t>uml</a:t>
            </a:r>
            <a:r>
              <a:rPr lang="fr-FR" dirty="0">
                <a:latin typeface="Rockwell" panose="02060603020205020403" pitchFamily="18" charset="0"/>
              </a:rPr>
              <a:t> et merise. </a:t>
            </a:r>
          </a:p>
        </p:txBody>
      </p:sp>
    </p:spTree>
    <p:extLst>
      <p:ext uri="{BB962C8B-B14F-4D97-AF65-F5344CB8AC3E}">
        <p14:creationId xmlns:p14="http://schemas.microsoft.com/office/powerpoint/2010/main" val="22266799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xit" presetSubtype="4" fill="hold" nodeType="clickEffect">
                                  <p:stCondLst>
                                    <p:cond delay="400"/>
                                  </p:stCondLst>
                                  <p:childTnLst>
                                    <p:animEffect transition="out" filter="wipe(down)">
                                      <p:cBhvr>
                                        <p:cTn id="13" dur="500"/>
                                        <p:tgtEl>
                                          <p:spTgt spid="48"/>
                                        </p:tgtEl>
                                      </p:cBhvr>
                                    </p:animEffect>
                                    <p:set>
                                      <p:cBhvr>
                                        <p:cTn id="14" dur="1" fill="hold">
                                          <p:stCondLst>
                                            <p:cond delay="499"/>
                                          </p:stCondLst>
                                        </p:cTn>
                                        <p:tgtEl>
                                          <p:spTgt spid="4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barn(inVertical)">
                                      <p:cBhvr>
                                        <p:cTn id="1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E4686B1-AEAA-4384-BF64-82972045774D}"/>
              </a:ext>
            </a:extLst>
          </p:cNvPr>
          <p:cNvSpPr/>
          <p:nvPr/>
        </p:nvSpPr>
        <p:spPr>
          <a:xfrm>
            <a:off x="6324600" y="-1"/>
            <a:ext cx="5867400" cy="513063"/>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DEMARCHE D’ANANLYSE</a:t>
            </a:r>
          </a:p>
          <a:p>
            <a:pPr algn="ctr"/>
            <a:r>
              <a:rPr lang="fr-FR" dirty="0">
                <a:latin typeface="Rockwell" panose="02060603020205020403" pitchFamily="18" charset="0"/>
              </a:rPr>
              <a:t>METHODOLOGIE:UML(</a:t>
            </a:r>
            <a:r>
              <a:rPr lang="en-US" dirty="0">
                <a:latin typeface="Rockwell" panose="02060603020205020403" pitchFamily="18" charset="0"/>
              </a:rPr>
              <a:t>Unified Modeling Language)</a:t>
            </a:r>
          </a:p>
        </p:txBody>
      </p:sp>
      <p:sp>
        <p:nvSpPr>
          <p:cNvPr id="3" name="Oval 2">
            <a:extLst>
              <a:ext uri="{FF2B5EF4-FFF2-40B4-BE49-F238E27FC236}">
                <a16:creationId xmlns:a16="http://schemas.microsoft.com/office/drawing/2014/main" id="{4585E6CF-2F87-49D2-B370-F3C0D5FC127E}"/>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3</a:t>
            </a:r>
            <a:endParaRPr lang="en-US" dirty="0">
              <a:latin typeface="Rockwell" panose="02060603020205020403" pitchFamily="18" charset="0"/>
            </a:endParaRPr>
          </a:p>
        </p:txBody>
      </p:sp>
      <p:grpSp>
        <p:nvGrpSpPr>
          <p:cNvPr id="5" name="Group 4">
            <a:extLst>
              <a:ext uri="{FF2B5EF4-FFF2-40B4-BE49-F238E27FC236}">
                <a16:creationId xmlns:a16="http://schemas.microsoft.com/office/drawing/2014/main" id="{A1E81B5A-FDFF-40A6-A008-C57C6EBAD988}"/>
              </a:ext>
            </a:extLst>
          </p:cNvPr>
          <p:cNvGrpSpPr/>
          <p:nvPr/>
        </p:nvGrpSpPr>
        <p:grpSpPr>
          <a:xfrm>
            <a:off x="336881" y="3817841"/>
            <a:ext cx="5072744" cy="2286328"/>
            <a:chOff x="7108371" y="1376386"/>
            <a:chExt cx="5072744" cy="2286328"/>
          </a:xfrm>
        </p:grpSpPr>
        <p:sp>
          <p:nvSpPr>
            <p:cNvPr id="6" name="Rectangle 5">
              <a:extLst>
                <a:ext uri="{FF2B5EF4-FFF2-40B4-BE49-F238E27FC236}">
                  <a16:creationId xmlns:a16="http://schemas.microsoft.com/office/drawing/2014/main" id="{E4DC952E-6DA0-40D2-80A1-CFD2EC32EE24}"/>
                </a:ext>
              </a:extLst>
            </p:cNvPr>
            <p:cNvSpPr/>
            <p:nvPr/>
          </p:nvSpPr>
          <p:spPr>
            <a:xfrm>
              <a:off x="7696201" y="2160485"/>
              <a:ext cx="4484914" cy="5007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1600" dirty="0">
                  <a:solidFill>
                    <a:schemeClr val="tx1"/>
                  </a:solidFill>
                  <a:latin typeface="Rockwell" panose="02060603020205020403" pitchFamily="18" charset="0"/>
                </a:rPr>
                <a:t>Piloté sur les besoins des utilisateurs</a:t>
              </a:r>
              <a:endParaRPr lang="en-US" sz="1600" dirty="0">
                <a:solidFill>
                  <a:schemeClr val="tx1"/>
                </a:solidFill>
                <a:latin typeface="Rockwell" panose="02060603020205020403" pitchFamily="18" charset="0"/>
              </a:endParaRPr>
            </a:p>
          </p:txBody>
        </p:sp>
        <p:sp>
          <p:nvSpPr>
            <p:cNvPr id="7" name="Rectangle 6">
              <a:extLst>
                <a:ext uri="{FF2B5EF4-FFF2-40B4-BE49-F238E27FC236}">
                  <a16:creationId xmlns:a16="http://schemas.microsoft.com/office/drawing/2014/main" id="{F512835A-B5FF-4E5A-997A-37BEDF2393C0}"/>
                </a:ext>
              </a:extLst>
            </p:cNvPr>
            <p:cNvSpPr/>
            <p:nvPr/>
          </p:nvSpPr>
          <p:spPr>
            <a:xfrm>
              <a:off x="7402286" y="2766167"/>
              <a:ext cx="3614633" cy="395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1600" dirty="0">
                  <a:solidFill>
                    <a:schemeClr val="tx1"/>
                  </a:solidFill>
                  <a:latin typeface="Rockwell" panose="02060603020205020403" pitchFamily="18" charset="0"/>
                </a:rPr>
                <a:t>Langage formel et normalisé</a:t>
              </a:r>
              <a:endParaRPr lang="en-US" sz="1600" dirty="0">
                <a:solidFill>
                  <a:schemeClr val="tx1"/>
                </a:solidFill>
                <a:latin typeface="Rockwell" panose="02060603020205020403" pitchFamily="18" charset="0"/>
              </a:endParaRPr>
            </a:p>
          </p:txBody>
        </p:sp>
        <p:sp>
          <p:nvSpPr>
            <p:cNvPr id="8" name="Rectangle 7">
              <a:extLst>
                <a:ext uri="{FF2B5EF4-FFF2-40B4-BE49-F238E27FC236}">
                  <a16:creationId xmlns:a16="http://schemas.microsoft.com/office/drawing/2014/main" id="{24C28C6A-B895-44AA-803B-5F79B4FAD17F}"/>
                </a:ext>
              </a:extLst>
            </p:cNvPr>
            <p:cNvSpPr/>
            <p:nvPr/>
          </p:nvSpPr>
          <p:spPr>
            <a:xfrm>
              <a:off x="7108371" y="3161971"/>
              <a:ext cx="4354862" cy="5007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1600" dirty="0">
                  <a:solidFill>
                    <a:schemeClr val="tx1"/>
                  </a:solidFill>
                  <a:latin typeface="Rockwell" panose="02060603020205020403" pitchFamily="18" charset="0"/>
                </a:rPr>
                <a:t>Support de communication performant</a:t>
              </a:r>
              <a:endParaRPr lang="en-US" sz="1600" dirty="0">
                <a:solidFill>
                  <a:schemeClr val="tx1"/>
                </a:solidFill>
                <a:latin typeface="Rockwell" panose="02060603020205020403" pitchFamily="18" charset="0"/>
              </a:endParaRPr>
            </a:p>
          </p:txBody>
        </p:sp>
        <p:sp>
          <p:nvSpPr>
            <p:cNvPr id="10" name="Rectangle: Rounded Corners 9">
              <a:extLst>
                <a:ext uri="{FF2B5EF4-FFF2-40B4-BE49-F238E27FC236}">
                  <a16:creationId xmlns:a16="http://schemas.microsoft.com/office/drawing/2014/main" id="{B020B9A3-3EEC-48A7-B570-17FC1619A475}"/>
                </a:ext>
              </a:extLst>
            </p:cNvPr>
            <p:cNvSpPr/>
            <p:nvPr/>
          </p:nvSpPr>
          <p:spPr>
            <a:xfrm>
              <a:off x="7957457" y="1376386"/>
              <a:ext cx="4223658" cy="593928"/>
            </a:xfrm>
            <a:prstGeom prst="roundRect">
              <a:avLst>
                <a:gd name="adj" fmla="val 3245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a:solidFill>
                    <a:schemeClr val="tx1"/>
                  </a:solidFill>
                  <a:latin typeface="Rockwell" panose="02060603020205020403" pitchFamily="18" charset="0"/>
                </a:rPr>
                <a:t>Pourquoi UML?</a:t>
              </a:r>
              <a:endParaRPr lang="en-US" sz="4000" dirty="0">
                <a:solidFill>
                  <a:schemeClr val="tx1"/>
                </a:solidFill>
                <a:latin typeface="Rockwell" panose="02060603020205020403" pitchFamily="18" charset="0"/>
              </a:endParaRPr>
            </a:p>
          </p:txBody>
        </p:sp>
      </p:grpSp>
      <p:grpSp>
        <p:nvGrpSpPr>
          <p:cNvPr id="13" name="Group 12">
            <a:extLst>
              <a:ext uri="{FF2B5EF4-FFF2-40B4-BE49-F238E27FC236}">
                <a16:creationId xmlns:a16="http://schemas.microsoft.com/office/drawing/2014/main" id="{93D1AE60-B21E-4730-A868-C18A17571A5A}"/>
              </a:ext>
            </a:extLst>
          </p:cNvPr>
          <p:cNvGrpSpPr/>
          <p:nvPr/>
        </p:nvGrpSpPr>
        <p:grpSpPr>
          <a:xfrm>
            <a:off x="0" y="-31701"/>
            <a:ext cx="4956110" cy="3552817"/>
            <a:chOff x="264368" y="-531724"/>
            <a:chExt cx="4956110" cy="3552817"/>
          </a:xfrm>
        </p:grpSpPr>
        <p:pic>
          <p:nvPicPr>
            <p:cNvPr id="11" name="Graphic 10">
              <a:extLst>
                <a:ext uri="{FF2B5EF4-FFF2-40B4-BE49-F238E27FC236}">
                  <a16:creationId xmlns:a16="http://schemas.microsoft.com/office/drawing/2014/main" id="{876B5352-B2DF-437D-87EF-CD9D28A1E45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6881" y="-531724"/>
              <a:ext cx="4883597" cy="3552817"/>
            </a:xfrm>
            <a:prstGeom prst="rect">
              <a:avLst/>
            </a:prstGeom>
          </p:spPr>
        </p:pic>
        <p:sp>
          <p:nvSpPr>
            <p:cNvPr id="12" name="Rectangle 11">
              <a:extLst>
                <a:ext uri="{FF2B5EF4-FFF2-40B4-BE49-F238E27FC236}">
                  <a16:creationId xmlns:a16="http://schemas.microsoft.com/office/drawing/2014/main" id="{FC768240-BBF8-42A7-8DE7-AD4738C0D423}"/>
                </a:ext>
              </a:extLst>
            </p:cNvPr>
            <p:cNvSpPr/>
            <p:nvPr/>
          </p:nvSpPr>
          <p:spPr>
            <a:xfrm>
              <a:off x="264368" y="2272654"/>
              <a:ext cx="1988393" cy="6076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2">
                    <a:lumMod val="75000"/>
                  </a:schemeClr>
                </a:solidFill>
                <a:latin typeface="Rockwell" panose="02060603020205020403" pitchFamily="18" charset="0"/>
              </a:endParaRPr>
            </a:p>
          </p:txBody>
        </p:sp>
      </p:grpSp>
      <p:sp>
        <p:nvSpPr>
          <p:cNvPr id="14" name="Oval 13">
            <a:extLst>
              <a:ext uri="{FF2B5EF4-FFF2-40B4-BE49-F238E27FC236}">
                <a16:creationId xmlns:a16="http://schemas.microsoft.com/office/drawing/2014/main" id="{313DB825-6F3C-4760-A6F5-5A00DDD96141}"/>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4</a:t>
            </a:r>
            <a:endParaRPr lang="en-US" dirty="0">
              <a:latin typeface="Amasis MT Pro Medium" panose="02040604050005020304" pitchFamily="18" charset="0"/>
            </a:endParaRPr>
          </a:p>
        </p:txBody>
      </p:sp>
      <p:grpSp>
        <p:nvGrpSpPr>
          <p:cNvPr id="38" name="Group 37">
            <a:extLst>
              <a:ext uri="{FF2B5EF4-FFF2-40B4-BE49-F238E27FC236}">
                <a16:creationId xmlns:a16="http://schemas.microsoft.com/office/drawing/2014/main" id="{07C8435B-8635-41DC-9374-19B0CB7171D4}"/>
              </a:ext>
            </a:extLst>
          </p:cNvPr>
          <p:cNvGrpSpPr/>
          <p:nvPr/>
        </p:nvGrpSpPr>
        <p:grpSpPr>
          <a:xfrm>
            <a:off x="5592614" y="783140"/>
            <a:ext cx="2960915" cy="5291719"/>
            <a:chOff x="4985658" y="812450"/>
            <a:chExt cx="2960915" cy="5291719"/>
          </a:xfrm>
          <a:solidFill>
            <a:schemeClr val="accent1"/>
          </a:solidFill>
        </p:grpSpPr>
        <p:grpSp>
          <p:nvGrpSpPr>
            <p:cNvPr id="15" name="Group 14">
              <a:extLst>
                <a:ext uri="{FF2B5EF4-FFF2-40B4-BE49-F238E27FC236}">
                  <a16:creationId xmlns:a16="http://schemas.microsoft.com/office/drawing/2014/main" id="{713E03D4-CF3B-4E0C-98B2-E39104DFFABE}"/>
                </a:ext>
              </a:extLst>
            </p:cNvPr>
            <p:cNvGrpSpPr/>
            <p:nvPr/>
          </p:nvGrpSpPr>
          <p:grpSpPr>
            <a:xfrm>
              <a:off x="4985658" y="812450"/>
              <a:ext cx="2944832" cy="5291719"/>
              <a:chOff x="0" y="1045029"/>
              <a:chExt cx="2944832" cy="5291719"/>
            </a:xfrm>
            <a:grpFill/>
          </p:grpSpPr>
          <p:cxnSp>
            <p:nvCxnSpPr>
              <p:cNvPr id="16" name="Straight Connector 15">
                <a:extLst>
                  <a:ext uri="{FF2B5EF4-FFF2-40B4-BE49-F238E27FC236}">
                    <a16:creationId xmlns:a16="http://schemas.microsoft.com/office/drawing/2014/main" id="{663740B3-774E-432E-BDF4-66F353CB2DDD}"/>
                  </a:ext>
                </a:extLst>
              </p:cNvPr>
              <p:cNvCxnSpPr>
                <a:cxnSpLocks/>
                <a:stCxn id="17" idx="2"/>
              </p:cNvCxnSpPr>
              <p:nvPr/>
            </p:nvCxnSpPr>
            <p:spPr>
              <a:xfrm>
                <a:off x="1428089" y="1545771"/>
                <a:ext cx="58115" cy="4790977"/>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17" name="Rectangle 16">
                <a:extLst>
                  <a:ext uri="{FF2B5EF4-FFF2-40B4-BE49-F238E27FC236}">
                    <a16:creationId xmlns:a16="http://schemas.microsoft.com/office/drawing/2014/main" id="{E8640EB1-CC22-45C5-8F7F-AFE5C96B1DD8}"/>
                  </a:ext>
                </a:extLst>
              </p:cNvPr>
              <p:cNvSpPr/>
              <p:nvPr/>
            </p:nvSpPr>
            <p:spPr>
              <a:xfrm>
                <a:off x="0" y="1045029"/>
                <a:ext cx="2856178" cy="5007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1"/>
                    </a:solidFill>
                    <a:latin typeface="Rockwell" panose="02060603020205020403" pitchFamily="18" charset="0"/>
                  </a:rPr>
                  <a:t>Vue statique</a:t>
                </a:r>
                <a:endParaRPr lang="en-US" sz="2000" dirty="0">
                  <a:solidFill>
                    <a:schemeClr val="bg1"/>
                  </a:solidFill>
                  <a:latin typeface="Rockwell" panose="02060603020205020403" pitchFamily="18" charset="0"/>
                </a:endParaRPr>
              </a:p>
            </p:txBody>
          </p:sp>
          <p:sp>
            <p:nvSpPr>
              <p:cNvPr id="18" name="Rectangle: Rounded Corners 17">
                <a:extLst>
                  <a:ext uri="{FF2B5EF4-FFF2-40B4-BE49-F238E27FC236}">
                    <a16:creationId xmlns:a16="http://schemas.microsoft.com/office/drawing/2014/main" id="{5C23A7A2-C68E-4017-A787-013BF77E07A3}"/>
                  </a:ext>
                </a:extLst>
              </p:cNvPr>
              <p:cNvSpPr/>
              <p:nvPr/>
            </p:nvSpPr>
            <p:spPr>
              <a:xfrm>
                <a:off x="73384" y="2358982"/>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cas d’utilisation</a:t>
                </a:r>
                <a:endParaRPr lang="en-US" dirty="0">
                  <a:latin typeface="Rockwell" panose="02060603020205020403" pitchFamily="18" charset="0"/>
                </a:endParaRPr>
              </a:p>
            </p:txBody>
          </p:sp>
          <p:sp>
            <p:nvSpPr>
              <p:cNvPr id="19" name="Rectangle: Rounded Corners 18">
                <a:extLst>
                  <a:ext uri="{FF2B5EF4-FFF2-40B4-BE49-F238E27FC236}">
                    <a16:creationId xmlns:a16="http://schemas.microsoft.com/office/drawing/2014/main" id="{36D19208-8621-4AF6-AD5C-F3F0E1551CEF}"/>
                  </a:ext>
                </a:extLst>
              </p:cNvPr>
              <p:cNvSpPr/>
              <p:nvPr/>
            </p:nvSpPr>
            <p:spPr>
              <a:xfrm>
                <a:off x="88655" y="3070408"/>
                <a:ext cx="2856177" cy="513064"/>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d’objet</a:t>
                </a:r>
                <a:endParaRPr lang="en-US" dirty="0">
                  <a:latin typeface="Rockwell" panose="02060603020205020403" pitchFamily="18" charset="0"/>
                </a:endParaRPr>
              </a:p>
            </p:txBody>
          </p:sp>
        </p:grpSp>
        <p:sp>
          <p:nvSpPr>
            <p:cNvPr id="20" name="Rectangle: Rounded Corners 19">
              <a:extLst>
                <a:ext uri="{FF2B5EF4-FFF2-40B4-BE49-F238E27FC236}">
                  <a16:creationId xmlns:a16="http://schemas.microsoft.com/office/drawing/2014/main" id="{FDA5798E-7E2E-40DC-BB2D-F452532EF2BE}"/>
                </a:ext>
              </a:extLst>
            </p:cNvPr>
            <p:cNvSpPr/>
            <p:nvPr/>
          </p:nvSpPr>
          <p:spPr>
            <a:xfrm>
              <a:off x="5059042" y="3571045"/>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classe</a:t>
              </a:r>
              <a:endParaRPr lang="en-US" dirty="0">
                <a:latin typeface="Rockwell" panose="02060603020205020403" pitchFamily="18" charset="0"/>
              </a:endParaRPr>
            </a:p>
          </p:txBody>
        </p:sp>
        <p:sp>
          <p:nvSpPr>
            <p:cNvPr id="22" name="Rectangle: Rounded Corners 21">
              <a:extLst>
                <a:ext uri="{FF2B5EF4-FFF2-40B4-BE49-F238E27FC236}">
                  <a16:creationId xmlns:a16="http://schemas.microsoft.com/office/drawing/2014/main" id="{A5DF524E-BD8B-47A7-B720-8E9B613CBE6A}"/>
                </a:ext>
              </a:extLst>
            </p:cNvPr>
            <p:cNvSpPr/>
            <p:nvPr/>
          </p:nvSpPr>
          <p:spPr>
            <a:xfrm>
              <a:off x="5090395" y="4297161"/>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composant</a:t>
              </a:r>
              <a:endParaRPr lang="en-US" dirty="0">
                <a:latin typeface="Rockwell" panose="02060603020205020403" pitchFamily="18" charset="0"/>
              </a:endParaRPr>
            </a:p>
          </p:txBody>
        </p:sp>
        <p:sp>
          <p:nvSpPr>
            <p:cNvPr id="23" name="Rectangle: Rounded Corners 22">
              <a:extLst>
                <a:ext uri="{FF2B5EF4-FFF2-40B4-BE49-F238E27FC236}">
                  <a16:creationId xmlns:a16="http://schemas.microsoft.com/office/drawing/2014/main" id="{01AA9391-5B3E-4100-AB2A-8D50B40B0C06}"/>
                </a:ext>
              </a:extLst>
            </p:cNvPr>
            <p:cNvSpPr/>
            <p:nvPr/>
          </p:nvSpPr>
          <p:spPr>
            <a:xfrm>
              <a:off x="5090395" y="5023277"/>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déploiement</a:t>
              </a:r>
              <a:endParaRPr lang="en-US" dirty="0">
                <a:latin typeface="Rockwell" panose="02060603020205020403" pitchFamily="18" charset="0"/>
              </a:endParaRPr>
            </a:p>
          </p:txBody>
        </p:sp>
      </p:grpSp>
      <p:grpSp>
        <p:nvGrpSpPr>
          <p:cNvPr id="39" name="Group 38">
            <a:extLst>
              <a:ext uri="{FF2B5EF4-FFF2-40B4-BE49-F238E27FC236}">
                <a16:creationId xmlns:a16="http://schemas.microsoft.com/office/drawing/2014/main" id="{7163D38A-1379-4746-973B-174C89EF1699}"/>
              </a:ext>
            </a:extLst>
          </p:cNvPr>
          <p:cNvGrpSpPr/>
          <p:nvPr/>
        </p:nvGrpSpPr>
        <p:grpSpPr>
          <a:xfrm>
            <a:off x="8937747" y="809914"/>
            <a:ext cx="2944832" cy="5291719"/>
            <a:chOff x="8700589" y="845778"/>
            <a:chExt cx="2944832" cy="5291719"/>
          </a:xfrm>
          <a:solidFill>
            <a:schemeClr val="accent1"/>
          </a:solidFill>
        </p:grpSpPr>
        <p:grpSp>
          <p:nvGrpSpPr>
            <p:cNvPr id="31" name="Group 30">
              <a:extLst>
                <a:ext uri="{FF2B5EF4-FFF2-40B4-BE49-F238E27FC236}">
                  <a16:creationId xmlns:a16="http://schemas.microsoft.com/office/drawing/2014/main" id="{A9EDBAE2-B586-4B24-9C97-14710F525BC0}"/>
                </a:ext>
              </a:extLst>
            </p:cNvPr>
            <p:cNvGrpSpPr/>
            <p:nvPr/>
          </p:nvGrpSpPr>
          <p:grpSpPr>
            <a:xfrm>
              <a:off x="8700589" y="845778"/>
              <a:ext cx="2944832" cy="5291719"/>
              <a:chOff x="0" y="1045029"/>
              <a:chExt cx="2944832" cy="5291719"/>
            </a:xfrm>
            <a:grpFill/>
          </p:grpSpPr>
          <p:cxnSp>
            <p:nvCxnSpPr>
              <p:cNvPr id="32" name="Straight Connector 31">
                <a:extLst>
                  <a:ext uri="{FF2B5EF4-FFF2-40B4-BE49-F238E27FC236}">
                    <a16:creationId xmlns:a16="http://schemas.microsoft.com/office/drawing/2014/main" id="{770AF2B9-02DD-4E5F-9635-6F365944E7E5}"/>
                  </a:ext>
                </a:extLst>
              </p:cNvPr>
              <p:cNvCxnSpPr>
                <a:cxnSpLocks/>
                <a:stCxn id="33" idx="2"/>
              </p:cNvCxnSpPr>
              <p:nvPr/>
            </p:nvCxnSpPr>
            <p:spPr>
              <a:xfrm>
                <a:off x="1428089" y="1545771"/>
                <a:ext cx="58115" cy="4790977"/>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33" name="Rectangle 32">
                <a:extLst>
                  <a:ext uri="{FF2B5EF4-FFF2-40B4-BE49-F238E27FC236}">
                    <a16:creationId xmlns:a16="http://schemas.microsoft.com/office/drawing/2014/main" id="{2A9B3AFA-6F92-471E-A4BD-66B1AC9D2CF2}"/>
                  </a:ext>
                </a:extLst>
              </p:cNvPr>
              <p:cNvSpPr/>
              <p:nvPr/>
            </p:nvSpPr>
            <p:spPr>
              <a:xfrm>
                <a:off x="0" y="1045029"/>
                <a:ext cx="2856178" cy="5007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1"/>
                    </a:solidFill>
                    <a:latin typeface="Rockwell" panose="02060603020205020403" pitchFamily="18" charset="0"/>
                  </a:rPr>
                  <a:t>Vue dynamique</a:t>
                </a:r>
                <a:endParaRPr lang="en-US" sz="2000" dirty="0">
                  <a:solidFill>
                    <a:schemeClr val="bg1"/>
                  </a:solidFill>
                  <a:latin typeface="Rockwell" panose="02060603020205020403" pitchFamily="18" charset="0"/>
                </a:endParaRPr>
              </a:p>
            </p:txBody>
          </p:sp>
          <p:sp>
            <p:nvSpPr>
              <p:cNvPr id="34" name="Rectangle: Rounded Corners 33">
                <a:extLst>
                  <a:ext uri="{FF2B5EF4-FFF2-40B4-BE49-F238E27FC236}">
                    <a16:creationId xmlns:a16="http://schemas.microsoft.com/office/drawing/2014/main" id="{ABDC66A6-E010-44DA-981D-EC808015C572}"/>
                  </a:ext>
                </a:extLst>
              </p:cNvPr>
              <p:cNvSpPr/>
              <p:nvPr/>
            </p:nvSpPr>
            <p:spPr>
              <a:xfrm>
                <a:off x="73384" y="2358982"/>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collaboration</a:t>
                </a:r>
                <a:endParaRPr lang="en-US" dirty="0">
                  <a:latin typeface="Rockwell" panose="02060603020205020403" pitchFamily="18" charset="0"/>
                </a:endParaRPr>
              </a:p>
            </p:txBody>
          </p:sp>
          <p:sp>
            <p:nvSpPr>
              <p:cNvPr id="35" name="Rectangle: Rounded Corners 34">
                <a:extLst>
                  <a:ext uri="{FF2B5EF4-FFF2-40B4-BE49-F238E27FC236}">
                    <a16:creationId xmlns:a16="http://schemas.microsoft.com/office/drawing/2014/main" id="{5223A008-E554-41F2-A041-EE6A87EE696B}"/>
                  </a:ext>
                </a:extLst>
              </p:cNvPr>
              <p:cNvSpPr/>
              <p:nvPr/>
            </p:nvSpPr>
            <p:spPr>
              <a:xfrm>
                <a:off x="88655" y="3070408"/>
                <a:ext cx="2856177" cy="513064"/>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de séquence</a:t>
                </a:r>
                <a:endParaRPr lang="en-US" dirty="0">
                  <a:latin typeface="Rockwell" panose="02060603020205020403" pitchFamily="18" charset="0"/>
                </a:endParaRPr>
              </a:p>
            </p:txBody>
          </p:sp>
        </p:grpSp>
        <p:sp>
          <p:nvSpPr>
            <p:cNvPr id="36" name="Rectangle: Rounded Corners 35">
              <a:extLst>
                <a:ext uri="{FF2B5EF4-FFF2-40B4-BE49-F238E27FC236}">
                  <a16:creationId xmlns:a16="http://schemas.microsoft.com/office/drawing/2014/main" id="{5C514129-BE57-4205-B492-5279128E83FB}"/>
                </a:ext>
              </a:extLst>
            </p:cNvPr>
            <p:cNvSpPr/>
            <p:nvPr/>
          </p:nvSpPr>
          <p:spPr>
            <a:xfrm>
              <a:off x="8789244" y="3601741"/>
              <a:ext cx="2856177" cy="513064"/>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d’états-transition</a:t>
              </a:r>
              <a:endParaRPr lang="en-US" dirty="0">
                <a:latin typeface="Rockwell" panose="02060603020205020403" pitchFamily="18" charset="0"/>
              </a:endParaRPr>
            </a:p>
          </p:txBody>
        </p:sp>
        <p:sp>
          <p:nvSpPr>
            <p:cNvPr id="37" name="Rectangle: Rounded Corners 36">
              <a:extLst>
                <a:ext uri="{FF2B5EF4-FFF2-40B4-BE49-F238E27FC236}">
                  <a16:creationId xmlns:a16="http://schemas.microsoft.com/office/drawing/2014/main" id="{3AF6C9FE-4BEE-4960-BCFC-C17745892A62}"/>
                </a:ext>
              </a:extLst>
            </p:cNvPr>
            <p:cNvSpPr/>
            <p:nvPr/>
          </p:nvSpPr>
          <p:spPr>
            <a:xfrm>
              <a:off x="8789244" y="4297161"/>
              <a:ext cx="2856177" cy="513064"/>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 d’activité</a:t>
              </a:r>
              <a:endParaRPr lang="en-US" dirty="0">
                <a:latin typeface="Rockwell" panose="02060603020205020403" pitchFamily="18" charset="0"/>
              </a:endParaRPr>
            </a:p>
          </p:txBody>
        </p:sp>
      </p:grpSp>
    </p:spTree>
    <p:extLst>
      <p:ext uri="{BB962C8B-B14F-4D97-AF65-F5344CB8AC3E}">
        <p14:creationId xmlns:p14="http://schemas.microsoft.com/office/powerpoint/2010/main" val="38167837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E7D36F2-D1E7-4044-9FBC-538C2FAF5E4A}"/>
              </a:ext>
            </a:extLst>
          </p:cNvPr>
          <p:cNvSpPr/>
          <p:nvPr/>
        </p:nvSpPr>
        <p:spPr>
          <a:xfrm>
            <a:off x="6324600" y="0"/>
            <a:ext cx="5867400" cy="770164"/>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DEMARCHE D’ANALYSE</a:t>
            </a:r>
          </a:p>
          <a:p>
            <a:pPr algn="ctr"/>
            <a:r>
              <a:rPr lang="fr-FR" dirty="0">
                <a:latin typeface="Rockwell" panose="02060603020205020403" pitchFamily="18" charset="0"/>
              </a:rPr>
              <a:t>METHODOLOGIE:2TUP(</a:t>
            </a:r>
            <a:r>
              <a:rPr lang="en-US" dirty="0">
                <a:latin typeface="Rockwell" panose="02060603020205020403" pitchFamily="18" charset="0"/>
              </a:rPr>
              <a:t>Two Track Unified Process)</a:t>
            </a:r>
          </a:p>
        </p:txBody>
      </p:sp>
      <p:sp>
        <p:nvSpPr>
          <p:cNvPr id="3" name="Oval 2">
            <a:extLst>
              <a:ext uri="{FF2B5EF4-FFF2-40B4-BE49-F238E27FC236}">
                <a16:creationId xmlns:a16="http://schemas.microsoft.com/office/drawing/2014/main" id="{8246A108-FBC6-42F9-A757-D613DDDC264D}"/>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grpSp>
        <p:nvGrpSpPr>
          <p:cNvPr id="43" name="Group 42">
            <a:extLst>
              <a:ext uri="{FF2B5EF4-FFF2-40B4-BE49-F238E27FC236}">
                <a16:creationId xmlns:a16="http://schemas.microsoft.com/office/drawing/2014/main" id="{0DAD5800-D213-4B06-A558-7DF9BED13B29}"/>
              </a:ext>
            </a:extLst>
          </p:cNvPr>
          <p:cNvGrpSpPr/>
          <p:nvPr/>
        </p:nvGrpSpPr>
        <p:grpSpPr>
          <a:xfrm>
            <a:off x="0" y="1045029"/>
            <a:ext cx="7437747" cy="5629278"/>
            <a:chOff x="0" y="1045029"/>
            <a:chExt cx="7437747" cy="5629278"/>
          </a:xfrm>
          <a:solidFill>
            <a:schemeClr val="accent1"/>
          </a:solidFill>
        </p:grpSpPr>
        <p:grpSp>
          <p:nvGrpSpPr>
            <p:cNvPr id="21" name="Group 20">
              <a:extLst>
                <a:ext uri="{FF2B5EF4-FFF2-40B4-BE49-F238E27FC236}">
                  <a16:creationId xmlns:a16="http://schemas.microsoft.com/office/drawing/2014/main" id="{366F8D0D-180C-470B-AAA5-EF0F3BC35E78}"/>
                </a:ext>
              </a:extLst>
            </p:cNvPr>
            <p:cNvGrpSpPr/>
            <p:nvPr/>
          </p:nvGrpSpPr>
          <p:grpSpPr>
            <a:xfrm>
              <a:off x="1428089" y="1545771"/>
              <a:ext cx="4175088" cy="5128536"/>
              <a:chOff x="132689" y="674914"/>
              <a:chExt cx="4175088" cy="5128536"/>
            </a:xfrm>
            <a:grpFill/>
          </p:grpSpPr>
          <p:cxnSp>
            <p:nvCxnSpPr>
              <p:cNvPr id="18" name="Straight Connector 17">
                <a:extLst>
                  <a:ext uri="{FF2B5EF4-FFF2-40B4-BE49-F238E27FC236}">
                    <a16:creationId xmlns:a16="http://schemas.microsoft.com/office/drawing/2014/main" id="{A491BD6A-4FAE-4129-83B2-5F63B6CBDB6D}"/>
                  </a:ext>
                </a:extLst>
              </p:cNvPr>
              <p:cNvCxnSpPr>
                <a:cxnSpLocks/>
              </p:cNvCxnSpPr>
              <p:nvPr/>
            </p:nvCxnSpPr>
            <p:spPr>
              <a:xfrm flipH="1">
                <a:off x="2264560" y="2905830"/>
                <a:ext cx="1" cy="2897620"/>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78800C80-0E46-496A-821C-169AA76AF825}"/>
                  </a:ext>
                </a:extLst>
              </p:cNvPr>
              <p:cNvCxnSpPr>
                <a:cxnSpLocks/>
                <a:stCxn id="27" idx="2"/>
              </p:cNvCxnSpPr>
              <p:nvPr/>
            </p:nvCxnSpPr>
            <p:spPr>
              <a:xfrm>
                <a:off x="132689" y="674914"/>
                <a:ext cx="2131871" cy="2230916"/>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cxnSp>
            <p:nvCxnSpPr>
              <p:cNvPr id="20" name="Straight Connector 19">
                <a:extLst>
                  <a:ext uri="{FF2B5EF4-FFF2-40B4-BE49-F238E27FC236}">
                    <a16:creationId xmlns:a16="http://schemas.microsoft.com/office/drawing/2014/main" id="{25954C1B-1F8B-4B17-8477-C00E2678393E}"/>
                  </a:ext>
                </a:extLst>
              </p:cNvPr>
              <p:cNvCxnSpPr>
                <a:cxnSpLocks/>
              </p:cNvCxnSpPr>
              <p:nvPr/>
            </p:nvCxnSpPr>
            <p:spPr>
              <a:xfrm flipH="1">
                <a:off x="2264562" y="674914"/>
                <a:ext cx="2043215" cy="2230916"/>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cxnSp>
            <p:nvCxnSpPr>
              <p:cNvPr id="44" name="Straight Connector 43">
                <a:extLst>
                  <a:ext uri="{FF2B5EF4-FFF2-40B4-BE49-F238E27FC236}">
                    <a16:creationId xmlns:a16="http://schemas.microsoft.com/office/drawing/2014/main" id="{AD86FE45-47CB-4281-9807-32B137576A56}"/>
                  </a:ext>
                </a:extLst>
              </p:cNvPr>
              <p:cNvCxnSpPr>
                <a:cxnSpLocks/>
              </p:cNvCxnSpPr>
              <p:nvPr/>
            </p:nvCxnSpPr>
            <p:spPr>
              <a:xfrm flipH="1">
                <a:off x="2264559" y="2905830"/>
                <a:ext cx="1" cy="2897620"/>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cxnSp>
            <p:nvCxnSpPr>
              <p:cNvPr id="45" name="Straight Connector 44">
                <a:extLst>
                  <a:ext uri="{FF2B5EF4-FFF2-40B4-BE49-F238E27FC236}">
                    <a16:creationId xmlns:a16="http://schemas.microsoft.com/office/drawing/2014/main" id="{15A47196-A841-4D31-B896-D59E077A1060}"/>
                  </a:ext>
                </a:extLst>
              </p:cNvPr>
              <p:cNvCxnSpPr>
                <a:cxnSpLocks/>
              </p:cNvCxnSpPr>
              <p:nvPr/>
            </p:nvCxnSpPr>
            <p:spPr>
              <a:xfrm flipH="1">
                <a:off x="2264561" y="674914"/>
                <a:ext cx="2043215" cy="2230916"/>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grpSp>
        <p:sp>
          <p:nvSpPr>
            <p:cNvPr id="26" name="Rectangle 25">
              <a:extLst>
                <a:ext uri="{FF2B5EF4-FFF2-40B4-BE49-F238E27FC236}">
                  <a16:creationId xmlns:a16="http://schemas.microsoft.com/office/drawing/2014/main" id="{90E39E54-FCDD-45E5-B1A9-896B7FFD23E9}"/>
                </a:ext>
              </a:extLst>
            </p:cNvPr>
            <p:cNvSpPr/>
            <p:nvPr/>
          </p:nvSpPr>
          <p:spPr>
            <a:xfrm>
              <a:off x="4408715" y="1045029"/>
              <a:ext cx="2820716" cy="5007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1"/>
                  </a:solidFill>
                  <a:latin typeface="Rockwell" panose="02060603020205020403" pitchFamily="18" charset="0"/>
                </a:rPr>
                <a:t>Branche technique</a:t>
              </a:r>
              <a:endParaRPr lang="en-US" sz="2000" dirty="0">
                <a:solidFill>
                  <a:schemeClr val="bg1"/>
                </a:solidFill>
                <a:latin typeface="Rockwell" panose="02060603020205020403" pitchFamily="18" charset="0"/>
              </a:endParaRPr>
            </a:p>
          </p:txBody>
        </p:sp>
        <p:sp>
          <p:nvSpPr>
            <p:cNvPr id="27" name="Rectangle 26">
              <a:extLst>
                <a:ext uri="{FF2B5EF4-FFF2-40B4-BE49-F238E27FC236}">
                  <a16:creationId xmlns:a16="http://schemas.microsoft.com/office/drawing/2014/main" id="{90ACBFB6-21B1-41DA-B5CF-19DC833CF462}"/>
                </a:ext>
              </a:extLst>
            </p:cNvPr>
            <p:cNvSpPr/>
            <p:nvPr/>
          </p:nvSpPr>
          <p:spPr>
            <a:xfrm>
              <a:off x="0" y="1045029"/>
              <a:ext cx="2856178" cy="5007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1"/>
                  </a:solidFill>
                  <a:latin typeface="Rockwell" panose="02060603020205020403" pitchFamily="18" charset="0"/>
                </a:rPr>
                <a:t>Branche fonctionnelle</a:t>
              </a:r>
              <a:endParaRPr lang="en-US" sz="2000" dirty="0">
                <a:solidFill>
                  <a:schemeClr val="bg1"/>
                </a:solidFill>
                <a:latin typeface="Rockwell" panose="02060603020205020403" pitchFamily="18" charset="0"/>
              </a:endParaRPr>
            </a:p>
          </p:txBody>
        </p:sp>
        <p:sp>
          <p:nvSpPr>
            <p:cNvPr id="28" name="Rectangle: Rounded Corners 27">
              <a:extLst>
                <a:ext uri="{FF2B5EF4-FFF2-40B4-BE49-F238E27FC236}">
                  <a16:creationId xmlns:a16="http://schemas.microsoft.com/office/drawing/2014/main" id="{26771F95-7111-4347-813B-8682418C5CB4}"/>
                </a:ext>
              </a:extLst>
            </p:cNvPr>
            <p:cNvSpPr/>
            <p:nvPr/>
          </p:nvSpPr>
          <p:spPr>
            <a:xfrm>
              <a:off x="511629" y="1970314"/>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Capture des besoins fonctionnels</a:t>
              </a:r>
              <a:endParaRPr lang="en-US" dirty="0">
                <a:latin typeface="Rockwell" panose="02060603020205020403" pitchFamily="18" charset="0"/>
              </a:endParaRPr>
            </a:p>
          </p:txBody>
        </p:sp>
        <p:sp>
          <p:nvSpPr>
            <p:cNvPr id="29" name="Rectangle: Rounded Corners 28">
              <a:extLst>
                <a:ext uri="{FF2B5EF4-FFF2-40B4-BE49-F238E27FC236}">
                  <a16:creationId xmlns:a16="http://schemas.microsoft.com/office/drawing/2014/main" id="{B350077C-9E22-4E08-B900-1E508F3FF3AE}"/>
                </a:ext>
              </a:extLst>
            </p:cNvPr>
            <p:cNvSpPr/>
            <p:nvPr/>
          </p:nvSpPr>
          <p:spPr>
            <a:xfrm>
              <a:off x="4581569" y="1937656"/>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Capture des besoins techniques</a:t>
              </a:r>
              <a:endParaRPr lang="en-US" dirty="0">
                <a:latin typeface="Rockwell" panose="02060603020205020403" pitchFamily="18" charset="0"/>
              </a:endParaRPr>
            </a:p>
          </p:txBody>
        </p:sp>
        <p:sp>
          <p:nvSpPr>
            <p:cNvPr id="30" name="Rectangle: Rounded Corners 29">
              <a:extLst>
                <a:ext uri="{FF2B5EF4-FFF2-40B4-BE49-F238E27FC236}">
                  <a16:creationId xmlns:a16="http://schemas.microsoft.com/office/drawing/2014/main" id="{BA6C81A3-4AEE-409C-AEA5-09763F94023B}"/>
                </a:ext>
              </a:extLst>
            </p:cNvPr>
            <p:cNvSpPr/>
            <p:nvPr/>
          </p:nvSpPr>
          <p:spPr>
            <a:xfrm>
              <a:off x="936190" y="2661229"/>
              <a:ext cx="2623770"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Analyse </a:t>
              </a:r>
              <a:endParaRPr lang="en-US" dirty="0">
                <a:latin typeface="Rockwell" panose="02060603020205020403" pitchFamily="18" charset="0"/>
              </a:endParaRPr>
            </a:p>
          </p:txBody>
        </p:sp>
        <p:sp>
          <p:nvSpPr>
            <p:cNvPr id="31" name="Rectangle: Rounded Corners 30">
              <a:extLst>
                <a:ext uri="{FF2B5EF4-FFF2-40B4-BE49-F238E27FC236}">
                  <a16:creationId xmlns:a16="http://schemas.microsoft.com/office/drawing/2014/main" id="{27575F7B-C730-469F-BB02-C18F64A04774}"/>
                </a:ext>
              </a:extLst>
            </p:cNvPr>
            <p:cNvSpPr/>
            <p:nvPr/>
          </p:nvSpPr>
          <p:spPr>
            <a:xfrm>
              <a:off x="3999017" y="2661229"/>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générique</a:t>
              </a:r>
              <a:endParaRPr lang="en-US" dirty="0">
                <a:latin typeface="Rockwell" panose="02060603020205020403" pitchFamily="18" charset="0"/>
              </a:endParaRPr>
            </a:p>
          </p:txBody>
        </p:sp>
        <p:sp>
          <p:nvSpPr>
            <p:cNvPr id="32" name="Rectangle: Rounded Corners 31">
              <a:extLst>
                <a:ext uri="{FF2B5EF4-FFF2-40B4-BE49-F238E27FC236}">
                  <a16:creationId xmlns:a16="http://schemas.microsoft.com/office/drawing/2014/main" id="{25B6E201-34A6-4F96-9118-3C22A36D8AE2}"/>
                </a:ext>
              </a:extLst>
            </p:cNvPr>
            <p:cNvSpPr/>
            <p:nvPr/>
          </p:nvSpPr>
          <p:spPr>
            <a:xfrm>
              <a:off x="2401783" y="3999518"/>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préliminaire</a:t>
              </a:r>
              <a:endParaRPr lang="en-US" dirty="0">
                <a:latin typeface="Rockwell" panose="02060603020205020403" pitchFamily="18" charset="0"/>
              </a:endParaRPr>
            </a:p>
          </p:txBody>
        </p:sp>
        <p:sp>
          <p:nvSpPr>
            <p:cNvPr id="33" name="Rectangle: Rounded Corners 32">
              <a:extLst>
                <a:ext uri="{FF2B5EF4-FFF2-40B4-BE49-F238E27FC236}">
                  <a16:creationId xmlns:a16="http://schemas.microsoft.com/office/drawing/2014/main" id="{2528C1AF-1D87-46AE-8C5D-C30151BFF1C2}"/>
                </a:ext>
              </a:extLst>
            </p:cNvPr>
            <p:cNvSpPr/>
            <p:nvPr/>
          </p:nvSpPr>
          <p:spPr>
            <a:xfrm>
              <a:off x="2401782" y="4740755"/>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Conception détaillée</a:t>
              </a:r>
              <a:endParaRPr lang="en-US" dirty="0">
                <a:latin typeface="Rockwell" panose="02060603020205020403" pitchFamily="18" charset="0"/>
              </a:endParaRPr>
            </a:p>
          </p:txBody>
        </p:sp>
        <p:sp>
          <p:nvSpPr>
            <p:cNvPr id="34" name="Rectangle: Rounded Corners 33">
              <a:extLst>
                <a:ext uri="{FF2B5EF4-FFF2-40B4-BE49-F238E27FC236}">
                  <a16:creationId xmlns:a16="http://schemas.microsoft.com/office/drawing/2014/main" id="{BF10BD77-65CF-4327-8620-FF83DEC952C1}"/>
                </a:ext>
              </a:extLst>
            </p:cNvPr>
            <p:cNvSpPr/>
            <p:nvPr/>
          </p:nvSpPr>
          <p:spPr>
            <a:xfrm>
              <a:off x="2401782" y="5481992"/>
              <a:ext cx="2316351"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Codage; tests et recettes</a:t>
              </a:r>
              <a:endParaRPr lang="en-US" dirty="0">
                <a:latin typeface="Rockwell" panose="02060603020205020403" pitchFamily="18" charset="0"/>
              </a:endParaRPr>
            </a:p>
          </p:txBody>
        </p:sp>
      </p:grpSp>
      <p:grpSp>
        <p:nvGrpSpPr>
          <p:cNvPr id="42" name="Group 41">
            <a:extLst>
              <a:ext uri="{FF2B5EF4-FFF2-40B4-BE49-F238E27FC236}">
                <a16:creationId xmlns:a16="http://schemas.microsoft.com/office/drawing/2014/main" id="{CB6E8E9D-2EDF-4C78-A470-EC99A03CDDBD}"/>
              </a:ext>
            </a:extLst>
          </p:cNvPr>
          <p:cNvGrpSpPr/>
          <p:nvPr/>
        </p:nvGrpSpPr>
        <p:grpSpPr>
          <a:xfrm>
            <a:off x="6855195" y="1376386"/>
            <a:ext cx="5325920" cy="2844219"/>
            <a:chOff x="6855195" y="1376386"/>
            <a:chExt cx="5325920" cy="2844219"/>
          </a:xfrm>
        </p:grpSpPr>
        <p:sp>
          <p:nvSpPr>
            <p:cNvPr id="35" name="Rectangle 34">
              <a:extLst>
                <a:ext uri="{FF2B5EF4-FFF2-40B4-BE49-F238E27FC236}">
                  <a16:creationId xmlns:a16="http://schemas.microsoft.com/office/drawing/2014/main" id="{FF99E2B4-D147-409A-B8B1-F49099169C4F}"/>
                </a:ext>
              </a:extLst>
            </p:cNvPr>
            <p:cNvSpPr/>
            <p:nvPr/>
          </p:nvSpPr>
          <p:spPr>
            <a:xfrm>
              <a:off x="7696201" y="2160485"/>
              <a:ext cx="4484914" cy="5007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1600" dirty="0">
                  <a:solidFill>
                    <a:schemeClr val="tx1"/>
                  </a:solidFill>
                  <a:latin typeface="Rockwell" panose="02060603020205020403" pitchFamily="18" charset="0"/>
                </a:rPr>
                <a:t>Piloté par les exigences des utilisateurs</a:t>
              </a:r>
              <a:endParaRPr lang="en-US" sz="1600" dirty="0">
                <a:solidFill>
                  <a:schemeClr val="tx1"/>
                </a:solidFill>
                <a:latin typeface="Rockwell" panose="02060603020205020403" pitchFamily="18" charset="0"/>
              </a:endParaRPr>
            </a:p>
          </p:txBody>
        </p:sp>
        <p:sp>
          <p:nvSpPr>
            <p:cNvPr id="36" name="Rectangle 35">
              <a:extLst>
                <a:ext uri="{FF2B5EF4-FFF2-40B4-BE49-F238E27FC236}">
                  <a16:creationId xmlns:a16="http://schemas.microsoft.com/office/drawing/2014/main" id="{1D20FC7C-5F15-4BFE-BE9D-FD933FB2C097}"/>
                </a:ext>
              </a:extLst>
            </p:cNvPr>
            <p:cNvSpPr/>
            <p:nvPr/>
          </p:nvSpPr>
          <p:spPr>
            <a:xfrm>
              <a:off x="7402286" y="2770249"/>
              <a:ext cx="2856179" cy="282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1600" dirty="0">
                  <a:solidFill>
                    <a:schemeClr val="tx1"/>
                  </a:solidFill>
                  <a:latin typeface="Rockwell" panose="02060603020205020403" pitchFamily="18" charset="0"/>
                </a:rPr>
                <a:t>Piloté par les risques</a:t>
              </a:r>
              <a:endParaRPr lang="en-US" sz="1600" dirty="0">
                <a:solidFill>
                  <a:schemeClr val="tx1"/>
                </a:solidFill>
                <a:latin typeface="Rockwell" panose="02060603020205020403" pitchFamily="18" charset="0"/>
              </a:endParaRPr>
            </a:p>
          </p:txBody>
        </p:sp>
        <p:sp>
          <p:nvSpPr>
            <p:cNvPr id="37" name="Rectangle 36">
              <a:extLst>
                <a:ext uri="{FF2B5EF4-FFF2-40B4-BE49-F238E27FC236}">
                  <a16:creationId xmlns:a16="http://schemas.microsoft.com/office/drawing/2014/main" id="{C0C2444F-BF7A-4482-A3BA-1156F1E92DAB}"/>
                </a:ext>
              </a:extLst>
            </p:cNvPr>
            <p:cNvSpPr/>
            <p:nvPr/>
          </p:nvSpPr>
          <p:spPr>
            <a:xfrm>
              <a:off x="7108371" y="3161971"/>
              <a:ext cx="3150094" cy="566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1600" dirty="0">
                  <a:solidFill>
                    <a:schemeClr val="tx1"/>
                  </a:solidFill>
                  <a:latin typeface="Rockwell" panose="02060603020205020403" pitchFamily="18" charset="0"/>
                </a:rPr>
                <a:t>Centré sur l’architecture</a:t>
              </a:r>
              <a:endParaRPr lang="en-US" sz="1600" dirty="0">
                <a:solidFill>
                  <a:schemeClr val="tx1"/>
                </a:solidFill>
                <a:latin typeface="Rockwell" panose="02060603020205020403" pitchFamily="18" charset="0"/>
              </a:endParaRPr>
            </a:p>
          </p:txBody>
        </p:sp>
        <p:sp>
          <p:nvSpPr>
            <p:cNvPr id="38" name="Rectangle 37">
              <a:extLst>
                <a:ext uri="{FF2B5EF4-FFF2-40B4-BE49-F238E27FC236}">
                  <a16:creationId xmlns:a16="http://schemas.microsoft.com/office/drawing/2014/main" id="{2F1B3E5B-89FB-4DA6-BC91-D088394ECB98}"/>
                </a:ext>
              </a:extLst>
            </p:cNvPr>
            <p:cNvSpPr/>
            <p:nvPr/>
          </p:nvSpPr>
          <p:spPr>
            <a:xfrm>
              <a:off x="6855195" y="3605890"/>
              <a:ext cx="2626259" cy="6147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ü"/>
              </a:pPr>
              <a:r>
                <a:rPr lang="fr-FR" sz="1600" dirty="0">
                  <a:solidFill>
                    <a:schemeClr val="tx1"/>
                  </a:solidFill>
                  <a:latin typeface="Rockwell" panose="02060603020205020403" pitchFamily="18" charset="0"/>
                </a:rPr>
                <a:t>Orienté composant</a:t>
              </a:r>
              <a:endParaRPr lang="en-US" sz="1600" dirty="0">
                <a:solidFill>
                  <a:schemeClr val="tx1"/>
                </a:solidFill>
                <a:latin typeface="Rockwell" panose="02060603020205020403" pitchFamily="18" charset="0"/>
              </a:endParaRPr>
            </a:p>
          </p:txBody>
        </p:sp>
        <p:sp>
          <p:nvSpPr>
            <p:cNvPr id="41" name="Rectangle: Rounded Corners 40">
              <a:extLst>
                <a:ext uri="{FF2B5EF4-FFF2-40B4-BE49-F238E27FC236}">
                  <a16:creationId xmlns:a16="http://schemas.microsoft.com/office/drawing/2014/main" id="{3CCCD85D-62C4-43C5-B303-02213340BE08}"/>
                </a:ext>
              </a:extLst>
            </p:cNvPr>
            <p:cNvSpPr/>
            <p:nvPr/>
          </p:nvSpPr>
          <p:spPr>
            <a:xfrm>
              <a:off x="7957457" y="1376386"/>
              <a:ext cx="4223658" cy="593928"/>
            </a:xfrm>
            <a:prstGeom prst="roundRect">
              <a:avLst>
                <a:gd name="adj" fmla="val 3245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a:solidFill>
                    <a:schemeClr val="tx1"/>
                  </a:solidFill>
                  <a:latin typeface="Rockwell" panose="02060603020205020403" pitchFamily="18" charset="0"/>
                </a:rPr>
                <a:t>Pourquoi 2TUP?</a:t>
              </a:r>
              <a:endParaRPr lang="en-US" sz="4000" dirty="0">
                <a:solidFill>
                  <a:schemeClr val="tx1"/>
                </a:solidFill>
                <a:latin typeface="Rockwell" panose="02060603020205020403" pitchFamily="18" charset="0"/>
              </a:endParaRPr>
            </a:p>
          </p:txBody>
        </p:sp>
      </p:grpSp>
      <p:sp>
        <p:nvSpPr>
          <p:cNvPr id="39" name="Oval 38">
            <a:extLst>
              <a:ext uri="{FF2B5EF4-FFF2-40B4-BE49-F238E27FC236}">
                <a16:creationId xmlns:a16="http://schemas.microsoft.com/office/drawing/2014/main" id="{6EA3DCE9-CCA8-40D3-B47E-732155CD4EB7}"/>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6</a:t>
            </a:r>
            <a:endParaRPr lang="en-US" dirty="0">
              <a:latin typeface="Amasis MT Pro Medium" panose="02040604050005020304" pitchFamily="18" charset="0"/>
            </a:endParaRPr>
          </a:p>
        </p:txBody>
      </p:sp>
      <p:sp>
        <p:nvSpPr>
          <p:cNvPr id="4" name="Rectangle: Rounded Corners 33">
            <a:extLst>
              <a:ext uri="{FF2B5EF4-FFF2-40B4-BE49-F238E27FC236}">
                <a16:creationId xmlns:a16="http://schemas.microsoft.com/office/drawing/2014/main" id="{96B26562-9277-1713-269A-49C0080B9E05}"/>
              </a:ext>
            </a:extLst>
          </p:cNvPr>
          <p:cNvSpPr/>
          <p:nvPr/>
        </p:nvSpPr>
        <p:spPr>
          <a:xfrm>
            <a:off x="2412360" y="6078149"/>
            <a:ext cx="2316351" cy="500742"/>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Recette</a:t>
            </a:r>
            <a:endParaRPr lang="en-US" dirty="0">
              <a:latin typeface="Rockwell" panose="02060603020205020403" pitchFamily="18" charset="0"/>
            </a:endParaRPr>
          </a:p>
        </p:txBody>
      </p:sp>
    </p:spTree>
    <p:extLst>
      <p:ext uri="{BB962C8B-B14F-4D97-AF65-F5344CB8AC3E}">
        <p14:creationId xmlns:p14="http://schemas.microsoft.com/office/powerpoint/2010/main" val="42609679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99385-A591-400B-BFD9-A893B3AB72DE}"/>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C2D04B63-B214-7B44-E636-FFB22477273D}"/>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7</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C5E389C1-BC61-210C-809D-D30BC38CED94}"/>
              </a:ext>
            </a:extLst>
          </p:cNvPr>
          <p:cNvSpPr/>
          <p:nvPr/>
        </p:nvSpPr>
        <p:spPr>
          <a:xfrm>
            <a:off x="11649075" y="6405351"/>
            <a:ext cx="47885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8</a:t>
            </a:r>
            <a:endParaRPr lang="en-US" dirty="0">
              <a:latin typeface="Rockwell" panose="02060603020205020403" pitchFamily="18" charset="0"/>
            </a:endParaRPr>
          </a:p>
        </p:txBody>
      </p:sp>
      <p:pic>
        <p:nvPicPr>
          <p:cNvPr id="48" name="Picture 3065">
            <a:extLst>
              <a:ext uri="{FF2B5EF4-FFF2-40B4-BE49-F238E27FC236}">
                <a16:creationId xmlns:a16="http://schemas.microsoft.com/office/drawing/2014/main" id="{0F11D9BA-9A16-4118-4F76-BAF1F0C82E3D}"/>
              </a:ext>
            </a:extLst>
          </p:cNvPr>
          <p:cNvPicPr/>
          <p:nvPr/>
        </p:nvPicPr>
        <p:blipFill>
          <a:blip r:embed="rId3">
            <a:extLst>
              <a:ext uri="{28A0092B-C50C-407E-A947-70E740481C1C}">
                <a14:useLocalDpi xmlns:a14="http://schemas.microsoft.com/office/drawing/2010/main" val="0"/>
              </a:ext>
            </a:extLst>
          </a:blip>
          <a:srcRect/>
          <a:stretch/>
        </p:blipFill>
        <p:spPr>
          <a:xfrm>
            <a:off x="3674505" y="2387146"/>
            <a:ext cx="4935843" cy="3272482"/>
          </a:xfrm>
          <a:prstGeom prst="rect">
            <a:avLst/>
          </a:prstGeom>
        </p:spPr>
      </p:pic>
      <p:sp>
        <p:nvSpPr>
          <p:cNvPr id="12" name="Rectangle à coins arrondis 11">
            <a:extLst>
              <a:ext uri="{FF2B5EF4-FFF2-40B4-BE49-F238E27FC236}">
                <a16:creationId xmlns:a16="http://schemas.microsoft.com/office/drawing/2014/main" id="{04FCF4CC-E251-58BA-237B-951536A3640F}"/>
              </a:ext>
            </a:extLst>
          </p:cNvPr>
          <p:cNvSpPr/>
          <p:nvPr/>
        </p:nvSpPr>
        <p:spPr>
          <a:xfrm>
            <a:off x="3447120" y="731686"/>
            <a:ext cx="5290400" cy="639773"/>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Présentation du diagramme de Use Case</a:t>
            </a:r>
          </a:p>
        </p:txBody>
      </p:sp>
      <p:sp>
        <p:nvSpPr>
          <p:cNvPr id="15" name="ZoneTexte 14">
            <a:extLst>
              <a:ext uri="{FF2B5EF4-FFF2-40B4-BE49-F238E27FC236}">
                <a16:creationId xmlns:a16="http://schemas.microsoft.com/office/drawing/2014/main" id="{095B91E4-07EC-00C5-834E-111E7F10CB50}"/>
              </a:ext>
            </a:extLst>
          </p:cNvPr>
          <p:cNvSpPr txBox="1"/>
          <p:nvPr/>
        </p:nvSpPr>
        <p:spPr>
          <a:xfrm>
            <a:off x="769693" y="1700373"/>
            <a:ext cx="10645254" cy="2308324"/>
          </a:xfrm>
          <a:prstGeom prst="rect">
            <a:avLst/>
          </a:prstGeom>
          <a:noFill/>
        </p:spPr>
        <p:txBody>
          <a:bodyPr wrap="square" rtlCol="0">
            <a:spAutoFit/>
          </a:bodyPr>
          <a:lstStyle/>
          <a:p>
            <a:pPr algn="just"/>
            <a:r>
              <a:rPr lang="fr-FR" sz="2400" b="1" dirty="0">
                <a:latin typeface="Rockwell" panose="02060603020205020403" pitchFamily="18" charset="0"/>
              </a:rPr>
              <a:t>	Les diagrammes des cas d’utilisation (use case en anglais) identifient les fonctionnalités fournies par le système (cas d’utilisation), les utilisateurs qui interagissent avec le système (acteurs), et les interactions entre ces derniers. Les cas d’utilisation sont utilisés dans la phase d’analyse pour définir les besoins de haut niveau du système. </a:t>
            </a:r>
          </a:p>
        </p:txBody>
      </p:sp>
      <p:sp>
        <p:nvSpPr>
          <p:cNvPr id="2" name="Rectangle: Rounded Corners 3">
            <a:extLst>
              <a:ext uri="{FF2B5EF4-FFF2-40B4-BE49-F238E27FC236}">
                <a16:creationId xmlns:a16="http://schemas.microsoft.com/office/drawing/2014/main" id="{A9936147-E026-6DF5-A3F7-83FE1F68931F}"/>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spTree>
    <p:extLst>
      <p:ext uri="{BB962C8B-B14F-4D97-AF65-F5344CB8AC3E}">
        <p14:creationId xmlns:p14="http://schemas.microsoft.com/office/powerpoint/2010/main" val="21155863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xit" presetSubtype="4" fill="hold" nodeType="clickEffect">
                                  <p:stCondLst>
                                    <p:cond delay="400"/>
                                  </p:stCondLst>
                                  <p:childTnLst>
                                    <p:animEffect transition="out" filter="wipe(down)">
                                      <p:cBhvr>
                                        <p:cTn id="13" dur="500"/>
                                        <p:tgtEl>
                                          <p:spTgt spid="48"/>
                                        </p:tgtEl>
                                      </p:cBhvr>
                                    </p:animEffect>
                                    <p:set>
                                      <p:cBhvr>
                                        <p:cTn id="14" dur="1" fill="hold">
                                          <p:stCondLst>
                                            <p:cond delay="499"/>
                                          </p:stCondLst>
                                        </p:cTn>
                                        <p:tgtEl>
                                          <p:spTgt spid="4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1" nodeType="clickEffect">
                                  <p:stCondLst>
                                    <p:cond delay="0"/>
                                  </p:stCondLst>
                                  <p:childTnLst>
                                    <p:animEffect transition="out" filter="wipe(dow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par>
                                <p:cTn id="33" presetID="22" presetClass="exit" presetSubtype="4" fill="hold" grpId="1" nodeType="withEffect">
                                  <p:stCondLst>
                                    <p:cond delay="0"/>
                                  </p:stCondLst>
                                  <p:childTnLst>
                                    <p:animEffect transition="out" filter="wipe(down)">
                                      <p:cBhvr>
                                        <p:cTn id="34" dur="500"/>
                                        <p:tgtEl>
                                          <p:spTgt spid="15"/>
                                        </p:tgtEl>
                                      </p:cBhvr>
                                    </p:animEffect>
                                    <p:set>
                                      <p:cBhvr>
                                        <p:cTn id="35"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5" grpId="0"/>
      <p:bldP spid="1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F6D7DE6F-9C09-4374-9037-20734AC7DCEC}"/>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 Diagramme de cas d’utilisation</a:t>
            </a:r>
            <a:endParaRPr lang="en-US" dirty="0">
              <a:latin typeface="Rockwell" panose="02060603020205020403" pitchFamily="18" charset="0"/>
            </a:endParaRPr>
          </a:p>
        </p:txBody>
      </p:sp>
      <p:sp>
        <p:nvSpPr>
          <p:cNvPr id="8" name="Oval 7">
            <a:extLst>
              <a:ext uri="{FF2B5EF4-FFF2-40B4-BE49-F238E27FC236}">
                <a16:creationId xmlns:a16="http://schemas.microsoft.com/office/drawing/2014/main" id="{9B088A34-0E5B-4BB9-A81E-0101A55DA36F}"/>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8</a:t>
            </a:r>
            <a:endParaRPr lang="en-US" dirty="0">
              <a:latin typeface="Rockwell" panose="02060603020205020403" pitchFamily="18" charset="0"/>
            </a:endParaRPr>
          </a:p>
        </p:txBody>
      </p:sp>
      <p:sp>
        <p:nvSpPr>
          <p:cNvPr id="125" name="Oval 124">
            <a:extLst>
              <a:ext uri="{FF2B5EF4-FFF2-40B4-BE49-F238E27FC236}">
                <a16:creationId xmlns:a16="http://schemas.microsoft.com/office/drawing/2014/main" id="{8C944225-92C1-4A03-8CED-DB6998F248DF}"/>
              </a:ext>
            </a:extLst>
          </p:cNvPr>
          <p:cNvSpPr/>
          <p:nvPr/>
        </p:nvSpPr>
        <p:spPr>
          <a:xfrm>
            <a:off x="11505064" y="6284220"/>
            <a:ext cx="766876" cy="6450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9</a:t>
            </a:r>
            <a:endParaRPr lang="en-US" dirty="0">
              <a:latin typeface="Amasis MT Pro Medium" panose="02040604050005020304" pitchFamily="18" charset="0"/>
            </a:endParaRPr>
          </a:p>
        </p:txBody>
      </p:sp>
      <p:pic>
        <p:nvPicPr>
          <p:cNvPr id="9" name="Image 8">
            <a:extLst>
              <a:ext uri="{FF2B5EF4-FFF2-40B4-BE49-F238E27FC236}">
                <a16:creationId xmlns:a16="http://schemas.microsoft.com/office/drawing/2014/main" id="{02DF84E3-78AF-4E07-F50E-1268BC854A4A}"/>
              </a:ext>
            </a:extLst>
          </p:cNvPr>
          <p:cNvPicPr/>
          <p:nvPr/>
        </p:nvPicPr>
        <p:blipFill>
          <a:blip r:embed="rId3">
            <a:extLst>
              <a:ext uri="{28A0092B-C50C-407E-A947-70E740481C1C}">
                <a14:useLocalDpi xmlns:a14="http://schemas.microsoft.com/office/drawing/2010/main" val="0"/>
              </a:ext>
            </a:extLst>
          </a:blip>
          <a:srcRect/>
          <a:stretch/>
        </p:blipFill>
        <p:spPr bwMode="auto">
          <a:xfrm>
            <a:off x="1412649" y="1531092"/>
            <a:ext cx="1589316" cy="1434426"/>
          </a:xfrm>
          <a:prstGeom prst="rect">
            <a:avLst/>
          </a:prstGeom>
          <a:noFill/>
          <a:ln>
            <a:noFill/>
          </a:ln>
        </p:spPr>
      </p:pic>
      <p:pic>
        <p:nvPicPr>
          <p:cNvPr id="11" name="Image 10">
            <a:extLst>
              <a:ext uri="{FF2B5EF4-FFF2-40B4-BE49-F238E27FC236}">
                <a16:creationId xmlns:a16="http://schemas.microsoft.com/office/drawing/2014/main" id="{E6146CBD-C1B6-2D25-870E-6526A95E2186}"/>
              </a:ext>
            </a:extLst>
          </p:cNvPr>
          <p:cNvPicPr/>
          <p:nvPr/>
        </p:nvPicPr>
        <p:blipFill>
          <a:blip r:embed="rId4">
            <a:extLst>
              <a:ext uri="{28A0092B-C50C-407E-A947-70E740481C1C}">
                <a14:useLocalDpi xmlns:a14="http://schemas.microsoft.com/office/drawing/2010/main" val="0"/>
              </a:ext>
            </a:extLst>
          </a:blip>
          <a:srcRect/>
          <a:stretch/>
        </p:blipFill>
        <p:spPr bwMode="auto">
          <a:xfrm>
            <a:off x="8799077" y="1617862"/>
            <a:ext cx="1587886" cy="1587886"/>
          </a:xfrm>
          <a:prstGeom prst="rect">
            <a:avLst/>
          </a:prstGeom>
          <a:noFill/>
          <a:ln>
            <a:noFill/>
          </a:ln>
        </p:spPr>
      </p:pic>
      <p:sp>
        <p:nvSpPr>
          <p:cNvPr id="16" name="Rectangle: Rounded Corners 4">
            <a:extLst>
              <a:ext uri="{FF2B5EF4-FFF2-40B4-BE49-F238E27FC236}">
                <a16:creationId xmlns:a16="http://schemas.microsoft.com/office/drawing/2014/main" id="{C2D87F16-9A80-53CA-8CD8-081504B500A9}"/>
              </a:ext>
            </a:extLst>
          </p:cNvPr>
          <p:cNvSpPr/>
          <p:nvPr/>
        </p:nvSpPr>
        <p:spPr>
          <a:xfrm>
            <a:off x="760100" y="3663020"/>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Le simple user</a:t>
            </a:r>
            <a:endParaRPr lang="en-US" dirty="0">
              <a:solidFill>
                <a:schemeClr val="bg1"/>
              </a:solidFill>
              <a:latin typeface="Rockwell" panose="02060603020205020403" pitchFamily="18" charset="0"/>
            </a:endParaRPr>
          </a:p>
        </p:txBody>
      </p:sp>
      <p:sp>
        <p:nvSpPr>
          <p:cNvPr id="18" name="Rectangle: Rounded Corners 4">
            <a:extLst>
              <a:ext uri="{FF2B5EF4-FFF2-40B4-BE49-F238E27FC236}">
                <a16:creationId xmlns:a16="http://schemas.microsoft.com/office/drawing/2014/main" id="{54D97A81-A3A5-515F-8987-C3963E624683}"/>
              </a:ext>
            </a:extLst>
          </p:cNvPr>
          <p:cNvSpPr/>
          <p:nvPr/>
        </p:nvSpPr>
        <p:spPr>
          <a:xfrm>
            <a:off x="8034356" y="3826520"/>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L’administrateur</a:t>
            </a:r>
            <a:endParaRPr lang="en-US" dirty="0">
              <a:solidFill>
                <a:schemeClr val="bg1"/>
              </a:solidFill>
              <a:latin typeface="Rockwell" panose="02060603020205020403" pitchFamily="18" charset="0"/>
            </a:endParaRPr>
          </a:p>
        </p:txBody>
      </p:sp>
      <p:pic>
        <p:nvPicPr>
          <p:cNvPr id="1026" name="Picture 2" descr="Icône de Homme d'affaires avec plusieurs options | Freepik">
            <a:extLst>
              <a:ext uri="{FF2B5EF4-FFF2-40B4-BE49-F238E27FC236}">
                <a16:creationId xmlns:a16="http://schemas.microsoft.com/office/drawing/2014/main" id="{3E3981CF-C5E7-2A05-5305-C1D64183CC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5982" y="1359090"/>
            <a:ext cx="4139820" cy="4139820"/>
          </a:xfrm>
          <a:prstGeom prst="rect">
            <a:avLst/>
          </a:prstGeom>
          <a:noFill/>
          <a:extLst>
            <a:ext uri="{909E8E84-426E-40DD-AFC4-6F175D3DCCD1}">
              <a14:hiddenFill xmlns:a14="http://schemas.microsoft.com/office/drawing/2010/main">
                <a:solidFill>
                  <a:srgbClr val="FFFFFF"/>
                </a:solidFill>
              </a14:hiddenFill>
            </a:ext>
          </a:extLst>
        </p:spPr>
      </p:pic>
      <p:sp>
        <p:nvSpPr>
          <p:cNvPr id="20" name="ZoneTexte 19">
            <a:extLst>
              <a:ext uri="{FF2B5EF4-FFF2-40B4-BE49-F238E27FC236}">
                <a16:creationId xmlns:a16="http://schemas.microsoft.com/office/drawing/2014/main" id="{C0660D64-D6FF-4D9E-4386-D08A06F899FD}"/>
              </a:ext>
            </a:extLst>
          </p:cNvPr>
          <p:cNvSpPr txBox="1"/>
          <p:nvPr/>
        </p:nvSpPr>
        <p:spPr>
          <a:xfrm>
            <a:off x="4121624" y="1128647"/>
            <a:ext cx="3753133" cy="1969395"/>
          </a:xfrm>
          <a:prstGeom prst="rect">
            <a:avLst/>
          </a:prstGeom>
          <a:solidFill>
            <a:schemeClr val="bg1"/>
          </a:solidFill>
        </p:spPr>
        <p:txBody>
          <a:bodyPr wrap="square" rtlCol="0">
            <a:spAutoFit/>
          </a:bodyPr>
          <a:lstStyle/>
          <a:p>
            <a:endParaRPr lang="fr-FR" dirty="0"/>
          </a:p>
        </p:txBody>
      </p:sp>
      <p:sp>
        <p:nvSpPr>
          <p:cNvPr id="2" name="Rectangle: Rounded Corners 4">
            <a:extLst>
              <a:ext uri="{FF2B5EF4-FFF2-40B4-BE49-F238E27FC236}">
                <a16:creationId xmlns:a16="http://schemas.microsoft.com/office/drawing/2014/main" id="{50A079F1-853D-0646-BC92-1CD7912FC7D1}"/>
              </a:ext>
            </a:extLst>
          </p:cNvPr>
          <p:cNvSpPr/>
          <p:nvPr/>
        </p:nvSpPr>
        <p:spPr>
          <a:xfrm>
            <a:off x="4439526" y="6053111"/>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Le </a:t>
            </a:r>
            <a:r>
              <a:rPr lang="fr-FR" dirty="0" err="1">
                <a:solidFill>
                  <a:schemeClr val="bg1"/>
                </a:solidFill>
                <a:latin typeface="Rockwell" panose="02060603020205020403" pitchFamily="18" charset="0"/>
              </a:rPr>
              <a:t>Khernel</a:t>
            </a:r>
            <a:endParaRPr lang="en-US" dirty="0">
              <a:solidFill>
                <a:schemeClr val="bg1"/>
              </a:solidFill>
              <a:latin typeface="Rockwell" panose="02060603020205020403" pitchFamily="18" charset="0"/>
            </a:endParaRPr>
          </a:p>
        </p:txBody>
      </p:sp>
    </p:spTree>
    <p:extLst>
      <p:ext uri="{BB962C8B-B14F-4D97-AF65-F5344CB8AC3E}">
        <p14:creationId xmlns:p14="http://schemas.microsoft.com/office/powerpoint/2010/main" val="10175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80">
                                          <p:stCondLst>
                                            <p:cond delay="0"/>
                                          </p:stCondLst>
                                        </p:cTn>
                                        <p:tgtEl>
                                          <p:spTgt spid="16"/>
                                        </p:tgtEl>
                                      </p:cBhvr>
                                    </p:animEffect>
                                    <p:anim calcmode="lin" valueType="num">
                                      <p:cBhvr>
                                        <p:cTn id="8"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gtEl>
                                      </p:cBhvr>
                                      <p:to x="100000" y="60000"/>
                                    </p:animScale>
                                    <p:animScale>
                                      <p:cBhvr>
                                        <p:cTn id="14" dur="166" decel="50000">
                                          <p:stCondLst>
                                            <p:cond delay="676"/>
                                          </p:stCondLst>
                                        </p:cTn>
                                        <p:tgtEl>
                                          <p:spTgt spid="16"/>
                                        </p:tgtEl>
                                      </p:cBhvr>
                                      <p:to x="100000" y="100000"/>
                                    </p:animScale>
                                    <p:animScale>
                                      <p:cBhvr>
                                        <p:cTn id="15" dur="26">
                                          <p:stCondLst>
                                            <p:cond delay="1312"/>
                                          </p:stCondLst>
                                        </p:cTn>
                                        <p:tgtEl>
                                          <p:spTgt spid="16"/>
                                        </p:tgtEl>
                                      </p:cBhvr>
                                      <p:to x="100000" y="80000"/>
                                    </p:animScale>
                                    <p:animScale>
                                      <p:cBhvr>
                                        <p:cTn id="16" dur="166" decel="50000">
                                          <p:stCondLst>
                                            <p:cond delay="1338"/>
                                          </p:stCondLst>
                                        </p:cTn>
                                        <p:tgtEl>
                                          <p:spTgt spid="16"/>
                                        </p:tgtEl>
                                      </p:cBhvr>
                                      <p:to x="100000" y="100000"/>
                                    </p:animScale>
                                    <p:animScale>
                                      <p:cBhvr>
                                        <p:cTn id="17" dur="26">
                                          <p:stCondLst>
                                            <p:cond delay="1642"/>
                                          </p:stCondLst>
                                        </p:cTn>
                                        <p:tgtEl>
                                          <p:spTgt spid="16"/>
                                        </p:tgtEl>
                                      </p:cBhvr>
                                      <p:to x="100000" y="90000"/>
                                    </p:animScale>
                                    <p:animScale>
                                      <p:cBhvr>
                                        <p:cTn id="18" dur="166" decel="50000">
                                          <p:stCondLst>
                                            <p:cond delay="1668"/>
                                          </p:stCondLst>
                                        </p:cTn>
                                        <p:tgtEl>
                                          <p:spTgt spid="16"/>
                                        </p:tgtEl>
                                      </p:cBhvr>
                                      <p:to x="100000" y="100000"/>
                                    </p:animScale>
                                    <p:animScale>
                                      <p:cBhvr>
                                        <p:cTn id="19" dur="26">
                                          <p:stCondLst>
                                            <p:cond delay="1808"/>
                                          </p:stCondLst>
                                        </p:cTn>
                                        <p:tgtEl>
                                          <p:spTgt spid="16"/>
                                        </p:tgtEl>
                                      </p:cBhvr>
                                      <p:to x="100000" y="95000"/>
                                    </p:animScale>
                                    <p:animScale>
                                      <p:cBhvr>
                                        <p:cTn id="20" dur="166" decel="50000">
                                          <p:stCondLst>
                                            <p:cond delay="1834"/>
                                          </p:stCondLst>
                                        </p:cTn>
                                        <p:tgtEl>
                                          <p:spTgt spid="1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80">
                                          <p:stCondLst>
                                            <p:cond delay="0"/>
                                          </p:stCondLst>
                                        </p:cTn>
                                        <p:tgtEl>
                                          <p:spTgt spid="18"/>
                                        </p:tgtEl>
                                      </p:cBhvr>
                                    </p:animEffect>
                                    <p:anim calcmode="lin" valueType="num">
                                      <p:cBhvr>
                                        <p:cTn id="2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31" dur="26">
                                          <p:stCondLst>
                                            <p:cond delay="650"/>
                                          </p:stCondLst>
                                        </p:cTn>
                                        <p:tgtEl>
                                          <p:spTgt spid="18"/>
                                        </p:tgtEl>
                                      </p:cBhvr>
                                      <p:to x="100000" y="60000"/>
                                    </p:animScale>
                                    <p:animScale>
                                      <p:cBhvr>
                                        <p:cTn id="32" dur="166" decel="50000">
                                          <p:stCondLst>
                                            <p:cond delay="676"/>
                                          </p:stCondLst>
                                        </p:cTn>
                                        <p:tgtEl>
                                          <p:spTgt spid="18"/>
                                        </p:tgtEl>
                                      </p:cBhvr>
                                      <p:to x="100000" y="100000"/>
                                    </p:animScale>
                                    <p:animScale>
                                      <p:cBhvr>
                                        <p:cTn id="33" dur="26">
                                          <p:stCondLst>
                                            <p:cond delay="1312"/>
                                          </p:stCondLst>
                                        </p:cTn>
                                        <p:tgtEl>
                                          <p:spTgt spid="18"/>
                                        </p:tgtEl>
                                      </p:cBhvr>
                                      <p:to x="100000" y="80000"/>
                                    </p:animScale>
                                    <p:animScale>
                                      <p:cBhvr>
                                        <p:cTn id="34" dur="166" decel="50000">
                                          <p:stCondLst>
                                            <p:cond delay="1338"/>
                                          </p:stCondLst>
                                        </p:cTn>
                                        <p:tgtEl>
                                          <p:spTgt spid="18"/>
                                        </p:tgtEl>
                                      </p:cBhvr>
                                      <p:to x="100000" y="100000"/>
                                    </p:animScale>
                                    <p:animScale>
                                      <p:cBhvr>
                                        <p:cTn id="35" dur="26">
                                          <p:stCondLst>
                                            <p:cond delay="1642"/>
                                          </p:stCondLst>
                                        </p:cTn>
                                        <p:tgtEl>
                                          <p:spTgt spid="18"/>
                                        </p:tgtEl>
                                      </p:cBhvr>
                                      <p:to x="100000" y="90000"/>
                                    </p:animScale>
                                    <p:animScale>
                                      <p:cBhvr>
                                        <p:cTn id="36" dur="166" decel="50000">
                                          <p:stCondLst>
                                            <p:cond delay="1668"/>
                                          </p:stCondLst>
                                        </p:cTn>
                                        <p:tgtEl>
                                          <p:spTgt spid="18"/>
                                        </p:tgtEl>
                                      </p:cBhvr>
                                      <p:to x="100000" y="100000"/>
                                    </p:animScale>
                                    <p:animScale>
                                      <p:cBhvr>
                                        <p:cTn id="37" dur="26">
                                          <p:stCondLst>
                                            <p:cond delay="1808"/>
                                          </p:stCondLst>
                                        </p:cTn>
                                        <p:tgtEl>
                                          <p:spTgt spid="18"/>
                                        </p:tgtEl>
                                      </p:cBhvr>
                                      <p:to x="100000" y="95000"/>
                                    </p:animScale>
                                    <p:animScale>
                                      <p:cBhvr>
                                        <p:cTn id="38" dur="166" decel="50000">
                                          <p:stCondLst>
                                            <p:cond delay="1834"/>
                                          </p:stCondLst>
                                        </p:cTn>
                                        <p:tgtEl>
                                          <p:spTgt spid="18"/>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026"/>
                                        </p:tgtEl>
                                        <p:attrNameLst>
                                          <p:attrName>style.visibility</p:attrName>
                                        </p:attrNameLst>
                                      </p:cBhvr>
                                      <p:to>
                                        <p:strVal val="visible"/>
                                      </p:to>
                                    </p:set>
                                    <p:animEffect transition="in" filter="fade">
                                      <p:cBhvr>
                                        <p:cTn id="43" dur="1000"/>
                                        <p:tgtEl>
                                          <p:spTgt spid="1026"/>
                                        </p:tgtEl>
                                      </p:cBhvr>
                                    </p:animEffect>
                                    <p:anim calcmode="lin" valueType="num">
                                      <p:cBhvr>
                                        <p:cTn id="44" dur="1000" fill="hold"/>
                                        <p:tgtEl>
                                          <p:spTgt spid="1026"/>
                                        </p:tgtEl>
                                        <p:attrNameLst>
                                          <p:attrName>ppt_x</p:attrName>
                                        </p:attrNameLst>
                                      </p:cBhvr>
                                      <p:tavLst>
                                        <p:tav tm="0">
                                          <p:val>
                                            <p:strVal val="#ppt_x"/>
                                          </p:val>
                                        </p:tav>
                                        <p:tav tm="100000">
                                          <p:val>
                                            <p:strVal val="#ppt_x"/>
                                          </p:val>
                                        </p:tav>
                                      </p:tavLst>
                                    </p:anim>
                                    <p:anim calcmode="lin" valueType="num">
                                      <p:cBhvr>
                                        <p:cTn id="45"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6" presetClass="entr" presetSubtype="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down)">
                                      <p:cBhvr>
                                        <p:cTn id="50" dur="580">
                                          <p:stCondLst>
                                            <p:cond delay="0"/>
                                          </p:stCondLst>
                                        </p:cTn>
                                        <p:tgtEl>
                                          <p:spTgt spid="2"/>
                                        </p:tgtEl>
                                      </p:cBhvr>
                                    </p:animEffect>
                                    <p:anim calcmode="lin" valueType="num">
                                      <p:cBhvr>
                                        <p:cTn id="51"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52"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53"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54"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55"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56" dur="26">
                                          <p:stCondLst>
                                            <p:cond delay="650"/>
                                          </p:stCondLst>
                                        </p:cTn>
                                        <p:tgtEl>
                                          <p:spTgt spid="2"/>
                                        </p:tgtEl>
                                      </p:cBhvr>
                                      <p:to x="100000" y="60000"/>
                                    </p:animScale>
                                    <p:animScale>
                                      <p:cBhvr>
                                        <p:cTn id="57" dur="166" decel="50000">
                                          <p:stCondLst>
                                            <p:cond delay="676"/>
                                          </p:stCondLst>
                                        </p:cTn>
                                        <p:tgtEl>
                                          <p:spTgt spid="2"/>
                                        </p:tgtEl>
                                      </p:cBhvr>
                                      <p:to x="100000" y="100000"/>
                                    </p:animScale>
                                    <p:animScale>
                                      <p:cBhvr>
                                        <p:cTn id="58" dur="26">
                                          <p:stCondLst>
                                            <p:cond delay="1312"/>
                                          </p:stCondLst>
                                        </p:cTn>
                                        <p:tgtEl>
                                          <p:spTgt spid="2"/>
                                        </p:tgtEl>
                                      </p:cBhvr>
                                      <p:to x="100000" y="80000"/>
                                    </p:animScale>
                                    <p:animScale>
                                      <p:cBhvr>
                                        <p:cTn id="59" dur="166" decel="50000">
                                          <p:stCondLst>
                                            <p:cond delay="1338"/>
                                          </p:stCondLst>
                                        </p:cTn>
                                        <p:tgtEl>
                                          <p:spTgt spid="2"/>
                                        </p:tgtEl>
                                      </p:cBhvr>
                                      <p:to x="100000" y="100000"/>
                                    </p:animScale>
                                    <p:animScale>
                                      <p:cBhvr>
                                        <p:cTn id="60" dur="26">
                                          <p:stCondLst>
                                            <p:cond delay="1642"/>
                                          </p:stCondLst>
                                        </p:cTn>
                                        <p:tgtEl>
                                          <p:spTgt spid="2"/>
                                        </p:tgtEl>
                                      </p:cBhvr>
                                      <p:to x="100000" y="90000"/>
                                    </p:animScale>
                                    <p:animScale>
                                      <p:cBhvr>
                                        <p:cTn id="61" dur="166" decel="50000">
                                          <p:stCondLst>
                                            <p:cond delay="1668"/>
                                          </p:stCondLst>
                                        </p:cTn>
                                        <p:tgtEl>
                                          <p:spTgt spid="2"/>
                                        </p:tgtEl>
                                      </p:cBhvr>
                                      <p:to x="100000" y="100000"/>
                                    </p:animScale>
                                    <p:animScale>
                                      <p:cBhvr>
                                        <p:cTn id="62" dur="26">
                                          <p:stCondLst>
                                            <p:cond delay="1808"/>
                                          </p:stCondLst>
                                        </p:cTn>
                                        <p:tgtEl>
                                          <p:spTgt spid="2"/>
                                        </p:tgtEl>
                                      </p:cBhvr>
                                      <p:to x="100000" y="95000"/>
                                    </p:animScale>
                                    <p:animScale>
                                      <p:cBhvr>
                                        <p:cTn id="63"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39868F0-8CA6-4F06-885C-B4345724EEF4}"/>
              </a:ext>
            </a:extLst>
          </p:cNvPr>
          <p:cNvSpPr/>
          <p:nvPr/>
        </p:nvSpPr>
        <p:spPr>
          <a:xfrm>
            <a:off x="0" y="0"/>
            <a:ext cx="61414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ckwell" panose="02060603020205020403" pitchFamily="18" charset="0"/>
              </a:rPr>
              <a:t>9</a:t>
            </a:r>
          </a:p>
        </p:txBody>
      </p:sp>
      <p:sp>
        <p:nvSpPr>
          <p:cNvPr id="4" name="Oval 3">
            <a:extLst>
              <a:ext uri="{FF2B5EF4-FFF2-40B4-BE49-F238E27FC236}">
                <a16:creationId xmlns:a16="http://schemas.microsoft.com/office/drawing/2014/main" id="{6BDF3F42-AAF2-4A76-B360-21744FF277F0}"/>
              </a:ext>
            </a:extLst>
          </p:cNvPr>
          <p:cNvSpPr/>
          <p:nvPr/>
        </p:nvSpPr>
        <p:spPr>
          <a:xfrm>
            <a:off x="11503933" y="6405351"/>
            <a:ext cx="623996"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10</a:t>
            </a:r>
            <a:endParaRPr lang="en-US" dirty="0">
              <a:latin typeface="Amasis MT Pro Medium" panose="02040604050005020304" pitchFamily="18" charset="0"/>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rcRect/>
          <a:stretch/>
        </p:blipFill>
        <p:spPr>
          <a:xfrm>
            <a:off x="398748" y="2388358"/>
            <a:ext cx="3196890" cy="3775830"/>
          </a:xfrm>
          <a:prstGeom prst="rect">
            <a:avLst/>
          </a:prstGeom>
          <a:ln>
            <a:solidFill>
              <a:schemeClr val="bg1"/>
            </a:solidFill>
          </a:ln>
        </p:spPr>
      </p:pic>
      <p:sp>
        <p:nvSpPr>
          <p:cNvPr id="2" name="ZoneTexte 1">
            <a:extLst>
              <a:ext uri="{FF2B5EF4-FFF2-40B4-BE49-F238E27FC236}">
                <a16:creationId xmlns:a16="http://schemas.microsoft.com/office/drawing/2014/main" id="{A24DEDB2-71AF-B194-1AE5-4DAE9F42D36C}"/>
              </a:ext>
            </a:extLst>
          </p:cNvPr>
          <p:cNvSpPr txBox="1"/>
          <p:nvPr/>
        </p:nvSpPr>
        <p:spPr>
          <a:xfrm>
            <a:off x="350434" y="5882185"/>
            <a:ext cx="3293518" cy="523166"/>
          </a:xfrm>
          <a:prstGeom prst="rect">
            <a:avLst/>
          </a:prstGeom>
          <a:solidFill>
            <a:schemeClr val="bg1"/>
          </a:solidFill>
        </p:spPr>
        <p:txBody>
          <a:bodyPr wrap="square" rtlCol="0">
            <a:spAutoFit/>
          </a:bodyPr>
          <a:lstStyle/>
          <a:p>
            <a:endParaRPr lang="fr-FR" dirty="0"/>
          </a:p>
        </p:txBody>
      </p:sp>
      <p:sp>
        <p:nvSpPr>
          <p:cNvPr id="6" name="ZoneTexte 5">
            <a:extLst>
              <a:ext uri="{FF2B5EF4-FFF2-40B4-BE49-F238E27FC236}">
                <a16:creationId xmlns:a16="http://schemas.microsoft.com/office/drawing/2014/main" id="{3B0FDF57-1BEE-6D60-C72E-88A5F4C914BE}"/>
              </a:ext>
            </a:extLst>
          </p:cNvPr>
          <p:cNvSpPr txBox="1"/>
          <p:nvPr/>
        </p:nvSpPr>
        <p:spPr>
          <a:xfrm>
            <a:off x="5220211" y="2819022"/>
            <a:ext cx="6098146" cy="873572"/>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Lancer un programme</a:t>
            </a:r>
          </a:p>
          <a:p>
            <a:pPr marL="342900" lvl="0" indent="-342900" algn="just">
              <a:lnSpc>
                <a:spcPct val="150000"/>
              </a:lnSpc>
              <a:spcAft>
                <a:spcPts val="800"/>
              </a:spcAft>
              <a:buFont typeface="Wingdings" panose="05000000000000000000" pitchFamily="2" charset="2"/>
              <a:buChar char=""/>
            </a:pPr>
            <a:r>
              <a:rPr lang="fr-FR" sz="1800" kern="100" dirty="0">
                <a:effectLst/>
                <a:latin typeface="Rockwell" panose="02060603020205020403" pitchFamily="18" charset="0"/>
                <a:ea typeface="Calibri" panose="020F0502020204030204" pitchFamily="34" charset="0"/>
                <a:cs typeface="Times New Roman" panose="02020603050405020304" pitchFamily="18" charset="0"/>
              </a:rPr>
              <a:t>Arrêter un programme</a:t>
            </a:r>
          </a:p>
        </p:txBody>
      </p:sp>
      <p:sp>
        <p:nvSpPr>
          <p:cNvPr id="7" name="Rectangle: Rounded Corners 8">
            <a:extLst>
              <a:ext uri="{FF2B5EF4-FFF2-40B4-BE49-F238E27FC236}">
                <a16:creationId xmlns:a16="http://schemas.microsoft.com/office/drawing/2014/main" id="{1773F71E-8E0B-8B21-59AF-A5BE18BF763C}"/>
              </a:ext>
            </a:extLst>
          </p:cNvPr>
          <p:cNvSpPr/>
          <p:nvPr/>
        </p:nvSpPr>
        <p:spPr>
          <a:xfrm>
            <a:off x="4094328" y="1306144"/>
            <a:ext cx="6414448" cy="1355169"/>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4000" dirty="0">
                <a:latin typeface="Rockwell" panose="02060603020205020403" pitchFamily="18" charset="0"/>
                <a:ea typeface="Calibri" panose="020F0502020204030204" pitchFamily="34" charset="0"/>
              </a:rPr>
              <a:t>Besoins fonctionnels du simple user</a:t>
            </a:r>
            <a:endParaRPr lang="en-US" sz="4000" dirty="0">
              <a:latin typeface="Rockwell" panose="02060603020205020403" pitchFamily="18" charset="0"/>
            </a:endParaRPr>
          </a:p>
        </p:txBody>
      </p:sp>
      <p:sp>
        <p:nvSpPr>
          <p:cNvPr id="8" name="Rectangle: Rounded Corners 6">
            <a:extLst>
              <a:ext uri="{FF2B5EF4-FFF2-40B4-BE49-F238E27FC236}">
                <a16:creationId xmlns:a16="http://schemas.microsoft.com/office/drawing/2014/main" id="{68A19308-9A63-3D74-C1C0-16BC51904D95}"/>
              </a:ext>
            </a:extLst>
          </p:cNvPr>
          <p:cNvSpPr/>
          <p:nvPr/>
        </p:nvSpPr>
        <p:spPr>
          <a:xfrm>
            <a:off x="6324600" y="-1"/>
            <a:ext cx="5867400" cy="791567"/>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Rockwell" panose="02060603020205020403" pitchFamily="18" charset="0"/>
              </a:rPr>
              <a:t>METHODOLOGIE: Diagramme de cas d’utilisation</a:t>
            </a:r>
            <a:endParaRPr lang="en-US" b="1" dirty="0">
              <a:latin typeface="Rockwell" panose="02060603020205020403" pitchFamily="18" charset="0"/>
            </a:endParaRPr>
          </a:p>
        </p:txBody>
      </p:sp>
    </p:spTree>
    <p:extLst>
      <p:ext uri="{BB962C8B-B14F-4D97-AF65-F5344CB8AC3E}">
        <p14:creationId xmlns:p14="http://schemas.microsoft.com/office/powerpoint/2010/main" val="288559532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3BEA3-4F6A-980A-831E-678010EEC879}"/>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EF191395-F092-FD89-ADC1-18E97C9088BC}"/>
              </a:ext>
            </a:extLst>
          </p:cNvPr>
          <p:cNvSpPr/>
          <p:nvPr/>
        </p:nvSpPr>
        <p:spPr>
          <a:xfrm>
            <a:off x="0" y="0"/>
            <a:ext cx="61414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10</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2C851E7C-4B8E-2E51-FC57-ECB3F617C579}"/>
              </a:ext>
            </a:extLst>
          </p:cNvPr>
          <p:cNvSpPr/>
          <p:nvPr/>
        </p:nvSpPr>
        <p:spPr>
          <a:xfrm>
            <a:off x="11503933" y="6405351"/>
            <a:ext cx="623996"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11</a:t>
            </a:r>
            <a:endParaRPr lang="en-US" dirty="0">
              <a:latin typeface="Amasis MT Pro Medium" panose="02040604050005020304" pitchFamily="18" charset="0"/>
            </a:endParaRPr>
          </a:p>
        </p:txBody>
      </p:sp>
      <p:sp>
        <p:nvSpPr>
          <p:cNvPr id="21" name="ZoneTexte 20">
            <a:extLst>
              <a:ext uri="{FF2B5EF4-FFF2-40B4-BE49-F238E27FC236}">
                <a16:creationId xmlns:a16="http://schemas.microsoft.com/office/drawing/2014/main" id="{C23356D7-3EF1-0004-5B28-AE84633B0888}"/>
              </a:ext>
            </a:extLst>
          </p:cNvPr>
          <p:cNvSpPr txBox="1"/>
          <p:nvPr/>
        </p:nvSpPr>
        <p:spPr>
          <a:xfrm>
            <a:off x="4152330" y="872780"/>
            <a:ext cx="6929651" cy="561757"/>
          </a:xfrm>
          <a:prstGeom prst="rect">
            <a:avLst/>
          </a:prstGeom>
          <a:noFill/>
        </p:spPr>
        <p:txBody>
          <a:bodyPr wrap="square">
            <a:spAutoFit/>
          </a:bodyPr>
          <a:lstStyle/>
          <a:p>
            <a:pPr marL="342900" lvl="0" indent="-342900" algn="just">
              <a:lnSpc>
                <a:spcPct val="200000"/>
              </a:lnSpc>
              <a:buFont typeface="Wingdings" panose="05000000000000000000" pitchFamily="2" charset="2"/>
              <a:buChar char=""/>
            </a:pP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p:txBody>
      </p:sp>
      <p:pic>
        <p:nvPicPr>
          <p:cNvPr id="2050" name="Picture 2" descr="Bonhomme 3d liste - Photos : téléchargez gratuitement des images de haute  qualité | Freepik">
            <a:extLst>
              <a:ext uri="{FF2B5EF4-FFF2-40B4-BE49-F238E27FC236}">
                <a16:creationId xmlns:a16="http://schemas.microsoft.com/office/drawing/2014/main" id="{4D9DC4B4-643F-6421-4C0D-5BB2FCF1F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09" y="3323228"/>
            <a:ext cx="3468198" cy="277732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6">
            <a:extLst>
              <a:ext uri="{FF2B5EF4-FFF2-40B4-BE49-F238E27FC236}">
                <a16:creationId xmlns:a16="http://schemas.microsoft.com/office/drawing/2014/main" id="{C81B7FA5-CC00-80B8-CF96-4DB64A3D95EE}"/>
              </a:ext>
            </a:extLst>
          </p:cNvPr>
          <p:cNvSpPr/>
          <p:nvPr/>
        </p:nvSpPr>
        <p:spPr>
          <a:xfrm>
            <a:off x="6324600" y="-1"/>
            <a:ext cx="5867400" cy="791567"/>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Rockwell" panose="02060603020205020403" pitchFamily="18" charset="0"/>
              </a:rPr>
              <a:t>METHODOLOGIE: Diagramme de cas d’utilisation</a:t>
            </a:r>
            <a:endParaRPr lang="en-US" b="1" dirty="0">
              <a:latin typeface="Rockwell" panose="02060603020205020403" pitchFamily="18" charset="0"/>
            </a:endParaRPr>
          </a:p>
        </p:txBody>
      </p:sp>
      <p:sp>
        <p:nvSpPr>
          <p:cNvPr id="5" name="Rectangle: Rounded Corners 8">
            <a:extLst>
              <a:ext uri="{FF2B5EF4-FFF2-40B4-BE49-F238E27FC236}">
                <a16:creationId xmlns:a16="http://schemas.microsoft.com/office/drawing/2014/main" id="{01E9AD51-C8D2-0D78-DBB6-CBDA468C4561}"/>
              </a:ext>
            </a:extLst>
          </p:cNvPr>
          <p:cNvSpPr/>
          <p:nvPr/>
        </p:nvSpPr>
        <p:spPr>
          <a:xfrm>
            <a:off x="2715904" y="1187186"/>
            <a:ext cx="6414448" cy="1355169"/>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4000" dirty="0">
                <a:latin typeface="Rockwell" panose="02060603020205020403" pitchFamily="18" charset="0"/>
                <a:ea typeface="Calibri" panose="020F0502020204030204" pitchFamily="34" charset="0"/>
              </a:rPr>
              <a:t>Besoins fonctionnels de l’administrateur</a:t>
            </a:r>
            <a:endParaRPr lang="en-US" sz="4000" dirty="0">
              <a:latin typeface="Rockwell" panose="02060603020205020403" pitchFamily="18" charset="0"/>
            </a:endParaRPr>
          </a:p>
        </p:txBody>
      </p:sp>
      <p:sp>
        <p:nvSpPr>
          <p:cNvPr id="7" name="ZoneTexte 6">
            <a:extLst>
              <a:ext uri="{FF2B5EF4-FFF2-40B4-BE49-F238E27FC236}">
                <a16:creationId xmlns:a16="http://schemas.microsoft.com/office/drawing/2014/main" id="{D06D62DB-D5B2-4AFC-C15A-A97A1C0EEC17}"/>
              </a:ext>
            </a:extLst>
          </p:cNvPr>
          <p:cNvSpPr txBox="1"/>
          <p:nvPr/>
        </p:nvSpPr>
        <p:spPr>
          <a:xfrm>
            <a:off x="4455935" y="3028703"/>
            <a:ext cx="6929651" cy="2119876"/>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fr-FR" sz="1800" b="1" kern="100" dirty="0">
                <a:effectLst/>
                <a:latin typeface="Rockwell" panose="02060603020205020403" pitchFamily="18" charset="0"/>
                <a:ea typeface="Calibri" panose="020F0502020204030204" pitchFamily="34" charset="0"/>
                <a:cs typeface="Times New Roman" panose="02020603050405020304" pitchFamily="18" charset="0"/>
              </a:rPr>
              <a:t>S’authentifier  ;</a:t>
            </a:r>
          </a:p>
          <a:p>
            <a:pPr marL="342900" lvl="0" indent="-342900" algn="just">
              <a:lnSpc>
                <a:spcPct val="150000"/>
              </a:lnSpc>
              <a:buFont typeface="Wingdings" panose="05000000000000000000" pitchFamily="2" charset="2"/>
              <a:buChar char=""/>
            </a:pPr>
            <a:r>
              <a:rPr lang="fr-FR" b="1" kern="100" dirty="0">
                <a:latin typeface="Rockwell" panose="02060603020205020403" pitchFamily="18" charset="0"/>
                <a:ea typeface="Calibri" panose="020F0502020204030204" pitchFamily="34" charset="0"/>
                <a:cs typeface="Times New Roman" panose="02020603050405020304" pitchFamily="18" charset="0"/>
              </a:rPr>
              <a:t>Lancer monitoring</a:t>
            </a:r>
            <a:r>
              <a:rPr lang="fr-FR" sz="1800" b="1" kern="100" dirty="0">
                <a:effectLst/>
                <a:latin typeface="Rockwell" panose="02060603020205020403" pitchFamily="18" charset="0"/>
                <a:ea typeface="Calibri" panose="020F0502020204030204" pitchFamily="34" charset="0"/>
                <a:cs typeface="Times New Roman" panose="02020603050405020304" pitchFamily="18" charset="0"/>
              </a:rPr>
              <a:t>;</a:t>
            </a:r>
          </a:p>
          <a:p>
            <a:pPr marL="342900" lvl="0" indent="-342900" algn="just">
              <a:lnSpc>
                <a:spcPct val="150000"/>
              </a:lnSpc>
              <a:buFont typeface="Wingdings" panose="05000000000000000000" pitchFamily="2" charset="2"/>
              <a:buChar char=""/>
            </a:pPr>
            <a:r>
              <a:rPr lang="fr-FR" b="1" kern="100" dirty="0">
                <a:latin typeface="Rockwell" panose="02060603020205020403" pitchFamily="18" charset="0"/>
                <a:ea typeface="Calibri" panose="020F0502020204030204" pitchFamily="34" charset="0"/>
                <a:cs typeface="Times New Roman" panose="02020603050405020304" pitchFamily="18" charset="0"/>
              </a:rPr>
              <a:t>Arrêter monitoring;</a:t>
            </a:r>
            <a:endParaRPr lang="fr-FR" sz="1800" b="1" kern="100" dirty="0">
              <a:effectLst/>
              <a:latin typeface="Rockwell" panose="02060603020205020403"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fr-FR" b="1" kern="100" dirty="0">
                <a:latin typeface="Rockwell" panose="02060603020205020403" pitchFamily="18" charset="0"/>
                <a:ea typeface="Calibri" panose="020F0502020204030204" pitchFamily="34" charset="0"/>
                <a:cs typeface="Times New Roman" panose="02020603050405020304" pitchFamily="18" charset="0"/>
              </a:rPr>
              <a:t>Visualiser l’évolution instantanée des I/O  sur disque;</a:t>
            </a:r>
          </a:p>
          <a:p>
            <a:pPr marL="342900" lvl="0" indent="-342900" algn="just">
              <a:lnSpc>
                <a:spcPct val="150000"/>
              </a:lnSpc>
              <a:buFont typeface="Wingdings" panose="05000000000000000000" pitchFamily="2" charset="2"/>
              <a:buChar char=""/>
            </a:pPr>
            <a:r>
              <a:rPr lang="fr-FR" sz="1800" b="1" kern="100" dirty="0">
                <a:effectLst/>
                <a:latin typeface="Rockwell" panose="02060603020205020403" pitchFamily="18" charset="0"/>
                <a:ea typeface="Calibri" panose="020F0502020204030204" pitchFamily="34" charset="0"/>
                <a:cs typeface="Times New Roman" panose="02020603050405020304" pitchFamily="18" charset="0"/>
              </a:rPr>
              <a:t>Se déconnecter;</a:t>
            </a:r>
          </a:p>
        </p:txBody>
      </p:sp>
    </p:spTree>
    <p:extLst>
      <p:ext uri="{BB962C8B-B14F-4D97-AF65-F5344CB8AC3E}">
        <p14:creationId xmlns:p14="http://schemas.microsoft.com/office/powerpoint/2010/main" val="34267238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nodePh="1">
                                  <p:stCondLst>
                                    <p:cond delay="0"/>
                                  </p:stCondLst>
                                  <p:endCondLst>
                                    <p:cond evt="begin" delay="0">
                                      <p:tn val="5"/>
                                    </p:cond>
                                  </p:end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580">
                                          <p:stCondLst>
                                            <p:cond delay="0"/>
                                          </p:stCondLst>
                                        </p:cTn>
                                        <p:tgtEl>
                                          <p:spTgt spid="21">
                                            <p:txEl>
                                              <p:pRg st="0" end="0"/>
                                            </p:txEl>
                                          </p:spTgt>
                                        </p:tgtEl>
                                      </p:cBhvr>
                                    </p:animEffect>
                                    <p:anim calcmode="lin" valueType="num">
                                      <p:cBhvr>
                                        <p:cTn id="8" dur="1822" tmFilter="0,0; 0.14,0.36; 0.43,0.73; 0.71,0.91; 1.0,1.0">
                                          <p:stCondLst>
                                            <p:cond delay="0"/>
                                          </p:stCondLst>
                                        </p:cTn>
                                        <p:tgtEl>
                                          <p:spTgt spid="21">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1">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1">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1">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1">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1">
                                            <p:txEl>
                                              <p:pRg st="0" end="0"/>
                                            </p:txEl>
                                          </p:spTgt>
                                        </p:tgtEl>
                                      </p:cBhvr>
                                      <p:to x="100000" y="60000"/>
                                    </p:animScale>
                                    <p:animScale>
                                      <p:cBhvr>
                                        <p:cTn id="14" dur="166" decel="50000">
                                          <p:stCondLst>
                                            <p:cond delay="676"/>
                                          </p:stCondLst>
                                        </p:cTn>
                                        <p:tgtEl>
                                          <p:spTgt spid="21">
                                            <p:txEl>
                                              <p:pRg st="0" end="0"/>
                                            </p:txEl>
                                          </p:spTgt>
                                        </p:tgtEl>
                                      </p:cBhvr>
                                      <p:to x="100000" y="100000"/>
                                    </p:animScale>
                                    <p:animScale>
                                      <p:cBhvr>
                                        <p:cTn id="15" dur="26">
                                          <p:stCondLst>
                                            <p:cond delay="1312"/>
                                          </p:stCondLst>
                                        </p:cTn>
                                        <p:tgtEl>
                                          <p:spTgt spid="21">
                                            <p:txEl>
                                              <p:pRg st="0" end="0"/>
                                            </p:txEl>
                                          </p:spTgt>
                                        </p:tgtEl>
                                      </p:cBhvr>
                                      <p:to x="100000" y="80000"/>
                                    </p:animScale>
                                    <p:animScale>
                                      <p:cBhvr>
                                        <p:cTn id="16" dur="166" decel="50000">
                                          <p:stCondLst>
                                            <p:cond delay="1338"/>
                                          </p:stCondLst>
                                        </p:cTn>
                                        <p:tgtEl>
                                          <p:spTgt spid="21">
                                            <p:txEl>
                                              <p:pRg st="0" end="0"/>
                                            </p:txEl>
                                          </p:spTgt>
                                        </p:tgtEl>
                                      </p:cBhvr>
                                      <p:to x="100000" y="100000"/>
                                    </p:animScale>
                                    <p:animScale>
                                      <p:cBhvr>
                                        <p:cTn id="17" dur="26">
                                          <p:stCondLst>
                                            <p:cond delay="1642"/>
                                          </p:stCondLst>
                                        </p:cTn>
                                        <p:tgtEl>
                                          <p:spTgt spid="21">
                                            <p:txEl>
                                              <p:pRg st="0" end="0"/>
                                            </p:txEl>
                                          </p:spTgt>
                                        </p:tgtEl>
                                      </p:cBhvr>
                                      <p:to x="100000" y="90000"/>
                                    </p:animScale>
                                    <p:animScale>
                                      <p:cBhvr>
                                        <p:cTn id="18" dur="166" decel="50000">
                                          <p:stCondLst>
                                            <p:cond delay="1668"/>
                                          </p:stCondLst>
                                        </p:cTn>
                                        <p:tgtEl>
                                          <p:spTgt spid="21">
                                            <p:txEl>
                                              <p:pRg st="0" end="0"/>
                                            </p:txEl>
                                          </p:spTgt>
                                        </p:tgtEl>
                                      </p:cBhvr>
                                      <p:to x="100000" y="100000"/>
                                    </p:animScale>
                                    <p:animScale>
                                      <p:cBhvr>
                                        <p:cTn id="19" dur="26">
                                          <p:stCondLst>
                                            <p:cond delay="1808"/>
                                          </p:stCondLst>
                                        </p:cTn>
                                        <p:tgtEl>
                                          <p:spTgt spid="21">
                                            <p:txEl>
                                              <p:pRg st="0" end="0"/>
                                            </p:txEl>
                                          </p:spTgt>
                                        </p:tgtEl>
                                      </p:cBhvr>
                                      <p:to x="100000" y="95000"/>
                                    </p:animScale>
                                    <p:animScale>
                                      <p:cBhvr>
                                        <p:cTn id="20" dur="166" decel="50000">
                                          <p:stCondLst>
                                            <p:cond delay="1834"/>
                                          </p:stCondLst>
                                        </p:cTn>
                                        <p:tgtEl>
                                          <p:spTgt spid="21">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 calcmode="lin" valueType="num">
                                      <p:cBhvr>
                                        <p:cTn id="25" dur="500" fill="hold"/>
                                        <p:tgtEl>
                                          <p:spTgt spid="2050"/>
                                        </p:tgtEl>
                                        <p:attrNameLst>
                                          <p:attrName>ppt_w</p:attrName>
                                        </p:attrNameLst>
                                      </p:cBhvr>
                                      <p:tavLst>
                                        <p:tav tm="0">
                                          <p:val>
                                            <p:fltVal val="0"/>
                                          </p:val>
                                        </p:tav>
                                        <p:tav tm="100000">
                                          <p:val>
                                            <p:strVal val="#ppt_w"/>
                                          </p:val>
                                        </p:tav>
                                      </p:tavLst>
                                    </p:anim>
                                    <p:anim calcmode="lin" valueType="num">
                                      <p:cBhvr>
                                        <p:cTn id="26" dur="500" fill="hold"/>
                                        <p:tgtEl>
                                          <p:spTgt spid="2050"/>
                                        </p:tgtEl>
                                        <p:attrNameLst>
                                          <p:attrName>ppt_h</p:attrName>
                                        </p:attrNameLst>
                                      </p:cBhvr>
                                      <p:tavLst>
                                        <p:tav tm="0">
                                          <p:val>
                                            <p:fltVal val="0"/>
                                          </p:val>
                                        </p:tav>
                                        <p:tav tm="100000">
                                          <p:val>
                                            <p:strVal val="#ppt_h"/>
                                          </p:val>
                                        </p:tav>
                                      </p:tavLst>
                                    </p:anim>
                                    <p:animEffect transition="in" filter="fade">
                                      <p:cBhvr>
                                        <p:cTn id="2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6F70C-9DFE-EBA1-619E-55ACF912E755}"/>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46D39273-6110-8DA8-8317-AC7325690DB5}"/>
              </a:ext>
            </a:extLst>
          </p:cNvPr>
          <p:cNvSpPr/>
          <p:nvPr/>
        </p:nvSpPr>
        <p:spPr>
          <a:xfrm>
            <a:off x="0" y="0"/>
            <a:ext cx="61414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10</a:t>
            </a:r>
            <a:endParaRPr lang="en-US" dirty="0">
              <a:latin typeface="Rockwell" panose="02060603020205020403" pitchFamily="18" charset="0"/>
            </a:endParaRPr>
          </a:p>
        </p:txBody>
      </p:sp>
      <p:sp>
        <p:nvSpPr>
          <p:cNvPr id="4" name="Oval 3">
            <a:extLst>
              <a:ext uri="{FF2B5EF4-FFF2-40B4-BE49-F238E27FC236}">
                <a16:creationId xmlns:a16="http://schemas.microsoft.com/office/drawing/2014/main" id="{1AD0A491-8C92-189B-2C7F-AD80B6017FD9}"/>
              </a:ext>
            </a:extLst>
          </p:cNvPr>
          <p:cNvSpPr/>
          <p:nvPr/>
        </p:nvSpPr>
        <p:spPr>
          <a:xfrm>
            <a:off x="11503933" y="6405351"/>
            <a:ext cx="623996"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11</a:t>
            </a:r>
            <a:endParaRPr lang="en-US" dirty="0">
              <a:latin typeface="Amasis MT Pro Medium" panose="02040604050005020304" pitchFamily="18" charset="0"/>
            </a:endParaRPr>
          </a:p>
        </p:txBody>
      </p:sp>
      <p:sp>
        <p:nvSpPr>
          <p:cNvPr id="21" name="ZoneTexte 20">
            <a:extLst>
              <a:ext uri="{FF2B5EF4-FFF2-40B4-BE49-F238E27FC236}">
                <a16:creationId xmlns:a16="http://schemas.microsoft.com/office/drawing/2014/main" id="{572A3842-A94A-AE1F-C5B2-F661D012E2EA}"/>
              </a:ext>
            </a:extLst>
          </p:cNvPr>
          <p:cNvSpPr txBox="1"/>
          <p:nvPr/>
        </p:nvSpPr>
        <p:spPr>
          <a:xfrm>
            <a:off x="4152330" y="872780"/>
            <a:ext cx="6929651" cy="561757"/>
          </a:xfrm>
          <a:prstGeom prst="rect">
            <a:avLst/>
          </a:prstGeom>
          <a:noFill/>
        </p:spPr>
        <p:txBody>
          <a:bodyPr wrap="square">
            <a:spAutoFit/>
          </a:bodyPr>
          <a:lstStyle/>
          <a:p>
            <a:pPr marL="342900" lvl="0" indent="-342900" algn="just">
              <a:lnSpc>
                <a:spcPct val="200000"/>
              </a:lnSpc>
              <a:buFont typeface="Wingdings" panose="05000000000000000000" pitchFamily="2" charset="2"/>
              <a:buChar char=""/>
            </a:pPr>
            <a:endParaRPr lang="fr-FR" sz="1800" kern="100" dirty="0">
              <a:effectLst/>
              <a:latin typeface="Rockwell" panose="02060603020205020403" pitchFamily="18" charset="0"/>
              <a:ea typeface="Calibri" panose="020F0502020204030204" pitchFamily="34" charset="0"/>
              <a:cs typeface="Times New Roman" panose="02020603050405020304" pitchFamily="18" charset="0"/>
            </a:endParaRPr>
          </a:p>
        </p:txBody>
      </p:sp>
      <p:pic>
        <p:nvPicPr>
          <p:cNvPr id="2050" name="Picture 2" descr="Bonhomme 3d liste - Photos : téléchargez gratuitement des images de haute  qualité | Freepik">
            <a:extLst>
              <a:ext uri="{FF2B5EF4-FFF2-40B4-BE49-F238E27FC236}">
                <a16:creationId xmlns:a16="http://schemas.microsoft.com/office/drawing/2014/main" id="{2D52E202-4097-272E-001E-5C4617B2F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09" y="3323228"/>
            <a:ext cx="3468198" cy="277732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6">
            <a:extLst>
              <a:ext uri="{FF2B5EF4-FFF2-40B4-BE49-F238E27FC236}">
                <a16:creationId xmlns:a16="http://schemas.microsoft.com/office/drawing/2014/main" id="{C5514273-821D-3AEE-70ED-AE68647D61E8}"/>
              </a:ext>
            </a:extLst>
          </p:cNvPr>
          <p:cNvSpPr/>
          <p:nvPr/>
        </p:nvSpPr>
        <p:spPr>
          <a:xfrm>
            <a:off x="6324600" y="-1"/>
            <a:ext cx="5867400" cy="791567"/>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latin typeface="Rockwell" panose="02060603020205020403" pitchFamily="18" charset="0"/>
              </a:rPr>
              <a:t>METHODOLOGIE: Diagramme de cas d’utilisation</a:t>
            </a:r>
            <a:endParaRPr lang="en-US" b="1" dirty="0">
              <a:latin typeface="Rockwell" panose="02060603020205020403" pitchFamily="18" charset="0"/>
            </a:endParaRPr>
          </a:p>
        </p:txBody>
      </p:sp>
      <p:sp>
        <p:nvSpPr>
          <p:cNvPr id="5" name="Rectangle: Rounded Corners 8">
            <a:extLst>
              <a:ext uri="{FF2B5EF4-FFF2-40B4-BE49-F238E27FC236}">
                <a16:creationId xmlns:a16="http://schemas.microsoft.com/office/drawing/2014/main" id="{D1970FE4-A793-9C1A-70AF-BE1C59B7E575}"/>
              </a:ext>
            </a:extLst>
          </p:cNvPr>
          <p:cNvSpPr/>
          <p:nvPr/>
        </p:nvSpPr>
        <p:spPr>
          <a:xfrm>
            <a:off x="2715904" y="1187186"/>
            <a:ext cx="6414448" cy="1355169"/>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4000" dirty="0">
                <a:latin typeface="Rockwell" panose="02060603020205020403" pitchFamily="18" charset="0"/>
                <a:ea typeface="Calibri" panose="020F0502020204030204" pitchFamily="34" charset="0"/>
              </a:rPr>
              <a:t>Besoins fonctionnels du  </a:t>
            </a:r>
            <a:r>
              <a:rPr lang="fr-CM" sz="4000" dirty="0" err="1">
                <a:latin typeface="Rockwell" panose="02060603020205020403" pitchFamily="18" charset="0"/>
                <a:ea typeface="Calibri" panose="020F0502020204030204" pitchFamily="34" charset="0"/>
              </a:rPr>
              <a:t>khernel</a:t>
            </a:r>
            <a:endParaRPr lang="en-US" sz="4000" dirty="0">
              <a:latin typeface="Rockwell" panose="02060603020205020403" pitchFamily="18" charset="0"/>
            </a:endParaRPr>
          </a:p>
        </p:txBody>
      </p:sp>
      <p:sp>
        <p:nvSpPr>
          <p:cNvPr id="7" name="ZoneTexte 6">
            <a:extLst>
              <a:ext uri="{FF2B5EF4-FFF2-40B4-BE49-F238E27FC236}">
                <a16:creationId xmlns:a16="http://schemas.microsoft.com/office/drawing/2014/main" id="{244AADA7-7467-29DD-28B3-95E375CD7A8B}"/>
              </a:ext>
            </a:extLst>
          </p:cNvPr>
          <p:cNvSpPr txBox="1"/>
          <p:nvPr/>
        </p:nvSpPr>
        <p:spPr>
          <a:xfrm>
            <a:off x="4455935" y="3028703"/>
            <a:ext cx="6929651" cy="457882"/>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fr-FR" b="1" kern="100" dirty="0">
                <a:latin typeface="Rockwell" panose="02060603020205020403" pitchFamily="18" charset="0"/>
                <a:ea typeface="Calibri" panose="020F0502020204030204" pitchFamily="34" charset="0"/>
                <a:cs typeface="Times New Roman" panose="02020603050405020304" pitchFamily="18" charset="0"/>
              </a:rPr>
              <a:t>Renvoyer les données</a:t>
            </a:r>
            <a:endParaRPr lang="fr-FR" sz="1800" b="1" kern="100" dirty="0">
              <a:effectLst/>
              <a:latin typeface="Rockwell" panose="02060603020205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394351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nodePh="1">
                                  <p:stCondLst>
                                    <p:cond delay="0"/>
                                  </p:stCondLst>
                                  <p:endCondLst>
                                    <p:cond evt="begin" delay="0">
                                      <p:tn val="5"/>
                                    </p:cond>
                                  </p:end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wipe(down)">
                                      <p:cBhvr>
                                        <p:cTn id="7" dur="580">
                                          <p:stCondLst>
                                            <p:cond delay="0"/>
                                          </p:stCondLst>
                                        </p:cTn>
                                        <p:tgtEl>
                                          <p:spTgt spid="21">
                                            <p:txEl>
                                              <p:pRg st="0" end="0"/>
                                            </p:txEl>
                                          </p:spTgt>
                                        </p:tgtEl>
                                      </p:cBhvr>
                                    </p:animEffect>
                                    <p:anim calcmode="lin" valueType="num">
                                      <p:cBhvr>
                                        <p:cTn id="8" dur="1822" tmFilter="0,0; 0.14,0.36; 0.43,0.73; 0.71,0.91; 1.0,1.0">
                                          <p:stCondLst>
                                            <p:cond delay="0"/>
                                          </p:stCondLst>
                                        </p:cTn>
                                        <p:tgtEl>
                                          <p:spTgt spid="21">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1">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1">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1">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1">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1">
                                            <p:txEl>
                                              <p:pRg st="0" end="0"/>
                                            </p:txEl>
                                          </p:spTgt>
                                        </p:tgtEl>
                                      </p:cBhvr>
                                      <p:to x="100000" y="60000"/>
                                    </p:animScale>
                                    <p:animScale>
                                      <p:cBhvr>
                                        <p:cTn id="14" dur="166" decel="50000">
                                          <p:stCondLst>
                                            <p:cond delay="676"/>
                                          </p:stCondLst>
                                        </p:cTn>
                                        <p:tgtEl>
                                          <p:spTgt spid="21">
                                            <p:txEl>
                                              <p:pRg st="0" end="0"/>
                                            </p:txEl>
                                          </p:spTgt>
                                        </p:tgtEl>
                                      </p:cBhvr>
                                      <p:to x="100000" y="100000"/>
                                    </p:animScale>
                                    <p:animScale>
                                      <p:cBhvr>
                                        <p:cTn id="15" dur="26">
                                          <p:stCondLst>
                                            <p:cond delay="1312"/>
                                          </p:stCondLst>
                                        </p:cTn>
                                        <p:tgtEl>
                                          <p:spTgt spid="21">
                                            <p:txEl>
                                              <p:pRg st="0" end="0"/>
                                            </p:txEl>
                                          </p:spTgt>
                                        </p:tgtEl>
                                      </p:cBhvr>
                                      <p:to x="100000" y="80000"/>
                                    </p:animScale>
                                    <p:animScale>
                                      <p:cBhvr>
                                        <p:cTn id="16" dur="166" decel="50000">
                                          <p:stCondLst>
                                            <p:cond delay="1338"/>
                                          </p:stCondLst>
                                        </p:cTn>
                                        <p:tgtEl>
                                          <p:spTgt spid="21">
                                            <p:txEl>
                                              <p:pRg st="0" end="0"/>
                                            </p:txEl>
                                          </p:spTgt>
                                        </p:tgtEl>
                                      </p:cBhvr>
                                      <p:to x="100000" y="100000"/>
                                    </p:animScale>
                                    <p:animScale>
                                      <p:cBhvr>
                                        <p:cTn id="17" dur="26">
                                          <p:stCondLst>
                                            <p:cond delay="1642"/>
                                          </p:stCondLst>
                                        </p:cTn>
                                        <p:tgtEl>
                                          <p:spTgt spid="21">
                                            <p:txEl>
                                              <p:pRg st="0" end="0"/>
                                            </p:txEl>
                                          </p:spTgt>
                                        </p:tgtEl>
                                      </p:cBhvr>
                                      <p:to x="100000" y="90000"/>
                                    </p:animScale>
                                    <p:animScale>
                                      <p:cBhvr>
                                        <p:cTn id="18" dur="166" decel="50000">
                                          <p:stCondLst>
                                            <p:cond delay="1668"/>
                                          </p:stCondLst>
                                        </p:cTn>
                                        <p:tgtEl>
                                          <p:spTgt spid="21">
                                            <p:txEl>
                                              <p:pRg st="0" end="0"/>
                                            </p:txEl>
                                          </p:spTgt>
                                        </p:tgtEl>
                                      </p:cBhvr>
                                      <p:to x="100000" y="100000"/>
                                    </p:animScale>
                                    <p:animScale>
                                      <p:cBhvr>
                                        <p:cTn id="19" dur="26">
                                          <p:stCondLst>
                                            <p:cond delay="1808"/>
                                          </p:stCondLst>
                                        </p:cTn>
                                        <p:tgtEl>
                                          <p:spTgt spid="21">
                                            <p:txEl>
                                              <p:pRg st="0" end="0"/>
                                            </p:txEl>
                                          </p:spTgt>
                                        </p:tgtEl>
                                      </p:cBhvr>
                                      <p:to x="100000" y="95000"/>
                                    </p:animScale>
                                    <p:animScale>
                                      <p:cBhvr>
                                        <p:cTn id="20" dur="166" decel="50000">
                                          <p:stCondLst>
                                            <p:cond delay="1834"/>
                                          </p:stCondLst>
                                        </p:cTn>
                                        <p:tgtEl>
                                          <p:spTgt spid="21">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 calcmode="lin" valueType="num">
                                      <p:cBhvr>
                                        <p:cTn id="25" dur="500" fill="hold"/>
                                        <p:tgtEl>
                                          <p:spTgt spid="2050"/>
                                        </p:tgtEl>
                                        <p:attrNameLst>
                                          <p:attrName>ppt_w</p:attrName>
                                        </p:attrNameLst>
                                      </p:cBhvr>
                                      <p:tavLst>
                                        <p:tav tm="0">
                                          <p:val>
                                            <p:fltVal val="0"/>
                                          </p:val>
                                        </p:tav>
                                        <p:tav tm="100000">
                                          <p:val>
                                            <p:strVal val="#ppt_w"/>
                                          </p:val>
                                        </p:tav>
                                      </p:tavLst>
                                    </p:anim>
                                    <p:anim calcmode="lin" valueType="num">
                                      <p:cBhvr>
                                        <p:cTn id="26" dur="500" fill="hold"/>
                                        <p:tgtEl>
                                          <p:spTgt spid="2050"/>
                                        </p:tgtEl>
                                        <p:attrNameLst>
                                          <p:attrName>ppt_h</p:attrName>
                                        </p:attrNameLst>
                                      </p:cBhvr>
                                      <p:tavLst>
                                        <p:tav tm="0">
                                          <p:val>
                                            <p:fltVal val="0"/>
                                          </p:val>
                                        </p:tav>
                                        <p:tav tm="100000">
                                          <p:val>
                                            <p:strVal val="#ppt_h"/>
                                          </p:val>
                                        </p:tav>
                                      </p:tavLst>
                                    </p:anim>
                                    <p:animEffect transition="in" filter="fade">
                                      <p:cBhvr>
                                        <p:cTn id="2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C8738-8A55-FF69-3CF8-E2BA20034DA9}"/>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9AFB3B69-B4D1-9B79-9F59-59DECBA1CFC4}"/>
              </a:ext>
            </a:extLst>
          </p:cNvPr>
          <p:cNvSpPr/>
          <p:nvPr/>
        </p:nvSpPr>
        <p:spPr>
          <a:xfrm>
            <a:off x="0" y="0"/>
            <a:ext cx="65509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12</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72C7D97C-186D-8336-7BF4-32AFCBF92C0A}"/>
              </a:ext>
            </a:extLst>
          </p:cNvPr>
          <p:cNvSpPr/>
          <p:nvPr/>
        </p:nvSpPr>
        <p:spPr>
          <a:xfrm>
            <a:off x="11518711" y="6405351"/>
            <a:ext cx="609218"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13</a:t>
            </a:r>
            <a:endParaRPr lang="en-US" dirty="0">
              <a:latin typeface="Rockwell" panose="02060603020205020403" pitchFamily="18" charset="0"/>
            </a:endParaRPr>
          </a:p>
        </p:txBody>
      </p:sp>
      <p:sp>
        <p:nvSpPr>
          <p:cNvPr id="12" name="Rectangle à coins arrondis 11">
            <a:extLst>
              <a:ext uri="{FF2B5EF4-FFF2-40B4-BE49-F238E27FC236}">
                <a16:creationId xmlns:a16="http://schemas.microsoft.com/office/drawing/2014/main" id="{6A9224A7-D8D7-A87C-3C46-86CC69DE7E88}"/>
              </a:ext>
            </a:extLst>
          </p:cNvPr>
          <p:cNvSpPr/>
          <p:nvPr/>
        </p:nvSpPr>
        <p:spPr>
          <a:xfrm>
            <a:off x="3450800" y="689049"/>
            <a:ext cx="5290400" cy="56485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Descriptions textuelles</a:t>
            </a:r>
          </a:p>
        </p:txBody>
      </p:sp>
      <p:sp>
        <p:nvSpPr>
          <p:cNvPr id="15" name="ZoneTexte 14">
            <a:extLst>
              <a:ext uri="{FF2B5EF4-FFF2-40B4-BE49-F238E27FC236}">
                <a16:creationId xmlns:a16="http://schemas.microsoft.com/office/drawing/2014/main" id="{5A41F444-3BEE-BB4D-5A82-C77D8B1C1E5C}"/>
              </a:ext>
            </a:extLst>
          </p:cNvPr>
          <p:cNvSpPr txBox="1"/>
          <p:nvPr/>
        </p:nvSpPr>
        <p:spPr>
          <a:xfrm>
            <a:off x="402771" y="1393766"/>
            <a:ext cx="11259402" cy="5207451"/>
          </a:xfrm>
          <a:prstGeom prst="rect">
            <a:avLst/>
          </a:prstGeom>
          <a:noFill/>
        </p:spPr>
        <p:txBody>
          <a:bodyPr wrap="square" rtlCol="0">
            <a:spAutoFit/>
          </a:bodyPr>
          <a:lstStyle/>
          <a:p>
            <a:pPr algn="just">
              <a:lnSpc>
                <a:spcPct val="150000"/>
              </a:lnSpc>
            </a:pPr>
            <a:r>
              <a:rPr lang="fr-FR" sz="2400" dirty="0">
                <a:latin typeface="Rockwell" panose="02060603020205020403" pitchFamily="18" charset="0"/>
              </a:rPr>
              <a:t>	</a:t>
            </a:r>
            <a:r>
              <a:rPr lang="fr-FR" sz="2000" dirty="0">
                <a:latin typeface="Rockwell" panose="02060603020205020403" pitchFamily="18" charset="0"/>
              </a:rPr>
              <a:t>Chaque cas d'utilisation, est associé à une série d'actions représentant la fonctionnalité voulue, ainsi que les stratégies à utiliser dans l'alternative où la validation échoue, ou des erreurs se produisent.</a:t>
            </a:r>
          </a:p>
          <a:p>
            <a:pPr algn="just">
              <a:lnSpc>
                <a:spcPct val="150000"/>
              </a:lnSpc>
            </a:pPr>
            <a:r>
              <a:rPr lang="fr-FR" sz="2000" dirty="0">
                <a:latin typeface="Rockwell" panose="02060603020205020403" pitchFamily="18" charset="0"/>
              </a:rPr>
              <a:t>	Un cas d’utilisation est donc une abstraction de plusieurs chemins d’exécution. Une instance de cas d’utilisation est appelée : « scénario ». C’est un chemin particulier pris lors de l’exécution d’un cas d’utilisation. Le nombre d’instances pour un cas d’utilisation peut être très important, voire infini. Les scénarios (scénarii) peuvent être classés en : </a:t>
            </a:r>
          </a:p>
          <a:p>
            <a:pPr algn="just">
              <a:lnSpc>
                <a:spcPct val="150000"/>
              </a:lnSpc>
            </a:pPr>
            <a:endParaRPr lang="fr-FR" sz="2000" dirty="0">
              <a:latin typeface="Rockwell" panose="02060603020205020403" pitchFamily="18" charset="0"/>
            </a:endParaRPr>
          </a:p>
          <a:p>
            <a:pPr marL="342900" indent="-342900" algn="just">
              <a:lnSpc>
                <a:spcPct val="150000"/>
              </a:lnSpc>
              <a:buFont typeface="Wingdings" panose="05000000000000000000" pitchFamily="2" charset="2"/>
              <a:buChar char="Ø"/>
            </a:pPr>
            <a:r>
              <a:rPr lang="fr-FR" sz="2000" b="1" dirty="0">
                <a:latin typeface="Rockwell" panose="02060603020205020403" pitchFamily="18" charset="0"/>
              </a:rPr>
              <a:t>Scénario principal ou nominal ;</a:t>
            </a:r>
          </a:p>
          <a:p>
            <a:pPr algn="just">
              <a:lnSpc>
                <a:spcPct val="150000"/>
              </a:lnSpc>
            </a:pPr>
            <a:r>
              <a:rPr lang="fr-FR" sz="2000" b="1" dirty="0">
                <a:latin typeface="Rockwell" panose="02060603020205020403" pitchFamily="18" charset="0"/>
              </a:rPr>
              <a:t>➢ Scénarios secondaires.</a:t>
            </a:r>
          </a:p>
          <a:p>
            <a:pPr algn="just">
              <a:lnSpc>
                <a:spcPct val="150000"/>
              </a:lnSpc>
            </a:pPr>
            <a:r>
              <a:rPr lang="fr-FR" sz="2000" dirty="0">
                <a:latin typeface="Rockwell" panose="02060603020205020403" pitchFamily="18" charset="0"/>
              </a:rPr>
              <a:t> </a:t>
            </a:r>
            <a:endParaRPr lang="fr-FR" sz="2400" dirty="0">
              <a:latin typeface="Rockwell" panose="02060603020205020403" pitchFamily="18" charset="0"/>
            </a:endParaRPr>
          </a:p>
        </p:txBody>
      </p:sp>
      <p:sp>
        <p:nvSpPr>
          <p:cNvPr id="5" name="Rectangle: Rounded Corners 3">
            <a:extLst>
              <a:ext uri="{FF2B5EF4-FFF2-40B4-BE49-F238E27FC236}">
                <a16:creationId xmlns:a16="http://schemas.microsoft.com/office/drawing/2014/main" id="{B4D00855-CE5A-1570-F527-ACE6B67AE9A4}"/>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spTree>
    <p:extLst>
      <p:ext uri="{BB962C8B-B14F-4D97-AF65-F5344CB8AC3E}">
        <p14:creationId xmlns:p14="http://schemas.microsoft.com/office/powerpoint/2010/main" val="6039229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1000"/>
                                        <p:tgtEl>
                                          <p:spTgt spid="15"/>
                                        </p:tgtEl>
                                      </p:cBhvr>
                                    </p:animEffect>
                                    <p:anim calcmode="lin" valueType="num">
                                      <p:cBhvr>
                                        <p:cTn id="12" dur="1000" fill="hold"/>
                                        <p:tgtEl>
                                          <p:spTgt spid="15"/>
                                        </p:tgtEl>
                                        <p:attrNameLst>
                                          <p:attrName>ppt_x</p:attrName>
                                        </p:attrNameLst>
                                      </p:cBhvr>
                                      <p:tavLst>
                                        <p:tav tm="0">
                                          <p:val>
                                            <p:strVal val="#ppt_x"/>
                                          </p:val>
                                        </p:tav>
                                        <p:tav tm="100000">
                                          <p:val>
                                            <p:strVal val="#ppt_x"/>
                                          </p:val>
                                        </p:tav>
                                      </p:tavLst>
                                    </p:anim>
                                    <p:anim calcmode="lin" valueType="num">
                                      <p:cBhvr>
                                        <p:cTn id="13" dur="1000" fill="hold"/>
                                        <p:tgtEl>
                                          <p:spTgt spid="15"/>
                                        </p:tgtEl>
                                        <p:attrNameLst>
                                          <p:attrName>ppt_y</p:attrName>
                                        </p:attrNameLst>
                                      </p:cBhvr>
                                      <p:tavLst>
                                        <p:tav tm="0">
                                          <p:val>
                                            <p:strVal val="#ppt_y+.1"/>
                                          </p:val>
                                        </p:tav>
                                        <p:tav tm="100000">
                                          <p:val>
                                            <p:strVal val="#ppt_y"/>
                                          </p:val>
                                        </p:tav>
                                      </p:tavLst>
                                    </p:anim>
                                  </p:childTnLst>
                                </p:cTn>
                              </p:par>
                              <p:par>
                                <p:cTn id="14" presetID="22" presetClass="exit" presetSubtype="4" fill="hold" grpId="1" nodeType="withEffect">
                                  <p:stCondLst>
                                    <p:cond delay="0"/>
                                  </p:stCondLst>
                                  <p:childTnLst>
                                    <p:animEffect transition="out" filter="wipe(down)">
                                      <p:cBhvr>
                                        <p:cTn id="15" dur="500"/>
                                        <p:tgtEl>
                                          <p:spTgt spid="15"/>
                                        </p:tgtEl>
                                      </p:cBhvr>
                                    </p:animEffect>
                                    <p:set>
                                      <p:cBhvr>
                                        <p:cTn id="16" dur="1" fill="hold">
                                          <p:stCondLst>
                                            <p:cond delay="499"/>
                                          </p:stCondLst>
                                        </p:cTn>
                                        <p:tgtEl>
                                          <p:spTgt spid="1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animEffect transition="in" filter="wipe(down)">
                                      <p:cBhvr>
                                        <p:cTn id="21" dur="580">
                                          <p:stCondLst>
                                            <p:cond delay="0"/>
                                          </p:stCondLst>
                                        </p:cTn>
                                        <p:tgtEl>
                                          <p:spTgt spid="15">
                                            <p:txEl>
                                              <p:pRg st="3" end="3"/>
                                            </p:txEl>
                                          </p:spTgt>
                                        </p:tgtEl>
                                      </p:cBhvr>
                                    </p:animEffect>
                                    <p:anim calcmode="lin" valueType="num">
                                      <p:cBhvr>
                                        <p:cTn id="22" dur="1822" tmFilter="0,0; 0.14,0.36; 0.43,0.73; 0.71,0.91; 1.0,1.0">
                                          <p:stCondLst>
                                            <p:cond delay="0"/>
                                          </p:stCondLst>
                                        </p:cTn>
                                        <p:tgtEl>
                                          <p:spTgt spid="15">
                                            <p:txEl>
                                              <p:pRg st="3" end="3"/>
                                            </p:txEl>
                                          </p:spTgt>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15">
                                            <p:txEl>
                                              <p:pRg st="3" end="3"/>
                                            </p:txEl>
                                          </p:spTgt>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15">
                                            <p:txEl>
                                              <p:pRg st="3" end="3"/>
                                            </p:txEl>
                                          </p:spTgt>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15">
                                            <p:txEl>
                                              <p:pRg st="3" end="3"/>
                                            </p:txEl>
                                          </p:spTgt>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15">
                                            <p:txEl>
                                              <p:pRg st="3" end="3"/>
                                            </p:txEl>
                                          </p:spTgt>
                                        </p:tgtEl>
                                        <p:attrNameLst>
                                          <p:attrName>ppt_y</p:attrName>
                                        </p:attrNameLst>
                                      </p:cBhvr>
                                      <p:tavLst>
                                        <p:tav tm="0" fmla="#ppt_y-sin(pi*$)/81">
                                          <p:val>
                                            <p:fltVal val="0"/>
                                          </p:val>
                                        </p:tav>
                                        <p:tav tm="100000">
                                          <p:val>
                                            <p:fltVal val="1"/>
                                          </p:val>
                                        </p:tav>
                                      </p:tavLst>
                                    </p:anim>
                                    <p:animScale>
                                      <p:cBhvr>
                                        <p:cTn id="27" dur="26">
                                          <p:stCondLst>
                                            <p:cond delay="650"/>
                                          </p:stCondLst>
                                        </p:cTn>
                                        <p:tgtEl>
                                          <p:spTgt spid="15">
                                            <p:txEl>
                                              <p:pRg st="3" end="3"/>
                                            </p:txEl>
                                          </p:spTgt>
                                        </p:tgtEl>
                                      </p:cBhvr>
                                      <p:to x="100000" y="60000"/>
                                    </p:animScale>
                                    <p:animScale>
                                      <p:cBhvr>
                                        <p:cTn id="28" dur="166" decel="50000">
                                          <p:stCondLst>
                                            <p:cond delay="676"/>
                                          </p:stCondLst>
                                        </p:cTn>
                                        <p:tgtEl>
                                          <p:spTgt spid="15">
                                            <p:txEl>
                                              <p:pRg st="3" end="3"/>
                                            </p:txEl>
                                          </p:spTgt>
                                        </p:tgtEl>
                                      </p:cBhvr>
                                      <p:to x="100000" y="100000"/>
                                    </p:animScale>
                                    <p:animScale>
                                      <p:cBhvr>
                                        <p:cTn id="29" dur="26">
                                          <p:stCondLst>
                                            <p:cond delay="1312"/>
                                          </p:stCondLst>
                                        </p:cTn>
                                        <p:tgtEl>
                                          <p:spTgt spid="15">
                                            <p:txEl>
                                              <p:pRg st="3" end="3"/>
                                            </p:txEl>
                                          </p:spTgt>
                                        </p:tgtEl>
                                      </p:cBhvr>
                                      <p:to x="100000" y="80000"/>
                                    </p:animScale>
                                    <p:animScale>
                                      <p:cBhvr>
                                        <p:cTn id="30" dur="166" decel="50000">
                                          <p:stCondLst>
                                            <p:cond delay="1338"/>
                                          </p:stCondLst>
                                        </p:cTn>
                                        <p:tgtEl>
                                          <p:spTgt spid="15">
                                            <p:txEl>
                                              <p:pRg st="3" end="3"/>
                                            </p:txEl>
                                          </p:spTgt>
                                        </p:tgtEl>
                                      </p:cBhvr>
                                      <p:to x="100000" y="100000"/>
                                    </p:animScale>
                                    <p:animScale>
                                      <p:cBhvr>
                                        <p:cTn id="31" dur="26">
                                          <p:stCondLst>
                                            <p:cond delay="1642"/>
                                          </p:stCondLst>
                                        </p:cTn>
                                        <p:tgtEl>
                                          <p:spTgt spid="15">
                                            <p:txEl>
                                              <p:pRg st="3" end="3"/>
                                            </p:txEl>
                                          </p:spTgt>
                                        </p:tgtEl>
                                      </p:cBhvr>
                                      <p:to x="100000" y="90000"/>
                                    </p:animScale>
                                    <p:animScale>
                                      <p:cBhvr>
                                        <p:cTn id="32" dur="166" decel="50000">
                                          <p:stCondLst>
                                            <p:cond delay="1668"/>
                                          </p:stCondLst>
                                        </p:cTn>
                                        <p:tgtEl>
                                          <p:spTgt spid="15">
                                            <p:txEl>
                                              <p:pRg st="3" end="3"/>
                                            </p:txEl>
                                          </p:spTgt>
                                        </p:tgtEl>
                                      </p:cBhvr>
                                      <p:to x="100000" y="100000"/>
                                    </p:animScale>
                                    <p:animScale>
                                      <p:cBhvr>
                                        <p:cTn id="33" dur="26">
                                          <p:stCondLst>
                                            <p:cond delay="1808"/>
                                          </p:stCondLst>
                                        </p:cTn>
                                        <p:tgtEl>
                                          <p:spTgt spid="15">
                                            <p:txEl>
                                              <p:pRg st="3" end="3"/>
                                            </p:txEl>
                                          </p:spTgt>
                                        </p:tgtEl>
                                      </p:cBhvr>
                                      <p:to x="100000" y="95000"/>
                                    </p:animScale>
                                    <p:animScale>
                                      <p:cBhvr>
                                        <p:cTn id="34" dur="166" decel="50000">
                                          <p:stCondLst>
                                            <p:cond delay="1834"/>
                                          </p:stCondLst>
                                        </p:cTn>
                                        <p:tgtEl>
                                          <p:spTgt spid="15">
                                            <p:txEl>
                                              <p:pRg st="3" end="3"/>
                                            </p:txEl>
                                          </p:spTgt>
                                        </p:tgtEl>
                                      </p:cBhvr>
                                      <p:to x="100000" y="100000"/>
                                    </p:animScale>
                                  </p:childTnLst>
                                </p:cTn>
                              </p:par>
                            </p:childTnLst>
                          </p:cTn>
                        </p:par>
                      </p:childTnLst>
                    </p:cTn>
                  </p:par>
                  <p:par>
                    <p:cTn id="35" fill="hold">
                      <p:stCondLst>
                        <p:cond delay="indefinite"/>
                      </p:stCondLst>
                      <p:childTnLst>
                        <p:par>
                          <p:cTn id="36" fill="hold">
                            <p:stCondLst>
                              <p:cond delay="0"/>
                            </p:stCondLst>
                            <p:childTnLst>
                              <p:par>
                                <p:cTn id="37" presetID="26" presetClass="entr" presetSubtype="0" fill="hold" nodeType="clickEffect">
                                  <p:stCondLst>
                                    <p:cond delay="0"/>
                                  </p:stCondLst>
                                  <p:childTnLst>
                                    <p:set>
                                      <p:cBhvr>
                                        <p:cTn id="38" dur="1" fill="hold">
                                          <p:stCondLst>
                                            <p:cond delay="0"/>
                                          </p:stCondLst>
                                        </p:cTn>
                                        <p:tgtEl>
                                          <p:spTgt spid="15">
                                            <p:txEl>
                                              <p:pRg st="4" end="4"/>
                                            </p:txEl>
                                          </p:spTgt>
                                        </p:tgtEl>
                                        <p:attrNameLst>
                                          <p:attrName>style.visibility</p:attrName>
                                        </p:attrNameLst>
                                      </p:cBhvr>
                                      <p:to>
                                        <p:strVal val="visible"/>
                                      </p:to>
                                    </p:set>
                                    <p:animEffect transition="in" filter="wipe(down)">
                                      <p:cBhvr>
                                        <p:cTn id="39" dur="580">
                                          <p:stCondLst>
                                            <p:cond delay="0"/>
                                          </p:stCondLst>
                                        </p:cTn>
                                        <p:tgtEl>
                                          <p:spTgt spid="15">
                                            <p:txEl>
                                              <p:pRg st="4" end="4"/>
                                            </p:txEl>
                                          </p:spTgt>
                                        </p:tgtEl>
                                      </p:cBhvr>
                                    </p:animEffect>
                                    <p:anim calcmode="lin" valueType="num">
                                      <p:cBhvr>
                                        <p:cTn id="40" dur="1822" tmFilter="0,0; 0.14,0.36; 0.43,0.73; 0.71,0.91; 1.0,1.0">
                                          <p:stCondLst>
                                            <p:cond delay="0"/>
                                          </p:stCondLst>
                                        </p:cTn>
                                        <p:tgtEl>
                                          <p:spTgt spid="15">
                                            <p:txEl>
                                              <p:pRg st="4" end="4"/>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5">
                                            <p:txEl>
                                              <p:pRg st="4" end="4"/>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5">
                                            <p:txEl>
                                              <p:pRg st="4" end="4"/>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5">
                                            <p:txEl>
                                              <p:pRg st="4" end="4"/>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5">
                                            <p:txEl>
                                              <p:pRg st="4" end="4"/>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15">
                                            <p:txEl>
                                              <p:pRg st="4" end="4"/>
                                            </p:txEl>
                                          </p:spTgt>
                                        </p:tgtEl>
                                      </p:cBhvr>
                                      <p:to x="100000" y="60000"/>
                                    </p:animScale>
                                    <p:animScale>
                                      <p:cBhvr>
                                        <p:cTn id="46" dur="166" decel="50000">
                                          <p:stCondLst>
                                            <p:cond delay="676"/>
                                          </p:stCondLst>
                                        </p:cTn>
                                        <p:tgtEl>
                                          <p:spTgt spid="15">
                                            <p:txEl>
                                              <p:pRg st="4" end="4"/>
                                            </p:txEl>
                                          </p:spTgt>
                                        </p:tgtEl>
                                      </p:cBhvr>
                                      <p:to x="100000" y="100000"/>
                                    </p:animScale>
                                    <p:animScale>
                                      <p:cBhvr>
                                        <p:cTn id="47" dur="26">
                                          <p:stCondLst>
                                            <p:cond delay="1312"/>
                                          </p:stCondLst>
                                        </p:cTn>
                                        <p:tgtEl>
                                          <p:spTgt spid="15">
                                            <p:txEl>
                                              <p:pRg st="4" end="4"/>
                                            </p:txEl>
                                          </p:spTgt>
                                        </p:tgtEl>
                                      </p:cBhvr>
                                      <p:to x="100000" y="80000"/>
                                    </p:animScale>
                                    <p:animScale>
                                      <p:cBhvr>
                                        <p:cTn id="48" dur="166" decel="50000">
                                          <p:stCondLst>
                                            <p:cond delay="1338"/>
                                          </p:stCondLst>
                                        </p:cTn>
                                        <p:tgtEl>
                                          <p:spTgt spid="15">
                                            <p:txEl>
                                              <p:pRg st="4" end="4"/>
                                            </p:txEl>
                                          </p:spTgt>
                                        </p:tgtEl>
                                      </p:cBhvr>
                                      <p:to x="100000" y="100000"/>
                                    </p:animScale>
                                    <p:animScale>
                                      <p:cBhvr>
                                        <p:cTn id="49" dur="26">
                                          <p:stCondLst>
                                            <p:cond delay="1642"/>
                                          </p:stCondLst>
                                        </p:cTn>
                                        <p:tgtEl>
                                          <p:spTgt spid="15">
                                            <p:txEl>
                                              <p:pRg st="4" end="4"/>
                                            </p:txEl>
                                          </p:spTgt>
                                        </p:tgtEl>
                                      </p:cBhvr>
                                      <p:to x="100000" y="90000"/>
                                    </p:animScale>
                                    <p:animScale>
                                      <p:cBhvr>
                                        <p:cTn id="50" dur="166" decel="50000">
                                          <p:stCondLst>
                                            <p:cond delay="1668"/>
                                          </p:stCondLst>
                                        </p:cTn>
                                        <p:tgtEl>
                                          <p:spTgt spid="15">
                                            <p:txEl>
                                              <p:pRg st="4" end="4"/>
                                            </p:txEl>
                                          </p:spTgt>
                                        </p:tgtEl>
                                      </p:cBhvr>
                                      <p:to x="100000" y="100000"/>
                                    </p:animScale>
                                    <p:animScale>
                                      <p:cBhvr>
                                        <p:cTn id="51" dur="26">
                                          <p:stCondLst>
                                            <p:cond delay="1808"/>
                                          </p:stCondLst>
                                        </p:cTn>
                                        <p:tgtEl>
                                          <p:spTgt spid="15">
                                            <p:txEl>
                                              <p:pRg st="4" end="4"/>
                                            </p:txEl>
                                          </p:spTgt>
                                        </p:tgtEl>
                                      </p:cBhvr>
                                      <p:to x="100000" y="95000"/>
                                    </p:animScale>
                                    <p:animScale>
                                      <p:cBhvr>
                                        <p:cTn id="52" dur="166" decel="50000">
                                          <p:stCondLst>
                                            <p:cond delay="1834"/>
                                          </p:stCondLst>
                                        </p:cTn>
                                        <p:tgtEl>
                                          <p:spTgt spid="15">
                                            <p:txEl>
                                              <p:pRg st="4" end="4"/>
                                            </p:txEl>
                                          </p:spTgt>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fade">
                                      <p:cBhvr>
                                        <p:cTn id="57" dur="1000"/>
                                        <p:tgtEl>
                                          <p:spTgt spid="15">
                                            <p:txEl>
                                              <p:pRg st="0" end="0"/>
                                            </p:txEl>
                                          </p:spTgt>
                                        </p:tgtEl>
                                      </p:cBhvr>
                                    </p:animEffect>
                                    <p:anim calcmode="lin" valueType="num">
                                      <p:cBhvr>
                                        <p:cTn id="5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59"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5">
                                            <p:txEl>
                                              <p:pRg st="1" end="1"/>
                                            </p:txEl>
                                          </p:spTgt>
                                        </p:tgtEl>
                                        <p:attrNameLst>
                                          <p:attrName>style.visibility</p:attrName>
                                        </p:attrNameLst>
                                      </p:cBhvr>
                                      <p:to>
                                        <p:strVal val="visible"/>
                                      </p:to>
                                    </p:set>
                                    <p:animEffect transition="in" filter="fade">
                                      <p:cBhvr>
                                        <p:cTn id="62" dur="1000"/>
                                        <p:tgtEl>
                                          <p:spTgt spid="15">
                                            <p:txEl>
                                              <p:pRg st="1" end="1"/>
                                            </p:txEl>
                                          </p:spTgt>
                                        </p:tgtEl>
                                      </p:cBhvr>
                                    </p:animEffect>
                                    <p:anim calcmode="lin" valueType="num">
                                      <p:cBhvr>
                                        <p:cTn id="63"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64"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p:bldP spid="15"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011C2-06F6-435E-EF99-F765F2A1D732}"/>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045A60EC-9FEB-EAAC-7560-086B7E5EFD05}"/>
              </a:ext>
            </a:extLst>
          </p:cNvPr>
          <p:cNvSpPr/>
          <p:nvPr/>
        </p:nvSpPr>
        <p:spPr>
          <a:xfrm>
            <a:off x="0" y="0"/>
            <a:ext cx="627797"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14</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2EED25B1-2EB9-5CAC-A9C1-2138D7A2EFBE}"/>
              </a:ext>
            </a:extLst>
          </p:cNvPr>
          <p:cNvSpPr/>
          <p:nvPr/>
        </p:nvSpPr>
        <p:spPr>
          <a:xfrm>
            <a:off x="11477767" y="6405351"/>
            <a:ext cx="65016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15</a:t>
            </a:r>
            <a:endParaRPr lang="en-US" dirty="0">
              <a:latin typeface="Rockwell" panose="02060603020205020403" pitchFamily="18" charset="0"/>
            </a:endParaRPr>
          </a:p>
        </p:txBody>
      </p:sp>
      <p:sp>
        <p:nvSpPr>
          <p:cNvPr id="12" name="Rectangle à coins arrondis 11">
            <a:extLst>
              <a:ext uri="{FF2B5EF4-FFF2-40B4-BE49-F238E27FC236}">
                <a16:creationId xmlns:a16="http://schemas.microsoft.com/office/drawing/2014/main" id="{67993130-AC1E-F8BC-9CEC-D2228E7A5C50}"/>
              </a:ext>
            </a:extLst>
          </p:cNvPr>
          <p:cNvSpPr/>
          <p:nvPr/>
        </p:nvSpPr>
        <p:spPr>
          <a:xfrm>
            <a:off x="3450800" y="689049"/>
            <a:ext cx="5290400" cy="56485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Descriptions textuelles</a:t>
            </a:r>
          </a:p>
        </p:txBody>
      </p:sp>
      <p:sp>
        <p:nvSpPr>
          <p:cNvPr id="15" name="ZoneTexte 14">
            <a:extLst>
              <a:ext uri="{FF2B5EF4-FFF2-40B4-BE49-F238E27FC236}">
                <a16:creationId xmlns:a16="http://schemas.microsoft.com/office/drawing/2014/main" id="{8CE4D015-8654-D820-B841-186529CCFFF5}"/>
              </a:ext>
            </a:extLst>
          </p:cNvPr>
          <p:cNvSpPr txBox="1"/>
          <p:nvPr/>
        </p:nvSpPr>
        <p:spPr>
          <a:xfrm>
            <a:off x="402771" y="1393766"/>
            <a:ext cx="11259402" cy="4273029"/>
          </a:xfrm>
          <a:prstGeom prst="rect">
            <a:avLst/>
          </a:prstGeom>
          <a:noFill/>
        </p:spPr>
        <p:txBody>
          <a:bodyPr wrap="square" rtlCol="0">
            <a:spAutoFit/>
          </a:bodyPr>
          <a:lstStyle/>
          <a:p>
            <a:pPr algn="just">
              <a:lnSpc>
                <a:spcPct val="150000"/>
              </a:lnSpc>
            </a:pPr>
            <a:r>
              <a:rPr lang="fr-FR" sz="2000" dirty="0">
                <a:latin typeface="Rockwell" panose="02060603020205020403" pitchFamily="18" charset="0"/>
              </a:rPr>
              <a:t>La description textuelle est constituée des éléments suivants :</a:t>
            </a:r>
          </a:p>
          <a:p>
            <a:pPr algn="just">
              <a:lnSpc>
                <a:spcPct val="150000"/>
              </a:lnSpc>
            </a:pPr>
            <a:endParaRPr lang="fr-FR" sz="2000" dirty="0">
              <a:latin typeface="Rockwell" panose="02060603020205020403" pitchFamily="18" charset="0"/>
            </a:endParaRPr>
          </a:p>
          <a:p>
            <a:pPr marL="342900" indent="-342900" algn="just">
              <a:lnSpc>
                <a:spcPct val="150000"/>
              </a:lnSpc>
              <a:buFont typeface="Wingdings" panose="05000000000000000000" pitchFamily="2" charset="2"/>
              <a:buChar char="Ø"/>
            </a:pPr>
            <a:r>
              <a:rPr lang="fr-FR" sz="2000" b="1" dirty="0">
                <a:latin typeface="Rockwell" panose="02060603020205020403" pitchFamily="18" charset="0"/>
              </a:rPr>
              <a:t> Le présupposé </a:t>
            </a:r>
          </a:p>
          <a:p>
            <a:pPr marL="342900" indent="-342900" algn="just">
              <a:lnSpc>
                <a:spcPct val="150000"/>
              </a:lnSpc>
              <a:buFont typeface="Wingdings" panose="05000000000000000000" pitchFamily="2" charset="2"/>
              <a:buChar char="Ø"/>
            </a:pPr>
            <a:r>
              <a:rPr lang="fr-FR" sz="2000" b="1" dirty="0">
                <a:latin typeface="Rockwell" panose="02060603020205020403" pitchFamily="18" charset="0"/>
              </a:rPr>
              <a:t>La précondition </a:t>
            </a:r>
          </a:p>
          <a:p>
            <a:pPr marL="342900" indent="-342900" algn="just">
              <a:lnSpc>
                <a:spcPct val="150000"/>
              </a:lnSpc>
              <a:buFont typeface="Wingdings" panose="05000000000000000000" pitchFamily="2" charset="2"/>
              <a:buChar char="Ø"/>
            </a:pPr>
            <a:r>
              <a:rPr lang="fr-FR" sz="2000" b="1" dirty="0">
                <a:latin typeface="Rockwell" panose="02060603020205020403" pitchFamily="18" charset="0"/>
              </a:rPr>
              <a:t>Le déclencheur</a:t>
            </a:r>
          </a:p>
          <a:p>
            <a:pPr marL="342900" indent="-342900" algn="just">
              <a:lnSpc>
                <a:spcPct val="150000"/>
              </a:lnSpc>
              <a:buFont typeface="Wingdings" panose="05000000000000000000" pitchFamily="2" charset="2"/>
              <a:buChar char="Ø"/>
            </a:pPr>
            <a:r>
              <a:rPr lang="fr-FR" sz="2000" b="1" dirty="0">
                <a:latin typeface="Rockwell" panose="02060603020205020403" pitchFamily="18" charset="0"/>
              </a:rPr>
              <a:t>Le dialogue</a:t>
            </a:r>
          </a:p>
          <a:p>
            <a:pPr marL="342900" indent="-342900" algn="just">
              <a:lnSpc>
                <a:spcPct val="150000"/>
              </a:lnSpc>
              <a:buFont typeface="Wingdings" panose="05000000000000000000" pitchFamily="2" charset="2"/>
              <a:buChar char="Ø"/>
            </a:pPr>
            <a:r>
              <a:rPr lang="fr-FR" sz="2000" b="1" dirty="0">
                <a:latin typeface="Rockwell" panose="02060603020205020403" pitchFamily="18" charset="0"/>
              </a:rPr>
              <a:t> La post condition</a:t>
            </a:r>
          </a:p>
          <a:p>
            <a:pPr marL="342900" indent="-342900" algn="just">
              <a:lnSpc>
                <a:spcPct val="150000"/>
              </a:lnSpc>
              <a:buFont typeface="Wingdings" panose="05000000000000000000" pitchFamily="2" charset="2"/>
              <a:buChar char="Ø"/>
            </a:pPr>
            <a:r>
              <a:rPr lang="fr-FR" sz="2000" b="1" dirty="0">
                <a:latin typeface="Rockwell" panose="02060603020205020403" pitchFamily="18" charset="0"/>
              </a:rPr>
              <a:t> L’arrêt </a:t>
            </a:r>
          </a:p>
          <a:p>
            <a:pPr algn="just">
              <a:lnSpc>
                <a:spcPct val="150000"/>
              </a:lnSpc>
            </a:pPr>
            <a:endParaRPr lang="fr-FR" sz="2400" dirty="0">
              <a:latin typeface="Rockwell" panose="02060603020205020403" pitchFamily="18" charset="0"/>
            </a:endParaRPr>
          </a:p>
        </p:txBody>
      </p:sp>
      <p:sp>
        <p:nvSpPr>
          <p:cNvPr id="5" name="Rectangle: Rounded Corners 3">
            <a:extLst>
              <a:ext uri="{FF2B5EF4-FFF2-40B4-BE49-F238E27FC236}">
                <a16:creationId xmlns:a16="http://schemas.microsoft.com/office/drawing/2014/main" id="{0B1DADA5-DA8E-9910-816D-377F31098157}"/>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spTree>
    <p:extLst>
      <p:ext uri="{BB962C8B-B14F-4D97-AF65-F5344CB8AC3E}">
        <p14:creationId xmlns:p14="http://schemas.microsoft.com/office/powerpoint/2010/main" val="11590893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grpId="1" nodeType="clickEffect">
                                  <p:stCondLst>
                                    <p:cond delay="0"/>
                                  </p:stCondLst>
                                  <p:childTnLst>
                                    <p:animEffect transition="out" filter="wipe(down)">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par>
                                <p:cTn id="21" presetID="22" presetClass="exit" presetSubtype="4" fill="hold" grpId="1" nodeType="withEffect">
                                  <p:stCondLst>
                                    <p:cond delay="0"/>
                                  </p:stCondLst>
                                  <p:childTnLst>
                                    <p:animEffect transition="out" filter="wipe(down)">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5" presetClass="entr" presetSubtype="0" fill="hold" nodeType="clickEffect">
                                  <p:stCondLst>
                                    <p:cond delay="0"/>
                                  </p:stCondLst>
                                  <p:childTnLst>
                                    <p:set>
                                      <p:cBhvr>
                                        <p:cTn id="27" dur="1" fill="hold">
                                          <p:stCondLst>
                                            <p:cond delay="0"/>
                                          </p:stCondLst>
                                        </p:cTn>
                                        <p:tgtEl>
                                          <p:spTgt spid="15">
                                            <p:txEl>
                                              <p:pRg st="2" end="2"/>
                                            </p:txEl>
                                          </p:spTgt>
                                        </p:tgtEl>
                                        <p:attrNameLst>
                                          <p:attrName>style.visibility</p:attrName>
                                        </p:attrNameLst>
                                      </p:cBhvr>
                                      <p:to>
                                        <p:strVal val="visible"/>
                                      </p:to>
                                    </p:set>
                                    <p:animEffect transition="in" filter="fade">
                                      <p:cBhvr>
                                        <p:cTn id="28" dur="2000"/>
                                        <p:tgtEl>
                                          <p:spTgt spid="15">
                                            <p:txEl>
                                              <p:pRg st="2" end="2"/>
                                            </p:txEl>
                                          </p:spTgt>
                                        </p:tgtEl>
                                      </p:cBhvr>
                                    </p:animEffect>
                                    <p:anim calcmode="lin" valueType="num">
                                      <p:cBhvr>
                                        <p:cTn id="29" dur="2000" fill="hold"/>
                                        <p:tgtEl>
                                          <p:spTgt spid="15">
                                            <p:txEl>
                                              <p:pRg st="2" end="2"/>
                                            </p:txEl>
                                          </p:spTgt>
                                        </p:tgtEl>
                                        <p:attrNameLst>
                                          <p:attrName>ppt_w</p:attrName>
                                        </p:attrNameLst>
                                      </p:cBhvr>
                                      <p:tavLst>
                                        <p:tav tm="0" fmla="#ppt_w*sin(2.5*pi*$)">
                                          <p:val>
                                            <p:fltVal val="0"/>
                                          </p:val>
                                        </p:tav>
                                        <p:tav tm="100000">
                                          <p:val>
                                            <p:fltVal val="1"/>
                                          </p:val>
                                        </p:tav>
                                      </p:tavLst>
                                    </p:anim>
                                    <p:anim calcmode="lin" valueType="num">
                                      <p:cBhvr>
                                        <p:cTn id="30" dur="2000" fill="hold"/>
                                        <p:tgtEl>
                                          <p:spTgt spid="15">
                                            <p:txEl>
                                              <p:pRg st="2" end="2"/>
                                            </p:txEl>
                                          </p:spTgt>
                                        </p:tgtEl>
                                        <p:attrNameLst>
                                          <p:attrName>ppt_h</p:attrName>
                                        </p:attrNameLst>
                                      </p:cBhvr>
                                      <p:tavLst>
                                        <p:tav tm="0">
                                          <p:val>
                                            <p:strVal val="#ppt_h"/>
                                          </p:val>
                                        </p:tav>
                                        <p:tav tm="100000">
                                          <p:val>
                                            <p:strVal val="#ppt_h"/>
                                          </p:val>
                                        </p:tav>
                                      </p:tavLst>
                                    </p:anim>
                                  </p:childTnLst>
                                </p:cTn>
                              </p:par>
                              <p:par>
                                <p:cTn id="31" presetID="45" presetClass="entr" presetSubtype="0" fill="hold" nodeType="withEffect">
                                  <p:stCondLst>
                                    <p:cond delay="0"/>
                                  </p:stCondLst>
                                  <p:childTnLst>
                                    <p:set>
                                      <p:cBhvr>
                                        <p:cTn id="32" dur="1" fill="hold">
                                          <p:stCondLst>
                                            <p:cond delay="0"/>
                                          </p:stCondLst>
                                        </p:cTn>
                                        <p:tgtEl>
                                          <p:spTgt spid="15">
                                            <p:txEl>
                                              <p:pRg st="3" end="3"/>
                                            </p:txEl>
                                          </p:spTgt>
                                        </p:tgtEl>
                                        <p:attrNameLst>
                                          <p:attrName>style.visibility</p:attrName>
                                        </p:attrNameLst>
                                      </p:cBhvr>
                                      <p:to>
                                        <p:strVal val="visible"/>
                                      </p:to>
                                    </p:set>
                                    <p:animEffect transition="in" filter="fade">
                                      <p:cBhvr>
                                        <p:cTn id="33" dur="2000"/>
                                        <p:tgtEl>
                                          <p:spTgt spid="15">
                                            <p:txEl>
                                              <p:pRg st="3" end="3"/>
                                            </p:txEl>
                                          </p:spTgt>
                                        </p:tgtEl>
                                      </p:cBhvr>
                                    </p:animEffect>
                                    <p:anim calcmode="lin" valueType="num">
                                      <p:cBhvr>
                                        <p:cTn id="34" dur="2000" fill="hold"/>
                                        <p:tgtEl>
                                          <p:spTgt spid="15">
                                            <p:txEl>
                                              <p:pRg st="3" end="3"/>
                                            </p:txEl>
                                          </p:spTgt>
                                        </p:tgtEl>
                                        <p:attrNameLst>
                                          <p:attrName>ppt_w</p:attrName>
                                        </p:attrNameLst>
                                      </p:cBhvr>
                                      <p:tavLst>
                                        <p:tav tm="0" fmla="#ppt_w*sin(2.5*pi*$)">
                                          <p:val>
                                            <p:fltVal val="0"/>
                                          </p:val>
                                        </p:tav>
                                        <p:tav tm="100000">
                                          <p:val>
                                            <p:fltVal val="1"/>
                                          </p:val>
                                        </p:tav>
                                      </p:tavLst>
                                    </p:anim>
                                    <p:anim calcmode="lin" valueType="num">
                                      <p:cBhvr>
                                        <p:cTn id="35" dur="2000" fill="hold"/>
                                        <p:tgtEl>
                                          <p:spTgt spid="15">
                                            <p:txEl>
                                              <p:pRg st="3" end="3"/>
                                            </p:txEl>
                                          </p:spTgt>
                                        </p:tgtEl>
                                        <p:attrNameLst>
                                          <p:attrName>ppt_h</p:attrName>
                                        </p:attrNameLst>
                                      </p:cBhvr>
                                      <p:tavLst>
                                        <p:tav tm="0">
                                          <p:val>
                                            <p:strVal val="#ppt_h"/>
                                          </p:val>
                                        </p:tav>
                                        <p:tav tm="100000">
                                          <p:val>
                                            <p:strVal val="#ppt_h"/>
                                          </p:val>
                                        </p:tav>
                                      </p:tavLst>
                                    </p:anim>
                                  </p:childTnLst>
                                </p:cTn>
                              </p:par>
                              <p:par>
                                <p:cTn id="36" presetID="45" presetClass="entr" presetSubtype="0" fill="hold" nodeType="withEffect">
                                  <p:stCondLst>
                                    <p:cond delay="0"/>
                                  </p:stCondLst>
                                  <p:childTnLst>
                                    <p:set>
                                      <p:cBhvr>
                                        <p:cTn id="37" dur="1" fill="hold">
                                          <p:stCondLst>
                                            <p:cond delay="0"/>
                                          </p:stCondLst>
                                        </p:cTn>
                                        <p:tgtEl>
                                          <p:spTgt spid="15">
                                            <p:txEl>
                                              <p:pRg st="4" end="4"/>
                                            </p:txEl>
                                          </p:spTgt>
                                        </p:tgtEl>
                                        <p:attrNameLst>
                                          <p:attrName>style.visibility</p:attrName>
                                        </p:attrNameLst>
                                      </p:cBhvr>
                                      <p:to>
                                        <p:strVal val="visible"/>
                                      </p:to>
                                    </p:set>
                                    <p:animEffect transition="in" filter="fade">
                                      <p:cBhvr>
                                        <p:cTn id="38" dur="2000"/>
                                        <p:tgtEl>
                                          <p:spTgt spid="15">
                                            <p:txEl>
                                              <p:pRg st="4" end="4"/>
                                            </p:txEl>
                                          </p:spTgt>
                                        </p:tgtEl>
                                      </p:cBhvr>
                                    </p:animEffect>
                                    <p:anim calcmode="lin" valueType="num">
                                      <p:cBhvr>
                                        <p:cTn id="39" dur="2000" fill="hold"/>
                                        <p:tgtEl>
                                          <p:spTgt spid="15">
                                            <p:txEl>
                                              <p:pRg st="4" end="4"/>
                                            </p:txEl>
                                          </p:spTgt>
                                        </p:tgtEl>
                                        <p:attrNameLst>
                                          <p:attrName>ppt_w</p:attrName>
                                        </p:attrNameLst>
                                      </p:cBhvr>
                                      <p:tavLst>
                                        <p:tav tm="0" fmla="#ppt_w*sin(2.5*pi*$)">
                                          <p:val>
                                            <p:fltVal val="0"/>
                                          </p:val>
                                        </p:tav>
                                        <p:tav tm="100000">
                                          <p:val>
                                            <p:fltVal val="1"/>
                                          </p:val>
                                        </p:tav>
                                      </p:tavLst>
                                    </p:anim>
                                    <p:anim calcmode="lin" valueType="num">
                                      <p:cBhvr>
                                        <p:cTn id="40" dur="2000" fill="hold"/>
                                        <p:tgtEl>
                                          <p:spTgt spid="15">
                                            <p:txEl>
                                              <p:pRg st="4" end="4"/>
                                            </p:txEl>
                                          </p:spTgt>
                                        </p:tgtEl>
                                        <p:attrNameLst>
                                          <p:attrName>ppt_h</p:attrName>
                                        </p:attrNameLst>
                                      </p:cBhvr>
                                      <p:tavLst>
                                        <p:tav tm="0">
                                          <p:val>
                                            <p:strVal val="#ppt_h"/>
                                          </p:val>
                                        </p:tav>
                                        <p:tav tm="100000">
                                          <p:val>
                                            <p:strVal val="#ppt_h"/>
                                          </p:val>
                                        </p:tav>
                                      </p:tavLst>
                                    </p:anim>
                                  </p:childTnLst>
                                </p:cTn>
                              </p:par>
                              <p:par>
                                <p:cTn id="41" presetID="45" presetClass="entr" presetSubtype="0" fill="hold" nodeType="withEffect">
                                  <p:stCondLst>
                                    <p:cond delay="0"/>
                                  </p:stCondLst>
                                  <p:childTnLst>
                                    <p:set>
                                      <p:cBhvr>
                                        <p:cTn id="42" dur="1" fill="hold">
                                          <p:stCondLst>
                                            <p:cond delay="0"/>
                                          </p:stCondLst>
                                        </p:cTn>
                                        <p:tgtEl>
                                          <p:spTgt spid="15">
                                            <p:txEl>
                                              <p:pRg st="5" end="5"/>
                                            </p:txEl>
                                          </p:spTgt>
                                        </p:tgtEl>
                                        <p:attrNameLst>
                                          <p:attrName>style.visibility</p:attrName>
                                        </p:attrNameLst>
                                      </p:cBhvr>
                                      <p:to>
                                        <p:strVal val="visible"/>
                                      </p:to>
                                    </p:set>
                                    <p:animEffect transition="in" filter="fade">
                                      <p:cBhvr>
                                        <p:cTn id="43" dur="2000"/>
                                        <p:tgtEl>
                                          <p:spTgt spid="15">
                                            <p:txEl>
                                              <p:pRg st="5" end="5"/>
                                            </p:txEl>
                                          </p:spTgt>
                                        </p:tgtEl>
                                      </p:cBhvr>
                                    </p:animEffect>
                                    <p:anim calcmode="lin" valueType="num">
                                      <p:cBhvr>
                                        <p:cTn id="44" dur="2000" fill="hold"/>
                                        <p:tgtEl>
                                          <p:spTgt spid="15">
                                            <p:txEl>
                                              <p:pRg st="5" end="5"/>
                                            </p:txEl>
                                          </p:spTgt>
                                        </p:tgtEl>
                                        <p:attrNameLst>
                                          <p:attrName>ppt_w</p:attrName>
                                        </p:attrNameLst>
                                      </p:cBhvr>
                                      <p:tavLst>
                                        <p:tav tm="0" fmla="#ppt_w*sin(2.5*pi*$)">
                                          <p:val>
                                            <p:fltVal val="0"/>
                                          </p:val>
                                        </p:tav>
                                        <p:tav tm="100000">
                                          <p:val>
                                            <p:fltVal val="1"/>
                                          </p:val>
                                        </p:tav>
                                      </p:tavLst>
                                    </p:anim>
                                    <p:anim calcmode="lin" valueType="num">
                                      <p:cBhvr>
                                        <p:cTn id="45" dur="2000" fill="hold"/>
                                        <p:tgtEl>
                                          <p:spTgt spid="15">
                                            <p:txEl>
                                              <p:pRg st="5" end="5"/>
                                            </p:txEl>
                                          </p:spTgt>
                                        </p:tgtEl>
                                        <p:attrNameLst>
                                          <p:attrName>ppt_h</p:attrName>
                                        </p:attrNameLst>
                                      </p:cBhvr>
                                      <p:tavLst>
                                        <p:tav tm="0">
                                          <p:val>
                                            <p:strVal val="#ppt_h"/>
                                          </p:val>
                                        </p:tav>
                                        <p:tav tm="100000">
                                          <p:val>
                                            <p:strVal val="#ppt_h"/>
                                          </p:val>
                                        </p:tav>
                                      </p:tavLst>
                                    </p:anim>
                                  </p:childTnLst>
                                </p:cTn>
                              </p:par>
                              <p:par>
                                <p:cTn id="46" presetID="45" presetClass="entr" presetSubtype="0" fill="hold" nodeType="withEffect">
                                  <p:stCondLst>
                                    <p:cond delay="0"/>
                                  </p:stCondLst>
                                  <p:childTnLst>
                                    <p:set>
                                      <p:cBhvr>
                                        <p:cTn id="47" dur="1" fill="hold">
                                          <p:stCondLst>
                                            <p:cond delay="0"/>
                                          </p:stCondLst>
                                        </p:cTn>
                                        <p:tgtEl>
                                          <p:spTgt spid="15">
                                            <p:txEl>
                                              <p:pRg st="6" end="6"/>
                                            </p:txEl>
                                          </p:spTgt>
                                        </p:tgtEl>
                                        <p:attrNameLst>
                                          <p:attrName>style.visibility</p:attrName>
                                        </p:attrNameLst>
                                      </p:cBhvr>
                                      <p:to>
                                        <p:strVal val="visible"/>
                                      </p:to>
                                    </p:set>
                                    <p:animEffect transition="in" filter="fade">
                                      <p:cBhvr>
                                        <p:cTn id="48" dur="2000"/>
                                        <p:tgtEl>
                                          <p:spTgt spid="15">
                                            <p:txEl>
                                              <p:pRg st="6" end="6"/>
                                            </p:txEl>
                                          </p:spTgt>
                                        </p:tgtEl>
                                      </p:cBhvr>
                                    </p:animEffect>
                                    <p:anim calcmode="lin" valueType="num">
                                      <p:cBhvr>
                                        <p:cTn id="49" dur="2000" fill="hold"/>
                                        <p:tgtEl>
                                          <p:spTgt spid="15">
                                            <p:txEl>
                                              <p:pRg st="6" end="6"/>
                                            </p:txEl>
                                          </p:spTgt>
                                        </p:tgtEl>
                                        <p:attrNameLst>
                                          <p:attrName>ppt_w</p:attrName>
                                        </p:attrNameLst>
                                      </p:cBhvr>
                                      <p:tavLst>
                                        <p:tav tm="0" fmla="#ppt_w*sin(2.5*pi*$)">
                                          <p:val>
                                            <p:fltVal val="0"/>
                                          </p:val>
                                        </p:tav>
                                        <p:tav tm="100000">
                                          <p:val>
                                            <p:fltVal val="1"/>
                                          </p:val>
                                        </p:tav>
                                      </p:tavLst>
                                    </p:anim>
                                    <p:anim calcmode="lin" valueType="num">
                                      <p:cBhvr>
                                        <p:cTn id="50" dur="2000" fill="hold"/>
                                        <p:tgtEl>
                                          <p:spTgt spid="15">
                                            <p:txEl>
                                              <p:pRg st="6" end="6"/>
                                            </p:txEl>
                                          </p:spTgt>
                                        </p:tgtEl>
                                        <p:attrNameLst>
                                          <p:attrName>ppt_h</p:attrName>
                                        </p:attrNameLst>
                                      </p:cBhvr>
                                      <p:tavLst>
                                        <p:tav tm="0">
                                          <p:val>
                                            <p:strVal val="#ppt_h"/>
                                          </p:val>
                                        </p:tav>
                                        <p:tav tm="100000">
                                          <p:val>
                                            <p:strVal val="#ppt_h"/>
                                          </p:val>
                                        </p:tav>
                                      </p:tavLst>
                                    </p:anim>
                                  </p:childTnLst>
                                </p:cTn>
                              </p:par>
                              <p:par>
                                <p:cTn id="51" presetID="45" presetClass="entr" presetSubtype="0" fill="hold" nodeType="withEffect">
                                  <p:stCondLst>
                                    <p:cond delay="0"/>
                                  </p:stCondLst>
                                  <p:childTnLst>
                                    <p:set>
                                      <p:cBhvr>
                                        <p:cTn id="52" dur="1" fill="hold">
                                          <p:stCondLst>
                                            <p:cond delay="0"/>
                                          </p:stCondLst>
                                        </p:cTn>
                                        <p:tgtEl>
                                          <p:spTgt spid="15">
                                            <p:txEl>
                                              <p:pRg st="7" end="7"/>
                                            </p:txEl>
                                          </p:spTgt>
                                        </p:tgtEl>
                                        <p:attrNameLst>
                                          <p:attrName>style.visibility</p:attrName>
                                        </p:attrNameLst>
                                      </p:cBhvr>
                                      <p:to>
                                        <p:strVal val="visible"/>
                                      </p:to>
                                    </p:set>
                                    <p:animEffect transition="in" filter="fade">
                                      <p:cBhvr>
                                        <p:cTn id="53" dur="2000"/>
                                        <p:tgtEl>
                                          <p:spTgt spid="15">
                                            <p:txEl>
                                              <p:pRg st="7" end="7"/>
                                            </p:txEl>
                                          </p:spTgt>
                                        </p:tgtEl>
                                      </p:cBhvr>
                                    </p:animEffect>
                                    <p:anim calcmode="lin" valueType="num">
                                      <p:cBhvr>
                                        <p:cTn id="54" dur="2000" fill="hold"/>
                                        <p:tgtEl>
                                          <p:spTgt spid="15">
                                            <p:txEl>
                                              <p:pRg st="7" end="7"/>
                                            </p:txEl>
                                          </p:spTgt>
                                        </p:tgtEl>
                                        <p:attrNameLst>
                                          <p:attrName>ppt_w</p:attrName>
                                        </p:attrNameLst>
                                      </p:cBhvr>
                                      <p:tavLst>
                                        <p:tav tm="0" fmla="#ppt_w*sin(2.5*pi*$)">
                                          <p:val>
                                            <p:fltVal val="0"/>
                                          </p:val>
                                        </p:tav>
                                        <p:tav tm="100000">
                                          <p:val>
                                            <p:fltVal val="1"/>
                                          </p:val>
                                        </p:tav>
                                      </p:tavLst>
                                    </p:anim>
                                    <p:anim calcmode="lin" valueType="num">
                                      <p:cBhvr>
                                        <p:cTn id="55" dur="2000" fill="hold"/>
                                        <p:tgtEl>
                                          <p:spTgt spid="15">
                                            <p:txEl>
                                              <p:pRg st="7" end="7"/>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5" grpId="0"/>
      <p:bldP spid="15"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4933FD0-5F1D-488D-B711-E41F263DC765}"/>
              </a:ext>
            </a:extLst>
          </p:cNvPr>
          <p:cNvSpPr/>
          <p:nvPr/>
        </p:nvSpPr>
        <p:spPr>
          <a:xfrm>
            <a:off x="0" y="0"/>
            <a:ext cx="627797"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15</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7E668E3B-4D98-4B88-BF92-B757D9989078}"/>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37" name="Rectangle: Rounded Corners 4">
            <a:extLst>
              <a:ext uri="{FF2B5EF4-FFF2-40B4-BE49-F238E27FC236}">
                <a16:creationId xmlns:a16="http://schemas.microsoft.com/office/drawing/2014/main" id="{223EEB10-BFEE-4268-9F66-DD1213F1E1D1}"/>
              </a:ext>
            </a:extLst>
          </p:cNvPr>
          <p:cNvSpPr/>
          <p:nvPr/>
        </p:nvSpPr>
        <p:spPr>
          <a:xfrm>
            <a:off x="0" y="2848232"/>
            <a:ext cx="3524454"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Rockwell" panose="02060603020205020403" pitchFamily="18" charset="0"/>
              </a:rPr>
              <a:t>DESCRIPTION TEXTUELLE CAS  Authentification</a:t>
            </a:r>
            <a:endParaRPr lang="en-US" b="1" dirty="0">
              <a:solidFill>
                <a:schemeClr val="bg1"/>
              </a:solidFill>
              <a:latin typeface="Rockwell" panose="02060603020205020403" pitchFamily="18" charset="0"/>
            </a:endParaRPr>
          </a:p>
        </p:txBody>
      </p:sp>
      <p:sp>
        <p:nvSpPr>
          <p:cNvPr id="9" name="Rectangle: Rounded Corners 3">
            <a:extLst>
              <a:ext uri="{FF2B5EF4-FFF2-40B4-BE49-F238E27FC236}">
                <a16:creationId xmlns:a16="http://schemas.microsoft.com/office/drawing/2014/main" id="{6CF74FB6-6446-2E2D-D12C-D1AFD1D720DE}"/>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graphicFrame>
        <p:nvGraphicFramePr>
          <p:cNvPr id="10" name="Tableau 9">
            <a:extLst>
              <a:ext uri="{FF2B5EF4-FFF2-40B4-BE49-F238E27FC236}">
                <a16:creationId xmlns:a16="http://schemas.microsoft.com/office/drawing/2014/main" id="{4ECC7ECC-93ED-7470-19F2-26A04B462627}"/>
              </a:ext>
            </a:extLst>
          </p:cNvPr>
          <p:cNvGraphicFramePr>
            <a:graphicFrameLocks noGrp="1"/>
          </p:cNvGraphicFramePr>
          <p:nvPr>
            <p:extLst>
              <p:ext uri="{D42A27DB-BD31-4B8C-83A1-F6EECF244321}">
                <p14:modId xmlns:p14="http://schemas.microsoft.com/office/powerpoint/2010/main" val="3687627360"/>
              </p:ext>
            </p:extLst>
          </p:nvPr>
        </p:nvGraphicFramePr>
        <p:xfrm>
          <a:off x="3725838" y="499182"/>
          <a:ext cx="8402089" cy="6238240"/>
        </p:xfrm>
        <a:graphic>
          <a:graphicData uri="http://schemas.openxmlformats.org/drawingml/2006/table">
            <a:tbl>
              <a:tblPr firstRow="1" bandRow="1">
                <a:tableStyleId>{5C22544A-7EE6-4342-B048-85BDC9FD1C3A}</a:tableStyleId>
              </a:tblPr>
              <a:tblGrid>
                <a:gridCol w="2821597">
                  <a:extLst>
                    <a:ext uri="{9D8B030D-6E8A-4147-A177-3AD203B41FA5}">
                      <a16:colId xmlns:a16="http://schemas.microsoft.com/office/drawing/2014/main" val="1003667149"/>
                    </a:ext>
                  </a:extLst>
                </a:gridCol>
                <a:gridCol w="5580492">
                  <a:extLst>
                    <a:ext uri="{9D8B030D-6E8A-4147-A177-3AD203B41FA5}">
                      <a16:colId xmlns:a16="http://schemas.microsoft.com/office/drawing/2014/main" val="595428454"/>
                    </a:ext>
                  </a:extLst>
                </a:gridCol>
              </a:tblGrid>
              <a:tr h="370840">
                <a:tc gridSpan="2">
                  <a:txBody>
                    <a:bodyPr/>
                    <a:lstStyle/>
                    <a:p>
                      <a:pPr algn="ctr"/>
                      <a:r>
                        <a:rPr lang="fr-FR" dirty="0">
                          <a:latin typeface="Rockwell" panose="02060603020205020403" pitchFamily="18" charset="0"/>
                        </a:rPr>
                        <a:t>Sommaire d’identification</a:t>
                      </a:r>
                    </a:p>
                  </a:txBody>
                  <a:tcPr/>
                </a:tc>
                <a:tc hMerge="1">
                  <a:txBody>
                    <a:bodyPr/>
                    <a:lstStyle/>
                    <a:p>
                      <a:endParaRPr lang="fr-FR"/>
                    </a:p>
                  </a:txBody>
                  <a:tcPr/>
                </a:tc>
                <a:extLst>
                  <a:ext uri="{0D108BD9-81ED-4DB2-BD59-A6C34878D82A}">
                    <a16:rowId xmlns:a16="http://schemas.microsoft.com/office/drawing/2014/main" val="376361771"/>
                  </a:ext>
                </a:extLst>
              </a:tr>
              <a:tr h="370840">
                <a:tc>
                  <a:txBody>
                    <a:bodyPr/>
                    <a:lstStyle/>
                    <a:p>
                      <a:r>
                        <a:rPr lang="fr-FR" dirty="0">
                          <a:latin typeface="Rockwell" panose="02060603020205020403" pitchFamily="18" charset="0"/>
                        </a:rPr>
                        <a:t>Titre du cas d’utilisation</a:t>
                      </a:r>
                    </a:p>
                  </a:txBody>
                  <a:tcPr/>
                </a:tc>
                <a:tc>
                  <a:txBody>
                    <a:bodyPr/>
                    <a:lstStyle/>
                    <a:p>
                      <a:r>
                        <a:rPr lang="fr-FR" b="0">
                          <a:latin typeface="Rockwell" panose="02060603020205020403" pitchFamily="18" charset="0"/>
                        </a:rPr>
                        <a:t>Authentification</a:t>
                      </a:r>
                      <a:endParaRPr lang="fr-FR" dirty="0">
                        <a:latin typeface="Rockwell" panose="02060603020205020403" pitchFamily="18" charset="0"/>
                      </a:endParaRPr>
                    </a:p>
                  </a:txBody>
                  <a:tcPr/>
                </a:tc>
                <a:extLst>
                  <a:ext uri="{0D108BD9-81ED-4DB2-BD59-A6C34878D82A}">
                    <a16:rowId xmlns:a16="http://schemas.microsoft.com/office/drawing/2014/main" val="240789732"/>
                  </a:ext>
                </a:extLst>
              </a:tr>
              <a:tr h="370840">
                <a:tc>
                  <a:txBody>
                    <a:bodyPr/>
                    <a:lstStyle/>
                    <a:p>
                      <a:r>
                        <a:rPr lang="fr-FR" dirty="0">
                          <a:latin typeface="Rockwell" panose="02060603020205020403" pitchFamily="18" charset="0"/>
                        </a:rPr>
                        <a:t>Résumé</a:t>
                      </a:r>
                    </a:p>
                  </a:txBody>
                  <a:tcPr/>
                </a:tc>
                <a:tc>
                  <a:txBody>
                    <a:bodyPr/>
                    <a:lstStyle/>
                    <a:p>
                      <a:r>
                        <a:rPr lang="fr-FR" b="0">
                          <a:latin typeface="Rockwell" panose="02060603020205020403" pitchFamily="18" charset="0"/>
                        </a:rPr>
                        <a:t>L’authentification permet d’acceder a des fonctionnalités réservées à un type d’utilisateur donné.</a:t>
                      </a:r>
                      <a:endParaRPr lang="fr-FR" dirty="0">
                        <a:latin typeface="Rockwell" panose="02060603020205020403" pitchFamily="18" charset="0"/>
                      </a:endParaRPr>
                    </a:p>
                  </a:txBody>
                  <a:tcPr/>
                </a:tc>
                <a:extLst>
                  <a:ext uri="{0D108BD9-81ED-4DB2-BD59-A6C34878D82A}">
                    <a16:rowId xmlns:a16="http://schemas.microsoft.com/office/drawing/2014/main" val="372454093"/>
                  </a:ext>
                </a:extLst>
              </a:tr>
              <a:tr h="370840">
                <a:tc>
                  <a:txBody>
                    <a:bodyPr/>
                    <a:lstStyle/>
                    <a:p>
                      <a:r>
                        <a:rPr lang="fr-FR" dirty="0">
                          <a:latin typeface="Rockwell" panose="02060603020205020403" pitchFamily="18" charset="0"/>
                        </a:rPr>
                        <a:t>Acteurs</a:t>
                      </a:r>
                    </a:p>
                  </a:txBody>
                  <a:tcPr/>
                </a:tc>
                <a:tc>
                  <a:txBody>
                    <a:bodyPr/>
                    <a:lstStyle/>
                    <a:p>
                      <a:r>
                        <a:rPr lang="fr-FR" b="0" dirty="0">
                          <a:latin typeface="Rockwell" panose="02060603020205020403" pitchFamily="18" charset="0"/>
                        </a:rPr>
                        <a:t>Tout utilisateur du système</a:t>
                      </a:r>
                      <a:endParaRPr lang="fr-FR" dirty="0">
                        <a:latin typeface="Rockwell" panose="02060603020205020403" pitchFamily="18" charset="0"/>
                      </a:endParaRPr>
                    </a:p>
                  </a:txBody>
                  <a:tcPr/>
                </a:tc>
                <a:extLst>
                  <a:ext uri="{0D108BD9-81ED-4DB2-BD59-A6C34878D82A}">
                    <a16:rowId xmlns:a16="http://schemas.microsoft.com/office/drawing/2014/main" val="2273264968"/>
                  </a:ext>
                </a:extLst>
              </a:tr>
              <a:tr h="370840">
                <a:tc gridSpan="2">
                  <a:txBody>
                    <a:bodyPr/>
                    <a:lstStyle/>
                    <a:p>
                      <a:pPr algn="ctr"/>
                      <a:r>
                        <a:rPr lang="fr-FR" dirty="0">
                          <a:latin typeface="Rockwell" panose="02060603020205020403" pitchFamily="18" charset="0"/>
                        </a:rPr>
                        <a:t>Description des scénarios</a:t>
                      </a:r>
                    </a:p>
                  </a:txBody>
                  <a:tcPr/>
                </a:tc>
                <a:tc hMerge="1">
                  <a:txBody>
                    <a:bodyPr/>
                    <a:lstStyle/>
                    <a:p>
                      <a:endParaRPr lang="fr-FR"/>
                    </a:p>
                  </a:txBody>
                  <a:tcPr/>
                </a:tc>
                <a:extLst>
                  <a:ext uri="{0D108BD9-81ED-4DB2-BD59-A6C34878D82A}">
                    <a16:rowId xmlns:a16="http://schemas.microsoft.com/office/drawing/2014/main" val="1028027340"/>
                  </a:ext>
                </a:extLst>
              </a:tr>
              <a:tr h="370840">
                <a:tc>
                  <a:txBody>
                    <a:bodyPr/>
                    <a:lstStyle/>
                    <a:p>
                      <a:r>
                        <a:rPr lang="fr-FR" dirty="0">
                          <a:latin typeface="Rockwell" panose="02060603020205020403" pitchFamily="18" charset="0"/>
                        </a:rPr>
                        <a:t>Présupposé</a:t>
                      </a:r>
                    </a:p>
                  </a:txBody>
                  <a:tcPr/>
                </a:tc>
                <a:tc>
                  <a:txBody>
                    <a:bodyPr/>
                    <a:lstStyle/>
                    <a:p>
                      <a:r>
                        <a:rPr lang="fr-FR" dirty="0">
                          <a:latin typeface="Rockwell" panose="02060603020205020403" pitchFamily="18" charset="0"/>
                        </a:rPr>
                        <a:t>Saisir l’URL du site </a:t>
                      </a:r>
                      <a:r>
                        <a:rPr lang="fr-FR" dirty="0" err="1">
                          <a:latin typeface="Rockwell" panose="02060603020205020403" pitchFamily="18" charset="0"/>
                        </a:rPr>
                        <a:t>diskmonitor</a:t>
                      </a:r>
                      <a:r>
                        <a:rPr lang="fr-FR" dirty="0">
                          <a:latin typeface="Rockwell" panose="02060603020205020403" pitchFamily="18" charset="0"/>
                        </a:rPr>
                        <a:t>, et l’application fonctionne correctement.</a:t>
                      </a:r>
                    </a:p>
                  </a:txBody>
                  <a:tcPr/>
                </a:tc>
                <a:extLst>
                  <a:ext uri="{0D108BD9-81ED-4DB2-BD59-A6C34878D82A}">
                    <a16:rowId xmlns:a16="http://schemas.microsoft.com/office/drawing/2014/main" val="1768379858"/>
                  </a:ext>
                </a:extLst>
              </a:tr>
              <a:tr h="370840">
                <a:tc>
                  <a:txBody>
                    <a:bodyPr/>
                    <a:lstStyle/>
                    <a:p>
                      <a:r>
                        <a:rPr lang="fr-FR" dirty="0">
                          <a:latin typeface="Rockwell" panose="02060603020205020403" pitchFamily="18" charset="0"/>
                        </a:rPr>
                        <a:t>Préconditions </a:t>
                      </a:r>
                    </a:p>
                  </a:txBody>
                  <a:tcPr/>
                </a:tc>
                <a:tc>
                  <a:txBody>
                    <a:bodyPr/>
                    <a:lstStyle/>
                    <a:p>
                      <a:r>
                        <a:rPr lang="fr-FR">
                          <a:latin typeface="Rockwell" panose="02060603020205020403" pitchFamily="18" charset="0"/>
                        </a:rPr>
                        <a:t>L’utilisateur possède un login et un mot de passe dans le système. </a:t>
                      </a:r>
                      <a:endParaRPr lang="fr-FR" dirty="0">
                        <a:latin typeface="Rockwell" panose="02060603020205020403" pitchFamily="18" charset="0"/>
                      </a:endParaRPr>
                    </a:p>
                  </a:txBody>
                  <a:tcPr/>
                </a:tc>
                <a:extLst>
                  <a:ext uri="{0D108BD9-81ED-4DB2-BD59-A6C34878D82A}">
                    <a16:rowId xmlns:a16="http://schemas.microsoft.com/office/drawing/2014/main" val="3073038189"/>
                  </a:ext>
                </a:extLst>
              </a:tr>
              <a:tr h="370840">
                <a:tc>
                  <a:txBody>
                    <a:bodyPr/>
                    <a:lstStyle/>
                    <a:p>
                      <a:r>
                        <a:rPr lang="fr-FR" dirty="0">
                          <a:latin typeface="Rockwell" panose="02060603020205020403" pitchFamily="18" charset="0"/>
                        </a:rPr>
                        <a:t>Scénario nominal</a:t>
                      </a:r>
                    </a:p>
                  </a:txBody>
                  <a:tcPr/>
                </a:tc>
                <a:tc>
                  <a:txBody>
                    <a:bodyPr/>
                    <a:lstStyle/>
                    <a:p>
                      <a:pPr marL="342900" lvl="0" indent="-342900" fontAlgn="base">
                        <a:buFont typeface="+mj-lt"/>
                        <a:buAutoNum type="arabicPeriod"/>
                      </a:pPr>
                      <a:r>
                        <a:rPr lang="fr-FR" sz="1800" u="none" strike="noStrike" kern="1200" dirty="0">
                          <a:solidFill>
                            <a:schemeClr val="dk1"/>
                          </a:solidFill>
                          <a:effectLst/>
                          <a:latin typeface="Rockwell" panose="02060603020205020403" pitchFamily="18" charset="0"/>
                          <a:ea typeface="+mn-ea"/>
                          <a:cs typeface="+mn-cs"/>
                        </a:rPr>
                        <a:t>L'utilisateur clic sur le bouton se connecter ;</a:t>
                      </a:r>
                    </a:p>
                    <a:p>
                      <a:pPr marL="342900" lvl="0" indent="-342900" fontAlgn="base">
                        <a:buFont typeface="+mj-lt"/>
                        <a:buAutoNum type="arabicPeriod"/>
                      </a:pPr>
                      <a:r>
                        <a:rPr lang="fr-FR" sz="1800" u="none" strike="noStrike" kern="1200" dirty="0">
                          <a:solidFill>
                            <a:schemeClr val="dk1"/>
                          </a:solidFill>
                          <a:effectLst/>
                          <a:latin typeface="Rockwell" panose="02060603020205020403" pitchFamily="18" charset="0"/>
                          <a:ea typeface="+mn-ea"/>
                          <a:cs typeface="+mn-cs"/>
                        </a:rPr>
                        <a:t>Le système affiche le formulaire de connexion; </a:t>
                      </a:r>
                    </a:p>
                    <a:p>
                      <a:pPr marL="342900" lvl="0" indent="-342900" fontAlgn="base">
                        <a:buFont typeface="+mj-lt"/>
                        <a:buAutoNum type="arabicPeriod"/>
                      </a:pPr>
                      <a:r>
                        <a:rPr lang="fr-FR" sz="1800" u="none" strike="noStrike" kern="1200" dirty="0">
                          <a:solidFill>
                            <a:schemeClr val="dk1"/>
                          </a:solidFill>
                          <a:effectLst/>
                          <a:latin typeface="Rockwell" panose="02060603020205020403" pitchFamily="18" charset="0"/>
                          <a:ea typeface="+mn-ea"/>
                          <a:cs typeface="+mn-cs"/>
                        </a:rPr>
                        <a:t>L’utilisateur saisi son login et son mot de passe puis clic sur soumettre ; </a:t>
                      </a:r>
                    </a:p>
                    <a:p>
                      <a:pPr marL="342900" lvl="0" indent="-342900" fontAlgn="base">
                        <a:buFont typeface="+mj-lt"/>
                        <a:buAutoNum type="arabicPeriod"/>
                      </a:pPr>
                      <a:r>
                        <a:rPr lang="fr-FR" sz="1800" u="none" strike="noStrike" kern="1200" dirty="0">
                          <a:solidFill>
                            <a:schemeClr val="dk1"/>
                          </a:solidFill>
                          <a:effectLst/>
                          <a:latin typeface="Rockwell" panose="02060603020205020403" pitchFamily="18" charset="0"/>
                          <a:ea typeface="+mn-ea"/>
                          <a:cs typeface="+mn-cs"/>
                        </a:rPr>
                        <a:t>Le système vérifie le format des données saisies dans le formulaire;</a:t>
                      </a:r>
                    </a:p>
                    <a:p>
                      <a:pPr marL="342900" lvl="0" indent="-342900" fontAlgn="base">
                        <a:buFont typeface="+mj-lt"/>
                        <a:buAutoNum type="arabicPeriod"/>
                      </a:pPr>
                      <a:r>
                        <a:rPr lang="fr-FR" sz="1800" u="none" strike="noStrike" kern="1200" dirty="0">
                          <a:solidFill>
                            <a:schemeClr val="dk1"/>
                          </a:solidFill>
                          <a:effectLst/>
                          <a:latin typeface="Rockwell" panose="02060603020205020403" pitchFamily="18" charset="0"/>
                          <a:ea typeface="+mn-ea"/>
                          <a:cs typeface="+mn-cs"/>
                        </a:rPr>
                        <a:t>Le système envoi une requête a la base de données pour vérifier l’existence du compte utilisateur;</a:t>
                      </a:r>
                      <a:endParaRPr lang="fr-FR" dirty="0">
                        <a:latin typeface="Rockwell" panose="02060603020205020403" pitchFamily="18" charset="0"/>
                      </a:endParaRPr>
                    </a:p>
                  </a:txBody>
                  <a:tcPr/>
                </a:tc>
                <a:extLst>
                  <a:ext uri="{0D108BD9-81ED-4DB2-BD59-A6C34878D82A}">
                    <a16:rowId xmlns:a16="http://schemas.microsoft.com/office/drawing/2014/main" val="2400022534"/>
                  </a:ext>
                </a:extLst>
              </a:tr>
            </a:tbl>
          </a:graphicData>
        </a:graphic>
      </p:graphicFrame>
      <p:sp>
        <p:nvSpPr>
          <p:cNvPr id="16" name="Oval 15">
            <a:extLst>
              <a:ext uri="{FF2B5EF4-FFF2-40B4-BE49-F238E27FC236}">
                <a16:creationId xmlns:a16="http://schemas.microsoft.com/office/drawing/2014/main" id="{87D9071F-7773-4D40-821A-44E2CA634B50}"/>
              </a:ext>
            </a:extLst>
          </p:cNvPr>
          <p:cNvSpPr/>
          <p:nvPr/>
        </p:nvSpPr>
        <p:spPr>
          <a:xfrm>
            <a:off x="11491415" y="6405351"/>
            <a:ext cx="63651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16</a:t>
            </a:r>
            <a:endParaRPr lang="en-US" dirty="0">
              <a:latin typeface="Amasis MT Pro Medium" panose="02040604050005020304" pitchFamily="18" charset="0"/>
            </a:endParaRPr>
          </a:p>
        </p:txBody>
      </p:sp>
    </p:spTree>
    <p:extLst>
      <p:ext uri="{BB962C8B-B14F-4D97-AF65-F5344CB8AC3E}">
        <p14:creationId xmlns:p14="http://schemas.microsoft.com/office/powerpoint/2010/main" val="1430311820"/>
      </p:ext>
    </p:extLst>
  </p:cSld>
  <p:clrMapOvr>
    <a:masterClrMapping/>
  </p:clrMapOvr>
  <p:transition spd="slow">
    <p:wheel spokes="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729A4-AB54-C116-E4B8-48D5B0601C1E}"/>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6B939C78-C9BE-E44E-F2F0-CDA4EED478E4}"/>
              </a:ext>
            </a:extLst>
          </p:cNvPr>
          <p:cNvSpPr/>
          <p:nvPr/>
        </p:nvSpPr>
        <p:spPr>
          <a:xfrm>
            <a:off x="0" y="0"/>
            <a:ext cx="61414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16</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B3135FB9-8997-32F5-2955-8731FDEFB4A1}"/>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37" name="Rectangle: Rounded Corners 4">
            <a:extLst>
              <a:ext uri="{FF2B5EF4-FFF2-40B4-BE49-F238E27FC236}">
                <a16:creationId xmlns:a16="http://schemas.microsoft.com/office/drawing/2014/main" id="{0C319176-45C3-B005-581C-C83FD0F073B4}"/>
              </a:ext>
            </a:extLst>
          </p:cNvPr>
          <p:cNvSpPr/>
          <p:nvPr/>
        </p:nvSpPr>
        <p:spPr>
          <a:xfrm>
            <a:off x="201385" y="2812731"/>
            <a:ext cx="3524454"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Rockwell" panose="02060603020205020403" pitchFamily="18" charset="0"/>
              </a:rPr>
              <a:t>DESCRIPTION TEXTUELLE CAS  Authentification</a:t>
            </a:r>
            <a:endParaRPr lang="en-US" b="1" dirty="0">
              <a:solidFill>
                <a:schemeClr val="bg1"/>
              </a:solidFill>
              <a:latin typeface="Rockwell" panose="02060603020205020403" pitchFamily="18" charset="0"/>
            </a:endParaRPr>
          </a:p>
        </p:txBody>
      </p:sp>
      <p:sp>
        <p:nvSpPr>
          <p:cNvPr id="9" name="Rectangle: Rounded Corners 3">
            <a:extLst>
              <a:ext uri="{FF2B5EF4-FFF2-40B4-BE49-F238E27FC236}">
                <a16:creationId xmlns:a16="http://schemas.microsoft.com/office/drawing/2014/main" id="{B907AAA0-4986-03A8-8C04-8A69B7953EFE}"/>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graphicFrame>
        <p:nvGraphicFramePr>
          <p:cNvPr id="10" name="Tableau 9">
            <a:extLst>
              <a:ext uri="{FF2B5EF4-FFF2-40B4-BE49-F238E27FC236}">
                <a16:creationId xmlns:a16="http://schemas.microsoft.com/office/drawing/2014/main" id="{78437515-B01F-40A9-6C9D-358E449D9088}"/>
              </a:ext>
            </a:extLst>
          </p:cNvPr>
          <p:cNvGraphicFramePr>
            <a:graphicFrameLocks noGrp="1"/>
          </p:cNvGraphicFramePr>
          <p:nvPr>
            <p:extLst>
              <p:ext uri="{D42A27DB-BD31-4B8C-83A1-F6EECF244321}">
                <p14:modId xmlns:p14="http://schemas.microsoft.com/office/powerpoint/2010/main" val="814426272"/>
              </p:ext>
            </p:extLst>
          </p:nvPr>
        </p:nvGraphicFramePr>
        <p:xfrm>
          <a:off x="3725839" y="635659"/>
          <a:ext cx="8128000" cy="6051743"/>
        </p:xfrm>
        <a:graphic>
          <a:graphicData uri="http://schemas.openxmlformats.org/drawingml/2006/table">
            <a:tbl>
              <a:tblPr firstRow="1" bandRow="1">
                <a:tableStyleId>{5C22544A-7EE6-4342-B048-85BDC9FD1C3A}</a:tableStyleId>
              </a:tblPr>
              <a:tblGrid>
                <a:gridCol w="2770495">
                  <a:extLst>
                    <a:ext uri="{9D8B030D-6E8A-4147-A177-3AD203B41FA5}">
                      <a16:colId xmlns:a16="http://schemas.microsoft.com/office/drawing/2014/main" val="1003667149"/>
                    </a:ext>
                  </a:extLst>
                </a:gridCol>
                <a:gridCol w="5357505">
                  <a:extLst>
                    <a:ext uri="{9D8B030D-6E8A-4147-A177-3AD203B41FA5}">
                      <a16:colId xmlns:a16="http://schemas.microsoft.com/office/drawing/2014/main" val="4213516898"/>
                    </a:ext>
                  </a:extLst>
                </a:gridCol>
              </a:tblGrid>
              <a:tr h="422753">
                <a:tc gridSpan="2">
                  <a:txBody>
                    <a:bodyPr/>
                    <a:lstStyle/>
                    <a:p>
                      <a:pPr algn="ctr"/>
                      <a:r>
                        <a:rPr lang="fr-FR" dirty="0">
                          <a:latin typeface="Rockwell" panose="02060603020205020403" pitchFamily="18" charset="0"/>
                        </a:rPr>
                        <a:t>Sommaire d’identification</a:t>
                      </a:r>
                    </a:p>
                  </a:txBody>
                  <a:tcPr/>
                </a:tc>
                <a:tc hMerge="1">
                  <a:txBody>
                    <a:bodyPr/>
                    <a:lstStyle/>
                    <a:p>
                      <a:endParaRPr lang="fr-FR"/>
                    </a:p>
                  </a:txBody>
                  <a:tcPr/>
                </a:tc>
                <a:extLst>
                  <a:ext uri="{0D108BD9-81ED-4DB2-BD59-A6C34878D82A}">
                    <a16:rowId xmlns:a16="http://schemas.microsoft.com/office/drawing/2014/main" val="376361771"/>
                  </a:ext>
                </a:extLst>
              </a:tr>
              <a:tr h="1667849">
                <a:tc>
                  <a:txBody>
                    <a:bodyPr/>
                    <a:lstStyle/>
                    <a:p>
                      <a:r>
                        <a:rPr lang="fr-FR" dirty="0">
                          <a:latin typeface="Rockwell" panose="02060603020205020403" pitchFamily="18" charset="0"/>
                        </a:rPr>
                        <a:t>Scénario nominal</a:t>
                      </a:r>
                    </a:p>
                  </a:txBody>
                  <a:tcPr/>
                </a:tc>
                <a:tc>
                  <a:txBody>
                    <a:bodyPr/>
                    <a:lstStyle/>
                    <a:p>
                      <a:r>
                        <a:rPr lang="fr-FR" dirty="0">
                          <a:latin typeface="Rockwell" panose="02060603020205020403" pitchFamily="18" charset="0"/>
                        </a:rPr>
                        <a:t>6. La base de données traite la requête et renvoie le résultat;</a:t>
                      </a:r>
                    </a:p>
                    <a:p>
                      <a:r>
                        <a:rPr lang="fr-FR" dirty="0">
                          <a:latin typeface="Rockwell" panose="02060603020205020403" pitchFamily="18" charset="0"/>
                        </a:rPr>
                        <a:t>7. Le système analyse le résultat de la requête;</a:t>
                      </a:r>
                    </a:p>
                    <a:p>
                      <a:r>
                        <a:rPr lang="fr-FR" dirty="0">
                          <a:latin typeface="Rockwell" panose="02060603020205020403" pitchFamily="18" charset="0"/>
                        </a:rPr>
                        <a:t>8.Le système affiche l’espace de travail correspondante à l’utilisateur.</a:t>
                      </a:r>
                    </a:p>
                  </a:txBody>
                  <a:tcPr/>
                </a:tc>
                <a:extLst>
                  <a:ext uri="{0D108BD9-81ED-4DB2-BD59-A6C34878D82A}">
                    <a16:rowId xmlns:a16="http://schemas.microsoft.com/office/drawing/2014/main" val="240789732"/>
                  </a:ext>
                </a:extLst>
              </a:tr>
              <a:tr h="2606014">
                <a:tc>
                  <a:txBody>
                    <a:bodyPr/>
                    <a:lstStyle/>
                    <a:p>
                      <a:r>
                        <a:rPr lang="fr-FR" dirty="0">
                          <a:latin typeface="Rockwell" panose="02060603020205020403" pitchFamily="18" charset="0"/>
                        </a:rPr>
                        <a:t>Scénario alternatif</a:t>
                      </a:r>
                    </a:p>
                  </a:txBody>
                  <a:tcPr/>
                </a:tc>
                <a:tc>
                  <a:txBody>
                    <a:bodyPr/>
                    <a:lstStyle/>
                    <a:p>
                      <a:r>
                        <a:rPr lang="fr-FR" dirty="0">
                          <a:latin typeface="Rockwell" panose="02060603020205020403" pitchFamily="18" charset="0"/>
                        </a:rPr>
                        <a:t>4a. L’utilisateur n’a pas respecté le format des champs et /ou il n’a pas saisi tous les champs ; le système renvoi un message d’erreur:   «Veuillez respecter le format des champs ».</a:t>
                      </a:r>
                    </a:p>
                    <a:p>
                      <a:endParaRPr lang="fr-FR" dirty="0">
                        <a:latin typeface="Rockwell" panose="02060603020205020403" pitchFamily="18" charset="0"/>
                      </a:endParaRPr>
                    </a:p>
                    <a:p>
                      <a:r>
                        <a:rPr lang="fr-FR" dirty="0">
                          <a:latin typeface="Rockwell" panose="02060603020205020403" pitchFamily="18" charset="0"/>
                        </a:rPr>
                        <a:t>8a. Le système n’a pas trouvé de compte correspondant aux les informations fournies: message d’erreur: « login ou mot de passe incorrecte ».</a:t>
                      </a:r>
                    </a:p>
                  </a:txBody>
                  <a:tcPr/>
                </a:tc>
                <a:extLst>
                  <a:ext uri="{0D108BD9-81ED-4DB2-BD59-A6C34878D82A}">
                    <a16:rowId xmlns:a16="http://schemas.microsoft.com/office/drawing/2014/main" val="372454093"/>
                  </a:ext>
                </a:extLst>
              </a:tr>
              <a:tr h="1355127">
                <a:tc>
                  <a:txBody>
                    <a:bodyPr/>
                    <a:lstStyle/>
                    <a:p>
                      <a:r>
                        <a:rPr lang="fr-FR" dirty="0">
                          <a:latin typeface="Rockwell" panose="02060603020205020403" pitchFamily="18" charset="0"/>
                        </a:rPr>
                        <a:t>Post condition</a:t>
                      </a:r>
                    </a:p>
                  </a:txBody>
                  <a:tcPr/>
                </a:tc>
                <a:tc>
                  <a:txBody>
                    <a:bodyPr/>
                    <a:lstStyle/>
                    <a:p>
                      <a:pPr marL="285750" indent="-285750">
                        <a:buFont typeface="Wingdings" panose="05000000000000000000" pitchFamily="2" charset="2"/>
                        <a:buChar char="Ø"/>
                      </a:pPr>
                      <a:r>
                        <a:rPr lang="fr-FR" b="1" dirty="0">
                          <a:latin typeface="Rockwell" panose="02060603020205020403" pitchFamily="18" charset="0"/>
                        </a:rPr>
                        <a:t>Succès</a:t>
                      </a:r>
                      <a:r>
                        <a:rPr lang="fr-FR" b="0" dirty="0">
                          <a:latin typeface="Rockwell" panose="02060603020205020403" pitchFamily="18" charset="0"/>
                        </a:rPr>
                        <a:t>: l’utilisateur est authentifié et accède aux fonctions qui lui sont dédiées.</a:t>
                      </a:r>
                    </a:p>
                    <a:p>
                      <a:pPr marL="285750" indent="-285750">
                        <a:buFont typeface="Wingdings" panose="05000000000000000000" pitchFamily="2" charset="2"/>
                        <a:buChar char="Ø"/>
                      </a:pPr>
                      <a:r>
                        <a:rPr lang="fr-FR" b="1" dirty="0">
                          <a:latin typeface="Rockwell" panose="02060603020205020403" pitchFamily="18" charset="0"/>
                        </a:rPr>
                        <a:t>Echec</a:t>
                      </a:r>
                      <a:r>
                        <a:rPr lang="fr-FR" b="0" dirty="0">
                          <a:latin typeface="Rockwell" panose="02060603020205020403" pitchFamily="18" charset="0"/>
                        </a:rPr>
                        <a:t>: accès refuse à l’utilisateur (message d’erreur: compte inexistant dans le système)</a:t>
                      </a:r>
                      <a:endParaRPr lang="fr-FR" dirty="0">
                        <a:latin typeface="Rockwell" panose="02060603020205020403" pitchFamily="18" charset="0"/>
                      </a:endParaRPr>
                    </a:p>
                  </a:txBody>
                  <a:tcPr/>
                </a:tc>
                <a:extLst>
                  <a:ext uri="{0D108BD9-81ED-4DB2-BD59-A6C34878D82A}">
                    <a16:rowId xmlns:a16="http://schemas.microsoft.com/office/drawing/2014/main" val="2273264968"/>
                  </a:ext>
                </a:extLst>
              </a:tr>
            </a:tbl>
          </a:graphicData>
        </a:graphic>
      </p:graphicFrame>
      <p:sp>
        <p:nvSpPr>
          <p:cNvPr id="16" name="Oval 15">
            <a:extLst>
              <a:ext uri="{FF2B5EF4-FFF2-40B4-BE49-F238E27FC236}">
                <a16:creationId xmlns:a16="http://schemas.microsoft.com/office/drawing/2014/main" id="{A49E7878-1EAE-DE81-3693-5E97DC417EED}"/>
              </a:ext>
            </a:extLst>
          </p:cNvPr>
          <p:cNvSpPr/>
          <p:nvPr/>
        </p:nvSpPr>
        <p:spPr>
          <a:xfrm>
            <a:off x="11505063" y="6405351"/>
            <a:ext cx="622865"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17</a:t>
            </a:r>
            <a:endParaRPr lang="en-US" dirty="0">
              <a:latin typeface="Amasis MT Pro Medium" panose="02040604050005020304" pitchFamily="18" charset="0"/>
            </a:endParaRPr>
          </a:p>
        </p:txBody>
      </p:sp>
    </p:spTree>
    <p:extLst>
      <p:ext uri="{BB962C8B-B14F-4D97-AF65-F5344CB8AC3E}">
        <p14:creationId xmlns:p14="http://schemas.microsoft.com/office/powerpoint/2010/main" val="1094459140"/>
      </p:ext>
    </p:extLst>
  </p:cSld>
  <p:clrMapOvr>
    <a:masterClrMapping/>
  </p:clrMapOvr>
  <p:transition spd="slow">
    <p:wheel spokes="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7B2EE-7C90-9FBE-3DE4-F3DD5C93BF0D}"/>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CF872E2F-EF5B-4F2A-B107-C046F3C0399A}"/>
              </a:ext>
            </a:extLst>
          </p:cNvPr>
          <p:cNvSpPr/>
          <p:nvPr/>
        </p:nvSpPr>
        <p:spPr>
          <a:xfrm>
            <a:off x="0" y="0"/>
            <a:ext cx="627797"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17</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6D735CAA-EE97-CF5E-9BE3-BA88A068518A}"/>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9" name="Rectangle: Rounded Corners 3">
            <a:extLst>
              <a:ext uri="{FF2B5EF4-FFF2-40B4-BE49-F238E27FC236}">
                <a16:creationId xmlns:a16="http://schemas.microsoft.com/office/drawing/2014/main" id="{03871465-B3EC-5DD0-9603-A92FCC25F818}"/>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graphicFrame>
        <p:nvGraphicFramePr>
          <p:cNvPr id="10" name="Tableau 9">
            <a:extLst>
              <a:ext uri="{FF2B5EF4-FFF2-40B4-BE49-F238E27FC236}">
                <a16:creationId xmlns:a16="http://schemas.microsoft.com/office/drawing/2014/main" id="{FF134092-16DA-C0E2-D540-CC86F81F78DC}"/>
              </a:ext>
            </a:extLst>
          </p:cNvPr>
          <p:cNvGraphicFramePr>
            <a:graphicFrameLocks noGrp="1"/>
          </p:cNvGraphicFramePr>
          <p:nvPr>
            <p:extLst>
              <p:ext uri="{D42A27DB-BD31-4B8C-83A1-F6EECF244321}">
                <p14:modId xmlns:p14="http://schemas.microsoft.com/office/powerpoint/2010/main" val="3343169254"/>
              </p:ext>
            </p:extLst>
          </p:nvPr>
        </p:nvGraphicFramePr>
        <p:xfrm>
          <a:off x="3725838" y="499185"/>
          <a:ext cx="8402089" cy="6492240"/>
        </p:xfrm>
        <a:graphic>
          <a:graphicData uri="http://schemas.openxmlformats.org/drawingml/2006/table">
            <a:tbl>
              <a:tblPr firstRow="1" bandRow="1">
                <a:tableStyleId>{5C22544A-7EE6-4342-B048-85BDC9FD1C3A}</a:tableStyleId>
              </a:tblPr>
              <a:tblGrid>
                <a:gridCol w="2821597">
                  <a:extLst>
                    <a:ext uri="{9D8B030D-6E8A-4147-A177-3AD203B41FA5}">
                      <a16:colId xmlns:a16="http://schemas.microsoft.com/office/drawing/2014/main" val="1003667149"/>
                    </a:ext>
                  </a:extLst>
                </a:gridCol>
                <a:gridCol w="5580492">
                  <a:extLst>
                    <a:ext uri="{9D8B030D-6E8A-4147-A177-3AD203B41FA5}">
                      <a16:colId xmlns:a16="http://schemas.microsoft.com/office/drawing/2014/main" val="595428454"/>
                    </a:ext>
                  </a:extLst>
                </a:gridCol>
              </a:tblGrid>
              <a:tr h="352872">
                <a:tc gridSpan="2">
                  <a:txBody>
                    <a:bodyPr/>
                    <a:lstStyle/>
                    <a:p>
                      <a:pPr algn="ctr"/>
                      <a:r>
                        <a:rPr lang="fr-FR" dirty="0">
                          <a:latin typeface="Rockwell" panose="02060603020205020403" pitchFamily="18" charset="0"/>
                        </a:rPr>
                        <a:t>Sommaire d’identification</a:t>
                      </a:r>
                    </a:p>
                  </a:txBody>
                  <a:tcPr/>
                </a:tc>
                <a:tc hMerge="1">
                  <a:txBody>
                    <a:bodyPr/>
                    <a:lstStyle/>
                    <a:p>
                      <a:endParaRPr lang="fr-FR"/>
                    </a:p>
                  </a:txBody>
                  <a:tcPr/>
                </a:tc>
                <a:extLst>
                  <a:ext uri="{0D108BD9-81ED-4DB2-BD59-A6C34878D82A}">
                    <a16:rowId xmlns:a16="http://schemas.microsoft.com/office/drawing/2014/main" val="376361771"/>
                  </a:ext>
                </a:extLst>
              </a:tr>
              <a:tr h="352872">
                <a:tc>
                  <a:txBody>
                    <a:bodyPr/>
                    <a:lstStyle/>
                    <a:p>
                      <a:r>
                        <a:rPr lang="fr-FR" dirty="0">
                          <a:latin typeface="Rockwell" panose="02060603020205020403" pitchFamily="18" charset="0"/>
                        </a:rPr>
                        <a:t>Titre du cas d’utilisation</a:t>
                      </a:r>
                    </a:p>
                  </a:txBody>
                  <a:tcPr/>
                </a:tc>
                <a:tc>
                  <a:txBody>
                    <a:bodyPr/>
                    <a:lstStyle/>
                    <a:p>
                      <a:r>
                        <a:rPr lang="fr-FR" b="0" dirty="0">
                          <a:latin typeface="Rockwell" panose="02060603020205020403" pitchFamily="18" charset="0"/>
                        </a:rPr>
                        <a:t>Démarrer monitoring</a:t>
                      </a:r>
                      <a:endParaRPr lang="fr-FR" dirty="0">
                        <a:latin typeface="Rockwell" panose="02060603020205020403" pitchFamily="18" charset="0"/>
                      </a:endParaRPr>
                    </a:p>
                  </a:txBody>
                  <a:tcPr/>
                </a:tc>
                <a:extLst>
                  <a:ext uri="{0D108BD9-81ED-4DB2-BD59-A6C34878D82A}">
                    <a16:rowId xmlns:a16="http://schemas.microsoft.com/office/drawing/2014/main" val="240789732"/>
                  </a:ext>
                </a:extLst>
              </a:tr>
              <a:tr h="1146833">
                <a:tc>
                  <a:txBody>
                    <a:bodyPr/>
                    <a:lstStyle/>
                    <a:p>
                      <a:r>
                        <a:rPr lang="fr-FR" dirty="0">
                          <a:latin typeface="Rockwell" panose="02060603020205020403" pitchFamily="18" charset="0"/>
                        </a:rPr>
                        <a:t>Résumé</a:t>
                      </a:r>
                    </a:p>
                  </a:txBody>
                  <a:tcPr/>
                </a:tc>
                <a:tc>
                  <a:txBody>
                    <a:bodyPr/>
                    <a:lstStyle/>
                    <a:p>
                      <a:pPr algn="just"/>
                      <a:r>
                        <a:rPr lang="fr-FR" dirty="0">
                          <a:latin typeface="Rockwell" panose="02060603020205020403" pitchFamily="18" charset="0"/>
                        </a:rPr>
                        <a:t>Permettre à l’administrateur de lancer la surveillance en temps réel des opérations de lecture et d’écriture du disque afin d’observer l’activité I/O du système.</a:t>
                      </a:r>
                    </a:p>
                  </a:txBody>
                  <a:tcPr/>
                </a:tc>
                <a:extLst>
                  <a:ext uri="{0D108BD9-81ED-4DB2-BD59-A6C34878D82A}">
                    <a16:rowId xmlns:a16="http://schemas.microsoft.com/office/drawing/2014/main" val="372454093"/>
                  </a:ext>
                </a:extLst>
              </a:tr>
              <a:tr h="352872">
                <a:tc>
                  <a:txBody>
                    <a:bodyPr/>
                    <a:lstStyle/>
                    <a:p>
                      <a:r>
                        <a:rPr lang="fr-FR" dirty="0">
                          <a:latin typeface="Rockwell" panose="02060603020205020403" pitchFamily="18" charset="0"/>
                        </a:rPr>
                        <a:t>Acteurs</a:t>
                      </a:r>
                    </a:p>
                  </a:txBody>
                  <a:tcPr/>
                </a:tc>
                <a:tc>
                  <a:txBody>
                    <a:bodyPr/>
                    <a:lstStyle/>
                    <a:p>
                      <a:r>
                        <a:rPr lang="fr-FR" b="0" dirty="0">
                          <a:latin typeface="Rockwell" panose="02060603020205020403" pitchFamily="18" charset="0"/>
                        </a:rPr>
                        <a:t>Administrateur </a:t>
                      </a:r>
                      <a:endParaRPr lang="fr-FR" dirty="0">
                        <a:latin typeface="Rockwell" panose="02060603020205020403" pitchFamily="18" charset="0"/>
                      </a:endParaRPr>
                    </a:p>
                  </a:txBody>
                  <a:tcPr/>
                </a:tc>
                <a:extLst>
                  <a:ext uri="{0D108BD9-81ED-4DB2-BD59-A6C34878D82A}">
                    <a16:rowId xmlns:a16="http://schemas.microsoft.com/office/drawing/2014/main" val="2273264968"/>
                  </a:ext>
                </a:extLst>
              </a:tr>
              <a:tr h="352872">
                <a:tc gridSpan="2">
                  <a:txBody>
                    <a:bodyPr/>
                    <a:lstStyle/>
                    <a:p>
                      <a:pPr algn="ctr"/>
                      <a:r>
                        <a:rPr lang="fr-FR" dirty="0">
                          <a:latin typeface="Rockwell" panose="02060603020205020403" pitchFamily="18" charset="0"/>
                        </a:rPr>
                        <a:t>Description des scénarios</a:t>
                      </a:r>
                    </a:p>
                  </a:txBody>
                  <a:tcPr/>
                </a:tc>
                <a:tc hMerge="1">
                  <a:txBody>
                    <a:bodyPr/>
                    <a:lstStyle/>
                    <a:p>
                      <a:endParaRPr lang="fr-FR"/>
                    </a:p>
                  </a:txBody>
                  <a:tcPr/>
                </a:tc>
                <a:extLst>
                  <a:ext uri="{0D108BD9-81ED-4DB2-BD59-A6C34878D82A}">
                    <a16:rowId xmlns:a16="http://schemas.microsoft.com/office/drawing/2014/main" val="1028027340"/>
                  </a:ext>
                </a:extLst>
              </a:tr>
              <a:tr h="617525">
                <a:tc>
                  <a:txBody>
                    <a:bodyPr/>
                    <a:lstStyle/>
                    <a:p>
                      <a:r>
                        <a:rPr lang="fr-FR" dirty="0">
                          <a:latin typeface="Rockwell" panose="02060603020205020403" pitchFamily="18" charset="0"/>
                        </a:rPr>
                        <a:t>Présupposé</a:t>
                      </a:r>
                    </a:p>
                  </a:txBody>
                  <a:tcPr/>
                </a:tc>
                <a:tc>
                  <a:txBody>
                    <a:bodyPr/>
                    <a:lstStyle/>
                    <a:p>
                      <a:r>
                        <a:rPr lang="fr-FR">
                          <a:latin typeface="Rockwell" panose="02060603020205020403" pitchFamily="18" charset="0"/>
                        </a:rPr>
                        <a:t>Saisir l’URL du site diskmonitor, et l’application focntionne correctement.</a:t>
                      </a:r>
                      <a:endParaRPr lang="fr-FR" dirty="0">
                        <a:latin typeface="Rockwell" panose="02060603020205020403" pitchFamily="18" charset="0"/>
                      </a:endParaRPr>
                    </a:p>
                  </a:txBody>
                  <a:tcPr/>
                </a:tc>
                <a:extLst>
                  <a:ext uri="{0D108BD9-81ED-4DB2-BD59-A6C34878D82A}">
                    <a16:rowId xmlns:a16="http://schemas.microsoft.com/office/drawing/2014/main" val="1768379858"/>
                  </a:ext>
                </a:extLst>
              </a:tr>
              <a:tr h="882179">
                <a:tc>
                  <a:txBody>
                    <a:bodyPr/>
                    <a:lstStyle/>
                    <a:p>
                      <a:r>
                        <a:rPr lang="fr-FR" dirty="0">
                          <a:latin typeface="Rockwell" panose="02060603020205020403" pitchFamily="18" charset="0"/>
                        </a:rPr>
                        <a:t>Préconditions </a:t>
                      </a:r>
                    </a:p>
                  </a:txBody>
                  <a:tcPr/>
                </a:tc>
                <a:tc>
                  <a:txBody>
                    <a:bodyPr/>
                    <a:lstStyle/>
                    <a:p>
                      <a:pPr marL="285750" indent="-285750">
                        <a:buFont typeface="Wingdings" panose="05000000000000000000" pitchFamily="2" charset="2"/>
                        <a:buChar char="Ø"/>
                      </a:pPr>
                      <a:r>
                        <a:rPr lang="fr-FR" dirty="0">
                          <a:latin typeface="Rockwell" panose="02060603020205020403" pitchFamily="18" charset="0"/>
                        </a:rPr>
                        <a:t>L’administrateur est déjà authentifié.</a:t>
                      </a:r>
                    </a:p>
                    <a:p>
                      <a:pPr marL="285750" indent="-285750">
                        <a:buFont typeface="Wingdings" panose="05000000000000000000" pitchFamily="2" charset="2"/>
                        <a:buChar char="Ø"/>
                      </a:pPr>
                      <a:r>
                        <a:rPr lang="fr-FR" dirty="0">
                          <a:latin typeface="Rockwell" panose="02060603020205020403" pitchFamily="18" charset="0"/>
                        </a:rPr>
                        <a:t>Le service </a:t>
                      </a:r>
                      <a:r>
                        <a:rPr lang="fr-FR" dirty="0" err="1">
                          <a:latin typeface="Rockwell" panose="02060603020205020403" pitchFamily="18" charset="0"/>
                        </a:rPr>
                        <a:t>DiskMonitor</a:t>
                      </a:r>
                      <a:r>
                        <a:rPr lang="fr-FR" dirty="0">
                          <a:latin typeface="Rockwell" panose="02060603020205020403" pitchFamily="18" charset="0"/>
                        </a:rPr>
                        <a:t> est opérationnel sur le système CentOS Stream.</a:t>
                      </a:r>
                    </a:p>
                  </a:txBody>
                  <a:tcPr/>
                </a:tc>
                <a:extLst>
                  <a:ext uri="{0D108BD9-81ED-4DB2-BD59-A6C34878D82A}">
                    <a16:rowId xmlns:a16="http://schemas.microsoft.com/office/drawing/2014/main" val="3073038189"/>
                  </a:ext>
                </a:extLst>
              </a:tr>
              <a:tr h="2048308">
                <a:tc>
                  <a:txBody>
                    <a:bodyPr/>
                    <a:lstStyle/>
                    <a:p>
                      <a:r>
                        <a:rPr lang="fr-FR" dirty="0">
                          <a:latin typeface="Rockwell" panose="02060603020205020403" pitchFamily="18" charset="0"/>
                        </a:rPr>
                        <a:t>Scénario nominal</a:t>
                      </a:r>
                    </a:p>
                  </a:txBody>
                  <a:tcPr/>
                </a:tc>
                <a:tc>
                  <a:txBody>
                    <a:bodyPr/>
                    <a:lstStyle/>
                    <a:p>
                      <a:pPr marL="342900" indent="-342900">
                        <a:buFont typeface="+mj-lt"/>
                        <a:buAutoNum type="arabicPeriod"/>
                      </a:pPr>
                      <a:r>
                        <a:rPr lang="fr-FR" dirty="0">
                          <a:latin typeface="Rockwell" panose="02060603020205020403" pitchFamily="18" charset="0"/>
                        </a:rPr>
                        <a:t>L’administrateur accède à l’interface graphique et visualise les disques présents.</a:t>
                      </a:r>
                    </a:p>
                    <a:p>
                      <a:pPr marL="342900" indent="-342900">
                        <a:buFont typeface="+mj-lt"/>
                        <a:buAutoNum type="arabicPeriod"/>
                      </a:pPr>
                      <a:r>
                        <a:rPr lang="fr-FR" dirty="0">
                          <a:latin typeface="Rockwell" panose="02060603020205020403" pitchFamily="18" charset="0"/>
                        </a:rPr>
                        <a:t>L’admin sélectionne un disque et clic sur le bouton </a:t>
                      </a:r>
                      <a:r>
                        <a:rPr lang="fr-FR" b="1" dirty="0">
                          <a:latin typeface="Rockwell" panose="02060603020205020403" pitchFamily="18" charset="0"/>
                        </a:rPr>
                        <a:t>« Démarrer le monitoring »</a:t>
                      </a:r>
                      <a:r>
                        <a:rPr lang="fr-FR" dirty="0">
                          <a:latin typeface="Rockwell" panose="02060603020205020403" pitchFamily="18" charset="0"/>
                        </a:rPr>
                        <a:t>.</a:t>
                      </a:r>
                    </a:p>
                    <a:p>
                      <a:pPr marL="342900" indent="-342900">
                        <a:buFont typeface="+mj-lt"/>
                        <a:buAutoNum type="arabicPeriod"/>
                      </a:pPr>
                      <a:r>
                        <a:rPr lang="fr-FR" dirty="0">
                          <a:latin typeface="Rockwell" panose="02060603020205020403" pitchFamily="18" charset="0"/>
                        </a:rPr>
                        <a:t>API récupère la requête et transmet au SE;</a:t>
                      </a:r>
                    </a:p>
                    <a:p>
                      <a:pPr marL="342900" indent="-342900">
                        <a:buFont typeface="+mj-lt"/>
                        <a:buAutoNum type="arabicPeriod"/>
                      </a:pPr>
                      <a:r>
                        <a:rPr lang="fr-FR" dirty="0">
                          <a:latin typeface="Rockwell" panose="02060603020205020403" pitchFamily="18" charset="0"/>
                        </a:rPr>
                        <a:t>Le SE émet des requetés pour récupère les données sur le disque sélectionné et retourne les données présentes.</a:t>
                      </a:r>
                    </a:p>
                  </a:txBody>
                  <a:tcPr/>
                </a:tc>
                <a:extLst>
                  <a:ext uri="{0D108BD9-81ED-4DB2-BD59-A6C34878D82A}">
                    <a16:rowId xmlns:a16="http://schemas.microsoft.com/office/drawing/2014/main" val="2400022534"/>
                  </a:ext>
                </a:extLst>
              </a:tr>
            </a:tbl>
          </a:graphicData>
        </a:graphic>
      </p:graphicFrame>
      <p:sp>
        <p:nvSpPr>
          <p:cNvPr id="16" name="Oval 15">
            <a:extLst>
              <a:ext uri="{FF2B5EF4-FFF2-40B4-BE49-F238E27FC236}">
                <a16:creationId xmlns:a16="http://schemas.microsoft.com/office/drawing/2014/main" id="{0132EBAC-E989-1386-1941-4974210C57E2}"/>
              </a:ext>
            </a:extLst>
          </p:cNvPr>
          <p:cNvSpPr/>
          <p:nvPr/>
        </p:nvSpPr>
        <p:spPr>
          <a:xfrm>
            <a:off x="11505063" y="6405351"/>
            <a:ext cx="622865"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18</a:t>
            </a:r>
            <a:endParaRPr lang="en-US" dirty="0">
              <a:latin typeface="Amasis MT Pro Medium" panose="02040604050005020304" pitchFamily="18" charset="0"/>
            </a:endParaRPr>
          </a:p>
        </p:txBody>
      </p:sp>
      <p:sp>
        <p:nvSpPr>
          <p:cNvPr id="2" name="Rectangle: Rounded Corners 4">
            <a:extLst>
              <a:ext uri="{FF2B5EF4-FFF2-40B4-BE49-F238E27FC236}">
                <a16:creationId xmlns:a16="http://schemas.microsoft.com/office/drawing/2014/main" id="{43145BAB-2AFC-4EF0-8B5B-0B8F042BDF14}"/>
              </a:ext>
            </a:extLst>
          </p:cNvPr>
          <p:cNvSpPr/>
          <p:nvPr/>
        </p:nvSpPr>
        <p:spPr>
          <a:xfrm>
            <a:off x="0" y="2856641"/>
            <a:ext cx="3524454"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Rockwell" panose="02060603020205020403" pitchFamily="18" charset="0"/>
              </a:rPr>
              <a:t>DESCRIPTION TEXTUELLE CAS démarrer monitoring</a:t>
            </a:r>
            <a:endParaRPr lang="en-US" b="1" dirty="0">
              <a:solidFill>
                <a:schemeClr val="bg1"/>
              </a:solidFill>
              <a:latin typeface="Rockwell" panose="02060603020205020403" pitchFamily="18" charset="0"/>
            </a:endParaRPr>
          </a:p>
        </p:txBody>
      </p:sp>
    </p:spTree>
    <p:extLst>
      <p:ext uri="{BB962C8B-B14F-4D97-AF65-F5344CB8AC3E}">
        <p14:creationId xmlns:p14="http://schemas.microsoft.com/office/powerpoint/2010/main" val="2958394006"/>
      </p:ext>
    </p:extLst>
  </p:cSld>
  <p:clrMapOvr>
    <a:masterClrMapping/>
  </p:clrMapOvr>
  <p:transition spd="slow">
    <p:wheel spokes="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E3785-FE1E-EEAC-C594-7BA4CF2C5CA0}"/>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F678F8C4-FF9A-9622-FB02-986D9C533DE6}"/>
              </a:ext>
            </a:extLst>
          </p:cNvPr>
          <p:cNvSpPr/>
          <p:nvPr/>
        </p:nvSpPr>
        <p:spPr>
          <a:xfrm>
            <a:off x="0" y="0"/>
            <a:ext cx="61414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18</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B57CDD6E-0714-07EC-6CE9-C81E432B60D2}"/>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37" name="Rectangle: Rounded Corners 4">
            <a:extLst>
              <a:ext uri="{FF2B5EF4-FFF2-40B4-BE49-F238E27FC236}">
                <a16:creationId xmlns:a16="http://schemas.microsoft.com/office/drawing/2014/main" id="{9CF6B6E3-679F-AB41-617F-6EBBB533EC97}"/>
              </a:ext>
            </a:extLst>
          </p:cNvPr>
          <p:cNvSpPr/>
          <p:nvPr/>
        </p:nvSpPr>
        <p:spPr>
          <a:xfrm>
            <a:off x="0" y="2856641"/>
            <a:ext cx="3524454"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Rockwell" panose="02060603020205020403" pitchFamily="18" charset="0"/>
              </a:rPr>
              <a:t>DESCRIPTION TEXTUELLE CAS démarrer monitoring</a:t>
            </a:r>
            <a:endParaRPr lang="en-US" b="1" dirty="0">
              <a:solidFill>
                <a:schemeClr val="bg1"/>
              </a:solidFill>
              <a:latin typeface="Rockwell" panose="02060603020205020403" pitchFamily="18" charset="0"/>
            </a:endParaRPr>
          </a:p>
        </p:txBody>
      </p:sp>
      <p:sp>
        <p:nvSpPr>
          <p:cNvPr id="9" name="Rectangle: Rounded Corners 3">
            <a:extLst>
              <a:ext uri="{FF2B5EF4-FFF2-40B4-BE49-F238E27FC236}">
                <a16:creationId xmlns:a16="http://schemas.microsoft.com/office/drawing/2014/main" id="{724AE38A-326C-4871-F5C5-CAFF1A395D4F}"/>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graphicFrame>
        <p:nvGraphicFramePr>
          <p:cNvPr id="10" name="Tableau 9">
            <a:extLst>
              <a:ext uri="{FF2B5EF4-FFF2-40B4-BE49-F238E27FC236}">
                <a16:creationId xmlns:a16="http://schemas.microsoft.com/office/drawing/2014/main" id="{88493787-7746-5A6A-02FB-8C5E0E77DDBE}"/>
              </a:ext>
            </a:extLst>
          </p:cNvPr>
          <p:cNvGraphicFramePr>
            <a:graphicFrameLocks noGrp="1"/>
          </p:cNvGraphicFramePr>
          <p:nvPr>
            <p:extLst>
              <p:ext uri="{D42A27DB-BD31-4B8C-83A1-F6EECF244321}">
                <p14:modId xmlns:p14="http://schemas.microsoft.com/office/powerpoint/2010/main" val="3543412052"/>
              </p:ext>
            </p:extLst>
          </p:nvPr>
        </p:nvGraphicFramePr>
        <p:xfrm>
          <a:off x="3725839" y="635659"/>
          <a:ext cx="8128000" cy="4897520"/>
        </p:xfrm>
        <a:graphic>
          <a:graphicData uri="http://schemas.openxmlformats.org/drawingml/2006/table">
            <a:tbl>
              <a:tblPr firstRow="1" bandRow="1">
                <a:tableStyleId>{5C22544A-7EE6-4342-B048-85BDC9FD1C3A}</a:tableStyleId>
              </a:tblPr>
              <a:tblGrid>
                <a:gridCol w="2770495">
                  <a:extLst>
                    <a:ext uri="{9D8B030D-6E8A-4147-A177-3AD203B41FA5}">
                      <a16:colId xmlns:a16="http://schemas.microsoft.com/office/drawing/2014/main" val="1003667149"/>
                    </a:ext>
                  </a:extLst>
                </a:gridCol>
                <a:gridCol w="5357505">
                  <a:extLst>
                    <a:ext uri="{9D8B030D-6E8A-4147-A177-3AD203B41FA5}">
                      <a16:colId xmlns:a16="http://schemas.microsoft.com/office/drawing/2014/main" val="4213516898"/>
                    </a:ext>
                  </a:extLst>
                </a:gridCol>
              </a:tblGrid>
              <a:tr h="422753">
                <a:tc gridSpan="2">
                  <a:txBody>
                    <a:bodyPr/>
                    <a:lstStyle/>
                    <a:p>
                      <a:pPr algn="ctr"/>
                      <a:r>
                        <a:rPr lang="fr-FR" dirty="0">
                          <a:latin typeface="Rockwell" panose="02060603020205020403" pitchFamily="18" charset="0"/>
                        </a:rPr>
                        <a:t>Sommaire d’identification</a:t>
                      </a:r>
                    </a:p>
                  </a:txBody>
                  <a:tcPr/>
                </a:tc>
                <a:tc hMerge="1">
                  <a:txBody>
                    <a:bodyPr/>
                    <a:lstStyle/>
                    <a:p>
                      <a:endParaRPr lang="fr-FR"/>
                    </a:p>
                  </a:txBody>
                  <a:tcPr/>
                </a:tc>
                <a:extLst>
                  <a:ext uri="{0D108BD9-81ED-4DB2-BD59-A6C34878D82A}">
                    <a16:rowId xmlns:a16="http://schemas.microsoft.com/office/drawing/2014/main" val="376361771"/>
                  </a:ext>
                </a:extLst>
              </a:tr>
              <a:tr h="1056991">
                <a:tc>
                  <a:txBody>
                    <a:bodyPr/>
                    <a:lstStyle/>
                    <a:p>
                      <a:r>
                        <a:rPr lang="fr-FR" dirty="0">
                          <a:latin typeface="Rockwell" panose="02060603020205020403" pitchFamily="18" charset="0"/>
                        </a:rPr>
                        <a:t>Scénario nominal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fr-FR" dirty="0">
                          <a:latin typeface="Rockwell" panose="02060603020205020403" pitchFamily="18" charset="0"/>
                        </a:rPr>
                        <a:t>5. Le SE soumet le résultat;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fr-FR" dirty="0">
                          <a:latin typeface="Rockwell" panose="02060603020205020403" pitchFamily="18" charset="0"/>
                        </a:rPr>
                        <a:t>6. API transmet la réponse à Interface graphique et interface graphique analyse le résultat;</a:t>
                      </a:r>
                    </a:p>
                    <a:p>
                      <a:pPr marL="0" indent="0">
                        <a:buFont typeface="+mj-lt"/>
                        <a:buNone/>
                      </a:pPr>
                      <a:r>
                        <a:rPr lang="fr-FR" dirty="0">
                          <a:latin typeface="Rockwell" panose="02060603020205020403" pitchFamily="18" charset="0"/>
                        </a:rPr>
                        <a:t>5. L’interface graphique affiche les résultats  en temps réel sur le tableau de bord.</a:t>
                      </a:r>
                    </a:p>
                  </a:txBody>
                  <a:tcPr/>
                </a:tc>
                <a:extLst>
                  <a:ext uri="{0D108BD9-81ED-4DB2-BD59-A6C34878D82A}">
                    <a16:rowId xmlns:a16="http://schemas.microsoft.com/office/drawing/2014/main" val="240789732"/>
                  </a:ext>
                </a:extLst>
              </a:tr>
              <a:tr h="1323833">
                <a:tc>
                  <a:txBody>
                    <a:bodyPr/>
                    <a:lstStyle/>
                    <a:p>
                      <a:r>
                        <a:rPr lang="fr-FR" dirty="0">
                          <a:latin typeface="Rockwell" panose="02060603020205020403" pitchFamily="18" charset="0"/>
                        </a:rPr>
                        <a:t>Scénario alternatif</a:t>
                      </a:r>
                    </a:p>
                  </a:txBody>
                  <a:tcPr/>
                </a:tc>
                <a:tc>
                  <a:txBody>
                    <a:bodyPr/>
                    <a:lstStyle/>
                    <a:p>
                      <a:pPr algn="just"/>
                      <a:r>
                        <a:rPr lang="fr-FR" b="1" dirty="0">
                          <a:latin typeface="Rockwell" panose="02060603020205020403" pitchFamily="18" charset="0"/>
                        </a:rPr>
                        <a:t>2a. Service indisponible </a:t>
                      </a:r>
                      <a:r>
                        <a:rPr lang="fr-FR" dirty="0">
                          <a:latin typeface="Rockwell" panose="02060603020205020403" pitchFamily="18" charset="0"/>
                        </a:rPr>
                        <a:t>Si le service de monitoring n’est pas disponible, le système affiche un message d’erreur indiquant l’impossibilité de démarrer le monitoring.</a:t>
                      </a:r>
                    </a:p>
                  </a:txBody>
                  <a:tcPr/>
                </a:tc>
                <a:extLst>
                  <a:ext uri="{0D108BD9-81ED-4DB2-BD59-A6C34878D82A}">
                    <a16:rowId xmlns:a16="http://schemas.microsoft.com/office/drawing/2014/main" val="372454093"/>
                  </a:ext>
                </a:extLst>
              </a:tr>
              <a:tr h="1355127">
                <a:tc>
                  <a:txBody>
                    <a:bodyPr/>
                    <a:lstStyle/>
                    <a:p>
                      <a:r>
                        <a:rPr lang="fr-FR" dirty="0">
                          <a:latin typeface="Rockwell" panose="02060603020205020403" pitchFamily="18" charset="0"/>
                        </a:rPr>
                        <a:t>Post condition</a:t>
                      </a:r>
                    </a:p>
                  </a:txBody>
                  <a:tcPr/>
                </a:tc>
                <a:tc>
                  <a:txBody>
                    <a:bodyPr/>
                    <a:lstStyle/>
                    <a:p>
                      <a:pPr marL="285750" indent="-285750" algn="just">
                        <a:lnSpc>
                          <a:spcPct val="150000"/>
                        </a:lnSpc>
                        <a:buFont typeface="Wingdings" panose="05000000000000000000" pitchFamily="2" charset="2"/>
                        <a:buChar char="Ø"/>
                      </a:pPr>
                      <a:r>
                        <a:rPr lang="fr-FR" b="1" dirty="0">
                          <a:latin typeface="Rockwell" panose="02060603020205020403" pitchFamily="18" charset="0"/>
                        </a:rPr>
                        <a:t>Succès: </a:t>
                      </a:r>
                      <a:r>
                        <a:rPr lang="fr-FR" dirty="0">
                          <a:latin typeface="Rockwell" panose="02060603020205020403" pitchFamily="18" charset="0"/>
                        </a:rPr>
                        <a:t>Le monitoring est actif.</a:t>
                      </a:r>
                    </a:p>
                    <a:p>
                      <a:pPr marL="285750" indent="-285750" algn="just">
                        <a:lnSpc>
                          <a:spcPct val="150000"/>
                        </a:lnSpc>
                        <a:buFont typeface="Wingdings" panose="05000000000000000000" pitchFamily="2" charset="2"/>
                        <a:buChar char="Ø"/>
                      </a:pPr>
                      <a:r>
                        <a:rPr lang="fr-FR" b="1" dirty="0">
                          <a:latin typeface="Rockwell" panose="02060603020205020403" pitchFamily="18" charset="0"/>
                        </a:rPr>
                        <a:t>Echec</a:t>
                      </a:r>
                      <a:r>
                        <a:rPr lang="fr-FR" dirty="0">
                          <a:latin typeface="Rockwell" panose="02060603020205020403" pitchFamily="18" charset="0"/>
                        </a:rPr>
                        <a:t>: Les données I/O disque sont collectées et affichées en temps réel sur le tableau de bord</a:t>
                      </a:r>
                    </a:p>
                  </a:txBody>
                  <a:tcPr/>
                </a:tc>
                <a:extLst>
                  <a:ext uri="{0D108BD9-81ED-4DB2-BD59-A6C34878D82A}">
                    <a16:rowId xmlns:a16="http://schemas.microsoft.com/office/drawing/2014/main" val="2273264968"/>
                  </a:ext>
                </a:extLst>
              </a:tr>
            </a:tbl>
          </a:graphicData>
        </a:graphic>
      </p:graphicFrame>
      <p:sp>
        <p:nvSpPr>
          <p:cNvPr id="16" name="Oval 15">
            <a:extLst>
              <a:ext uri="{FF2B5EF4-FFF2-40B4-BE49-F238E27FC236}">
                <a16:creationId xmlns:a16="http://schemas.microsoft.com/office/drawing/2014/main" id="{382C1331-1935-B9DC-66A3-23123897FEEE}"/>
              </a:ext>
            </a:extLst>
          </p:cNvPr>
          <p:cNvSpPr/>
          <p:nvPr/>
        </p:nvSpPr>
        <p:spPr>
          <a:xfrm>
            <a:off x="11491415" y="6405351"/>
            <a:ext cx="63651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19</a:t>
            </a:r>
            <a:endParaRPr lang="en-US" dirty="0">
              <a:latin typeface="Amasis MT Pro Medium" panose="02040604050005020304" pitchFamily="18" charset="0"/>
            </a:endParaRPr>
          </a:p>
        </p:txBody>
      </p:sp>
    </p:spTree>
    <p:extLst>
      <p:ext uri="{BB962C8B-B14F-4D97-AF65-F5344CB8AC3E}">
        <p14:creationId xmlns:p14="http://schemas.microsoft.com/office/powerpoint/2010/main" val="3080366167"/>
      </p:ext>
    </p:extLst>
  </p:cSld>
  <p:clrMapOvr>
    <a:masterClrMapping/>
  </p:clrMapOvr>
  <p:transition spd="slow">
    <p:wheel spokes="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83E2-CAE6-425A-5F10-6F57270100A2}"/>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4301F5B6-8C33-9FFA-401C-7AD2D39BBDA7}"/>
              </a:ext>
            </a:extLst>
          </p:cNvPr>
          <p:cNvSpPr/>
          <p:nvPr/>
        </p:nvSpPr>
        <p:spPr>
          <a:xfrm>
            <a:off x="0" y="0"/>
            <a:ext cx="61414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19</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BD77C7C7-53BB-53F8-1008-5B7B55F7221B}"/>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9" name="Rectangle: Rounded Corners 3">
            <a:extLst>
              <a:ext uri="{FF2B5EF4-FFF2-40B4-BE49-F238E27FC236}">
                <a16:creationId xmlns:a16="http://schemas.microsoft.com/office/drawing/2014/main" id="{954B14D3-3BBE-9AD2-0B78-3CB86F8653A3}"/>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graphicFrame>
        <p:nvGraphicFramePr>
          <p:cNvPr id="10" name="Tableau 9">
            <a:extLst>
              <a:ext uri="{FF2B5EF4-FFF2-40B4-BE49-F238E27FC236}">
                <a16:creationId xmlns:a16="http://schemas.microsoft.com/office/drawing/2014/main" id="{6746999C-2BB3-E9E1-F649-21758E9EAAE0}"/>
              </a:ext>
            </a:extLst>
          </p:cNvPr>
          <p:cNvGraphicFramePr>
            <a:graphicFrameLocks noGrp="1"/>
          </p:cNvGraphicFramePr>
          <p:nvPr>
            <p:extLst>
              <p:ext uri="{D42A27DB-BD31-4B8C-83A1-F6EECF244321}">
                <p14:modId xmlns:p14="http://schemas.microsoft.com/office/powerpoint/2010/main" val="821450397"/>
              </p:ext>
            </p:extLst>
          </p:nvPr>
        </p:nvGraphicFramePr>
        <p:xfrm>
          <a:off x="3725838" y="499185"/>
          <a:ext cx="8402089" cy="6492240"/>
        </p:xfrm>
        <a:graphic>
          <a:graphicData uri="http://schemas.openxmlformats.org/drawingml/2006/table">
            <a:tbl>
              <a:tblPr firstRow="1" bandRow="1">
                <a:tableStyleId>{5C22544A-7EE6-4342-B048-85BDC9FD1C3A}</a:tableStyleId>
              </a:tblPr>
              <a:tblGrid>
                <a:gridCol w="2821597">
                  <a:extLst>
                    <a:ext uri="{9D8B030D-6E8A-4147-A177-3AD203B41FA5}">
                      <a16:colId xmlns:a16="http://schemas.microsoft.com/office/drawing/2014/main" val="1003667149"/>
                    </a:ext>
                  </a:extLst>
                </a:gridCol>
                <a:gridCol w="5580492">
                  <a:extLst>
                    <a:ext uri="{9D8B030D-6E8A-4147-A177-3AD203B41FA5}">
                      <a16:colId xmlns:a16="http://schemas.microsoft.com/office/drawing/2014/main" val="595428454"/>
                    </a:ext>
                  </a:extLst>
                </a:gridCol>
              </a:tblGrid>
              <a:tr h="353102">
                <a:tc gridSpan="2">
                  <a:txBody>
                    <a:bodyPr/>
                    <a:lstStyle/>
                    <a:p>
                      <a:pPr algn="ctr"/>
                      <a:r>
                        <a:rPr lang="fr-FR" dirty="0">
                          <a:latin typeface="Rockwell" panose="02060603020205020403" pitchFamily="18" charset="0"/>
                        </a:rPr>
                        <a:t>Sommaire d’identification</a:t>
                      </a:r>
                    </a:p>
                  </a:txBody>
                  <a:tcPr/>
                </a:tc>
                <a:tc hMerge="1">
                  <a:txBody>
                    <a:bodyPr/>
                    <a:lstStyle/>
                    <a:p>
                      <a:endParaRPr lang="fr-FR"/>
                    </a:p>
                  </a:txBody>
                  <a:tcPr/>
                </a:tc>
                <a:extLst>
                  <a:ext uri="{0D108BD9-81ED-4DB2-BD59-A6C34878D82A}">
                    <a16:rowId xmlns:a16="http://schemas.microsoft.com/office/drawing/2014/main" val="376361771"/>
                  </a:ext>
                </a:extLst>
              </a:tr>
              <a:tr h="353102">
                <a:tc>
                  <a:txBody>
                    <a:bodyPr/>
                    <a:lstStyle/>
                    <a:p>
                      <a:r>
                        <a:rPr lang="fr-FR" dirty="0">
                          <a:latin typeface="Rockwell" panose="02060603020205020403" pitchFamily="18" charset="0"/>
                        </a:rPr>
                        <a:t>Titre du cas d’utilisation</a:t>
                      </a:r>
                    </a:p>
                  </a:txBody>
                  <a:tcPr/>
                </a:tc>
                <a:tc>
                  <a:txBody>
                    <a:bodyPr/>
                    <a:lstStyle/>
                    <a:p>
                      <a:r>
                        <a:rPr lang="fr-FR" b="0" dirty="0" err="1">
                          <a:latin typeface="Rockwell" panose="02060603020205020403" pitchFamily="18" charset="0"/>
                        </a:rPr>
                        <a:t>Arreter</a:t>
                      </a:r>
                      <a:r>
                        <a:rPr lang="fr-FR" b="0" dirty="0">
                          <a:latin typeface="Rockwell" panose="02060603020205020403" pitchFamily="18" charset="0"/>
                        </a:rPr>
                        <a:t> monitoring</a:t>
                      </a:r>
                      <a:endParaRPr lang="fr-FR" dirty="0">
                        <a:latin typeface="Rockwell" panose="02060603020205020403" pitchFamily="18" charset="0"/>
                      </a:endParaRPr>
                    </a:p>
                  </a:txBody>
                  <a:tcPr/>
                </a:tc>
                <a:extLst>
                  <a:ext uri="{0D108BD9-81ED-4DB2-BD59-A6C34878D82A}">
                    <a16:rowId xmlns:a16="http://schemas.microsoft.com/office/drawing/2014/main" val="240789732"/>
                  </a:ext>
                </a:extLst>
              </a:tr>
              <a:tr h="1147581">
                <a:tc>
                  <a:txBody>
                    <a:bodyPr/>
                    <a:lstStyle/>
                    <a:p>
                      <a:r>
                        <a:rPr lang="fr-FR" dirty="0">
                          <a:latin typeface="Rockwell" panose="02060603020205020403" pitchFamily="18" charset="0"/>
                        </a:rPr>
                        <a:t>Résumé</a:t>
                      </a:r>
                    </a:p>
                  </a:txBody>
                  <a:tcPr/>
                </a:tc>
                <a:tc>
                  <a:txBody>
                    <a:bodyPr/>
                    <a:lstStyle/>
                    <a:p>
                      <a:pPr algn="just"/>
                      <a:r>
                        <a:rPr lang="fr-FR" dirty="0">
                          <a:latin typeface="Rockwell" panose="02060603020205020403" pitchFamily="18" charset="0"/>
                        </a:rPr>
                        <a:t>Permettre à l’administrateur de mettre fin à la surveillance en temps réel des opérations de lecture et d’écriture du disque afin d’arrêter la collecte et l’affichage des données I/O.</a:t>
                      </a:r>
                    </a:p>
                  </a:txBody>
                  <a:tcPr/>
                </a:tc>
                <a:extLst>
                  <a:ext uri="{0D108BD9-81ED-4DB2-BD59-A6C34878D82A}">
                    <a16:rowId xmlns:a16="http://schemas.microsoft.com/office/drawing/2014/main" val="372454093"/>
                  </a:ext>
                </a:extLst>
              </a:tr>
              <a:tr h="353102">
                <a:tc>
                  <a:txBody>
                    <a:bodyPr/>
                    <a:lstStyle/>
                    <a:p>
                      <a:r>
                        <a:rPr lang="fr-FR" dirty="0">
                          <a:latin typeface="Rockwell" panose="02060603020205020403" pitchFamily="18" charset="0"/>
                        </a:rPr>
                        <a:t>Acteurs</a:t>
                      </a:r>
                    </a:p>
                  </a:txBody>
                  <a:tcPr/>
                </a:tc>
                <a:tc>
                  <a:txBody>
                    <a:bodyPr/>
                    <a:lstStyle/>
                    <a:p>
                      <a:r>
                        <a:rPr lang="fr-FR" b="0" dirty="0">
                          <a:latin typeface="Rockwell" panose="02060603020205020403" pitchFamily="18" charset="0"/>
                        </a:rPr>
                        <a:t>Administrateur </a:t>
                      </a:r>
                      <a:endParaRPr lang="fr-FR" dirty="0">
                        <a:latin typeface="Rockwell" panose="02060603020205020403" pitchFamily="18" charset="0"/>
                      </a:endParaRPr>
                    </a:p>
                  </a:txBody>
                  <a:tcPr/>
                </a:tc>
                <a:extLst>
                  <a:ext uri="{0D108BD9-81ED-4DB2-BD59-A6C34878D82A}">
                    <a16:rowId xmlns:a16="http://schemas.microsoft.com/office/drawing/2014/main" val="2273264968"/>
                  </a:ext>
                </a:extLst>
              </a:tr>
              <a:tr h="353102">
                <a:tc gridSpan="2">
                  <a:txBody>
                    <a:bodyPr/>
                    <a:lstStyle/>
                    <a:p>
                      <a:pPr algn="ctr"/>
                      <a:r>
                        <a:rPr lang="fr-FR" dirty="0">
                          <a:latin typeface="Rockwell" panose="02060603020205020403" pitchFamily="18" charset="0"/>
                        </a:rPr>
                        <a:t>Description des scénarios</a:t>
                      </a:r>
                    </a:p>
                  </a:txBody>
                  <a:tcPr/>
                </a:tc>
                <a:tc hMerge="1">
                  <a:txBody>
                    <a:bodyPr/>
                    <a:lstStyle/>
                    <a:p>
                      <a:endParaRPr lang="fr-FR"/>
                    </a:p>
                  </a:txBody>
                  <a:tcPr/>
                </a:tc>
                <a:extLst>
                  <a:ext uri="{0D108BD9-81ED-4DB2-BD59-A6C34878D82A}">
                    <a16:rowId xmlns:a16="http://schemas.microsoft.com/office/drawing/2014/main" val="1028027340"/>
                  </a:ext>
                </a:extLst>
              </a:tr>
              <a:tr h="617928">
                <a:tc>
                  <a:txBody>
                    <a:bodyPr/>
                    <a:lstStyle/>
                    <a:p>
                      <a:r>
                        <a:rPr lang="fr-FR" dirty="0">
                          <a:latin typeface="Rockwell" panose="02060603020205020403" pitchFamily="18" charset="0"/>
                        </a:rPr>
                        <a:t>Présupposé</a:t>
                      </a:r>
                    </a:p>
                  </a:txBody>
                  <a:tcPr/>
                </a:tc>
                <a:tc>
                  <a:txBody>
                    <a:bodyPr/>
                    <a:lstStyle/>
                    <a:p>
                      <a:r>
                        <a:rPr lang="fr-FR">
                          <a:latin typeface="Rockwell" panose="02060603020205020403" pitchFamily="18" charset="0"/>
                        </a:rPr>
                        <a:t>Saisir l’URL du site diskmonitor, et l’application focntionne correctement.</a:t>
                      </a:r>
                      <a:endParaRPr lang="fr-FR" dirty="0">
                        <a:latin typeface="Rockwell" panose="02060603020205020403" pitchFamily="18" charset="0"/>
                      </a:endParaRPr>
                    </a:p>
                  </a:txBody>
                  <a:tcPr/>
                </a:tc>
                <a:extLst>
                  <a:ext uri="{0D108BD9-81ED-4DB2-BD59-A6C34878D82A}">
                    <a16:rowId xmlns:a16="http://schemas.microsoft.com/office/drawing/2014/main" val="1768379858"/>
                  </a:ext>
                </a:extLst>
              </a:tr>
              <a:tr h="882755">
                <a:tc>
                  <a:txBody>
                    <a:bodyPr/>
                    <a:lstStyle/>
                    <a:p>
                      <a:r>
                        <a:rPr lang="fr-FR" dirty="0">
                          <a:latin typeface="Rockwell" panose="02060603020205020403" pitchFamily="18" charset="0"/>
                        </a:rPr>
                        <a:t>Préconditions </a:t>
                      </a:r>
                    </a:p>
                  </a:txBody>
                  <a:tcPr/>
                </a:tc>
                <a:tc>
                  <a:txBody>
                    <a:bodyPr/>
                    <a:lstStyle/>
                    <a:p>
                      <a:pPr marL="285750" indent="-285750">
                        <a:buFont typeface="Wingdings" panose="05000000000000000000" pitchFamily="2" charset="2"/>
                        <a:buChar char="Ø"/>
                      </a:pPr>
                      <a:r>
                        <a:rPr lang="fr-FR" dirty="0">
                          <a:latin typeface="Rockwell" panose="02060603020205020403" pitchFamily="18" charset="0"/>
                        </a:rPr>
                        <a:t>L’administrateur est authentifié sur la plateforme </a:t>
                      </a:r>
                      <a:r>
                        <a:rPr lang="fr-FR" dirty="0" err="1">
                          <a:latin typeface="Rockwell" panose="02060603020205020403" pitchFamily="18" charset="0"/>
                        </a:rPr>
                        <a:t>DiskMonitor</a:t>
                      </a:r>
                      <a:r>
                        <a:rPr lang="fr-FR" dirty="0">
                          <a:latin typeface="Rockwell" panose="02060603020205020403" pitchFamily="18" charset="0"/>
                        </a:rPr>
                        <a:t>.</a:t>
                      </a:r>
                    </a:p>
                    <a:p>
                      <a:pPr marL="285750" indent="-285750">
                        <a:buFont typeface="Wingdings" panose="05000000000000000000" pitchFamily="2" charset="2"/>
                        <a:buChar char="Ø"/>
                      </a:pPr>
                      <a:r>
                        <a:rPr lang="fr-FR" dirty="0">
                          <a:latin typeface="Rockwell" panose="02060603020205020403" pitchFamily="18" charset="0"/>
                        </a:rPr>
                        <a:t>Le monitoring est actuellement actif</a:t>
                      </a:r>
                    </a:p>
                  </a:txBody>
                  <a:tcPr/>
                </a:tc>
                <a:extLst>
                  <a:ext uri="{0D108BD9-81ED-4DB2-BD59-A6C34878D82A}">
                    <a16:rowId xmlns:a16="http://schemas.microsoft.com/office/drawing/2014/main" val="3073038189"/>
                  </a:ext>
                </a:extLst>
              </a:tr>
              <a:tr h="1977421">
                <a:tc>
                  <a:txBody>
                    <a:bodyPr/>
                    <a:lstStyle/>
                    <a:p>
                      <a:r>
                        <a:rPr lang="fr-FR" dirty="0">
                          <a:latin typeface="Rockwell" panose="02060603020205020403" pitchFamily="18" charset="0"/>
                        </a:rPr>
                        <a:t>Scénario nominal</a:t>
                      </a:r>
                    </a:p>
                  </a:txBody>
                  <a:tcPr/>
                </a:tc>
                <a:tc>
                  <a:txBody>
                    <a:bodyPr/>
                    <a:lstStyle/>
                    <a:p>
                      <a:pPr marL="342900" indent="-342900">
                        <a:buFont typeface="+mj-lt"/>
                        <a:buAutoNum type="arabicPeriod"/>
                      </a:pPr>
                      <a:r>
                        <a:rPr lang="fr-FR" dirty="0">
                          <a:latin typeface="Rockwell" panose="02060603020205020403" pitchFamily="18" charset="0"/>
                        </a:rPr>
                        <a:t>L’admin accède à l’interface de </a:t>
                      </a:r>
                      <a:r>
                        <a:rPr lang="fr-FR" dirty="0" err="1">
                          <a:latin typeface="Rockwell" panose="02060603020205020403" pitchFamily="18" charset="0"/>
                        </a:rPr>
                        <a:t>DiskMonitor</a:t>
                      </a:r>
                      <a:r>
                        <a:rPr lang="fr-FR" dirty="0">
                          <a:latin typeface="Rockwell" panose="02060603020205020403" pitchFamily="18" charset="0"/>
                        </a:rPr>
                        <a:t>.</a:t>
                      </a:r>
                    </a:p>
                    <a:p>
                      <a:pPr marL="342900" indent="-342900">
                        <a:buFont typeface="+mj-lt"/>
                        <a:buAutoNum type="arabicPeriod"/>
                      </a:pPr>
                      <a:r>
                        <a:rPr lang="fr-FR" dirty="0">
                          <a:latin typeface="Rockwell" panose="02060603020205020403" pitchFamily="18" charset="0"/>
                        </a:rPr>
                        <a:t>L’admin sélectionne un disque et clic sur le bouton </a:t>
                      </a:r>
                      <a:r>
                        <a:rPr lang="fr-FR" b="1" dirty="0">
                          <a:latin typeface="Rockwell" panose="02060603020205020403" pitchFamily="18" charset="0"/>
                        </a:rPr>
                        <a:t>« Arrêter le monitoring »</a:t>
                      </a:r>
                      <a:r>
                        <a:rPr lang="fr-FR" dirty="0">
                          <a:latin typeface="Rockwell" panose="02060603020205020403" pitchFamily="18" charset="0"/>
                        </a:rPr>
                        <a:t>.</a:t>
                      </a:r>
                    </a:p>
                    <a:p>
                      <a:pPr marL="342900" indent="-342900">
                        <a:buFont typeface="+mj-lt"/>
                        <a:buAutoNum type="arabicPeriod"/>
                      </a:pPr>
                      <a:r>
                        <a:rPr lang="fr-FR" dirty="0">
                          <a:latin typeface="Rockwell" panose="02060603020205020403" pitchFamily="18" charset="0"/>
                        </a:rPr>
                        <a:t>API récupère la requête et transmet au SE;</a:t>
                      </a:r>
                    </a:p>
                    <a:p>
                      <a:pPr marL="342900" indent="-342900">
                        <a:buFont typeface="+mj-lt"/>
                        <a:buAutoNum type="arabicPeriod"/>
                      </a:pPr>
                      <a:r>
                        <a:rPr lang="fr-FR" dirty="0">
                          <a:latin typeface="Rockwell" panose="02060603020205020403" pitchFamily="18" charset="0"/>
                        </a:rPr>
                        <a:t>Le SE interrompt la collecte des données sur disque et renvoi le renvoi le résultat;</a:t>
                      </a:r>
                    </a:p>
                    <a:p>
                      <a:pPr marL="342900" indent="-342900">
                        <a:buFont typeface="+mj-lt"/>
                        <a:buAutoNum type="arabicPeriod"/>
                      </a:pPr>
                      <a:r>
                        <a:rPr lang="fr-FR" dirty="0">
                          <a:latin typeface="Rockwell" panose="02060603020205020403" pitchFamily="18" charset="0"/>
                        </a:rPr>
                        <a:t>Le SE transmet la réponse à API;</a:t>
                      </a:r>
                    </a:p>
                    <a:p>
                      <a:pPr marL="342900" indent="-342900">
                        <a:buFont typeface="+mj-lt"/>
                        <a:buAutoNum type="arabicPeriod"/>
                      </a:pPr>
                      <a:r>
                        <a:rPr lang="fr-FR" dirty="0">
                          <a:latin typeface="Rockwell" panose="02060603020205020403" pitchFamily="18" charset="0"/>
                        </a:rPr>
                        <a:t>API analyse le résultat;</a:t>
                      </a:r>
                    </a:p>
                  </a:txBody>
                  <a:tcPr/>
                </a:tc>
                <a:extLst>
                  <a:ext uri="{0D108BD9-81ED-4DB2-BD59-A6C34878D82A}">
                    <a16:rowId xmlns:a16="http://schemas.microsoft.com/office/drawing/2014/main" val="2400022534"/>
                  </a:ext>
                </a:extLst>
              </a:tr>
            </a:tbl>
          </a:graphicData>
        </a:graphic>
      </p:graphicFrame>
      <p:sp>
        <p:nvSpPr>
          <p:cNvPr id="16" name="Oval 15">
            <a:extLst>
              <a:ext uri="{FF2B5EF4-FFF2-40B4-BE49-F238E27FC236}">
                <a16:creationId xmlns:a16="http://schemas.microsoft.com/office/drawing/2014/main" id="{F962B171-7F88-B353-9E6C-7E8F3EA0F55C}"/>
              </a:ext>
            </a:extLst>
          </p:cNvPr>
          <p:cNvSpPr/>
          <p:nvPr/>
        </p:nvSpPr>
        <p:spPr>
          <a:xfrm>
            <a:off x="11477767" y="6405351"/>
            <a:ext cx="65016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20</a:t>
            </a:r>
            <a:endParaRPr lang="en-US" dirty="0">
              <a:latin typeface="Amasis MT Pro Medium" panose="02040604050005020304" pitchFamily="18" charset="0"/>
            </a:endParaRPr>
          </a:p>
        </p:txBody>
      </p:sp>
      <p:sp>
        <p:nvSpPr>
          <p:cNvPr id="2" name="Rectangle: Rounded Corners 4">
            <a:extLst>
              <a:ext uri="{FF2B5EF4-FFF2-40B4-BE49-F238E27FC236}">
                <a16:creationId xmlns:a16="http://schemas.microsoft.com/office/drawing/2014/main" id="{776C3D1D-82E6-4195-AF8E-BC846BE6B8EE}"/>
              </a:ext>
            </a:extLst>
          </p:cNvPr>
          <p:cNvSpPr/>
          <p:nvPr/>
        </p:nvSpPr>
        <p:spPr>
          <a:xfrm>
            <a:off x="0" y="2856641"/>
            <a:ext cx="3524454"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Rockwell" panose="02060603020205020403" pitchFamily="18" charset="0"/>
              </a:rPr>
              <a:t>DESCRIPTION TEXTUELLE CAS </a:t>
            </a:r>
            <a:r>
              <a:rPr lang="fr-FR" b="1" dirty="0" err="1">
                <a:solidFill>
                  <a:schemeClr val="bg1"/>
                </a:solidFill>
                <a:latin typeface="Rockwell" panose="02060603020205020403" pitchFamily="18" charset="0"/>
              </a:rPr>
              <a:t>Arreter</a:t>
            </a:r>
            <a:r>
              <a:rPr lang="fr-FR" b="1" dirty="0">
                <a:solidFill>
                  <a:schemeClr val="bg1"/>
                </a:solidFill>
                <a:latin typeface="Rockwell" panose="02060603020205020403" pitchFamily="18" charset="0"/>
              </a:rPr>
              <a:t> monitoring</a:t>
            </a:r>
            <a:endParaRPr lang="en-US" b="1" dirty="0">
              <a:solidFill>
                <a:schemeClr val="bg1"/>
              </a:solidFill>
              <a:latin typeface="Rockwell" panose="02060603020205020403" pitchFamily="18" charset="0"/>
            </a:endParaRPr>
          </a:p>
        </p:txBody>
      </p:sp>
    </p:spTree>
    <p:extLst>
      <p:ext uri="{BB962C8B-B14F-4D97-AF65-F5344CB8AC3E}">
        <p14:creationId xmlns:p14="http://schemas.microsoft.com/office/powerpoint/2010/main" val="3608397539"/>
      </p:ext>
    </p:extLst>
  </p:cSld>
  <p:clrMapOvr>
    <a:masterClrMapping/>
  </p:clrMapOvr>
  <p:transition spd="slow">
    <p:wheel spokes="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DF96C-3418-C82D-BC8F-0E1243D75E73}"/>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89535EBE-2CA6-490F-82E4-853509077534}"/>
              </a:ext>
            </a:extLst>
          </p:cNvPr>
          <p:cNvSpPr/>
          <p:nvPr/>
        </p:nvSpPr>
        <p:spPr>
          <a:xfrm>
            <a:off x="0" y="0"/>
            <a:ext cx="641445"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20</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C4314630-87F5-8C1D-EB0B-61E573E352F7}"/>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37" name="Rectangle: Rounded Corners 4">
            <a:extLst>
              <a:ext uri="{FF2B5EF4-FFF2-40B4-BE49-F238E27FC236}">
                <a16:creationId xmlns:a16="http://schemas.microsoft.com/office/drawing/2014/main" id="{BEEE0708-4420-3746-3ED9-578E60B569EE}"/>
              </a:ext>
            </a:extLst>
          </p:cNvPr>
          <p:cNvSpPr/>
          <p:nvPr/>
        </p:nvSpPr>
        <p:spPr>
          <a:xfrm>
            <a:off x="0" y="2856641"/>
            <a:ext cx="3524454"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Rockwell" panose="02060603020205020403" pitchFamily="18" charset="0"/>
              </a:rPr>
              <a:t>DESCRIPTION TEXTUELLE CAS </a:t>
            </a:r>
            <a:r>
              <a:rPr lang="fr-FR" b="1" dirty="0" err="1">
                <a:solidFill>
                  <a:schemeClr val="bg1"/>
                </a:solidFill>
                <a:latin typeface="Rockwell" panose="02060603020205020403" pitchFamily="18" charset="0"/>
              </a:rPr>
              <a:t>Arreter</a:t>
            </a:r>
            <a:r>
              <a:rPr lang="fr-FR" b="1" dirty="0">
                <a:solidFill>
                  <a:schemeClr val="bg1"/>
                </a:solidFill>
                <a:latin typeface="Rockwell" panose="02060603020205020403" pitchFamily="18" charset="0"/>
              </a:rPr>
              <a:t> monitoring</a:t>
            </a:r>
            <a:endParaRPr lang="en-US" b="1" dirty="0">
              <a:solidFill>
                <a:schemeClr val="bg1"/>
              </a:solidFill>
              <a:latin typeface="Rockwell" panose="02060603020205020403" pitchFamily="18" charset="0"/>
            </a:endParaRPr>
          </a:p>
        </p:txBody>
      </p:sp>
      <p:sp>
        <p:nvSpPr>
          <p:cNvPr id="9" name="Rectangle: Rounded Corners 3">
            <a:extLst>
              <a:ext uri="{FF2B5EF4-FFF2-40B4-BE49-F238E27FC236}">
                <a16:creationId xmlns:a16="http://schemas.microsoft.com/office/drawing/2014/main" id="{5411946A-F2E6-5C06-DAD7-037F25F0E447}"/>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graphicFrame>
        <p:nvGraphicFramePr>
          <p:cNvPr id="10" name="Tableau 9">
            <a:extLst>
              <a:ext uri="{FF2B5EF4-FFF2-40B4-BE49-F238E27FC236}">
                <a16:creationId xmlns:a16="http://schemas.microsoft.com/office/drawing/2014/main" id="{A3E9C66F-27F1-C077-2873-D1B0C53E0240}"/>
              </a:ext>
            </a:extLst>
          </p:cNvPr>
          <p:cNvGraphicFramePr>
            <a:graphicFrameLocks noGrp="1"/>
          </p:cNvGraphicFramePr>
          <p:nvPr>
            <p:extLst>
              <p:ext uri="{D42A27DB-BD31-4B8C-83A1-F6EECF244321}">
                <p14:modId xmlns:p14="http://schemas.microsoft.com/office/powerpoint/2010/main" val="4252497693"/>
              </p:ext>
            </p:extLst>
          </p:nvPr>
        </p:nvGraphicFramePr>
        <p:xfrm>
          <a:off x="3725839" y="635659"/>
          <a:ext cx="8128000" cy="5398741"/>
        </p:xfrm>
        <a:graphic>
          <a:graphicData uri="http://schemas.openxmlformats.org/drawingml/2006/table">
            <a:tbl>
              <a:tblPr firstRow="1" bandRow="1">
                <a:tableStyleId>{5C22544A-7EE6-4342-B048-85BDC9FD1C3A}</a:tableStyleId>
              </a:tblPr>
              <a:tblGrid>
                <a:gridCol w="2770495">
                  <a:extLst>
                    <a:ext uri="{9D8B030D-6E8A-4147-A177-3AD203B41FA5}">
                      <a16:colId xmlns:a16="http://schemas.microsoft.com/office/drawing/2014/main" val="1003667149"/>
                    </a:ext>
                  </a:extLst>
                </a:gridCol>
                <a:gridCol w="5357505">
                  <a:extLst>
                    <a:ext uri="{9D8B030D-6E8A-4147-A177-3AD203B41FA5}">
                      <a16:colId xmlns:a16="http://schemas.microsoft.com/office/drawing/2014/main" val="4213516898"/>
                    </a:ext>
                  </a:extLst>
                </a:gridCol>
              </a:tblGrid>
              <a:tr h="422753">
                <a:tc gridSpan="2">
                  <a:txBody>
                    <a:bodyPr/>
                    <a:lstStyle/>
                    <a:p>
                      <a:pPr algn="ctr"/>
                      <a:r>
                        <a:rPr lang="fr-FR" dirty="0">
                          <a:latin typeface="Rockwell" panose="02060603020205020403" pitchFamily="18" charset="0"/>
                        </a:rPr>
                        <a:t>Sommaire d’identification</a:t>
                      </a:r>
                    </a:p>
                  </a:txBody>
                  <a:tcPr/>
                </a:tc>
                <a:tc hMerge="1">
                  <a:txBody>
                    <a:bodyPr/>
                    <a:lstStyle/>
                    <a:p>
                      <a:endParaRPr lang="fr-FR"/>
                    </a:p>
                  </a:txBody>
                  <a:tcPr/>
                </a:tc>
                <a:extLst>
                  <a:ext uri="{0D108BD9-81ED-4DB2-BD59-A6C34878D82A}">
                    <a16:rowId xmlns:a16="http://schemas.microsoft.com/office/drawing/2014/main" val="376361771"/>
                  </a:ext>
                </a:extLst>
              </a:tr>
              <a:tr h="951193">
                <a:tc>
                  <a:txBody>
                    <a:bodyPr/>
                    <a:lstStyle/>
                    <a:p>
                      <a:r>
                        <a:rPr lang="fr-FR" dirty="0">
                          <a:latin typeface="Rockwell" panose="02060603020205020403" pitchFamily="18" charset="0"/>
                        </a:rPr>
                        <a:t>Scénario nominal</a:t>
                      </a:r>
                    </a:p>
                  </a:txBody>
                  <a:tcPr/>
                </a:tc>
                <a:tc>
                  <a:txBody>
                    <a:bodyPr/>
                    <a:lstStyle/>
                    <a:p>
                      <a:pPr marL="0" indent="0">
                        <a:lnSpc>
                          <a:spcPct val="150000"/>
                        </a:lnSpc>
                        <a:buFont typeface="+mj-lt"/>
                        <a:buNone/>
                      </a:pPr>
                      <a:r>
                        <a:rPr lang="fr-FR" dirty="0">
                          <a:latin typeface="Rockwell" panose="02060603020205020403" pitchFamily="18" charset="0"/>
                        </a:rPr>
                        <a:t>7. L’Interface graphique n’affiche plus les données collectées sur disque.</a:t>
                      </a:r>
                    </a:p>
                    <a:p>
                      <a:pPr marL="0" indent="0">
                        <a:lnSpc>
                          <a:spcPct val="150000"/>
                        </a:lnSpc>
                        <a:buFont typeface="+mj-lt"/>
                        <a:buNone/>
                      </a:pPr>
                      <a:r>
                        <a:rPr lang="fr-FR" dirty="0">
                          <a:latin typeface="Rockwell" panose="02060603020205020403" pitchFamily="18" charset="0"/>
                        </a:rPr>
                        <a:t>8.  L’interface graphique envoi un message:  «  le monitoring est arrêté ».</a:t>
                      </a:r>
                    </a:p>
                  </a:txBody>
                  <a:tcPr/>
                </a:tc>
                <a:extLst>
                  <a:ext uri="{0D108BD9-81ED-4DB2-BD59-A6C34878D82A}">
                    <a16:rowId xmlns:a16="http://schemas.microsoft.com/office/drawing/2014/main" val="240789732"/>
                  </a:ext>
                </a:extLst>
              </a:tr>
              <a:tr h="0">
                <a:tc>
                  <a:txBody>
                    <a:bodyPr/>
                    <a:lstStyle/>
                    <a:p>
                      <a:r>
                        <a:rPr lang="fr-FR" dirty="0">
                          <a:latin typeface="Rockwell" panose="02060603020205020403" pitchFamily="18" charset="0"/>
                        </a:rPr>
                        <a:t>Scénario alternatif</a:t>
                      </a:r>
                    </a:p>
                  </a:txBody>
                  <a:tcPr/>
                </a:tc>
                <a:tc>
                  <a:txBody>
                    <a:bodyPr/>
                    <a:lstStyle/>
                    <a:p>
                      <a:pPr>
                        <a:lnSpc>
                          <a:spcPct val="150000"/>
                        </a:lnSpc>
                      </a:pPr>
                      <a:r>
                        <a:rPr lang="fr-FR" b="1" dirty="0">
                          <a:latin typeface="Rockwell" panose="02060603020205020403" pitchFamily="18" charset="0"/>
                        </a:rPr>
                        <a:t>2a.  Monitoring déjà arrêté: </a:t>
                      </a:r>
                      <a:r>
                        <a:rPr lang="fr-FR" dirty="0">
                          <a:latin typeface="Rockwell" panose="02060603020205020403" pitchFamily="18" charset="0"/>
                        </a:rPr>
                        <a:t>Si le monitoring est déjà désactivé, le système affiche un message: « surveillance  inactive ».</a:t>
                      </a:r>
                    </a:p>
                  </a:txBody>
                  <a:tcPr/>
                </a:tc>
                <a:extLst>
                  <a:ext uri="{0D108BD9-81ED-4DB2-BD59-A6C34878D82A}">
                    <a16:rowId xmlns:a16="http://schemas.microsoft.com/office/drawing/2014/main" val="372454093"/>
                  </a:ext>
                </a:extLst>
              </a:tr>
              <a:tr h="1355127">
                <a:tc>
                  <a:txBody>
                    <a:bodyPr/>
                    <a:lstStyle/>
                    <a:p>
                      <a:r>
                        <a:rPr lang="fr-FR" dirty="0">
                          <a:latin typeface="Rockwell" panose="02060603020205020403" pitchFamily="18" charset="0"/>
                        </a:rPr>
                        <a:t>Post condition</a:t>
                      </a:r>
                    </a:p>
                  </a:txBody>
                  <a:tcPr/>
                </a:tc>
                <a:tc>
                  <a:txBody>
                    <a:bodyPr/>
                    <a:lstStyle/>
                    <a:p>
                      <a:r>
                        <a:rPr lang="fr-FR" b="1" dirty="0">
                          <a:latin typeface="Rockwell" panose="02060603020205020403" pitchFamily="18" charset="0"/>
                        </a:rPr>
                        <a:t>Succès: </a:t>
                      </a:r>
                      <a:r>
                        <a:rPr lang="fr-FR" dirty="0">
                          <a:latin typeface="Rockwell" panose="02060603020205020403" pitchFamily="18" charset="0"/>
                        </a:rPr>
                        <a:t>Le monitoring arrêté:</a:t>
                      </a:r>
                    </a:p>
                    <a:p>
                      <a:pPr marL="285750" indent="-285750">
                        <a:buFont typeface="Wingdings" panose="05000000000000000000" pitchFamily="2" charset="2"/>
                        <a:buChar char="Ø"/>
                      </a:pPr>
                      <a:r>
                        <a:rPr lang="fr-FR" dirty="0">
                          <a:latin typeface="Rockwell" panose="02060603020205020403" pitchFamily="18" charset="0"/>
                        </a:rPr>
                        <a:t>Le monitoring est désactivé.</a:t>
                      </a:r>
                    </a:p>
                    <a:p>
                      <a:pPr marL="285750" indent="-285750">
                        <a:buFont typeface="Wingdings" panose="05000000000000000000" pitchFamily="2" charset="2"/>
                        <a:buChar char="Ø"/>
                      </a:pPr>
                      <a:r>
                        <a:rPr lang="fr-FR" dirty="0">
                          <a:latin typeface="Rockwell" panose="02060603020205020403" pitchFamily="18" charset="0"/>
                        </a:rPr>
                        <a:t>La collecte des données I/O disque est interrompue.</a:t>
                      </a:r>
                    </a:p>
                    <a:p>
                      <a:pPr marL="285750" indent="-285750">
                        <a:buFont typeface="Wingdings" panose="05000000000000000000" pitchFamily="2" charset="2"/>
                        <a:buChar char="Ø"/>
                      </a:pPr>
                      <a:r>
                        <a:rPr lang="fr-FR" dirty="0">
                          <a:latin typeface="Rockwell" panose="02060603020205020403" pitchFamily="18" charset="0"/>
                        </a:rPr>
                        <a:t>Le tableau de bord n’affiche plus les données en temps réel.</a:t>
                      </a:r>
                    </a:p>
                    <a:p>
                      <a:pPr marL="0" indent="0">
                        <a:buFont typeface="Wingdings" panose="05000000000000000000" pitchFamily="2" charset="2"/>
                        <a:buNone/>
                      </a:pPr>
                      <a:r>
                        <a:rPr lang="fr-FR" dirty="0">
                          <a:latin typeface="Rockwell" panose="02060603020205020403" pitchFamily="18" charset="0"/>
                        </a:rPr>
                        <a:t>Echec: Le monitoring était déjà arrêté</a:t>
                      </a:r>
                    </a:p>
                  </a:txBody>
                  <a:tcPr/>
                </a:tc>
                <a:extLst>
                  <a:ext uri="{0D108BD9-81ED-4DB2-BD59-A6C34878D82A}">
                    <a16:rowId xmlns:a16="http://schemas.microsoft.com/office/drawing/2014/main" val="2273264968"/>
                  </a:ext>
                </a:extLst>
              </a:tr>
            </a:tbl>
          </a:graphicData>
        </a:graphic>
      </p:graphicFrame>
      <p:sp>
        <p:nvSpPr>
          <p:cNvPr id="16" name="Oval 15">
            <a:extLst>
              <a:ext uri="{FF2B5EF4-FFF2-40B4-BE49-F238E27FC236}">
                <a16:creationId xmlns:a16="http://schemas.microsoft.com/office/drawing/2014/main" id="{243869F4-D165-4010-4BFD-BB51E8EE43AC}"/>
              </a:ext>
            </a:extLst>
          </p:cNvPr>
          <p:cNvSpPr/>
          <p:nvPr/>
        </p:nvSpPr>
        <p:spPr>
          <a:xfrm>
            <a:off x="11491415" y="6405351"/>
            <a:ext cx="63651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21</a:t>
            </a:r>
            <a:endParaRPr lang="en-US" dirty="0">
              <a:latin typeface="Amasis MT Pro Medium" panose="02040604050005020304" pitchFamily="18" charset="0"/>
            </a:endParaRPr>
          </a:p>
        </p:txBody>
      </p:sp>
    </p:spTree>
    <p:extLst>
      <p:ext uri="{BB962C8B-B14F-4D97-AF65-F5344CB8AC3E}">
        <p14:creationId xmlns:p14="http://schemas.microsoft.com/office/powerpoint/2010/main" val="3954720555"/>
      </p:ext>
    </p:extLst>
  </p:cSld>
  <p:clrMapOvr>
    <a:masterClrMapping/>
  </p:clrMapOvr>
  <p:transition spd="slow">
    <p:wheel spokes="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DA922-2CB8-2854-A33A-A2745BA59F8E}"/>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CE99A259-6FE8-9EE1-7271-A73BC7CC9D4C}"/>
              </a:ext>
            </a:extLst>
          </p:cNvPr>
          <p:cNvSpPr/>
          <p:nvPr/>
        </p:nvSpPr>
        <p:spPr>
          <a:xfrm>
            <a:off x="0" y="0"/>
            <a:ext cx="61414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21</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43F84C81-B8EE-A616-590D-C28428254BCF}"/>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9" name="Rectangle: Rounded Corners 3">
            <a:extLst>
              <a:ext uri="{FF2B5EF4-FFF2-40B4-BE49-F238E27FC236}">
                <a16:creationId xmlns:a16="http://schemas.microsoft.com/office/drawing/2014/main" id="{0E39D10F-2280-82C0-76DA-EC65E6F19B02}"/>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graphicFrame>
        <p:nvGraphicFramePr>
          <p:cNvPr id="10" name="Tableau 9">
            <a:extLst>
              <a:ext uri="{FF2B5EF4-FFF2-40B4-BE49-F238E27FC236}">
                <a16:creationId xmlns:a16="http://schemas.microsoft.com/office/drawing/2014/main" id="{E8BC6764-EFC1-A876-65FB-1470BEFF7579}"/>
              </a:ext>
            </a:extLst>
          </p:cNvPr>
          <p:cNvGraphicFramePr>
            <a:graphicFrameLocks noGrp="1"/>
          </p:cNvGraphicFramePr>
          <p:nvPr>
            <p:extLst>
              <p:ext uri="{D42A27DB-BD31-4B8C-83A1-F6EECF244321}">
                <p14:modId xmlns:p14="http://schemas.microsoft.com/office/powerpoint/2010/main" val="3274321437"/>
              </p:ext>
            </p:extLst>
          </p:nvPr>
        </p:nvGraphicFramePr>
        <p:xfrm>
          <a:off x="3725838" y="499185"/>
          <a:ext cx="8402089" cy="6492240"/>
        </p:xfrm>
        <a:graphic>
          <a:graphicData uri="http://schemas.openxmlformats.org/drawingml/2006/table">
            <a:tbl>
              <a:tblPr firstRow="1" bandRow="1">
                <a:tableStyleId>{5C22544A-7EE6-4342-B048-85BDC9FD1C3A}</a:tableStyleId>
              </a:tblPr>
              <a:tblGrid>
                <a:gridCol w="2821597">
                  <a:extLst>
                    <a:ext uri="{9D8B030D-6E8A-4147-A177-3AD203B41FA5}">
                      <a16:colId xmlns:a16="http://schemas.microsoft.com/office/drawing/2014/main" val="1003667149"/>
                    </a:ext>
                  </a:extLst>
                </a:gridCol>
                <a:gridCol w="5580492">
                  <a:extLst>
                    <a:ext uri="{9D8B030D-6E8A-4147-A177-3AD203B41FA5}">
                      <a16:colId xmlns:a16="http://schemas.microsoft.com/office/drawing/2014/main" val="595428454"/>
                    </a:ext>
                  </a:extLst>
                </a:gridCol>
              </a:tblGrid>
              <a:tr h="353102">
                <a:tc gridSpan="2">
                  <a:txBody>
                    <a:bodyPr/>
                    <a:lstStyle/>
                    <a:p>
                      <a:pPr algn="ctr"/>
                      <a:r>
                        <a:rPr lang="fr-FR" dirty="0">
                          <a:latin typeface="Rockwell" panose="02060603020205020403" pitchFamily="18" charset="0"/>
                        </a:rPr>
                        <a:t>Sommaire d’identification</a:t>
                      </a:r>
                    </a:p>
                  </a:txBody>
                  <a:tcPr/>
                </a:tc>
                <a:tc hMerge="1">
                  <a:txBody>
                    <a:bodyPr/>
                    <a:lstStyle/>
                    <a:p>
                      <a:endParaRPr lang="fr-FR"/>
                    </a:p>
                  </a:txBody>
                  <a:tcPr/>
                </a:tc>
                <a:extLst>
                  <a:ext uri="{0D108BD9-81ED-4DB2-BD59-A6C34878D82A}">
                    <a16:rowId xmlns:a16="http://schemas.microsoft.com/office/drawing/2014/main" val="376361771"/>
                  </a:ext>
                </a:extLst>
              </a:tr>
              <a:tr h="353102">
                <a:tc>
                  <a:txBody>
                    <a:bodyPr/>
                    <a:lstStyle/>
                    <a:p>
                      <a:r>
                        <a:rPr lang="fr-FR" dirty="0">
                          <a:latin typeface="Rockwell" panose="02060603020205020403" pitchFamily="18" charset="0"/>
                        </a:rPr>
                        <a:t>Titre du cas d’utilisation</a:t>
                      </a:r>
                    </a:p>
                  </a:txBody>
                  <a:tcPr/>
                </a:tc>
                <a:tc>
                  <a:txBody>
                    <a:bodyPr/>
                    <a:lstStyle/>
                    <a:p>
                      <a:r>
                        <a:rPr lang="fr-FR" b="0" dirty="0">
                          <a:latin typeface="Rockwell" panose="02060603020205020403" pitchFamily="18" charset="0"/>
                        </a:rPr>
                        <a:t>Visualiser évolution des I/O</a:t>
                      </a:r>
                      <a:endParaRPr lang="fr-FR" dirty="0">
                        <a:latin typeface="Rockwell" panose="02060603020205020403" pitchFamily="18" charset="0"/>
                      </a:endParaRPr>
                    </a:p>
                  </a:txBody>
                  <a:tcPr/>
                </a:tc>
                <a:extLst>
                  <a:ext uri="{0D108BD9-81ED-4DB2-BD59-A6C34878D82A}">
                    <a16:rowId xmlns:a16="http://schemas.microsoft.com/office/drawing/2014/main" val="240789732"/>
                  </a:ext>
                </a:extLst>
              </a:tr>
              <a:tr h="1147581">
                <a:tc>
                  <a:txBody>
                    <a:bodyPr/>
                    <a:lstStyle/>
                    <a:p>
                      <a:r>
                        <a:rPr lang="fr-FR" dirty="0">
                          <a:latin typeface="Rockwell" panose="02060603020205020403" pitchFamily="18" charset="0"/>
                        </a:rPr>
                        <a:t>Résumé</a:t>
                      </a:r>
                    </a:p>
                  </a:txBody>
                  <a:tcPr/>
                </a:tc>
                <a:tc>
                  <a:txBody>
                    <a:bodyPr/>
                    <a:lstStyle/>
                    <a:p>
                      <a:pPr algn="just"/>
                      <a:r>
                        <a:rPr lang="fr-FR" dirty="0">
                          <a:latin typeface="Rockwell" panose="02060603020205020403" pitchFamily="18" charset="0"/>
                        </a:rPr>
                        <a:t>Permettre à l’administrateur de suivre l’évolution des opérations d’entrées/sorties disque (lecture et écriture) afin d’analyser le comportement du sous-système de stockage dans le temps.</a:t>
                      </a:r>
                    </a:p>
                  </a:txBody>
                  <a:tcPr/>
                </a:tc>
                <a:extLst>
                  <a:ext uri="{0D108BD9-81ED-4DB2-BD59-A6C34878D82A}">
                    <a16:rowId xmlns:a16="http://schemas.microsoft.com/office/drawing/2014/main" val="372454093"/>
                  </a:ext>
                </a:extLst>
              </a:tr>
              <a:tr h="353102">
                <a:tc>
                  <a:txBody>
                    <a:bodyPr/>
                    <a:lstStyle/>
                    <a:p>
                      <a:r>
                        <a:rPr lang="fr-FR" dirty="0">
                          <a:latin typeface="Rockwell" panose="02060603020205020403" pitchFamily="18" charset="0"/>
                        </a:rPr>
                        <a:t>Acteurs</a:t>
                      </a:r>
                    </a:p>
                  </a:txBody>
                  <a:tcPr/>
                </a:tc>
                <a:tc>
                  <a:txBody>
                    <a:bodyPr/>
                    <a:lstStyle/>
                    <a:p>
                      <a:r>
                        <a:rPr lang="fr-FR" b="0" dirty="0">
                          <a:latin typeface="Rockwell" panose="02060603020205020403" pitchFamily="18" charset="0"/>
                        </a:rPr>
                        <a:t>Administrateur </a:t>
                      </a:r>
                      <a:endParaRPr lang="fr-FR" dirty="0">
                        <a:latin typeface="Rockwell" panose="02060603020205020403" pitchFamily="18" charset="0"/>
                      </a:endParaRPr>
                    </a:p>
                  </a:txBody>
                  <a:tcPr/>
                </a:tc>
                <a:extLst>
                  <a:ext uri="{0D108BD9-81ED-4DB2-BD59-A6C34878D82A}">
                    <a16:rowId xmlns:a16="http://schemas.microsoft.com/office/drawing/2014/main" val="2273264968"/>
                  </a:ext>
                </a:extLst>
              </a:tr>
              <a:tr h="353102">
                <a:tc gridSpan="2">
                  <a:txBody>
                    <a:bodyPr/>
                    <a:lstStyle/>
                    <a:p>
                      <a:pPr algn="ctr"/>
                      <a:r>
                        <a:rPr lang="fr-FR" dirty="0">
                          <a:latin typeface="Rockwell" panose="02060603020205020403" pitchFamily="18" charset="0"/>
                        </a:rPr>
                        <a:t>Description des scénarios</a:t>
                      </a:r>
                    </a:p>
                  </a:txBody>
                  <a:tcPr/>
                </a:tc>
                <a:tc hMerge="1">
                  <a:txBody>
                    <a:bodyPr/>
                    <a:lstStyle/>
                    <a:p>
                      <a:endParaRPr lang="fr-FR"/>
                    </a:p>
                  </a:txBody>
                  <a:tcPr/>
                </a:tc>
                <a:extLst>
                  <a:ext uri="{0D108BD9-81ED-4DB2-BD59-A6C34878D82A}">
                    <a16:rowId xmlns:a16="http://schemas.microsoft.com/office/drawing/2014/main" val="1028027340"/>
                  </a:ext>
                </a:extLst>
              </a:tr>
              <a:tr h="617928">
                <a:tc>
                  <a:txBody>
                    <a:bodyPr/>
                    <a:lstStyle/>
                    <a:p>
                      <a:r>
                        <a:rPr lang="fr-FR" dirty="0">
                          <a:latin typeface="Rockwell" panose="02060603020205020403" pitchFamily="18" charset="0"/>
                        </a:rPr>
                        <a:t>Présupposé</a:t>
                      </a:r>
                    </a:p>
                  </a:txBody>
                  <a:tcPr/>
                </a:tc>
                <a:tc>
                  <a:txBody>
                    <a:bodyPr/>
                    <a:lstStyle/>
                    <a:p>
                      <a:r>
                        <a:rPr lang="fr-FR">
                          <a:latin typeface="Rockwell" panose="02060603020205020403" pitchFamily="18" charset="0"/>
                        </a:rPr>
                        <a:t>Saisir l’URL du site diskmonitor, et l’application focntionne correctement.</a:t>
                      </a:r>
                      <a:endParaRPr lang="fr-FR" dirty="0">
                        <a:latin typeface="Rockwell" panose="02060603020205020403" pitchFamily="18" charset="0"/>
                      </a:endParaRPr>
                    </a:p>
                  </a:txBody>
                  <a:tcPr/>
                </a:tc>
                <a:extLst>
                  <a:ext uri="{0D108BD9-81ED-4DB2-BD59-A6C34878D82A}">
                    <a16:rowId xmlns:a16="http://schemas.microsoft.com/office/drawing/2014/main" val="1768379858"/>
                  </a:ext>
                </a:extLst>
              </a:tr>
              <a:tr h="882755">
                <a:tc>
                  <a:txBody>
                    <a:bodyPr/>
                    <a:lstStyle/>
                    <a:p>
                      <a:r>
                        <a:rPr lang="fr-FR" dirty="0">
                          <a:latin typeface="Rockwell" panose="02060603020205020403" pitchFamily="18" charset="0"/>
                        </a:rPr>
                        <a:t>Préconditions </a:t>
                      </a:r>
                    </a:p>
                  </a:txBody>
                  <a:tcPr/>
                </a:tc>
                <a:tc>
                  <a:txBody>
                    <a:bodyPr/>
                    <a:lstStyle/>
                    <a:p>
                      <a:pPr marL="285750" indent="-285750">
                        <a:buFont typeface="Wingdings" panose="05000000000000000000" pitchFamily="2" charset="2"/>
                        <a:buChar char="Ø"/>
                      </a:pPr>
                      <a:r>
                        <a:rPr lang="fr-FR" dirty="0">
                          <a:latin typeface="Rockwell" panose="02060603020205020403" pitchFamily="18" charset="0"/>
                        </a:rPr>
                        <a:t>L’administrateur est authentifié sur la plateforme </a:t>
                      </a:r>
                      <a:r>
                        <a:rPr lang="fr-FR" dirty="0" err="1">
                          <a:latin typeface="Rockwell" panose="02060603020205020403" pitchFamily="18" charset="0"/>
                        </a:rPr>
                        <a:t>DiskMonitor</a:t>
                      </a:r>
                      <a:r>
                        <a:rPr lang="fr-FR" dirty="0">
                          <a:latin typeface="Rockwell" panose="02060603020205020403" pitchFamily="18" charset="0"/>
                        </a:rPr>
                        <a:t>.</a:t>
                      </a:r>
                    </a:p>
                    <a:p>
                      <a:pPr marL="285750" indent="-285750">
                        <a:buFont typeface="Wingdings" panose="05000000000000000000" pitchFamily="2" charset="2"/>
                        <a:buChar char="Ø"/>
                      </a:pPr>
                      <a:r>
                        <a:rPr lang="fr-FR" dirty="0">
                          <a:latin typeface="Rockwell" panose="02060603020205020403" pitchFamily="18" charset="0"/>
                        </a:rPr>
                        <a:t>Le monitoring est actif.</a:t>
                      </a:r>
                    </a:p>
                  </a:txBody>
                  <a:tcPr/>
                </a:tc>
                <a:extLst>
                  <a:ext uri="{0D108BD9-81ED-4DB2-BD59-A6C34878D82A}">
                    <a16:rowId xmlns:a16="http://schemas.microsoft.com/office/drawing/2014/main" val="3073038189"/>
                  </a:ext>
                </a:extLst>
              </a:tr>
              <a:tr h="1977421">
                <a:tc>
                  <a:txBody>
                    <a:bodyPr/>
                    <a:lstStyle/>
                    <a:p>
                      <a:r>
                        <a:rPr lang="fr-FR" dirty="0">
                          <a:latin typeface="Rockwell" panose="02060603020205020403" pitchFamily="18" charset="0"/>
                        </a:rPr>
                        <a:t>Scénario nominal</a:t>
                      </a:r>
                    </a:p>
                  </a:txBody>
                  <a:tcPr/>
                </a:tc>
                <a:tc>
                  <a:txBody>
                    <a:bodyPr/>
                    <a:lstStyle/>
                    <a:p>
                      <a:pPr marL="342900" indent="-342900" algn="just">
                        <a:buFont typeface="+mj-lt"/>
                        <a:buAutoNum type="arabicPeriod"/>
                      </a:pPr>
                      <a:r>
                        <a:rPr lang="fr-FR" dirty="0">
                          <a:latin typeface="Rockwell" panose="02060603020205020403" pitchFamily="18" charset="0"/>
                        </a:rPr>
                        <a:t>L’interface graphique affiche l’interface </a:t>
                      </a:r>
                      <a:r>
                        <a:rPr lang="fr-FR" dirty="0" err="1">
                          <a:latin typeface="Rockwell" panose="02060603020205020403" pitchFamily="18" charset="0"/>
                        </a:rPr>
                        <a:t>DiskMonitor</a:t>
                      </a:r>
                      <a:r>
                        <a:rPr lang="fr-FR" dirty="0">
                          <a:latin typeface="Rockwell" panose="02060603020205020403" pitchFamily="18" charset="0"/>
                        </a:rPr>
                        <a:t>.</a:t>
                      </a:r>
                    </a:p>
                    <a:p>
                      <a:pPr marL="342900" indent="-342900" algn="just">
                        <a:buFont typeface="+mj-lt"/>
                        <a:buAutoNum type="arabicPeriod"/>
                      </a:pPr>
                      <a:r>
                        <a:rPr lang="fr-FR" dirty="0">
                          <a:latin typeface="Rockwell" panose="02060603020205020403" pitchFamily="18" charset="0"/>
                        </a:rPr>
                        <a:t>L’admin clic sur le bouton </a:t>
                      </a:r>
                      <a:r>
                        <a:rPr lang="fr-FR" b="1" dirty="0">
                          <a:latin typeface="Rockwell" panose="02060603020205020403" pitchFamily="18" charset="0"/>
                        </a:rPr>
                        <a:t>« Visualiser l’évolution des I/O »</a:t>
                      </a:r>
                      <a:r>
                        <a:rPr lang="fr-FR" dirty="0">
                          <a:latin typeface="Rockwell" panose="02060603020205020403" pitchFamily="18" charset="0"/>
                        </a:rPr>
                        <a:t>.</a:t>
                      </a:r>
                    </a:p>
                    <a:p>
                      <a:pPr marL="342900" indent="-342900" algn="just">
                        <a:buFont typeface="+mj-lt"/>
                        <a:buAutoNum type="arabicPeriod"/>
                      </a:pPr>
                      <a:r>
                        <a:rPr lang="fr-FR" dirty="0">
                          <a:latin typeface="Rockwell" panose="02060603020205020403" pitchFamily="18" charset="0"/>
                        </a:rPr>
                        <a:t>L’interface graphique envoi la requête a API;</a:t>
                      </a:r>
                    </a:p>
                    <a:p>
                      <a:pPr marL="342900" indent="-342900" algn="just">
                        <a:buFont typeface="+mj-lt"/>
                        <a:buAutoNum type="arabicPeriod"/>
                      </a:pPr>
                      <a:r>
                        <a:rPr lang="fr-FR" dirty="0">
                          <a:latin typeface="Rockwell" panose="02060603020205020403" pitchFamily="18" charset="0"/>
                        </a:rPr>
                        <a:t>L’API envoi le requête a l’OS;</a:t>
                      </a:r>
                    </a:p>
                    <a:p>
                      <a:pPr marL="342900" indent="-342900" algn="just">
                        <a:buFont typeface="+mj-lt"/>
                        <a:buAutoNum type="arabicPeriod"/>
                      </a:pPr>
                      <a:r>
                        <a:rPr lang="fr-FR" dirty="0">
                          <a:latin typeface="Rockwell" panose="02060603020205020403" pitchFamily="18" charset="0"/>
                        </a:rPr>
                        <a:t>L’OS interroge le disque sélectionné et retourne les résultats;</a:t>
                      </a:r>
                    </a:p>
                  </a:txBody>
                  <a:tcPr/>
                </a:tc>
                <a:extLst>
                  <a:ext uri="{0D108BD9-81ED-4DB2-BD59-A6C34878D82A}">
                    <a16:rowId xmlns:a16="http://schemas.microsoft.com/office/drawing/2014/main" val="2400022534"/>
                  </a:ext>
                </a:extLst>
              </a:tr>
            </a:tbl>
          </a:graphicData>
        </a:graphic>
      </p:graphicFrame>
      <p:sp>
        <p:nvSpPr>
          <p:cNvPr id="16" name="Oval 15">
            <a:extLst>
              <a:ext uri="{FF2B5EF4-FFF2-40B4-BE49-F238E27FC236}">
                <a16:creationId xmlns:a16="http://schemas.microsoft.com/office/drawing/2014/main" id="{8E0EE4BE-4E21-F1C3-8F9D-D5AB1C77E441}"/>
              </a:ext>
            </a:extLst>
          </p:cNvPr>
          <p:cNvSpPr/>
          <p:nvPr/>
        </p:nvSpPr>
        <p:spPr>
          <a:xfrm>
            <a:off x="11491415" y="6405351"/>
            <a:ext cx="63651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22</a:t>
            </a:r>
            <a:endParaRPr lang="en-US" dirty="0">
              <a:latin typeface="Amasis MT Pro Medium" panose="02040604050005020304" pitchFamily="18" charset="0"/>
            </a:endParaRPr>
          </a:p>
        </p:txBody>
      </p:sp>
      <p:sp>
        <p:nvSpPr>
          <p:cNvPr id="2" name="Rectangle: Rounded Corners 4">
            <a:extLst>
              <a:ext uri="{FF2B5EF4-FFF2-40B4-BE49-F238E27FC236}">
                <a16:creationId xmlns:a16="http://schemas.microsoft.com/office/drawing/2014/main" id="{CDE66433-A1E6-8961-3022-E63DC74FFF80}"/>
              </a:ext>
            </a:extLst>
          </p:cNvPr>
          <p:cNvSpPr/>
          <p:nvPr/>
        </p:nvSpPr>
        <p:spPr>
          <a:xfrm>
            <a:off x="0" y="2856641"/>
            <a:ext cx="3524454"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Rockwell" panose="02060603020205020403" pitchFamily="18" charset="0"/>
              </a:rPr>
              <a:t>DESCRIPTION TEXTUELLE CAS Visualiser évolution des I/O</a:t>
            </a:r>
            <a:endParaRPr lang="en-US" b="1" dirty="0">
              <a:solidFill>
                <a:schemeClr val="bg1"/>
              </a:solidFill>
              <a:latin typeface="Rockwell" panose="02060603020205020403" pitchFamily="18" charset="0"/>
            </a:endParaRPr>
          </a:p>
        </p:txBody>
      </p:sp>
    </p:spTree>
    <p:extLst>
      <p:ext uri="{BB962C8B-B14F-4D97-AF65-F5344CB8AC3E}">
        <p14:creationId xmlns:p14="http://schemas.microsoft.com/office/powerpoint/2010/main" val="3131957515"/>
      </p:ext>
    </p:extLst>
  </p:cSld>
  <p:clrMapOvr>
    <a:masterClrMapping/>
  </p:clrMapOvr>
  <p:transition spd="slow">
    <p:wheel spokes="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F18BF-12E5-E6A0-5008-DC9227A7C1BB}"/>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8EEE9388-06E6-DB91-5FEF-A32A4EA69444}"/>
              </a:ext>
            </a:extLst>
          </p:cNvPr>
          <p:cNvSpPr/>
          <p:nvPr/>
        </p:nvSpPr>
        <p:spPr>
          <a:xfrm>
            <a:off x="0" y="0"/>
            <a:ext cx="627797"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22</a:t>
            </a:r>
            <a:endParaRPr lang="en-US" dirty="0">
              <a:latin typeface="Rockwell" panose="02060603020205020403" pitchFamily="18" charset="0"/>
            </a:endParaRPr>
          </a:p>
        </p:txBody>
      </p:sp>
      <p:sp>
        <p:nvSpPr>
          <p:cNvPr id="12" name="Rectangle 11">
            <a:extLst>
              <a:ext uri="{FF2B5EF4-FFF2-40B4-BE49-F238E27FC236}">
                <a16:creationId xmlns:a16="http://schemas.microsoft.com/office/drawing/2014/main" id="{CD973D53-CC21-5616-40E6-D7672CC0CB47}"/>
              </a:ext>
            </a:extLst>
          </p:cNvPr>
          <p:cNvSpPr/>
          <p:nvPr/>
        </p:nvSpPr>
        <p:spPr>
          <a:xfrm>
            <a:off x="164815" y="4679616"/>
            <a:ext cx="4092606" cy="5007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6">
                  <a:lumMod val="75000"/>
                </a:schemeClr>
              </a:solidFill>
              <a:latin typeface="Rockwell" panose="02060603020205020403" pitchFamily="18" charset="0"/>
            </a:endParaRPr>
          </a:p>
        </p:txBody>
      </p:sp>
      <p:sp>
        <p:nvSpPr>
          <p:cNvPr id="137" name="Rectangle: Rounded Corners 4">
            <a:extLst>
              <a:ext uri="{FF2B5EF4-FFF2-40B4-BE49-F238E27FC236}">
                <a16:creationId xmlns:a16="http://schemas.microsoft.com/office/drawing/2014/main" id="{DE02209A-55F2-801F-C725-EF0552DFB34E}"/>
              </a:ext>
            </a:extLst>
          </p:cNvPr>
          <p:cNvSpPr/>
          <p:nvPr/>
        </p:nvSpPr>
        <p:spPr>
          <a:xfrm>
            <a:off x="0" y="2856641"/>
            <a:ext cx="3524454"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Rockwell" panose="02060603020205020403" pitchFamily="18" charset="0"/>
              </a:rPr>
              <a:t>DESCRIPTION TEXTUELLE CAS Arrêter monitoring</a:t>
            </a:r>
            <a:endParaRPr lang="en-US" b="1" dirty="0">
              <a:solidFill>
                <a:schemeClr val="bg1"/>
              </a:solidFill>
              <a:latin typeface="Rockwell" panose="02060603020205020403" pitchFamily="18" charset="0"/>
            </a:endParaRPr>
          </a:p>
        </p:txBody>
      </p:sp>
      <p:sp>
        <p:nvSpPr>
          <p:cNvPr id="9" name="Rectangle: Rounded Corners 3">
            <a:extLst>
              <a:ext uri="{FF2B5EF4-FFF2-40B4-BE49-F238E27FC236}">
                <a16:creationId xmlns:a16="http://schemas.microsoft.com/office/drawing/2014/main" id="{A8CECB18-CA0C-D841-6FCD-80DE7248FE9C}"/>
              </a:ext>
            </a:extLst>
          </p:cNvPr>
          <p:cNvSpPr/>
          <p:nvPr/>
        </p:nvSpPr>
        <p:spPr>
          <a:xfrm>
            <a:off x="5802086" y="0"/>
            <a:ext cx="63899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DIAGRAMMES INTERVENANTS: Diagramme de Use Case</a:t>
            </a:r>
            <a:endParaRPr lang="en-US" dirty="0">
              <a:latin typeface="Rockwell" panose="02060603020205020403" pitchFamily="18" charset="0"/>
            </a:endParaRPr>
          </a:p>
        </p:txBody>
      </p:sp>
      <p:graphicFrame>
        <p:nvGraphicFramePr>
          <p:cNvPr id="10" name="Tableau 9">
            <a:extLst>
              <a:ext uri="{FF2B5EF4-FFF2-40B4-BE49-F238E27FC236}">
                <a16:creationId xmlns:a16="http://schemas.microsoft.com/office/drawing/2014/main" id="{F88380F0-76F3-31CE-1AFC-50EFB6D9751B}"/>
              </a:ext>
            </a:extLst>
          </p:cNvPr>
          <p:cNvGraphicFramePr>
            <a:graphicFrameLocks noGrp="1"/>
          </p:cNvGraphicFramePr>
          <p:nvPr>
            <p:extLst>
              <p:ext uri="{D42A27DB-BD31-4B8C-83A1-F6EECF244321}">
                <p14:modId xmlns:p14="http://schemas.microsoft.com/office/powerpoint/2010/main" val="892034499"/>
              </p:ext>
            </p:extLst>
          </p:nvPr>
        </p:nvGraphicFramePr>
        <p:xfrm>
          <a:off x="3725839" y="635659"/>
          <a:ext cx="8128000" cy="5909153"/>
        </p:xfrm>
        <a:graphic>
          <a:graphicData uri="http://schemas.openxmlformats.org/drawingml/2006/table">
            <a:tbl>
              <a:tblPr firstRow="1" bandRow="1">
                <a:tableStyleId>{5C22544A-7EE6-4342-B048-85BDC9FD1C3A}</a:tableStyleId>
              </a:tblPr>
              <a:tblGrid>
                <a:gridCol w="2770495">
                  <a:extLst>
                    <a:ext uri="{9D8B030D-6E8A-4147-A177-3AD203B41FA5}">
                      <a16:colId xmlns:a16="http://schemas.microsoft.com/office/drawing/2014/main" val="1003667149"/>
                    </a:ext>
                  </a:extLst>
                </a:gridCol>
                <a:gridCol w="5357505">
                  <a:extLst>
                    <a:ext uri="{9D8B030D-6E8A-4147-A177-3AD203B41FA5}">
                      <a16:colId xmlns:a16="http://schemas.microsoft.com/office/drawing/2014/main" val="4213516898"/>
                    </a:ext>
                  </a:extLst>
                </a:gridCol>
              </a:tblGrid>
              <a:tr h="422753">
                <a:tc gridSpan="2">
                  <a:txBody>
                    <a:bodyPr/>
                    <a:lstStyle/>
                    <a:p>
                      <a:pPr algn="ctr"/>
                      <a:r>
                        <a:rPr lang="fr-FR" dirty="0">
                          <a:latin typeface="Rockwell" panose="02060603020205020403" pitchFamily="18" charset="0"/>
                        </a:rPr>
                        <a:t>Sommaire d’identification</a:t>
                      </a:r>
                    </a:p>
                  </a:txBody>
                  <a:tcPr/>
                </a:tc>
                <a:tc hMerge="1">
                  <a:txBody>
                    <a:bodyPr/>
                    <a:lstStyle/>
                    <a:p>
                      <a:endParaRPr lang="fr-FR"/>
                    </a:p>
                  </a:txBody>
                  <a:tcPr/>
                </a:tc>
                <a:extLst>
                  <a:ext uri="{0D108BD9-81ED-4DB2-BD59-A6C34878D82A}">
                    <a16:rowId xmlns:a16="http://schemas.microsoft.com/office/drawing/2014/main" val="376361771"/>
                  </a:ext>
                </a:extLst>
              </a:tr>
              <a:tr h="951193">
                <a:tc>
                  <a:txBody>
                    <a:bodyPr/>
                    <a:lstStyle/>
                    <a:p>
                      <a:r>
                        <a:rPr lang="fr-FR" dirty="0">
                          <a:latin typeface="Rockwell" panose="02060603020205020403" pitchFamily="18" charset="0"/>
                        </a:rPr>
                        <a:t>Scénario nominal</a:t>
                      </a:r>
                    </a:p>
                  </a:txBody>
                  <a:tcPr/>
                </a:tc>
                <a:tc>
                  <a:txBody>
                    <a:bodyPr/>
                    <a:lstStyle/>
                    <a:p>
                      <a:pPr marL="342900" indent="-342900" algn="just">
                        <a:buFont typeface="+mj-lt"/>
                        <a:buAutoNum type="arabicPeriod" startAt="4"/>
                      </a:pPr>
                      <a:r>
                        <a:rPr lang="fr-FR" dirty="0">
                          <a:latin typeface="Rockwell" panose="02060603020205020403" pitchFamily="18" charset="0"/>
                        </a:rPr>
                        <a:t>L’OS transmet la réponse à l’API qui interprète le résultat;</a:t>
                      </a:r>
                    </a:p>
                    <a:p>
                      <a:pPr marL="342900" indent="-342900" algn="just">
                        <a:buFont typeface="+mj-lt"/>
                        <a:buAutoNum type="arabicPeriod" startAt="4"/>
                      </a:pPr>
                      <a:r>
                        <a:rPr lang="fr-FR" dirty="0">
                          <a:latin typeface="Rockwell" panose="02060603020205020403" pitchFamily="18" charset="0"/>
                        </a:rPr>
                        <a:t>L’interface graphique affiche les données sous forme graphique, statistiques ou tabulaire;</a:t>
                      </a:r>
                    </a:p>
                    <a:p>
                      <a:pPr marL="342900" indent="-342900" algn="just">
                        <a:buFont typeface="+mj-lt"/>
                        <a:buAutoNum type="arabicPeriod" startAt="4"/>
                      </a:pPr>
                      <a:endParaRPr lang="fr-FR" dirty="0">
                        <a:latin typeface="Rockwell" panose="02060603020205020403" pitchFamily="18" charset="0"/>
                      </a:endParaRPr>
                    </a:p>
                    <a:p>
                      <a:pPr marL="342900" indent="-342900" algn="just">
                        <a:buFont typeface="+mj-lt"/>
                        <a:buAutoNum type="arabicPeriod" startAt="4"/>
                      </a:pPr>
                      <a:r>
                        <a:rPr lang="fr-FR" dirty="0">
                          <a:latin typeface="Rockwell" panose="02060603020205020403" pitchFamily="18" charset="0"/>
                        </a:rPr>
                        <a:t>L’administrateur observe l’évolution instantanée des I/O disque.</a:t>
                      </a:r>
                    </a:p>
                  </a:txBody>
                  <a:tcPr/>
                </a:tc>
                <a:extLst>
                  <a:ext uri="{0D108BD9-81ED-4DB2-BD59-A6C34878D82A}">
                    <a16:rowId xmlns:a16="http://schemas.microsoft.com/office/drawing/2014/main" val="240789732"/>
                  </a:ext>
                </a:extLst>
              </a:tr>
              <a:tr h="0">
                <a:tc>
                  <a:txBody>
                    <a:bodyPr/>
                    <a:lstStyle/>
                    <a:p>
                      <a:r>
                        <a:rPr lang="fr-FR" dirty="0">
                          <a:latin typeface="Rockwell" panose="02060603020205020403" pitchFamily="18" charset="0"/>
                        </a:rPr>
                        <a:t>Scénario alternatif</a:t>
                      </a:r>
                    </a:p>
                  </a:txBody>
                  <a:tcPr/>
                </a:tc>
                <a:tc>
                  <a:txBody>
                    <a:bodyPr/>
                    <a:lstStyle/>
                    <a:p>
                      <a:pPr algn="just"/>
                      <a:r>
                        <a:rPr lang="fr-FR" b="1" dirty="0">
                          <a:latin typeface="Rockwell" panose="02060603020205020403" pitchFamily="18" charset="0"/>
                        </a:rPr>
                        <a:t> 2a. Monitoring inactif: </a:t>
                      </a:r>
                      <a:r>
                        <a:rPr lang="fr-FR" dirty="0">
                          <a:latin typeface="Rockwell" panose="02060603020205020403" pitchFamily="18" charset="0"/>
                        </a:rPr>
                        <a:t>Si le monitoring n’est pas actif, le système informe l’administrateur qu’aucune donnée en temps réel n’est disponible</a:t>
                      </a:r>
                    </a:p>
                  </a:txBody>
                  <a:tcPr/>
                </a:tc>
                <a:extLst>
                  <a:ext uri="{0D108BD9-81ED-4DB2-BD59-A6C34878D82A}">
                    <a16:rowId xmlns:a16="http://schemas.microsoft.com/office/drawing/2014/main" val="372454093"/>
                  </a:ext>
                </a:extLst>
              </a:tr>
              <a:tr h="1355127">
                <a:tc>
                  <a:txBody>
                    <a:bodyPr/>
                    <a:lstStyle/>
                    <a:p>
                      <a:r>
                        <a:rPr lang="fr-FR" dirty="0">
                          <a:latin typeface="Rockwell" panose="02060603020205020403" pitchFamily="18" charset="0"/>
                        </a:rPr>
                        <a:t>Post condition</a:t>
                      </a:r>
                    </a:p>
                  </a:txBody>
                  <a:tcPr/>
                </a:tc>
                <a:tc>
                  <a:txBody>
                    <a:bodyPr/>
                    <a:lstStyle/>
                    <a:p>
                      <a:r>
                        <a:rPr lang="fr-FR" b="1" dirty="0">
                          <a:latin typeface="Rockwell" panose="02060603020205020403" pitchFamily="18" charset="0"/>
                        </a:rPr>
                        <a:t>Succès: </a:t>
                      </a:r>
                      <a:r>
                        <a:rPr lang="fr-FR" dirty="0">
                          <a:latin typeface="Rockwell" panose="02060603020205020403" pitchFamily="18" charset="0"/>
                        </a:rPr>
                        <a:t>Le monitoring actif:</a:t>
                      </a:r>
                    </a:p>
                    <a:p>
                      <a:pPr marL="285750" indent="-285750" algn="just">
                        <a:buFont typeface="Wingdings" panose="05000000000000000000" pitchFamily="2" charset="2"/>
                        <a:buChar char="Ø"/>
                      </a:pPr>
                      <a:r>
                        <a:rPr lang="fr-FR" dirty="0">
                          <a:latin typeface="Rockwell" panose="02060603020205020403" pitchFamily="18" charset="0"/>
                        </a:rPr>
                        <a:t>Les données I/O disque sont affichées sous forme d’évolution temporelle.</a:t>
                      </a:r>
                    </a:p>
                    <a:p>
                      <a:pPr marL="285750" indent="-285750" algn="just">
                        <a:buFont typeface="Wingdings" panose="05000000000000000000" pitchFamily="2" charset="2"/>
                        <a:buChar char="Ø"/>
                      </a:pPr>
                      <a:r>
                        <a:rPr lang="fr-FR" dirty="0">
                          <a:latin typeface="Rockwell" panose="02060603020205020403" pitchFamily="18" charset="0"/>
                        </a:rPr>
                        <a:t>L’administrateur dispose d’une vue claire sur les variations d’activité disque</a:t>
                      </a:r>
                    </a:p>
                    <a:p>
                      <a:pPr marL="0" indent="0">
                        <a:buFont typeface="Wingdings" panose="05000000000000000000" pitchFamily="2" charset="2"/>
                        <a:buNone/>
                      </a:pPr>
                      <a:r>
                        <a:rPr lang="fr-FR" b="1" dirty="0">
                          <a:latin typeface="Rockwell" panose="02060603020205020403" pitchFamily="18" charset="0"/>
                        </a:rPr>
                        <a:t>Echec</a:t>
                      </a:r>
                      <a:r>
                        <a:rPr lang="fr-FR" dirty="0">
                          <a:latin typeface="Rockwell" panose="02060603020205020403" pitchFamily="18" charset="0"/>
                        </a:rPr>
                        <a:t>: Le monitoring déjà arrêté: rien n’est affiché.</a:t>
                      </a:r>
                    </a:p>
                  </a:txBody>
                  <a:tcPr/>
                </a:tc>
                <a:extLst>
                  <a:ext uri="{0D108BD9-81ED-4DB2-BD59-A6C34878D82A}">
                    <a16:rowId xmlns:a16="http://schemas.microsoft.com/office/drawing/2014/main" val="2273264968"/>
                  </a:ext>
                </a:extLst>
              </a:tr>
            </a:tbl>
          </a:graphicData>
        </a:graphic>
      </p:graphicFrame>
      <p:sp>
        <p:nvSpPr>
          <p:cNvPr id="16" name="Oval 15">
            <a:extLst>
              <a:ext uri="{FF2B5EF4-FFF2-40B4-BE49-F238E27FC236}">
                <a16:creationId xmlns:a16="http://schemas.microsoft.com/office/drawing/2014/main" id="{44D7F5F0-E513-C52C-E95C-99C163A87F3A}"/>
              </a:ext>
            </a:extLst>
          </p:cNvPr>
          <p:cNvSpPr/>
          <p:nvPr/>
        </p:nvSpPr>
        <p:spPr>
          <a:xfrm>
            <a:off x="11491415" y="6405351"/>
            <a:ext cx="636513"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23</a:t>
            </a:r>
            <a:endParaRPr lang="en-US" dirty="0">
              <a:latin typeface="Amasis MT Pro Medium" panose="02040604050005020304" pitchFamily="18" charset="0"/>
            </a:endParaRPr>
          </a:p>
        </p:txBody>
      </p:sp>
    </p:spTree>
    <p:extLst>
      <p:ext uri="{BB962C8B-B14F-4D97-AF65-F5344CB8AC3E}">
        <p14:creationId xmlns:p14="http://schemas.microsoft.com/office/powerpoint/2010/main" val="1743872501"/>
      </p:ext>
    </p:extLst>
  </p:cSld>
  <p:clrMapOvr>
    <a:masterClrMapping/>
  </p:clrMapOvr>
  <p:transition spd="slow">
    <p:wheel spokes="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4917041-BD5E-4A22-8404-B5AB995C08DC}"/>
              </a:ext>
            </a:extLst>
          </p:cNvPr>
          <p:cNvGrpSpPr/>
          <p:nvPr/>
        </p:nvGrpSpPr>
        <p:grpSpPr>
          <a:xfrm>
            <a:off x="0" y="1045029"/>
            <a:ext cx="3559960" cy="2731658"/>
            <a:chOff x="0" y="1045029"/>
            <a:chExt cx="3559960" cy="2731658"/>
          </a:xfrm>
          <a:solidFill>
            <a:schemeClr val="accent1"/>
          </a:solidFill>
        </p:grpSpPr>
        <p:cxnSp>
          <p:nvCxnSpPr>
            <p:cNvPr id="2" name="Straight Connector 1">
              <a:extLst>
                <a:ext uri="{FF2B5EF4-FFF2-40B4-BE49-F238E27FC236}">
                  <a16:creationId xmlns:a16="http://schemas.microsoft.com/office/drawing/2014/main" id="{010BE4E3-358D-4461-BCBE-1B39A4B736A6}"/>
                </a:ext>
              </a:extLst>
            </p:cNvPr>
            <p:cNvCxnSpPr>
              <a:cxnSpLocks/>
            </p:cNvCxnSpPr>
            <p:nvPr/>
          </p:nvCxnSpPr>
          <p:spPr>
            <a:xfrm>
              <a:off x="1516743" y="1672337"/>
              <a:ext cx="2043217" cy="2104350"/>
            </a:xfrm>
            <a:prstGeom prst="line">
              <a:avLst/>
            </a:prstGeom>
            <a:grpFill/>
            <a:ln w="149225">
              <a:solidFill>
                <a:schemeClr val="accent6">
                  <a:lumMod val="75000"/>
                </a:schemeClr>
              </a:solidFill>
            </a:ln>
            <a:scene3d>
              <a:camera prst="orthographicFront"/>
              <a:lightRig rig="threePt" dir="t"/>
            </a:scene3d>
            <a:sp3d>
              <a:bevelT w="139700" h="139700" prst="divot"/>
            </a:sp3d>
          </p:spPr>
          <p:style>
            <a:lnRef idx="3">
              <a:schemeClr val="accent1"/>
            </a:lnRef>
            <a:fillRef idx="0">
              <a:schemeClr val="accent1"/>
            </a:fillRef>
            <a:effectRef idx="2">
              <a:schemeClr val="accent1"/>
            </a:effectRef>
            <a:fontRef idx="minor">
              <a:schemeClr val="tx1"/>
            </a:fontRef>
          </p:style>
        </p:cxnSp>
        <p:sp>
          <p:nvSpPr>
            <p:cNvPr id="3" name="Rectangle 2">
              <a:extLst>
                <a:ext uri="{FF2B5EF4-FFF2-40B4-BE49-F238E27FC236}">
                  <a16:creationId xmlns:a16="http://schemas.microsoft.com/office/drawing/2014/main" id="{1EA68055-5741-4CCF-8235-FF3E0CDD4D54}"/>
                </a:ext>
              </a:extLst>
            </p:cNvPr>
            <p:cNvSpPr/>
            <p:nvPr/>
          </p:nvSpPr>
          <p:spPr>
            <a:xfrm>
              <a:off x="0" y="1045029"/>
              <a:ext cx="2856178" cy="50074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chemeClr val="bg1"/>
                  </a:solidFill>
                  <a:latin typeface="Rockwell" panose="02060603020205020403" pitchFamily="18" charset="0"/>
                </a:rPr>
                <a:t>Branche fonctionnelle</a:t>
              </a:r>
              <a:endParaRPr lang="en-US" sz="2000" dirty="0">
                <a:solidFill>
                  <a:schemeClr val="bg1"/>
                </a:solidFill>
                <a:latin typeface="Rockwell" panose="02060603020205020403" pitchFamily="18" charset="0"/>
              </a:endParaRPr>
            </a:p>
          </p:txBody>
        </p:sp>
        <p:sp>
          <p:nvSpPr>
            <p:cNvPr id="4" name="Rectangle: Rounded Corners 3">
              <a:extLst>
                <a:ext uri="{FF2B5EF4-FFF2-40B4-BE49-F238E27FC236}">
                  <a16:creationId xmlns:a16="http://schemas.microsoft.com/office/drawing/2014/main" id="{8B631A3B-EF47-492F-9069-47CD55F9A2C4}"/>
                </a:ext>
              </a:extLst>
            </p:cNvPr>
            <p:cNvSpPr/>
            <p:nvPr/>
          </p:nvSpPr>
          <p:spPr>
            <a:xfrm>
              <a:off x="511629" y="1970314"/>
              <a:ext cx="2856178"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Capture des besoins fonctionnels</a:t>
              </a:r>
              <a:endParaRPr lang="en-US" dirty="0">
                <a:latin typeface="Rockwell" panose="02060603020205020403" pitchFamily="18" charset="0"/>
              </a:endParaRPr>
            </a:p>
          </p:txBody>
        </p:sp>
        <p:sp>
          <p:nvSpPr>
            <p:cNvPr id="5" name="Rectangle: Rounded Corners 4">
              <a:extLst>
                <a:ext uri="{FF2B5EF4-FFF2-40B4-BE49-F238E27FC236}">
                  <a16:creationId xmlns:a16="http://schemas.microsoft.com/office/drawing/2014/main" id="{223EEB10-BFEE-4268-9F66-DD1213F1E1D1}"/>
                </a:ext>
              </a:extLst>
            </p:cNvPr>
            <p:cNvSpPr/>
            <p:nvPr/>
          </p:nvSpPr>
          <p:spPr>
            <a:xfrm>
              <a:off x="936190" y="2661229"/>
              <a:ext cx="2623770" cy="500742"/>
            </a:xfrm>
            <a:prstGeom prst="roundRect">
              <a:avLst>
                <a:gd name="adj" fmla="val 3323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Analyse </a:t>
              </a:r>
              <a:endParaRPr lang="en-US" dirty="0">
                <a:latin typeface="Rockwell" panose="02060603020205020403" pitchFamily="18" charset="0"/>
              </a:endParaRPr>
            </a:p>
          </p:txBody>
        </p:sp>
      </p:grpSp>
      <p:sp>
        <p:nvSpPr>
          <p:cNvPr id="7" name="Rectangle: Rounded Corners 6">
            <a:extLst>
              <a:ext uri="{FF2B5EF4-FFF2-40B4-BE49-F238E27FC236}">
                <a16:creationId xmlns:a16="http://schemas.microsoft.com/office/drawing/2014/main" id="{F6D7DE6F-9C09-4374-9037-20734AC7DCEC}"/>
              </a:ext>
            </a:extLst>
          </p:cNvPr>
          <p:cNvSpPr/>
          <p:nvPr/>
        </p:nvSpPr>
        <p:spPr>
          <a:xfrm>
            <a:off x="6324600" y="0"/>
            <a:ext cx="5867400"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METHODOLOGIE: Diagramme de cas d’utilisation</a:t>
            </a:r>
            <a:endParaRPr lang="en-US" dirty="0">
              <a:latin typeface="Rockwell" panose="02060603020205020403" pitchFamily="18" charset="0"/>
            </a:endParaRPr>
          </a:p>
        </p:txBody>
      </p:sp>
      <p:sp>
        <p:nvSpPr>
          <p:cNvPr id="8" name="Oval 7">
            <a:extLst>
              <a:ext uri="{FF2B5EF4-FFF2-40B4-BE49-F238E27FC236}">
                <a16:creationId xmlns:a16="http://schemas.microsoft.com/office/drawing/2014/main" id="{9B088A34-0E5B-4BB9-A81E-0101A55DA36F}"/>
              </a:ext>
            </a:extLst>
          </p:cNvPr>
          <p:cNvSpPr/>
          <p:nvPr/>
        </p:nvSpPr>
        <p:spPr>
          <a:xfrm>
            <a:off x="0" y="0"/>
            <a:ext cx="709684"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11</a:t>
            </a:r>
            <a:endParaRPr lang="en-US" dirty="0">
              <a:latin typeface="Rockwell" panose="02060603020205020403" pitchFamily="18" charset="0"/>
            </a:endParaRPr>
          </a:p>
        </p:txBody>
      </p:sp>
      <p:sp>
        <p:nvSpPr>
          <p:cNvPr id="125" name="Oval 124">
            <a:extLst>
              <a:ext uri="{FF2B5EF4-FFF2-40B4-BE49-F238E27FC236}">
                <a16:creationId xmlns:a16="http://schemas.microsoft.com/office/drawing/2014/main" id="{8C944225-92C1-4A03-8CED-DB6998F248DF}"/>
              </a:ext>
            </a:extLst>
          </p:cNvPr>
          <p:cNvSpPr/>
          <p:nvPr/>
        </p:nvSpPr>
        <p:spPr>
          <a:xfrm>
            <a:off x="11464119" y="6405351"/>
            <a:ext cx="663809"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12</a:t>
            </a:r>
            <a:endParaRPr lang="en-US" dirty="0">
              <a:latin typeface="Amasis MT Pro Medium" panose="02040604050005020304" pitchFamily="18" charset="0"/>
            </a:endParaRPr>
          </a:p>
        </p:txBody>
      </p:sp>
      <p:sp>
        <p:nvSpPr>
          <p:cNvPr id="13" name="Rectangle: Rounded Corners 4">
            <a:extLst>
              <a:ext uri="{FF2B5EF4-FFF2-40B4-BE49-F238E27FC236}">
                <a16:creationId xmlns:a16="http://schemas.microsoft.com/office/drawing/2014/main" id="{223EEB10-BFEE-4268-9F66-DD1213F1E1D1}"/>
              </a:ext>
            </a:extLst>
          </p:cNvPr>
          <p:cNvSpPr/>
          <p:nvPr/>
        </p:nvSpPr>
        <p:spPr>
          <a:xfrm>
            <a:off x="593298" y="4969077"/>
            <a:ext cx="3117328" cy="804889"/>
          </a:xfrm>
          <a:prstGeom prst="roundRect">
            <a:avLst>
              <a:gd name="adj" fmla="val 33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Rockwell" panose="02060603020205020403" pitchFamily="18" charset="0"/>
              </a:rPr>
              <a:t>DIAGRAMME DE CAS D’UTILISATION  Global</a:t>
            </a:r>
            <a:endParaRPr lang="en-US" dirty="0">
              <a:solidFill>
                <a:schemeClr val="bg1"/>
              </a:solidFill>
              <a:latin typeface="Rockwell" panose="02060603020205020403" pitchFamily="18" charset="0"/>
            </a:endParaRPr>
          </a:p>
        </p:txBody>
      </p:sp>
      <p:pic>
        <p:nvPicPr>
          <p:cNvPr id="10" name="Image 9">
            <a:extLst>
              <a:ext uri="{FF2B5EF4-FFF2-40B4-BE49-F238E27FC236}">
                <a16:creationId xmlns:a16="http://schemas.microsoft.com/office/drawing/2014/main" id="{F7A0FAE6-78B6-461E-A858-7A9339039B0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26648" y="709030"/>
            <a:ext cx="6177412" cy="5839990"/>
          </a:xfrm>
          <a:prstGeom prst="rect">
            <a:avLst/>
          </a:prstGeom>
        </p:spPr>
      </p:pic>
    </p:spTree>
    <p:extLst>
      <p:ext uri="{BB962C8B-B14F-4D97-AF65-F5344CB8AC3E}">
        <p14:creationId xmlns:p14="http://schemas.microsoft.com/office/powerpoint/2010/main" val="4031469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96A48FB-DE92-4796-BD37-FB6C50002C72}"/>
              </a:ext>
            </a:extLst>
          </p:cNvPr>
          <p:cNvSpPr/>
          <p:nvPr/>
        </p:nvSpPr>
        <p:spPr>
          <a:xfrm>
            <a:off x="7402286" y="0"/>
            <a:ext cx="4789714" cy="402772"/>
          </a:xfrm>
          <a:prstGeom prst="roundRect">
            <a:avLst>
              <a:gd name="adj" fmla="val 324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latin typeface="Rockwell" panose="02060603020205020403" pitchFamily="18" charset="0"/>
              </a:rPr>
              <a:t>Diskmonitor</a:t>
            </a:r>
            <a:endParaRPr lang="en-US" dirty="0">
              <a:latin typeface="Rockwell" panose="02060603020205020403" pitchFamily="18" charset="0"/>
            </a:endParaRPr>
          </a:p>
        </p:txBody>
      </p:sp>
      <p:sp>
        <p:nvSpPr>
          <p:cNvPr id="3" name="Oval 2">
            <a:extLst>
              <a:ext uri="{FF2B5EF4-FFF2-40B4-BE49-F238E27FC236}">
                <a16:creationId xmlns:a16="http://schemas.microsoft.com/office/drawing/2014/main" id="{48A2D519-CF20-4648-AB69-D16A31E337F9}"/>
              </a:ext>
            </a:extLst>
          </p:cNvPr>
          <p:cNvSpPr/>
          <p:nvPr/>
        </p:nvSpPr>
        <p:spPr>
          <a:xfrm>
            <a:off x="0" y="0"/>
            <a:ext cx="402771" cy="4027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Rockwell" panose="02060603020205020403" pitchFamily="18" charset="0"/>
              </a:rPr>
              <a:t>5</a:t>
            </a:r>
            <a:endParaRPr lang="en-US" dirty="0">
              <a:latin typeface="Rockwell" panose="02060603020205020403" pitchFamily="18" charset="0"/>
            </a:endParaRPr>
          </a:p>
        </p:txBody>
      </p:sp>
      <p:sp>
        <p:nvSpPr>
          <p:cNvPr id="4" name="Rectangle: Rounded Corners 3">
            <a:extLst>
              <a:ext uri="{FF2B5EF4-FFF2-40B4-BE49-F238E27FC236}">
                <a16:creationId xmlns:a16="http://schemas.microsoft.com/office/drawing/2014/main" id="{3F5D5923-C3D0-4E7A-B3AD-C326A6F2EBB2}"/>
              </a:ext>
            </a:extLst>
          </p:cNvPr>
          <p:cNvSpPr/>
          <p:nvPr/>
        </p:nvSpPr>
        <p:spPr>
          <a:xfrm>
            <a:off x="3465576" y="2311353"/>
            <a:ext cx="5221224" cy="218541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dirty="0">
                <a:latin typeface="Amasis MT Pro Medium" panose="02040604050005020304" pitchFamily="18" charset="0"/>
              </a:rPr>
              <a:t>CONCLUSION</a:t>
            </a:r>
            <a:endParaRPr lang="en-US" sz="4000" dirty="0">
              <a:latin typeface="Amasis MT Pro Medium" panose="02040604050005020304" pitchFamily="18" charset="0"/>
            </a:endParaRPr>
          </a:p>
        </p:txBody>
      </p:sp>
      <p:sp>
        <p:nvSpPr>
          <p:cNvPr id="5" name="Oval 4">
            <a:extLst>
              <a:ext uri="{FF2B5EF4-FFF2-40B4-BE49-F238E27FC236}">
                <a16:creationId xmlns:a16="http://schemas.microsoft.com/office/drawing/2014/main" id="{965266D7-A1B0-4763-BD1D-E24DBBE54E4A}"/>
              </a:ext>
            </a:extLst>
          </p:cNvPr>
          <p:cNvSpPr/>
          <p:nvPr/>
        </p:nvSpPr>
        <p:spPr>
          <a:xfrm>
            <a:off x="11491415" y="6291618"/>
            <a:ext cx="636513" cy="5165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atin typeface="Amasis MT Pro Medium" panose="02040604050005020304" pitchFamily="18" charset="0"/>
              </a:rPr>
              <a:t>11</a:t>
            </a:r>
            <a:endParaRPr lang="en-US" dirty="0">
              <a:latin typeface="Amasis MT Pro Medium" panose="02040604050005020304" pitchFamily="18" charset="0"/>
            </a:endParaRP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827" y="402772"/>
            <a:ext cx="2209801" cy="2117504"/>
          </a:xfrm>
          <a:prstGeom prst="rect">
            <a:avLst/>
          </a:prstGeom>
          <a:solidFill>
            <a:schemeClr val="accent1"/>
          </a:solidFill>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2493" y="4051446"/>
            <a:ext cx="2636008" cy="2135844"/>
          </a:xfrm>
          <a:prstGeom prst="rect">
            <a:avLst/>
          </a:prstGeom>
          <a:solidFill>
            <a:schemeClr val="accent1"/>
          </a:solidFill>
        </p:spPr>
      </p:pic>
    </p:spTree>
    <p:extLst>
      <p:ext uri="{BB962C8B-B14F-4D97-AF65-F5344CB8AC3E}">
        <p14:creationId xmlns:p14="http://schemas.microsoft.com/office/powerpoint/2010/main" val="462068916"/>
      </p:ext>
    </p:extLst>
  </p:cSld>
  <p:clrMapOvr>
    <a:masterClrMapping/>
  </p:clrMapOvr>
  <mc:AlternateContent xmlns:mc="http://schemas.openxmlformats.org/markup-compatibility/2006" xmlns:p14="http://schemas.microsoft.com/office/powerpoint/2010/main">
    <mc:Choice Requires="p14">
      <p:transition spd="med">
        <p14:honeycomb/>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mph" presetSubtype="0" repeatCount="indefinite" fill="hold" grpId="0" nodeType="afterEffect">
                                  <p:stCondLst>
                                    <p:cond delay="0"/>
                                  </p:stCondLst>
                                  <p:endCondLst>
                                    <p:cond evt="onNext" delay="0">
                                      <p:tgtEl>
                                        <p:sldTgt/>
                                      </p:tgtEl>
                                    </p:cond>
                                  </p:endCondLst>
                                  <p:childTnLst>
                                    <p:animClr clrSpc="hsl" dir="cw">
                                      <p:cBhvr override="childStyle">
                                        <p:cTn id="6" dur="500" fill="hold"/>
                                        <p:tgtEl>
                                          <p:spTgt spid="4"/>
                                        </p:tgtEl>
                                        <p:attrNameLst>
                                          <p:attrName>style.color</p:attrName>
                                        </p:attrNameLst>
                                      </p:cBhvr>
                                      <p:by>
                                        <p:hsl h="7200000" s="0" l="0"/>
                                      </p:by>
                                    </p:animClr>
                                    <p:animClr clrSpc="hsl" dir="cw">
                                      <p:cBhvr>
                                        <p:cTn id="7" dur="500" fill="hold"/>
                                        <p:tgtEl>
                                          <p:spTgt spid="4"/>
                                        </p:tgtEl>
                                        <p:attrNameLst>
                                          <p:attrName>fillcolor</p:attrName>
                                        </p:attrNameLst>
                                      </p:cBhvr>
                                      <p:by>
                                        <p:hsl h="7200000" s="0" l="0"/>
                                      </p:by>
                                    </p:animClr>
                                    <p:animClr clrSpc="hsl" dir="cw">
                                      <p:cBhvr>
                                        <p:cTn id="8" dur="500" fill="hold"/>
                                        <p:tgtEl>
                                          <p:spTgt spid="4"/>
                                        </p:tgtEl>
                                        <p:attrNameLst>
                                          <p:attrName>stroke.color</p:attrName>
                                        </p:attrNameLst>
                                      </p:cBhvr>
                                      <p:by>
                                        <p:hsl h="7200000" s="0" l="0"/>
                                      </p:by>
                                    </p:animClr>
                                    <p:set>
                                      <p:cBhvr>
                                        <p:cTn id="9" dur="500" fill="hold"/>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88D1ED-4D15-4B60-B181-089874231C3D}"/>
              </a:ext>
            </a:extLst>
          </p:cNvPr>
          <p:cNvSpPr/>
          <p:nvPr/>
        </p:nvSpPr>
        <p:spPr>
          <a:xfrm>
            <a:off x="7751928" y="6433457"/>
            <a:ext cx="4440073" cy="4245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Rockwell" panose="02060603020205020403" pitchFamily="18" charset="0"/>
              </a:rPr>
              <a:t>Présenté par Ekosso</a:t>
            </a:r>
            <a:endParaRPr lang="en-US" sz="2400" dirty="0">
              <a:solidFill>
                <a:schemeClr val="tx1"/>
              </a:solidFill>
              <a:latin typeface="Rockwell" panose="02060603020205020403" pitchFamily="18" charset="0"/>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01" y="341194"/>
            <a:ext cx="10986448" cy="5909481"/>
          </a:xfrm>
          <a:prstGeom prst="rect">
            <a:avLst/>
          </a:prstGeom>
        </p:spPr>
      </p:pic>
    </p:spTree>
    <p:extLst>
      <p:ext uri="{BB962C8B-B14F-4D97-AF65-F5344CB8AC3E}">
        <p14:creationId xmlns:p14="http://schemas.microsoft.com/office/powerpoint/2010/main" val="376094805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C5C724C7-BACD-3A61-5787-54A7D22DBB01}"/>
              </a:ext>
            </a:extLst>
          </p:cNvPr>
          <p:cNvSpPr txBox="1"/>
          <p:nvPr/>
        </p:nvSpPr>
        <p:spPr>
          <a:xfrm>
            <a:off x="3049191" y="1329809"/>
            <a:ext cx="6093618" cy="369332"/>
          </a:xfrm>
          <a:prstGeom prst="rect">
            <a:avLst/>
          </a:prstGeom>
          <a:noFill/>
        </p:spPr>
        <p:txBody>
          <a:bodyPr wrap="square">
            <a:spAutoFit/>
          </a:bodyPr>
          <a:lstStyle/>
          <a:p>
            <a:r>
              <a:rPr lang="fr-FR" dirty="0"/>
              <a:t>Simplifier le processus d'obtention </a:t>
            </a:r>
          </a:p>
        </p:txBody>
      </p:sp>
      <p:sp>
        <p:nvSpPr>
          <p:cNvPr id="11" name="ZoneTexte 10">
            <a:extLst>
              <a:ext uri="{FF2B5EF4-FFF2-40B4-BE49-F238E27FC236}">
                <a16:creationId xmlns:a16="http://schemas.microsoft.com/office/drawing/2014/main" id="{EC42B4D4-B51B-37D2-EBEA-14393565EF75}"/>
              </a:ext>
            </a:extLst>
          </p:cNvPr>
          <p:cNvSpPr txBox="1"/>
          <p:nvPr/>
        </p:nvSpPr>
        <p:spPr>
          <a:xfrm>
            <a:off x="3046810" y="3244334"/>
            <a:ext cx="6093618" cy="369332"/>
          </a:xfrm>
          <a:prstGeom prst="rect">
            <a:avLst/>
          </a:prstGeom>
          <a:noFill/>
        </p:spPr>
        <p:txBody>
          <a:bodyPr wrap="square">
            <a:spAutoFit/>
          </a:bodyPr>
          <a:lstStyle/>
          <a:p>
            <a:r>
              <a:rPr lang="fr-FR" dirty="0"/>
              <a:t>Améliorer l'accessibilité </a:t>
            </a:r>
          </a:p>
        </p:txBody>
      </p:sp>
      <p:sp>
        <p:nvSpPr>
          <p:cNvPr id="15" name="ZoneTexte 14">
            <a:extLst>
              <a:ext uri="{FF2B5EF4-FFF2-40B4-BE49-F238E27FC236}">
                <a16:creationId xmlns:a16="http://schemas.microsoft.com/office/drawing/2014/main" id="{897CCE75-DA73-F8CF-F977-103CBDDBC62C}"/>
              </a:ext>
            </a:extLst>
          </p:cNvPr>
          <p:cNvSpPr txBox="1"/>
          <p:nvPr/>
        </p:nvSpPr>
        <p:spPr>
          <a:xfrm>
            <a:off x="3046810" y="2102405"/>
            <a:ext cx="6093618" cy="369332"/>
          </a:xfrm>
          <a:prstGeom prst="rect">
            <a:avLst/>
          </a:prstGeom>
          <a:noFill/>
        </p:spPr>
        <p:txBody>
          <a:bodyPr wrap="square">
            <a:spAutoFit/>
          </a:bodyPr>
          <a:lstStyle/>
          <a:p>
            <a:r>
              <a:rPr lang="fr-FR" dirty="0"/>
              <a:t>Assurer la sécurité des données</a:t>
            </a:r>
          </a:p>
        </p:txBody>
      </p:sp>
      <p:sp>
        <p:nvSpPr>
          <p:cNvPr id="19" name="ZoneTexte 18">
            <a:extLst>
              <a:ext uri="{FF2B5EF4-FFF2-40B4-BE49-F238E27FC236}">
                <a16:creationId xmlns:a16="http://schemas.microsoft.com/office/drawing/2014/main" id="{B2092593-A14C-282C-5561-9269E46D19C8}"/>
              </a:ext>
            </a:extLst>
          </p:cNvPr>
          <p:cNvSpPr txBox="1"/>
          <p:nvPr/>
        </p:nvSpPr>
        <p:spPr>
          <a:xfrm>
            <a:off x="3046810" y="2690335"/>
            <a:ext cx="6093618" cy="369332"/>
          </a:xfrm>
          <a:prstGeom prst="rect">
            <a:avLst/>
          </a:prstGeom>
          <a:noFill/>
        </p:spPr>
        <p:txBody>
          <a:bodyPr wrap="square">
            <a:spAutoFit/>
          </a:bodyPr>
          <a:lstStyle/>
          <a:p>
            <a:r>
              <a:rPr lang="fr-FR" dirty="0"/>
              <a:t>Garantir l'exactitude et l'authenticité des documents </a:t>
            </a:r>
          </a:p>
        </p:txBody>
      </p:sp>
    </p:spTree>
    <p:extLst>
      <p:ext uri="{BB962C8B-B14F-4D97-AF65-F5344CB8AC3E}">
        <p14:creationId xmlns:p14="http://schemas.microsoft.com/office/powerpoint/2010/main" val="552951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5724</TotalTime>
  <Words>2638</Words>
  <Application>Microsoft Office PowerPoint</Application>
  <PresentationFormat>Grand écran</PresentationFormat>
  <Paragraphs>398</Paragraphs>
  <Slides>26</Slides>
  <Notes>16</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26</vt:i4>
      </vt:variant>
    </vt:vector>
  </HeadingPairs>
  <TitlesOfParts>
    <vt:vector size="34" baseType="lpstr">
      <vt:lpstr>Amasis MT Pro Medium</vt:lpstr>
      <vt:lpstr>Arial</vt:lpstr>
      <vt:lpstr>Calibri</vt:lpstr>
      <vt:lpstr>Calibri Light</vt:lpstr>
      <vt:lpstr>Rockwell</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sylvain ekosso</cp:lastModifiedBy>
  <cp:revision>285</cp:revision>
  <dcterms:created xsi:type="dcterms:W3CDTF">2021-09-26T17:03:00Z</dcterms:created>
  <dcterms:modified xsi:type="dcterms:W3CDTF">2026-01-24T11:33:02Z</dcterms:modified>
</cp:coreProperties>
</file>