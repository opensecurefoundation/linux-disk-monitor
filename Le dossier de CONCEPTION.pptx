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9" r:id="rId2"/>
    <p:sldId id="280" r:id="rId3"/>
    <p:sldId id="281" r:id="rId4"/>
    <p:sldId id="259" r:id="rId5"/>
    <p:sldId id="269" r:id="rId6"/>
    <p:sldId id="287" r:id="rId7"/>
    <p:sldId id="311" r:id="rId8"/>
    <p:sldId id="295" r:id="rId9"/>
    <p:sldId id="296" r:id="rId10"/>
    <p:sldId id="297" r:id="rId11"/>
    <p:sldId id="298" r:id="rId12"/>
    <p:sldId id="306" r:id="rId13"/>
    <p:sldId id="308" r:id="rId14"/>
    <p:sldId id="309" r:id="rId15"/>
    <p:sldId id="310" r:id="rId16"/>
    <p:sldId id="307" r:id="rId17"/>
    <p:sldId id="268" r:id="rId18"/>
    <p:sldId id="305" r:id="rId19"/>
    <p:sldId id="262" r:id="rId20"/>
    <p:sldId id="263" r:id="rId21"/>
    <p:sldId id="274"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660" y="2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4F76A-13AE-446D-ADA9-35A317D0A816}" type="datetimeFigureOut">
              <a:rPr lang="fr-FR" smtClean="0"/>
              <a:t>24/01/2026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0F66D-0E8E-412F-9E40-1FC819F6B49E}" type="slidenum">
              <a:rPr lang="fr-FR" smtClean="0"/>
              <a:t>‹N°›</a:t>
            </a:fld>
            <a:endParaRPr lang="fr-FR"/>
          </a:p>
        </p:txBody>
      </p:sp>
    </p:spTree>
    <p:extLst>
      <p:ext uri="{BB962C8B-B14F-4D97-AF65-F5344CB8AC3E}">
        <p14:creationId xmlns:p14="http://schemas.microsoft.com/office/powerpoint/2010/main" val="1552210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Pour bien mener</a:t>
            </a:r>
            <a:r>
              <a:rPr lang="fr-FR" baseline="0" dirty="0"/>
              <a:t> à notre travail nous avons élaborer notre plan de travail comme suite</a:t>
            </a:r>
            <a:endParaRPr lang="fr-FR" dirty="0"/>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2</a:t>
            </a:fld>
            <a:endParaRPr lang="fr-FR"/>
          </a:p>
        </p:txBody>
      </p:sp>
    </p:spTree>
    <p:extLst>
      <p:ext uri="{BB962C8B-B14F-4D97-AF65-F5344CB8AC3E}">
        <p14:creationId xmlns:p14="http://schemas.microsoft.com/office/powerpoint/2010/main" val="4080919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Une classe est la description d’un ensemble d’objets qui partagent les mêmes attributs, les mêmes opérations, les mêmes relations et la même sémantique. Tous les objets sont modélisés sous forme de classes. </a:t>
            </a:r>
          </a:p>
          <a:p>
            <a:r>
              <a:rPr lang="fr-FR" sz="1200" kern="1200" dirty="0">
                <a:solidFill>
                  <a:schemeClr val="tx1"/>
                </a:solidFill>
                <a:effectLst/>
                <a:latin typeface="+mn-lt"/>
                <a:ea typeface="+mn-ea"/>
                <a:cs typeface="+mn-cs"/>
              </a:rPr>
              <a:t>Une association représente une relation structurelle entre classes d’objets.</a:t>
            </a:r>
          </a:p>
          <a:p>
            <a:r>
              <a:rPr lang="fr-FR" sz="1200" kern="1200" dirty="0">
                <a:solidFill>
                  <a:schemeClr val="tx1"/>
                </a:solidFill>
                <a:effectLst/>
                <a:latin typeface="+mn-lt"/>
                <a:ea typeface="+mn-ea"/>
                <a:cs typeface="+mn-cs"/>
              </a:rPr>
              <a:t>Dans UML, l’agrégation n’est pas un type de relation mais une variante de l’association. Une agrégation représente une association non symétrique dans laquelle une des extrémités joue un rôle prédominant par rapport à l’autre extrémité. </a:t>
            </a:r>
            <a:endParaRPr lang="fr-FR" dirty="0"/>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5</a:t>
            </a:fld>
            <a:endParaRPr lang="fr-FR"/>
          </a:p>
        </p:txBody>
      </p:sp>
    </p:spTree>
    <p:extLst>
      <p:ext uri="{BB962C8B-B14F-4D97-AF65-F5344CB8AC3E}">
        <p14:creationId xmlns:p14="http://schemas.microsoft.com/office/powerpoint/2010/main" val="734830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45CDD-8662-5B4A-3B9D-47254E9141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FC4BB-3FC2-0E9A-55C4-5A622822284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CE77067-E77A-8C69-398E-C7D2200F989C}"/>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85B819F2-2EEB-EC7F-1478-41D5A5F3E953}"/>
              </a:ext>
            </a:extLst>
          </p:cNvPr>
          <p:cNvSpPr>
            <a:spLocks noGrp="1"/>
          </p:cNvSpPr>
          <p:nvPr>
            <p:ph type="sldNum" sz="quarter" idx="10"/>
          </p:nvPr>
        </p:nvSpPr>
        <p:spPr/>
        <p:txBody>
          <a:bodyPr/>
          <a:lstStyle/>
          <a:p>
            <a:fld id="{37C0F66D-0E8E-412F-9E40-1FC819F6B49E}" type="slidenum">
              <a:rPr lang="fr-FR" smtClean="0"/>
              <a:t>6</a:t>
            </a:fld>
            <a:endParaRPr lang="fr-FR"/>
          </a:p>
        </p:txBody>
      </p:sp>
    </p:spTree>
    <p:extLst>
      <p:ext uri="{BB962C8B-B14F-4D97-AF65-F5344CB8AC3E}">
        <p14:creationId xmlns:p14="http://schemas.microsoft.com/office/powerpoint/2010/main" val="71261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45CDD-8662-5B4A-3B9D-47254E9141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FC4BB-3FC2-0E9A-55C4-5A622822284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CE77067-E77A-8C69-398E-C7D2200F989C}"/>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85B819F2-2EEB-EC7F-1478-41D5A5F3E953}"/>
              </a:ext>
            </a:extLst>
          </p:cNvPr>
          <p:cNvSpPr>
            <a:spLocks noGrp="1"/>
          </p:cNvSpPr>
          <p:nvPr>
            <p:ph type="sldNum" sz="quarter" idx="10"/>
          </p:nvPr>
        </p:nvSpPr>
        <p:spPr/>
        <p:txBody>
          <a:bodyPr/>
          <a:lstStyle/>
          <a:p>
            <a:fld id="{37C0F66D-0E8E-412F-9E40-1FC819F6B49E}" type="slidenum">
              <a:rPr lang="fr-FR" smtClean="0"/>
              <a:t>7</a:t>
            </a:fld>
            <a:endParaRPr lang="fr-FR"/>
          </a:p>
        </p:txBody>
      </p:sp>
    </p:spTree>
    <p:extLst>
      <p:ext uri="{BB962C8B-B14F-4D97-AF65-F5344CB8AC3E}">
        <p14:creationId xmlns:p14="http://schemas.microsoft.com/office/powerpoint/2010/main" val="712614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C5E1D-91FF-5E3A-44A7-4BF9C3B1B8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21ADE7-413B-BD21-8A85-82BEDEC82DF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4CC77CD-5B93-0F33-85A8-A7BDE163DDD3}"/>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C86FC84D-4241-B268-7E9D-0A54DA28A115}"/>
              </a:ext>
            </a:extLst>
          </p:cNvPr>
          <p:cNvSpPr>
            <a:spLocks noGrp="1"/>
          </p:cNvSpPr>
          <p:nvPr>
            <p:ph type="sldNum" sz="quarter" idx="10"/>
          </p:nvPr>
        </p:nvSpPr>
        <p:spPr/>
        <p:txBody>
          <a:bodyPr/>
          <a:lstStyle/>
          <a:p>
            <a:fld id="{37C0F66D-0E8E-412F-9E40-1FC819F6B49E}" type="slidenum">
              <a:rPr lang="fr-FR" smtClean="0"/>
              <a:t>8</a:t>
            </a:fld>
            <a:endParaRPr lang="fr-FR"/>
          </a:p>
        </p:txBody>
      </p:sp>
    </p:spTree>
    <p:extLst>
      <p:ext uri="{BB962C8B-B14F-4D97-AF65-F5344CB8AC3E}">
        <p14:creationId xmlns:p14="http://schemas.microsoft.com/office/powerpoint/2010/main" val="652432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43D22-9A85-0925-3D3F-6BAAFF04B3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52C6AD-B97D-A257-3EFE-8D5AE832029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C98D9F9-5C6E-CBD3-61FA-B48E759EDF88}"/>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B59AE0AF-1BF9-F07F-0DEF-748F8FD3D1DA}"/>
              </a:ext>
            </a:extLst>
          </p:cNvPr>
          <p:cNvSpPr>
            <a:spLocks noGrp="1"/>
          </p:cNvSpPr>
          <p:nvPr>
            <p:ph type="sldNum" sz="quarter" idx="10"/>
          </p:nvPr>
        </p:nvSpPr>
        <p:spPr/>
        <p:txBody>
          <a:bodyPr/>
          <a:lstStyle/>
          <a:p>
            <a:fld id="{37C0F66D-0E8E-412F-9E40-1FC819F6B49E}" type="slidenum">
              <a:rPr lang="fr-FR" smtClean="0"/>
              <a:t>9</a:t>
            </a:fld>
            <a:endParaRPr lang="fr-FR"/>
          </a:p>
        </p:txBody>
      </p:sp>
    </p:spTree>
    <p:extLst>
      <p:ext uri="{BB962C8B-B14F-4D97-AF65-F5344CB8AC3E}">
        <p14:creationId xmlns:p14="http://schemas.microsoft.com/office/powerpoint/2010/main" val="4213844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54E7-5A36-43D0-A2AA-9A5023061C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319B9C-95A4-E1A2-23B8-7B85598B09C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7901881-4207-CFA0-9812-02AE09318071}"/>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92E40A50-DDAB-5000-1186-88C6FF710BB3}"/>
              </a:ext>
            </a:extLst>
          </p:cNvPr>
          <p:cNvSpPr>
            <a:spLocks noGrp="1"/>
          </p:cNvSpPr>
          <p:nvPr>
            <p:ph type="sldNum" sz="quarter" idx="10"/>
          </p:nvPr>
        </p:nvSpPr>
        <p:spPr/>
        <p:txBody>
          <a:bodyPr/>
          <a:lstStyle/>
          <a:p>
            <a:fld id="{37C0F66D-0E8E-412F-9E40-1FC819F6B49E}" type="slidenum">
              <a:rPr lang="fr-FR" smtClean="0"/>
              <a:t>10</a:t>
            </a:fld>
            <a:endParaRPr lang="fr-FR"/>
          </a:p>
        </p:txBody>
      </p:sp>
    </p:spTree>
    <p:extLst>
      <p:ext uri="{BB962C8B-B14F-4D97-AF65-F5344CB8AC3E}">
        <p14:creationId xmlns:p14="http://schemas.microsoft.com/office/powerpoint/2010/main" val="324116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2AAD-F09B-5E73-7878-804440B42D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89DBAB-488F-72BD-38E1-8A20EA08B265}"/>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001DDD5-6585-F1FD-2712-65617C45D25A}"/>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DA11170B-4670-3AC0-5433-A017E3DE6DD2}"/>
              </a:ext>
            </a:extLst>
          </p:cNvPr>
          <p:cNvSpPr>
            <a:spLocks noGrp="1"/>
          </p:cNvSpPr>
          <p:nvPr>
            <p:ph type="sldNum" sz="quarter" idx="10"/>
          </p:nvPr>
        </p:nvSpPr>
        <p:spPr/>
        <p:txBody>
          <a:bodyPr/>
          <a:lstStyle/>
          <a:p>
            <a:fld id="{37C0F66D-0E8E-412F-9E40-1FC819F6B49E}" type="slidenum">
              <a:rPr lang="fr-FR" smtClean="0"/>
              <a:t>11</a:t>
            </a:fld>
            <a:endParaRPr lang="fr-FR"/>
          </a:p>
        </p:txBody>
      </p:sp>
    </p:spTree>
    <p:extLst>
      <p:ext uri="{BB962C8B-B14F-4D97-AF65-F5344CB8AC3E}">
        <p14:creationId xmlns:p14="http://schemas.microsoft.com/office/powerpoint/2010/main" val="1174915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B2FF0-8FC2-517C-6D02-181D42908C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FB3C36-C506-C4C6-DD92-A21A873D810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B106EF6-43F3-9AE8-98DF-50076F27A64A}"/>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BA211C93-C460-1C36-1A03-C506C3C14745}"/>
              </a:ext>
            </a:extLst>
          </p:cNvPr>
          <p:cNvSpPr>
            <a:spLocks noGrp="1"/>
          </p:cNvSpPr>
          <p:nvPr>
            <p:ph type="sldNum" sz="quarter" idx="10"/>
          </p:nvPr>
        </p:nvSpPr>
        <p:spPr/>
        <p:txBody>
          <a:bodyPr/>
          <a:lstStyle/>
          <a:p>
            <a:fld id="{37C0F66D-0E8E-412F-9E40-1FC819F6B49E}" type="slidenum">
              <a:rPr lang="fr-FR" smtClean="0"/>
              <a:t>13</a:t>
            </a:fld>
            <a:endParaRPr lang="fr-FR"/>
          </a:p>
        </p:txBody>
      </p:sp>
    </p:spTree>
    <p:extLst>
      <p:ext uri="{BB962C8B-B14F-4D97-AF65-F5344CB8AC3E}">
        <p14:creationId xmlns:p14="http://schemas.microsoft.com/office/powerpoint/2010/main" val="1134297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049F-1BFC-EA83-D566-526B2621F9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009B252-6F12-9E0B-8CA5-D71CBCF9618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EB16A88-95C8-285F-901B-0E0CA1C2AE45}"/>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9FEB5BF5-67DC-F54C-7907-9936D93C7FAD}"/>
              </a:ext>
            </a:extLst>
          </p:cNvPr>
          <p:cNvSpPr>
            <a:spLocks noGrp="1"/>
          </p:cNvSpPr>
          <p:nvPr>
            <p:ph type="sldNum" sz="quarter" idx="10"/>
          </p:nvPr>
        </p:nvSpPr>
        <p:spPr/>
        <p:txBody>
          <a:bodyPr/>
          <a:lstStyle/>
          <a:p>
            <a:fld id="{37C0F66D-0E8E-412F-9E40-1FC819F6B49E}" type="slidenum">
              <a:rPr lang="fr-FR" smtClean="0"/>
              <a:t>14</a:t>
            </a:fld>
            <a:endParaRPr lang="fr-FR"/>
          </a:p>
        </p:txBody>
      </p:sp>
    </p:spTree>
    <p:extLst>
      <p:ext uri="{BB962C8B-B14F-4D97-AF65-F5344CB8AC3E}">
        <p14:creationId xmlns:p14="http://schemas.microsoft.com/office/powerpoint/2010/main" val="1875028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569A6-D5CA-4556-8F81-C7E51B2374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520FE4-63F6-48FD-801B-B600AA4ECCB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88F5F92-1103-E6B7-2B91-A495703E0418}"/>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0FF73EE9-DF65-A9A8-5985-F7289F2E7FE8}"/>
              </a:ext>
            </a:extLst>
          </p:cNvPr>
          <p:cNvSpPr>
            <a:spLocks noGrp="1"/>
          </p:cNvSpPr>
          <p:nvPr>
            <p:ph type="sldNum" sz="quarter" idx="10"/>
          </p:nvPr>
        </p:nvSpPr>
        <p:spPr/>
        <p:txBody>
          <a:bodyPr/>
          <a:lstStyle/>
          <a:p>
            <a:fld id="{37C0F66D-0E8E-412F-9E40-1FC819F6B49E}" type="slidenum">
              <a:rPr lang="fr-FR" smtClean="0"/>
              <a:t>15</a:t>
            </a:fld>
            <a:endParaRPr lang="fr-FR"/>
          </a:p>
        </p:txBody>
      </p:sp>
    </p:spTree>
    <p:extLst>
      <p:ext uri="{BB962C8B-B14F-4D97-AF65-F5344CB8AC3E}">
        <p14:creationId xmlns:p14="http://schemas.microsoft.com/office/powerpoint/2010/main" val="2684584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UML et MERISE sont consécutivement des langages et méthodes de modélisation des systèmes d’information. Pour la réalisation de notre travail, nous avons opté pour le langage UML pour des raisons de compatibilité et pour son approche orienté objet. UML n’est pas une méthode mais un langage de modélisation à qui on doit associer un processus pour en faire une méthode</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17</a:t>
            </a:fld>
            <a:endParaRPr lang="fr-FR"/>
          </a:p>
        </p:txBody>
      </p:sp>
    </p:spTree>
    <p:extLst>
      <p:ext uri="{BB962C8B-B14F-4D97-AF65-F5344CB8AC3E}">
        <p14:creationId xmlns:p14="http://schemas.microsoft.com/office/powerpoint/2010/main" val="3444051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2A18-E0DD-E6D8-9457-7669A652201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21A76F-E84D-25F4-1A8C-C6F6507215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2F1828-8FE6-B6F4-B4D2-731E507BE434}"/>
              </a:ext>
            </a:extLst>
          </p:cNvPr>
          <p:cNvSpPr>
            <a:spLocks noGrp="1"/>
          </p:cNvSpPr>
          <p:nvPr>
            <p:ph type="body" idx="1"/>
          </p:nvPr>
        </p:nvSpPr>
        <p:spPr/>
        <p:txBody>
          <a:bodyPr/>
          <a:lstStyle/>
          <a:p>
            <a:r>
              <a:rPr lang="fr-FR" dirty="0"/>
              <a:t>UML et MERISE sont consécutivement des langages et méthodes de modélisation des systèmes d’information. Pour la réalisation de notre travail, nous avons opté pour le langage UML pour des raisons de compatibilité et pour son approche orienté objet. UML n’est pas une méthode mais un langage de modélisation à qui on doit associer un processus pour en faire une méthode</a:t>
            </a:r>
          </a:p>
        </p:txBody>
      </p:sp>
      <p:sp>
        <p:nvSpPr>
          <p:cNvPr id="4" name="Espace réservé du numéro de diapositive 3">
            <a:extLst>
              <a:ext uri="{FF2B5EF4-FFF2-40B4-BE49-F238E27FC236}">
                <a16:creationId xmlns:a16="http://schemas.microsoft.com/office/drawing/2014/main" id="{15E0ABAC-D20B-5FD5-4C69-799213DDDDE6}"/>
              </a:ext>
            </a:extLst>
          </p:cNvPr>
          <p:cNvSpPr>
            <a:spLocks noGrp="1"/>
          </p:cNvSpPr>
          <p:nvPr>
            <p:ph type="sldNum" sz="quarter" idx="5"/>
          </p:nvPr>
        </p:nvSpPr>
        <p:spPr/>
        <p:txBody>
          <a:bodyPr/>
          <a:lstStyle/>
          <a:p>
            <a:fld id="{37C0F66D-0E8E-412F-9E40-1FC819F6B49E}" type="slidenum">
              <a:rPr lang="fr-FR" smtClean="0"/>
              <a:t>18</a:t>
            </a:fld>
            <a:endParaRPr lang="fr-FR"/>
          </a:p>
        </p:txBody>
      </p:sp>
    </p:spTree>
    <p:extLst>
      <p:ext uri="{BB962C8B-B14F-4D97-AF65-F5344CB8AC3E}">
        <p14:creationId xmlns:p14="http://schemas.microsoft.com/office/powerpoint/2010/main" val="2351837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regroupe les activités à mener pour transformer les besoins d’un utilisateur en système logiciel. Il n’existe pas un seul processus de développement, ni de processus standard, cependant des caractéristiques essentielles peuvent être mises en avant :</a:t>
            </a:r>
          </a:p>
          <a:p>
            <a:r>
              <a:rPr lang="fr-FR" dirty="0"/>
              <a:t>Le processus 2TUP (</a:t>
            </a:r>
            <a:r>
              <a:rPr lang="fr-FR" dirty="0" err="1"/>
              <a:t>Two</a:t>
            </a:r>
            <a:r>
              <a:rPr lang="fr-FR" dirty="0"/>
              <a:t> Tracks </a:t>
            </a:r>
            <a:r>
              <a:rPr lang="fr-FR" dirty="0" err="1"/>
              <a:t>Unified</a:t>
            </a:r>
            <a:r>
              <a:rPr lang="fr-FR" dirty="0"/>
              <a:t> Process) est un processus unifié construit sur le langage UML. Le processus unifié répète un certain nombre de fois une série de cycles. Tout cycle se conclut par la livraison d’une version du produit aux clients et s’articule en 4 phases : création, élaboration, construction et transition, chacune d’entre elles se subdivisant à son tour en itérations. Dans le processus 2TUP, les activités de développement sont organisées suivant 5 workflows qui décrivent : La capture des besoins ; L’analyse ; La conception ; L’implémentation ;le test</a:t>
            </a:r>
          </a:p>
          <a:p>
            <a:r>
              <a:rPr lang="fr-FR" dirty="0"/>
              <a:t>Le processus s'articule autour de 3 phases essentielles à savoir : une branche technique, une branche fonctionnelle et une phase de réalisation. ➢ La branche fonctionnelle : capitalise la connaissance du métier de l’entreprise. ➢ La branche technique : capitalise un savoir-faire technique et/ou des contraintes techniques ➢ La phase de réalisation : consiste à réunir les deux branches, permettant de mener une conception applicative et enfin la livraison d'une solution adaptée aux besoins</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19</a:t>
            </a:fld>
            <a:endParaRPr lang="fr-FR"/>
          </a:p>
        </p:txBody>
      </p:sp>
    </p:spTree>
    <p:extLst>
      <p:ext uri="{BB962C8B-B14F-4D97-AF65-F5344CB8AC3E}">
        <p14:creationId xmlns:p14="http://schemas.microsoft.com/office/powerpoint/2010/main" val="3824227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En somme, élaborer un dossier de conception revient à modéliser les différentes données (éléments servant à la création de la base de données) et différents traitements (les divers modules de l’application) qui s’effectueront lors de la conception de la solution du futur système. Cela s’est traduit notamment   par la modélisation du diagramme de classe. Modéliser la solution du futur système est bénéfique, mettre au point cette solution est opportun ; c’est dans cet ordre d’idée que nous consacreront la prochaine phase de notre travail à la réalisation de ladite solution.  </a:t>
            </a:r>
          </a:p>
          <a:p>
            <a:endParaRPr lang="fr-FR" dirty="0"/>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20</a:t>
            </a:fld>
            <a:endParaRPr lang="fr-FR"/>
          </a:p>
        </p:txBody>
      </p:sp>
    </p:spTree>
    <p:extLst>
      <p:ext uri="{BB962C8B-B14F-4D97-AF65-F5344CB8AC3E}">
        <p14:creationId xmlns:p14="http://schemas.microsoft.com/office/powerpoint/2010/main" val="3672594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71A7-F445-4F61-BA73-47538832A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6EBD2-7D1E-4BEA-BF41-6451A7DA5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280EA1-84AC-4F6C-871A-F8B08501FF9F}"/>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E76D1E61-D4F5-423F-AD89-54BFBD591A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8FAF5-63D5-4524-A454-243750EAD92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12758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6177-373C-43CF-A81F-46D832E3B9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82EEC-9D99-4055-A049-36D25CE70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620C1-205E-4357-8F82-3B18185C0D5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CC0670E6-A1E4-4A87-8D70-16E4D45D4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E94A96-E414-40C5-9C42-5B313AC8A4DC}"/>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0256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DE5A-A3C4-4246-AC83-4B02A5AF6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506A27-CBE5-4DE1-9A3B-1DCA2875D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4C7CF-D265-42EE-BC07-C5CA4DD576C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538DBA2E-16C6-416D-8DBC-3595AAC09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B8A69-8342-4803-AAE4-2455CB0EFA1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04520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D22D-E0FC-447D-9B92-C7F1F42DF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5C01DA-D8B8-42E3-819F-97B3126FC4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FCD86F-812F-4C7E-BD4C-16D840120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BAE446-0E3E-478D-BCEC-1BB386AF4E0D}"/>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6AEA6C5E-2AB3-4CD9-8AB3-42C299819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FB21D-0CF7-4F88-B8C9-D637E15C796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22958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8DD7-BCD2-4B72-BB41-DC9C351A32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35C04C-6F86-4E05-9DBE-1FE3AAC89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9FDD6E-1D02-459D-AC1E-98538BA03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C4309A-7C74-4F92-90B5-95F8252AD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44E603-3D3E-47EA-A082-7DDEFCF75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6D727-85F2-4126-AFDE-2B9A08376318}"/>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8" name="Footer Placeholder 7">
            <a:extLst>
              <a:ext uri="{FF2B5EF4-FFF2-40B4-BE49-F238E27FC236}">
                <a16:creationId xmlns:a16="http://schemas.microsoft.com/office/drawing/2014/main" id="{89B1DE8E-8E21-4170-90BC-7AEDC156EF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FEFDC7-E738-4425-9C4E-A216D668641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99059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62-175A-4225-9CFC-899A8A4AEB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CA855D-DF5E-4CFE-8750-1BA079840676}"/>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4" name="Footer Placeholder 3">
            <a:extLst>
              <a:ext uri="{FF2B5EF4-FFF2-40B4-BE49-F238E27FC236}">
                <a16:creationId xmlns:a16="http://schemas.microsoft.com/office/drawing/2014/main" id="{28FF19F0-B71A-4DAE-B03F-C28C697461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F56B7F-8CC9-4F92-A2FB-DD8FC08155F6}"/>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42059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C07F6-D258-4876-835A-5C904059A491}"/>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3" name="Footer Placeholder 2">
            <a:extLst>
              <a:ext uri="{FF2B5EF4-FFF2-40B4-BE49-F238E27FC236}">
                <a16:creationId xmlns:a16="http://schemas.microsoft.com/office/drawing/2014/main" id="{D710343E-C439-46D9-93AA-3EEA30F41D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C11F50-100F-4106-A076-0C1356C9F3EB}"/>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6017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C4BD-AB36-4FBB-B8A0-1A3A2AED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E039EA-D04F-486A-8AF0-FBE3A6A17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E4CD7-1F95-4584-A451-CF937B6C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7DC98-8619-470E-A21C-DB116D4A3D5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422C37AD-BC04-41B7-98E9-62BE06FC0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9BE2C-8A53-4656-8CD2-65D31B3D00C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7394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D397-D632-4DE1-96A9-7AB3084A08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A127A-8300-4986-BE78-2EC9CBF4C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0B776F-3D57-4192-A000-B0389B4E5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AA18F-2004-473D-8BEA-9E7A8F2CCB4D}"/>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63C032C2-2FC1-404E-8863-B897185A9E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9F4B7F-389A-4B09-B48E-3A30BA879B7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22695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B4F7-8337-45B6-8C08-BFD67D8BF9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90DDE-AA34-4E6F-A6AE-EBC444C609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72F36-6057-452B-95B0-F0258703E67A}"/>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66703784-2809-44D6-AB60-DD0C657C1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9A282-DB41-4117-9DB2-0C94D5DCBFF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0790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DBA10-FA40-4E0B-960A-88E75BE5E3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73773A-74C6-4F7E-9A02-8FC2F015E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21A-5EAC-4F58-9FD3-06D33F26F893}"/>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2B7CC662-8729-4AA5-8C15-4A00A1B78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D338EB-C9C6-4D8F-8C1D-27A7810F1D3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48961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FEFCE1-A8E6-4981-BD38-DF0B372AF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ED305F-2B82-44E4-B744-196F85D9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5DC62-7603-4CFA-A683-E553FC811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7BFBEEC8-7BE9-4492-8816-2E021C093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7D69DC-1F40-49BE-9BCC-6BCBECB0C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07AD0-2C37-4EE0-BE88-741CF00A1674}" type="slidenum">
              <a:rPr lang="en-US" smtClean="0"/>
              <a:t>‹N°›</a:t>
            </a:fld>
            <a:endParaRPr lang="en-US"/>
          </a:p>
        </p:txBody>
      </p:sp>
    </p:spTree>
    <p:extLst>
      <p:ext uri="{BB962C8B-B14F-4D97-AF65-F5344CB8AC3E}">
        <p14:creationId xmlns:p14="http://schemas.microsoft.com/office/powerpoint/2010/main" val="81644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 de texte 6"/>
          <p:cNvSpPr txBox="1"/>
          <p:nvPr/>
        </p:nvSpPr>
        <p:spPr>
          <a:xfrm>
            <a:off x="5954725" y="2754244"/>
            <a:ext cx="1274445" cy="76454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2" name="Parchemin horizontal 21"/>
          <p:cNvSpPr/>
          <p:nvPr/>
        </p:nvSpPr>
        <p:spPr>
          <a:xfrm>
            <a:off x="3511373" y="2875118"/>
            <a:ext cx="6067590" cy="1624846"/>
          </a:xfrm>
          <a:prstGeom prst="horizontalScroll">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endParaRPr lang="fr-FR" sz="1050" dirty="0">
              <a:ln>
                <a:noFill/>
              </a:ln>
              <a:solidFill>
                <a:srgbClr val="000000"/>
              </a:solidFill>
              <a:effectLst>
                <a:outerShdw blurRad="38100" dist="19050" dir="2700000" algn="tl">
                  <a:schemeClr val="dk1">
                    <a:alpha val="40000"/>
                  </a:schemeClr>
                </a:outerShdw>
              </a:effectLst>
              <a:latin typeface="Times New Roman" panose="02020603050405020304" pitchFamily="18" charset="0"/>
            </a:endParaRPr>
          </a:p>
          <a:p>
            <a:pPr algn="ctr">
              <a:lnSpc>
                <a:spcPct val="115000"/>
              </a:lnSpc>
            </a:pPr>
            <a:r>
              <a:rPr lang="fr-FR" sz="2400" b="1" dirty="0">
                <a:solidFill>
                  <a:schemeClr val="bg1"/>
                </a:solidFill>
                <a:effectLst>
                  <a:outerShdw blurRad="38100" dist="19050" dir="2700000" algn="tl">
                    <a:schemeClr val="dk1">
                      <a:alpha val="40000"/>
                    </a:schemeClr>
                  </a:outerShdw>
                </a:effectLst>
                <a:latin typeface="Rockwell" panose="02060603020205020403" pitchFamily="18" charset="0"/>
              </a:rPr>
              <a:t>CONCEPTION ET MISE EN ŒUVRE DE DISKMONITOR: Cas de CentOS Stream; dossier de Conception</a:t>
            </a:r>
            <a:endParaRPr lang="fr-FR" b="1" dirty="0">
              <a:solidFill>
                <a:schemeClr val="bg1"/>
              </a:solidFill>
              <a:effectLst/>
              <a:latin typeface="Rockwell" panose="02060603020205020403" pitchFamily="18" charset="0"/>
            </a:endParaRPr>
          </a:p>
          <a:p>
            <a:pPr algn="ctr">
              <a:lnSpc>
                <a:spcPct val="115000"/>
              </a:lnSpc>
            </a:pPr>
            <a:r>
              <a:rPr lang="fr-FR" sz="1050" dirty="0">
                <a:ln>
                  <a:noFill/>
                </a:ln>
                <a:solidFill>
                  <a:srgbClr val="000000"/>
                </a:solidFill>
                <a:effectLst>
                  <a:outerShdw blurRad="38100" dist="19050" dir="2700000" algn="tl">
                    <a:schemeClr val="dk1">
                      <a:alpha val="40000"/>
                    </a:schemeClr>
                  </a:outerShdw>
                </a:effectLst>
                <a:latin typeface="Times New Roman" panose="02020603050405020304" pitchFamily="18" charset="0"/>
              </a:rPr>
              <a:t>                                                        </a:t>
            </a:r>
            <a:endParaRPr lang="fr-FR" sz="1050" dirty="0">
              <a:effectLst/>
            </a:endParaRPr>
          </a:p>
        </p:txBody>
      </p:sp>
      <p:sp>
        <p:nvSpPr>
          <p:cNvPr id="24" name="Zone de texte 14"/>
          <p:cNvSpPr txBox="1"/>
          <p:nvPr/>
        </p:nvSpPr>
        <p:spPr>
          <a:xfrm>
            <a:off x="667385" y="4516758"/>
            <a:ext cx="7369791" cy="1051377"/>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fr-FR" dirty="0">
                <a:latin typeface="Rockwell" panose="02060603020205020403" pitchFamily="18" charset="0"/>
              </a:rPr>
              <a:t>Rédigé et présenté par </a:t>
            </a:r>
            <a:r>
              <a:rPr lang="fr-FR" b="1" dirty="0">
                <a:latin typeface="Rockwell" panose="02060603020205020403" pitchFamily="18" charset="0"/>
              </a:rPr>
              <a:t>: </a:t>
            </a:r>
          </a:p>
          <a:p>
            <a:pPr marL="285750" indent="-285750">
              <a:buFont typeface="Wingdings" panose="05000000000000000000" pitchFamily="2" charset="2"/>
              <a:buChar char="Ø"/>
            </a:pPr>
            <a:r>
              <a:rPr lang="fr-FR" b="1" dirty="0">
                <a:latin typeface="Rockwell" panose="02060603020205020403" pitchFamily="18" charset="0"/>
              </a:rPr>
              <a:t>EKOSSO LANG’LE Sylvain </a:t>
            </a:r>
          </a:p>
          <a:p>
            <a:pPr marL="285750" indent="-285750">
              <a:buFont typeface="Wingdings" panose="05000000000000000000" pitchFamily="2" charset="2"/>
              <a:buChar char="Ø"/>
            </a:pPr>
            <a:r>
              <a:rPr lang="fr-FR" b="1" dirty="0">
                <a:latin typeface="Rockwell" panose="02060603020205020403" pitchFamily="18" charset="0"/>
              </a:rPr>
              <a:t>FOGOU JESSI</a:t>
            </a:r>
          </a:p>
          <a:p>
            <a:pPr algn="ctr"/>
            <a:r>
              <a:rPr lang="fr-FR" dirty="0">
                <a:latin typeface="Rockwell" panose="02060603020205020403" pitchFamily="18" charset="0"/>
              </a:rPr>
              <a:t>Étudiants en Master I filière </a:t>
            </a:r>
            <a:r>
              <a:rPr lang="fr-FR" b="1" dirty="0">
                <a:latin typeface="Rockwell" panose="02060603020205020403" pitchFamily="18" charset="0"/>
              </a:rPr>
              <a:t>sécurité des systèmes d’information</a:t>
            </a:r>
            <a:r>
              <a:rPr lang="fr-FR" dirty="0">
                <a:latin typeface="Rockwell" panose="02060603020205020403" pitchFamily="18" charset="0"/>
              </a:rPr>
              <a:t>.</a:t>
            </a:r>
          </a:p>
          <a:p>
            <a:pPr>
              <a:spcAft>
                <a:spcPts val="800"/>
              </a:spcAft>
            </a:pPr>
            <a:r>
              <a:rPr lang="fr-FR"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1200" dirty="0">
              <a:effectLst/>
              <a:ea typeface="Calibri" panose="020F0502020204030204" pitchFamily="34" charset="0"/>
              <a:cs typeface="Times New Roman" panose="02020603050405020304" pitchFamily="18" charset="0"/>
            </a:endParaRP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p:txBody>
      </p:sp>
      <p:sp>
        <p:nvSpPr>
          <p:cNvPr id="25" name="Zone de texte 4"/>
          <p:cNvSpPr txBox="1"/>
          <p:nvPr/>
        </p:nvSpPr>
        <p:spPr>
          <a:xfrm>
            <a:off x="667385" y="9566275"/>
            <a:ext cx="6260465" cy="56642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6" name="Rectangle 15"/>
          <p:cNvSpPr>
            <a:spLocks noChangeArrowheads="1"/>
          </p:cNvSpPr>
          <p:nvPr/>
        </p:nvSpPr>
        <p:spPr bwMode="auto">
          <a:xfrm>
            <a:off x="0" y="113184"/>
            <a:ext cx="18473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sz="900"/>
          </a:p>
        </p:txBody>
      </p:sp>
      <p:sp>
        <p:nvSpPr>
          <p:cNvPr id="27" name="Rectangle 18"/>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28" name="Rectangle 19"/>
          <p:cNvSpPr>
            <a:spLocks noChangeArrowheads="1"/>
          </p:cNvSpPr>
          <p:nvPr/>
        </p:nvSpPr>
        <p:spPr bwMode="auto">
          <a:xfrm>
            <a:off x="0" y="11906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30" name="Rectangle 25"/>
          <p:cNvSpPr>
            <a:spLocks noChangeArrowheads="1"/>
          </p:cNvSpPr>
          <p:nvPr/>
        </p:nvSpPr>
        <p:spPr bwMode="auto">
          <a:xfrm>
            <a:off x="9444002" y="5203750"/>
            <a:ext cx="2281272" cy="638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866900" algn="l"/>
              </a:tabLst>
              <a:defRPr>
                <a:solidFill>
                  <a:schemeClr val="tx1"/>
                </a:solidFill>
                <a:latin typeface="Arial" panose="020B0604020202020204" pitchFamily="34" charset="0"/>
              </a:defRPr>
            </a:lvl1pPr>
            <a:lvl2pPr eaLnBrk="0" fontAlgn="base" hangingPunct="0">
              <a:spcBef>
                <a:spcPct val="0"/>
              </a:spcBef>
              <a:spcAft>
                <a:spcPct val="0"/>
              </a:spcAft>
              <a:tabLst>
                <a:tab pos="1866900" algn="l"/>
              </a:tabLst>
              <a:defRPr>
                <a:solidFill>
                  <a:schemeClr val="tx1"/>
                </a:solidFill>
                <a:latin typeface="Arial" panose="020B0604020202020204" pitchFamily="34" charset="0"/>
              </a:defRPr>
            </a:lvl2pPr>
            <a:lvl3pPr eaLnBrk="0" fontAlgn="base" hangingPunct="0">
              <a:spcBef>
                <a:spcPct val="0"/>
              </a:spcBef>
              <a:spcAft>
                <a:spcPct val="0"/>
              </a:spcAft>
              <a:tabLst>
                <a:tab pos="1866900" algn="l"/>
              </a:tabLst>
              <a:defRPr>
                <a:solidFill>
                  <a:schemeClr val="tx1"/>
                </a:solidFill>
                <a:latin typeface="Arial" panose="020B0604020202020204" pitchFamily="34" charset="0"/>
              </a:defRPr>
            </a:lvl3pPr>
            <a:lvl4pPr eaLnBrk="0" fontAlgn="base" hangingPunct="0">
              <a:spcBef>
                <a:spcPct val="0"/>
              </a:spcBef>
              <a:spcAft>
                <a:spcPct val="0"/>
              </a:spcAft>
              <a:tabLst>
                <a:tab pos="1866900" algn="l"/>
              </a:tabLst>
              <a:defRPr>
                <a:solidFill>
                  <a:schemeClr val="tx1"/>
                </a:solidFill>
                <a:latin typeface="Arial" panose="020B0604020202020204" pitchFamily="34" charset="0"/>
              </a:defRPr>
            </a:lvl4pPr>
            <a:lvl5pPr eaLnBrk="0" fontAlgn="base" hangingPunct="0">
              <a:spcBef>
                <a:spcPct val="0"/>
              </a:spcBef>
              <a:spcAft>
                <a:spcPct val="0"/>
              </a:spcAft>
              <a:tabLst>
                <a:tab pos="1866900" algn="l"/>
              </a:tabLst>
              <a:defRPr>
                <a:solidFill>
                  <a:schemeClr val="tx1"/>
                </a:solidFill>
                <a:latin typeface="Arial" panose="020B0604020202020204" pitchFamily="34" charset="0"/>
              </a:defRPr>
            </a:lvl5pPr>
            <a:lvl6pPr eaLnBrk="0" fontAlgn="base" hangingPunct="0">
              <a:spcBef>
                <a:spcPct val="0"/>
              </a:spcBef>
              <a:spcAft>
                <a:spcPct val="0"/>
              </a:spcAft>
              <a:tabLst>
                <a:tab pos="1866900" algn="l"/>
              </a:tabLst>
              <a:defRPr>
                <a:solidFill>
                  <a:schemeClr val="tx1"/>
                </a:solidFill>
                <a:latin typeface="Arial" panose="020B0604020202020204" pitchFamily="34" charset="0"/>
              </a:defRPr>
            </a:lvl6pPr>
            <a:lvl7pPr eaLnBrk="0" fontAlgn="base" hangingPunct="0">
              <a:spcBef>
                <a:spcPct val="0"/>
              </a:spcBef>
              <a:spcAft>
                <a:spcPct val="0"/>
              </a:spcAft>
              <a:tabLst>
                <a:tab pos="1866900" algn="l"/>
              </a:tabLst>
              <a:defRPr>
                <a:solidFill>
                  <a:schemeClr val="tx1"/>
                </a:solidFill>
                <a:latin typeface="Arial" panose="020B0604020202020204" pitchFamily="34" charset="0"/>
              </a:defRPr>
            </a:lvl7pPr>
            <a:lvl8pPr eaLnBrk="0" fontAlgn="base" hangingPunct="0">
              <a:spcBef>
                <a:spcPct val="0"/>
              </a:spcBef>
              <a:spcAft>
                <a:spcPct val="0"/>
              </a:spcAft>
              <a:tabLst>
                <a:tab pos="1866900" algn="l"/>
              </a:tabLst>
              <a:defRPr>
                <a:solidFill>
                  <a:schemeClr val="tx1"/>
                </a:solidFill>
                <a:latin typeface="Arial" panose="020B0604020202020204" pitchFamily="34" charset="0"/>
              </a:defRPr>
            </a:lvl8pPr>
            <a:lvl9pPr eaLnBrk="0" fontAlgn="base" hangingPunct="0">
              <a:spcBef>
                <a:spcPct val="0"/>
              </a:spcBef>
              <a:spcAft>
                <a:spcPct val="0"/>
              </a:spcAft>
              <a:tabLst>
                <a:tab pos="1866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866900" algn="l"/>
              </a:tabLst>
            </a:pPr>
            <a:r>
              <a:rPr kumimoji="0" lang="fr-FR" sz="10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fr-FR" sz="1600" b="1" i="0" u="sng"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Sous la supervision </a:t>
            </a:r>
            <a:r>
              <a:rPr kumimoji="0" lang="fr-FR" sz="105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a:t>
            </a:r>
            <a:endParaRPr kumimoji="0" lang="fr-FR" sz="1050" b="0" i="0" u="none" strike="noStrike" cap="none" normalizeH="0" baseline="0" dirty="0">
              <a:ln>
                <a:noFill/>
              </a:ln>
              <a:solidFill>
                <a:schemeClr val="accent2">
                  <a:lumMod val="50000"/>
                </a:schemeClr>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66900" algn="l"/>
              </a:tabLst>
            </a:pPr>
            <a:endParaRPr kumimoji="0" lang="fr-FR" sz="900" b="0" i="0" u="none" strike="noStrike" cap="none" normalizeH="0" baseline="0" dirty="0">
              <a:ln>
                <a:noFill/>
              </a:ln>
              <a:solidFill>
                <a:schemeClr val="tx1"/>
              </a:solidFill>
              <a:effectLst/>
            </a:endParaRPr>
          </a:p>
        </p:txBody>
      </p:sp>
      <p:sp>
        <p:nvSpPr>
          <p:cNvPr id="31" name="Rectangle 28"/>
          <p:cNvSpPr>
            <a:spLocks noChangeArrowheads="1"/>
          </p:cNvSpPr>
          <p:nvPr/>
        </p:nvSpPr>
        <p:spPr bwMode="auto">
          <a:xfrm>
            <a:off x="0" y="2131710"/>
            <a:ext cx="110799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sz="900" b="0" i="0" u="none" strike="noStrike" cap="none" normalizeH="0" baseline="0" dirty="0">
                <a:ln>
                  <a:noFill/>
                </a:ln>
                <a:solidFill>
                  <a:schemeClr val="tx1"/>
                </a:solidFill>
                <a:effectLst/>
                <a:latin typeface="Arial" panose="020B0604020202020204" pitchFamily="34" charset="0"/>
              </a:rPr>
            </a:br>
            <a:endParaRPr kumimoji="0" lang="fr-FR"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latin typeface="Arial" panose="020B0604020202020204" pitchFamily="34" charset="0"/>
            </a:endParaRPr>
          </a:p>
        </p:txBody>
      </p:sp>
      <p:sp>
        <p:nvSpPr>
          <p:cNvPr id="32" name="Rectangle 29"/>
          <p:cNvSpPr>
            <a:spLocks noChangeArrowheads="1"/>
          </p:cNvSpPr>
          <p:nvPr/>
        </p:nvSpPr>
        <p:spPr bwMode="auto">
          <a:xfrm>
            <a:off x="0" y="27527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34" name="ZoneTexte 33"/>
          <p:cNvSpPr txBox="1"/>
          <p:nvPr/>
        </p:nvSpPr>
        <p:spPr>
          <a:xfrm>
            <a:off x="9578963" y="5568135"/>
            <a:ext cx="2728884" cy="1109727"/>
          </a:xfrm>
          <a:prstGeom prst="rect">
            <a:avLst/>
          </a:prstGeom>
          <a:noFill/>
        </p:spPr>
        <p:txBody>
          <a:bodyPr wrap="square" rtlCol="0">
            <a:spAutoFit/>
          </a:bodyPr>
          <a:lstStyle/>
          <a:p>
            <a:pPr>
              <a:lnSpc>
                <a:spcPct val="150000"/>
              </a:lnSpc>
            </a:pPr>
            <a:r>
              <a:rPr lang="fr-FR" sz="1600" dirty="0">
                <a:solidFill>
                  <a:schemeClr val="accent5">
                    <a:lumMod val="75000"/>
                  </a:schemeClr>
                </a:solidFill>
                <a:latin typeface="Rockwell" panose="02060603020205020403" pitchFamily="18" charset="0"/>
                <a:cs typeface="Times New Roman" panose="02020603050405020304" pitchFamily="18" charset="0"/>
              </a:rPr>
              <a:t>  Académique de :</a:t>
            </a:r>
          </a:p>
          <a:p>
            <a:pPr>
              <a:lnSpc>
                <a:spcPct val="150000"/>
              </a:lnSpc>
            </a:pPr>
            <a:r>
              <a:rPr lang="fr-FR" sz="1200" b="1" dirty="0">
                <a:latin typeface="Rockwell" panose="02060603020205020403" pitchFamily="18" charset="0"/>
              </a:rPr>
              <a:t>  </a:t>
            </a:r>
            <a:r>
              <a:rPr lang="fr-FR" sz="1400" b="1" dirty="0">
                <a:latin typeface="Rockwell" panose="02060603020205020403" pitchFamily="18" charset="0"/>
              </a:rPr>
              <a:t>M. NGUIMBUS</a:t>
            </a:r>
          </a:p>
          <a:p>
            <a:pPr>
              <a:lnSpc>
                <a:spcPct val="150000"/>
              </a:lnSpc>
            </a:pPr>
            <a:r>
              <a:rPr lang="fr-FR" sz="1600" i="1" dirty="0">
                <a:latin typeface="Rockwell" panose="02060603020205020403" pitchFamily="18" charset="0"/>
              </a:rPr>
              <a:t>Enseignant à IUSJ</a:t>
            </a:r>
          </a:p>
        </p:txBody>
      </p:sp>
      <p:sp>
        <p:nvSpPr>
          <p:cNvPr id="37" name="Zone de texte 1"/>
          <p:cNvSpPr txBox="1"/>
          <p:nvPr/>
        </p:nvSpPr>
        <p:spPr>
          <a:xfrm>
            <a:off x="0" y="113037"/>
            <a:ext cx="3785527" cy="2827306"/>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pPr>
            <a:r>
              <a:rPr lang="fr-FR" sz="900" dirty="0">
                <a:effectLst/>
                <a:latin typeface="Rockwell" panose="02060603020205020403" pitchFamily="18" charset="0"/>
              </a:rPr>
              <a:t>      </a:t>
            </a:r>
          </a:p>
          <a:p>
            <a:pPr algn="ctr"/>
            <a:r>
              <a:rPr lang="fr-FR" sz="1200" b="1" dirty="0">
                <a:latin typeface="Rockwell" panose="02060603020205020403" pitchFamily="18" charset="0"/>
              </a:rPr>
              <a:t>REPUBLIQUE DU CAMEROUN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PAIX-TRAVAIL-PATRIE</a:t>
            </a:r>
            <a:endParaRPr lang="fr-FR" sz="1200" dirty="0">
              <a:latin typeface="Rockwell" panose="02060603020205020403" pitchFamily="18" charset="0"/>
            </a:endParaRPr>
          </a:p>
          <a:p>
            <a:pPr algn="ctr">
              <a:lnSpc>
                <a:spcPct val="150000"/>
              </a:lnSpc>
            </a:pPr>
            <a:r>
              <a:rPr lang="fr-FR" sz="2000" b="1" dirty="0">
                <a:effectLst/>
                <a:latin typeface="Rockwell" panose="02060603020205020403" pitchFamily="18" charset="0"/>
              </a:rPr>
              <a:t> </a:t>
            </a:r>
          </a:p>
          <a:p>
            <a:pPr algn="ctr">
              <a:lnSpc>
                <a:spcPct val="150000"/>
              </a:lnSpc>
            </a:pPr>
            <a:endParaRPr lang="fr-FR" sz="2000" b="1" dirty="0">
              <a:effectLst/>
              <a:latin typeface="Rockwell" panose="02060603020205020403" pitchFamily="18" charset="0"/>
            </a:endParaRPr>
          </a:p>
          <a:p>
            <a:pPr algn="ctr"/>
            <a:r>
              <a:rPr lang="fr-FR" sz="1400" b="1" dirty="0">
                <a:effectLst/>
                <a:latin typeface="Rockwell" panose="02060603020205020403" pitchFamily="18" charset="0"/>
              </a:rPr>
              <a:t>    </a:t>
            </a:r>
            <a:r>
              <a:rPr lang="fr-FR" sz="1400" b="1" dirty="0">
                <a:latin typeface="Rockwell" panose="02060603020205020403" pitchFamily="18" charset="0"/>
              </a:rPr>
              <a:t> </a:t>
            </a:r>
            <a:r>
              <a:rPr lang="fr-FR" sz="1400" b="1" dirty="0">
                <a:effectLst/>
                <a:latin typeface="Rockwell" panose="02060603020205020403" pitchFamily="18" charset="0"/>
              </a:rPr>
              <a:t> </a:t>
            </a:r>
            <a:r>
              <a:rPr lang="fr-FR" sz="1200" b="1" dirty="0">
                <a:latin typeface="Rockwell" panose="02060603020205020403" pitchFamily="18" charset="0"/>
              </a:rPr>
              <a:t>MINISTERE DE L’ENSEIGNEMENT SUPERIEUR</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UNIVERSITE DE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INSTITUT SAINT-JEAN</a:t>
            </a:r>
            <a:endParaRPr lang="fr-FR" sz="1200" dirty="0">
              <a:latin typeface="Rockwell" panose="02060603020205020403" pitchFamily="18" charset="0"/>
            </a:endParaRPr>
          </a:p>
          <a:p>
            <a:pPr algn="ctr">
              <a:lnSpc>
                <a:spcPct val="150000"/>
              </a:lnSpc>
            </a:pPr>
            <a:r>
              <a:rPr lang="en-US" dirty="0">
                <a:effectLst/>
              </a:rPr>
              <a:t> </a:t>
            </a:r>
            <a:endParaRPr lang="fr-FR" dirty="0">
              <a:effectLst/>
            </a:endParaRPr>
          </a:p>
        </p:txBody>
      </p:sp>
      <p:pic>
        <p:nvPicPr>
          <p:cNvPr id="38" name="Image 37"/>
          <p:cNvPicPr/>
          <p:nvPr/>
        </p:nvPicPr>
        <p:blipFill>
          <a:blip r:embed="rId2">
            <a:extLst>
              <a:ext uri="{28A0092B-C50C-407E-A947-70E740481C1C}">
                <a14:useLocalDpi xmlns:a14="http://schemas.microsoft.com/office/drawing/2010/main" val="0"/>
              </a:ext>
            </a:extLst>
          </a:blip>
          <a:srcRect/>
          <a:stretch/>
        </p:blipFill>
        <p:spPr bwMode="auto">
          <a:xfrm>
            <a:off x="1225488" y="1035930"/>
            <a:ext cx="911225" cy="728980"/>
          </a:xfrm>
          <a:prstGeom prst="rect">
            <a:avLst/>
          </a:prstGeom>
          <a:noFill/>
          <a:ln>
            <a:noFill/>
          </a:ln>
        </p:spPr>
      </p:pic>
      <p:sp>
        <p:nvSpPr>
          <p:cNvPr id="39" name="Zone de texte 2"/>
          <p:cNvSpPr txBox="1">
            <a:spLocks noChangeArrowheads="1"/>
          </p:cNvSpPr>
          <p:nvPr/>
        </p:nvSpPr>
        <p:spPr bwMode="auto">
          <a:xfrm>
            <a:off x="9444002" y="268590"/>
            <a:ext cx="2747997" cy="26479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r>
              <a:rPr lang="fr-FR" sz="1200" b="1" dirty="0">
                <a:latin typeface="Rockwell" panose="02060603020205020403" pitchFamily="18" charset="0"/>
              </a:rPr>
              <a:t>REPUBLIC OF CAMEROON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PEACE-WORK-FATHERLAND</a:t>
            </a:r>
            <a:endParaRPr lang="fr-FR" sz="1200" dirty="0">
              <a:latin typeface="Rockwell" panose="02060603020205020403"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effectLst/>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200" dirty="0">
              <a:effectLst/>
              <a:latin typeface="Rockwell" panose="02060603020205020403" pitchFamily="18" charset="0"/>
              <a:ea typeface="Calibri" panose="020F0502020204030204" pitchFamily="34" charset="0"/>
              <a:cs typeface="Times New Roman" panose="02020603050405020304" pitchFamily="18" charset="0"/>
            </a:endParaRPr>
          </a:p>
          <a:p>
            <a:pPr algn="ctr"/>
            <a:r>
              <a:rPr lang="fr-FR" sz="1200" b="1" dirty="0">
                <a:latin typeface="Rockwell" panose="02060603020205020403" pitchFamily="18" charset="0"/>
              </a:rPr>
              <a:t>MINISTERY OF HIGHER EDUCATION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UNIVERSITY OF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SAINT-JEAN INSTITUTE</a:t>
            </a:r>
            <a:endParaRPr lang="fr-FR" sz="1200" dirty="0">
              <a:latin typeface="Rockwell" panose="02060603020205020403" pitchFamily="18" charset="0"/>
            </a:endParaRPr>
          </a:p>
          <a:p>
            <a:pPr>
              <a:lnSpc>
                <a:spcPct val="107000"/>
              </a:lnSpc>
              <a:spcAft>
                <a:spcPts val="8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0" name="Image 39"/>
          <p:cNvPicPr/>
          <p:nvPr/>
        </p:nvPicPr>
        <p:blipFill>
          <a:blip r:embed="rId2">
            <a:extLst>
              <a:ext uri="{28A0092B-C50C-407E-A947-70E740481C1C}">
                <a14:useLocalDpi xmlns:a14="http://schemas.microsoft.com/office/drawing/2010/main" val="0"/>
              </a:ext>
            </a:extLst>
          </a:blip>
          <a:srcRect/>
          <a:stretch/>
        </p:blipFill>
        <p:spPr>
          <a:xfrm>
            <a:off x="10301793" y="1091935"/>
            <a:ext cx="1070768" cy="672975"/>
          </a:xfrm>
          <a:prstGeom prst="rect">
            <a:avLst/>
          </a:prstGeom>
        </p:spPr>
      </p:pic>
      <p:sp>
        <p:nvSpPr>
          <p:cNvPr id="2" name="Rectangle 1"/>
          <p:cNvSpPr/>
          <p:nvPr/>
        </p:nvSpPr>
        <p:spPr>
          <a:xfrm>
            <a:off x="4883003" y="6370662"/>
            <a:ext cx="3085653" cy="307200"/>
          </a:xfrm>
          <a:prstGeom prst="rect">
            <a:avLst/>
          </a:prstGeom>
        </p:spPr>
        <p:txBody>
          <a:bodyPr wrap="none">
            <a:spAutoFit/>
          </a:bodyPr>
          <a:lstStyle/>
          <a:p>
            <a:pPr algn="ctr">
              <a:lnSpc>
                <a:spcPct val="107000"/>
              </a:lnSpc>
              <a:spcAft>
                <a:spcPts val="800"/>
              </a:spcAft>
            </a:pPr>
            <a:r>
              <a:rPr lang="fr-FR" sz="1400" b="1" dirty="0">
                <a:solidFill>
                  <a:schemeClr val="accent2">
                    <a:lumMod val="50000"/>
                  </a:schemeClr>
                </a:solidFill>
                <a:effectLst>
                  <a:outerShdw blurRad="38100" dist="19050" dir="2700000" algn="tl">
                    <a:schemeClr val="dk1">
                      <a:alpha val="40000"/>
                    </a:schemeClr>
                  </a:outerShdw>
                </a:effectLst>
                <a:latin typeface="Rockwell" panose="02060603020205020403" pitchFamily="18" charset="0"/>
                <a:ea typeface="Calibri" panose="020F0502020204030204" pitchFamily="34" charset="0"/>
                <a:cs typeface="Times New Roman" panose="02020603050405020304" pitchFamily="18" charset="0"/>
              </a:rPr>
              <a:t>ANNÉE ACADÉMIQUE 2025-2026</a:t>
            </a:r>
            <a:endParaRPr lang="fr-FR" sz="1400" b="1" dirty="0">
              <a:solidFill>
                <a:schemeClr val="accent2">
                  <a:lumMod val="50000"/>
                </a:schemeClr>
              </a:solidFill>
              <a:latin typeface="Rockwell" panose="02060603020205020403" pitchFamily="18" charset="0"/>
              <a:ea typeface="Calibri" panose="020F0502020204030204" pitchFamily="34" charset="0"/>
              <a:cs typeface="Times New Roman" panose="02020603050405020304" pitchFamily="18" charset="0"/>
            </a:endParaRPr>
          </a:p>
        </p:txBody>
      </p:sp>
      <p:sp>
        <p:nvSpPr>
          <p:cNvPr id="3" name="ZoneTexte 2"/>
          <p:cNvSpPr txBox="1"/>
          <p:nvPr/>
        </p:nvSpPr>
        <p:spPr>
          <a:xfrm>
            <a:off x="4420943" y="1107027"/>
            <a:ext cx="4248450" cy="1410707"/>
          </a:xfrm>
          <a:prstGeom prst="rect">
            <a:avLst/>
          </a:prstGeom>
          <a:noFill/>
        </p:spPr>
        <p:txBody>
          <a:bodyPr wrap="square" rtlCol="0">
            <a:spAutoFit/>
          </a:bodyPr>
          <a:lstStyle/>
          <a:p>
            <a:pPr algn="ctr">
              <a:lnSpc>
                <a:spcPct val="150000"/>
              </a:lnSpc>
            </a:pPr>
            <a:r>
              <a:rPr lang="fr-FR" b="1" i="1" dirty="0">
                <a:latin typeface="Rockwell" panose="02060603020205020403" pitchFamily="18" charset="0"/>
              </a:rPr>
              <a:t>PROJET DE SYSTÈME D’EXPLOITATION</a:t>
            </a:r>
            <a:endParaRPr lang="fr-FR" b="1" dirty="0">
              <a:solidFill>
                <a:schemeClr val="accent2">
                  <a:lumMod val="50000"/>
                </a:schemeClr>
              </a:solidFill>
              <a:latin typeface="Rockwell" panose="02060603020205020403" pitchFamily="18" charset="0"/>
            </a:endParaRPr>
          </a:p>
          <a:p>
            <a:pPr algn="ctr">
              <a:lnSpc>
                <a:spcPct val="150000"/>
              </a:lnSpc>
            </a:pPr>
            <a:r>
              <a:rPr lang="fr-FR" dirty="0">
                <a:latin typeface="Rockwell" panose="02060603020205020403" pitchFamily="18" charset="0"/>
              </a:rPr>
              <a:t> </a:t>
            </a:r>
            <a:r>
              <a:rPr lang="fr-FR" sz="2400" u="sng" dirty="0">
                <a:solidFill>
                  <a:schemeClr val="accent1"/>
                </a:solidFill>
                <a:latin typeface="Rockwell" panose="02060603020205020403" pitchFamily="18" charset="0"/>
              </a:rPr>
              <a:t>Thème:</a:t>
            </a:r>
            <a:r>
              <a:rPr lang="fr-FR" sz="2400" u="sng" dirty="0">
                <a:latin typeface="Rockwell" panose="02060603020205020403" pitchFamily="18" charset="0"/>
              </a:rPr>
              <a:t> </a:t>
            </a:r>
            <a:endParaRPr lang="fr-FR" u="sng" dirty="0">
              <a:solidFill>
                <a:schemeClr val="accent1"/>
              </a:solidFill>
              <a:latin typeface="Rockwell" panose="02060603020205020403" pitchFamily="18" charset="0"/>
            </a:endParaRPr>
          </a:p>
        </p:txBody>
      </p:sp>
    </p:spTree>
    <p:extLst>
      <p:ext uri="{BB962C8B-B14F-4D97-AF65-F5344CB8AC3E}">
        <p14:creationId xmlns:p14="http://schemas.microsoft.com/office/powerpoint/2010/main" val="2785028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195C801-FEC2-4935-BC79-CDA576786FDD}"/>
              </a:ext>
            </a:extLst>
          </p:cNvPr>
          <p:cNvSpPr/>
          <p:nvPr/>
        </p:nvSpPr>
        <p:spPr>
          <a:xfrm>
            <a:off x="3984591" y="0"/>
            <a:ext cx="82074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pic>
        <p:nvPicPr>
          <p:cNvPr id="3" name="Picture 2" descr="A picture containing text, clipart&#10;&#10;Description automatically generated">
            <a:extLst>
              <a:ext uri="{FF2B5EF4-FFF2-40B4-BE49-F238E27FC236}">
                <a16:creationId xmlns:a16="http://schemas.microsoft.com/office/drawing/2014/main" id="{389989F5-ABEB-4577-832F-6CD1B885E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58" y="0"/>
            <a:ext cx="5151121" cy="6858000"/>
          </a:xfrm>
          <a:prstGeom prst="rect">
            <a:avLst/>
          </a:prstGeom>
        </p:spPr>
      </p:pic>
      <p:sp>
        <p:nvSpPr>
          <p:cNvPr id="4" name="Oval 3">
            <a:extLst>
              <a:ext uri="{FF2B5EF4-FFF2-40B4-BE49-F238E27FC236}">
                <a16:creationId xmlns:a16="http://schemas.microsoft.com/office/drawing/2014/main" id="{8D03F5C1-9AEE-41FA-B838-C1AF70BBE1E8}"/>
              </a:ext>
            </a:extLst>
          </p:cNvPr>
          <p:cNvSpPr/>
          <p:nvPr/>
        </p:nvSpPr>
        <p:spPr>
          <a:xfrm>
            <a:off x="3534792" y="769333"/>
            <a:ext cx="5122416" cy="532971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sp>
        <p:nvSpPr>
          <p:cNvPr id="6" name="Oval 5">
            <a:extLst>
              <a:ext uri="{FF2B5EF4-FFF2-40B4-BE49-F238E27FC236}">
                <a16:creationId xmlns:a16="http://schemas.microsoft.com/office/drawing/2014/main" id="{E494758F-13A0-4BB3-B8AF-5AC2ABD264CE}"/>
              </a:ext>
            </a:extLst>
          </p:cNvPr>
          <p:cNvSpPr/>
          <p:nvPr/>
        </p:nvSpPr>
        <p:spPr>
          <a:xfrm>
            <a:off x="4527589" y="1793482"/>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1</a:t>
            </a:r>
            <a:endParaRPr lang="en-US" sz="1400" b="1" dirty="0">
              <a:solidFill>
                <a:schemeClr val="bg1"/>
              </a:solidFill>
              <a:latin typeface="Rockwell" panose="02060603020205020403" pitchFamily="18" charset="0"/>
            </a:endParaRPr>
          </a:p>
        </p:txBody>
      </p:sp>
      <p:sp>
        <p:nvSpPr>
          <p:cNvPr id="9" name="Oval 8">
            <a:extLst>
              <a:ext uri="{FF2B5EF4-FFF2-40B4-BE49-F238E27FC236}">
                <a16:creationId xmlns:a16="http://schemas.microsoft.com/office/drawing/2014/main" id="{F89CFFD7-2829-4532-8596-AA0A1D577B8B}"/>
              </a:ext>
            </a:extLst>
          </p:cNvPr>
          <p:cNvSpPr/>
          <p:nvPr/>
        </p:nvSpPr>
        <p:spPr>
          <a:xfrm>
            <a:off x="4556390" y="2892579"/>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2</a:t>
            </a:r>
            <a:endParaRPr lang="en-US" sz="1400" b="1" dirty="0">
              <a:solidFill>
                <a:schemeClr val="bg1"/>
              </a:solidFill>
              <a:latin typeface="Rockwell" panose="02060603020205020403" pitchFamily="18" charset="0"/>
            </a:endParaRPr>
          </a:p>
        </p:txBody>
      </p:sp>
      <p:sp>
        <p:nvSpPr>
          <p:cNvPr id="11" name="Oval 10">
            <a:extLst>
              <a:ext uri="{FF2B5EF4-FFF2-40B4-BE49-F238E27FC236}">
                <a16:creationId xmlns:a16="http://schemas.microsoft.com/office/drawing/2014/main" id="{035C173E-AE4F-45E5-B63F-1FF2A8B7F831}"/>
              </a:ext>
            </a:extLst>
          </p:cNvPr>
          <p:cNvSpPr/>
          <p:nvPr/>
        </p:nvSpPr>
        <p:spPr>
          <a:xfrm>
            <a:off x="4556391" y="391533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3</a:t>
            </a:r>
            <a:endParaRPr lang="en-US" sz="1400" b="1" dirty="0">
              <a:solidFill>
                <a:schemeClr val="bg1"/>
              </a:solidFill>
              <a:latin typeface="Rockwell" panose="02060603020205020403" pitchFamily="18" charset="0"/>
            </a:endParaRPr>
          </a:p>
        </p:txBody>
      </p:sp>
      <p:sp>
        <p:nvSpPr>
          <p:cNvPr id="12" name="Oval 11">
            <a:extLst>
              <a:ext uri="{FF2B5EF4-FFF2-40B4-BE49-F238E27FC236}">
                <a16:creationId xmlns:a16="http://schemas.microsoft.com/office/drawing/2014/main" id="{0ED611DB-9154-4AFF-9602-C088129257DC}"/>
              </a:ext>
            </a:extLst>
          </p:cNvPr>
          <p:cNvSpPr/>
          <p:nvPr/>
        </p:nvSpPr>
        <p:spPr>
          <a:xfrm>
            <a:off x="4556392" y="4874027"/>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4</a:t>
            </a:r>
            <a:endParaRPr lang="en-US" sz="1400" b="1" dirty="0">
              <a:solidFill>
                <a:schemeClr val="bg1"/>
              </a:solidFill>
              <a:latin typeface="Rockwell" panose="02060603020205020403" pitchFamily="18" charset="0"/>
            </a:endParaRPr>
          </a:p>
        </p:txBody>
      </p:sp>
      <p:sp>
        <p:nvSpPr>
          <p:cNvPr id="7" name="Rectangle 6">
            <a:extLst>
              <a:ext uri="{FF2B5EF4-FFF2-40B4-BE49-F238E27FC236}">
                <a16:creationId xmlns:a16="http://schemas.microsoft.com/office/drawing/2014/main" id="{193C7864-99AE-43E7-A386-D37ECB4C0A0F}"/>
              </a:ext>
            </a:extLst>
          </p:cNvPr>
          <p:cNvSpPr/>
          <p:nvPr/>
        </p:nvSpPr>
        <p:spPr>
          <a:xfrm>
            <a:off x="4850207" y="1787437"/>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INTRODUCTION</a:t>
            </a:r>
            <a:endParaRPr lang="en-US" sz="1400" b="1" dirty="0">
              <a:solidFill>
                <a:schemeClr val="bg1"/>
              </a:solidFill>
              <a:latin typeface="Rockwell" panose="02060603020205020403" pitchFamily="18" charset="0"/>
            </a:endParaRPr>
          </a:p>
        </p:txBody>
      </p:sp>
      <p:sp>
        <p:nvSpPr>
          <p:cNvPr id="15" name="Rectangle 14">
            <a:extLst>
              <a:ext uri="{FF2B5EF4-FFF2-40B4-BE49-F238E27FC236}">
                <a16:creationId xmlns:a16="http://schemas.microsoft.com/office/drawing/2014/main" id="{0536CD49-99B7-4890-8F2B-49424FD08AEE}"/>
              </a:ext>
            </a:extLst>
          </p:cNvPr>
          <p:cNvSpPr/>
          <p:nvPr/>
        </p:nvSpPr>
        <p:spPr>
          <a:xfrm>
            <a:off x="5097344" y="2846289"/>
            <a:ext cx="2544375" cy="38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DÉMARCHE D’ANALYSE </a:t>
            </a:r>
            <a:endParaRPr lang="en-US" sz="1400" b="1" dirty="0">
              <a:solidFill>
                <a:schemeClr val="bg1"/>
              </a:solidFill>
              <a:latin typeface="Rockwell" panose="02060603020205020403" pitchFamily="18" charset="0"/>
            </a:endParaRPr>
          </a:p>
        </p:txBody>
      </p:sp>
      <p:sp>
        <p:nvSpPr>
          <p:cNvPr id="16" name="Rectangle 15">
            <a:extLst>
              <a:ext uri="{FF2B5EF4-FFF2-40B4-BE49-F238E27FC236}">
                <a16:creationId xmlns:a16="http://schemas.microsoft.com/office/drawing/2014/main" id="{B62C60CA-F3F5-40A2-85EA-101C29C86EFE}"/>
              </a:ext>
            </a:extLst>
          </p:cNvPr>
          <p:cNvSpPr/>
          <p:nvPr/>
        </p:nvSpPr>
        <p:spPr>
          <a:xfrm>
            <a:off x="4766320" y="3934509"/>
            <a:ext cx="3585100" cy="302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DIAGRAMME INTERVENANTS</a:t>
            </a:r>
            <a:endParaRPr lang="en-US" sz="1400" b="1" dirty="0">
              <a:solidFill>
                <a:schemeClr val="bg1"/>
              </a:solidFill>
              <a:latin typeface="Rockwell" panose="02060603020205020403" pitchFamily="18" charset="0"/>
            </a:endParaRPr>
          </a:p>
        </p:txBody>
      </p:sp>
      <p:sp>
        <p:nvSpPr>
          <p:cNvPr id="20"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a:t>
            </a:r>
            <a:endParaRPr lang="en-US" dirty="0">
              <a:latin typeface="Amasis MT Pro Medium" panose="02040604050005020304" pitchFamily="18" charset="0"/>
            </a:endParaRPr>
          </a:p>
        </p:txBody>
      </p:sp>
      <p:sp>
        <p:nvSpPr>
          <p:cNvPr id="8" name="Rectangle 7">
            <a:extLst>
              <a:ext uri="{FF2B5EF4-FFF2-40B4-BE49-F238E27FC236}">
                <a16:creationId xmlns:a16="http://schemas.microsoft.com/office/drawing/2014/main" id="{C56FFE68-40C3-AF9C-BB5B-244573EEB12F}"/>
              </a:ext>
            </a:extLst>
          </p:cNvPr>
          <p:cNvSpPr/>
          <p:nvPr/>
        </p:nvSpPr>
        <p:spPr>
          <a:xfrm>
            <a:off x="4733946" y="4851837"/>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CONCLUSION</a:t>
            </a:r>
            <a:endParaRPr lang="en-US" sz="1400"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382265240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par>
                                <p:cTn id="9" presetID="47"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ppt_x</p:attrName>
                                        </p:attrNameLst>
                                      </p:cBhvr>
                                      <p:tavLst>
                                        <p:tav tm="0">
                                          <p:val>
                                            <p:strVal val="#ppt_x"/>
                                          </p:val>
                                        </p:tav>
                                        <p:tav tm="100000">
                                          <p:val>
                                            <p:strVal val="#ppt_x"/>
                                          </p:val>
                                        </p:tav>
                                      </p:tavLst>
                                    </p:anim>
                                    <p:anim calcmode="lin" valueType="num">
                                      <p:cBhvr>
                                        <p:cTn id="2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strVal val="#ppt_h"/>
                                          </p:val>
                                        </p:tav>
                                        <p:tav tm="100000">
                                          <p:val>
                                            <p:strVal val="#ppt_h"/>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p:tgtEl>
                                          <p:spTgt spid="16"/>
                                        </p:tgtEl>
                                        <p:attrNameLst>
                                          <p:attrName>ppt_x</p:attrName>
                                        </p:attrNameLst>
                                      </p:cBhvr>
                                      <p:tavLst>
                                        <p:tav tm="0">
                                          <p:val>
                                            <p:strVal val="#ppt_x"/>
                                          </p:val>
                                        </p:tav>
                                        <p:tav tm="100000">
                                          <p:val>
                                            <p:strVal val="#ppt_x"/>
                                          </p:val>
                                        </p:tav>
                                      </p:tavLst>
                                    </p:anim>
                                    <p:anim calcmode="lin" valueType="num">
                                      <p:cBhvr>
                                        <p:cTn id="3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strVal val="#ppt_h"/>
                                          </p:val>
                                        </p:tav>
                                        <p:tav tm="100000">
                                          <p:val>
                                            <p:strVal val="#ppt_h"/>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anim calcmode="lin" valueType="num">
                                      <p:cBhvr>
                                        <p:cTn id="45" dur="500" fill="hold"/>
                                        <p:tgtEl>
                                          <p:spTgt spid="8"/>
                                        </p:tgtEl>
                                        <p:attrNameLst>
                                          <p:attrName>ppt_x</p:attrName>
                                        </p:attrNameLst>
                                      </p:cBhvr>
                                      <p:tavLst>
                                        <p:tav tm="0">
                                          <p:val>
                                            <p:strVal val="#ppt_x"/>
                                          </p:val>
                                        </p:tav>
                                        <p:tav tm="100000">
                                          <p:val>
                                            <p:strVal val="#ppt_x"/>
                                          </p:val>
                                        </p:tav>
                                      </p:tavLst>
                                    </p:anim>
                                    <p:anim calcmode="lin" valueType="num">
                                      <p:cBhvr>
                                        <p:cTn id="46"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2" grpId="0" animBg="1"/>
      <p:bldP spid="7" grpId="0"/>
      <p:bldP spid="15" grpId="0"/>
      <p:bldP spid="1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DISKMONITOR: Cas de CentOS Stream</a:t>
            </a:r>
            <a:endParaRPr lang="en-US" b="1"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12" name="Rectangle à coins arrondis 11"/>
          <p:cNvSpPr/>
          <p:nvPr/>
        </p:nvSpPr>
        <p:spPr>
          <a:xfrm>
            <a:off x="3450800" y="567230"/>
            <a:ext cx="5290400" cy="402772"/>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INTRODUCTION</a:t>
            </a:r>
          </a:p>
        </p:txBody>
      </p:sp>
      <p:sp>
        <p:nvSpPr>
          <p:cNvPr id="15" name="ZoneTexte 14"/>
          <p:cNvSpPr txBox="1"/>
          <p:nvPr/>
        </p:nvSpPr>
        <p:spPr>
          <a:xfrm>
            <a:off x="1241947" y="1684900"/>
            <a:ext cx="9962865" cy="3488199"/>
          </a:xfrm>
          <a:prstGeom prst="rect">
            <a:avLst/>
          </a:prstGeom>
          <a:noFill/>
        </p:spPr>
        <p:txBody>
          <a:bodyPr wrap="square" rtlCol="0">
            <a:spAutoFit/>
          </a:bodyPr>
          <a:lstStyle/>
          <a:p>
            <a:pPr algn="just">
              <a:lnSpc>
                <a:spcPct val="150000"/>
              </a:lnSpc>
            </a:pPr>
            <a:r>
              <a:rPr lang="fr-FR" dirty="0">
                <a:latin typeface="Rockwell" panose="02060603020205020403" pitchFamily="18" charset="0"/>
              </a:rPr>
              <a:t>	Après recueillement des besoins fonctionnels du système à réaliser dans le dossier d’analyse, la phase de conception quant à elle vise à ressortir les différents contours du modèle statique du système d’information afin d’en dégager un modèle dynamique devant implémenter une application dans les détails. Dans ce dossier, on retrouve les illustrations simplifiées d’architecture du système, lesquelles font apparaitre les différentes composantes de l’application, décrit les procédures de ces composantes et fait ressortir les attributs de l’application.  </a:t>
            </a:r>
          </a:p>
          <a:p>
            <a:pPr lvl="0" algn="just">
              <a:lnSpc>
                <a:spcPct val="150000"/>
              </a:lnSpc>
            </a:pPr>
            <a:endParaRPr lang="fr-FR" sz="2400" dirty="0">
              <a:latin typeface="Rockwell" panose="02060603020205020403" pitchFamily="18" charset="0"/>
            </a:endParaRPr>
          </a:p>
        </p:txBody>
      </p:sp>
    </p:spTree>
    <p:extLst>
      <p:ext uri="{BB962C8B-B14F-4D97-AF65-F5344CB8AC3E}">
        <p14:creationId xmlns:p14="http://schemas.microsoft.com/office/powerpoint/2010/main" val="2675787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1" nodeType="clickEffect">
                                  <p:stCondLst>
                                    <p:cond delay="0"/>
                                  </p:stCondLst>
                                  <p:childTnLst>
                                    <p:animEffect transition="out" filter="wipe(down)">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22" presetClass="exit" presetSubtype="4" fill="hold" grpId="1" nodeType="withEffect">
                                  <p:stCondLst>
                                    <p:cond delay="0"/>
                                  </p:stCondLst>
                                  <p:childTnLst>
                                    <p:animEffect transition="out" filter="wipe(down)">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5" grpId="0"/>
      <p:bldP spid="1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CLASSE</a:t>
            </a:r>
          </a:p>
          <a:p>
            <a:pPr algn="ct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3</a:t>
            </a:r>
            <a:endParaRPr lang="en-US" dirty="0">
              <a:latin typeface="Rockwell" panose="02060603020205020403" pitchFamily="18" charset="0"/>
            </a:endParaRPr>
          </a:p>
        </p:txBody>
      </p:sp>
      <p:sp>
        <p:nvSpPr>
          <p:cNvPr id="8" name="ZoneTexte 7">
            <a:extLst>
              <a:ext uri="{FF2B5EF4-FFF2-40B4-BE49-F238E27FC236}">
                <a16:creationId xmlns:a16="http://schemas.microsoft.com/office/drawing/2014/main" id="{A75E36CA-7849-E39D-681B-987D6C436F36}"/>
              </a:ext>
            </a:extLst>
          </p:cNvPr>
          <p:cNvSpPr txBox="1"/>
          <p:nvPr/>
        </p:nvSpPr>
        <p:spPr>
          <a:xfrm>
            <a:off x="1549230" y="852879"/>
            <a:ext cx="8884693" cy="4197367"/>
          </a:xfrm>
          <a:prstGeom prst="rect">
            <a:avLst/>
          </a:prstGeom>
          <a:noFill/>
        </p:spPr>
        <p:txBody>
          <a:bodyPr wrap="square">
            <a:spAutoFit/>
          </a:bodyPr>
          <a:lstStyle/>
          <a:p>
            <a:pPr algn="just">
              <a:lnSpc>
                <a:spcPct val="150000"/>
              </a:lnSpc>
            </a:pPr>
            <a:r>
              <a:rPr lang="fr-FR" b="1" dirty="0">
                <a:latin typeface="Rockwell" panose="02060603020205020403" pitchFamily="18" charset="0"/>
              </a:rPr>
              <a:t> 	</a:t>
            </a:r>
            <a:r>
              <a:rPr lang="fr-FR" dirty="0">
                <a:latin typeface="Rockwell" panose="02060603020205020403" pitchFamily="18" charset="0"/>
              </a:rPr>
              <a:t>Le diagramme de classes exprime la structure statique du système en termes de classes et de relations entre ces classes. L’intérêt du diagramme de classe est de modéliser les entités du système d’information. Le diagramme de classe permet de représenter l’ensemble des informations finalisées qui sont gérées par le domaine. Ces informations sont structurées, c’est-dire qu’elles sont regroupées dans des classes. Le diagramme met en évidence d’éventuelles relations entre ces classes. Le diagramme de classes comporte quelques concepts : classe, attribut, identifiant, opération (méthode) et relation.  </a:t>
            </a:r>
          </a:p>
          <a:p>
            <a:pPr algn="just">
              <a:lnSpc>
                <a:spcPct val="150000"/>
              </a:lnSpc>
            </a:pPr>
            <a:endParaRPr lang="fr-FR" dirty="0">
              <a:latin typeface="Rockwell" panose="02060603020205020403" pitchFamily="18" charset="0"/>
            </a:endParaRPr>
          </a:p>
          <a:p>
            <a:pPr algn="just">
              <a:lnSpc>
                <a:spcPct val="150000"/>
              </a:lnSpc>
            </a:pPr>
            <a:r>
              <a:rPr lang="fr-FR" dirty="0">
                <a:latin typeface="Rockwell" panose="02060603020205020403" pitchFamily="18" charset="0"/>
              </a:rPr>
              <a:t> </a:t>
            </a:r>
          </a:p>
        </p:txBody>
      </p:sp>
    </p:spTree>
    <p:extLst>
      <p:ext uri="{BB962C8B-B14F-4D97-AF65-F5344CB8AC3E}">
        <p14:creationId xmlns:p14="http://schemas.microsoft.com/office/powerpoint/2010/main" val="2226679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BDB83EB-D224-4A7F-94FC-B4C6C09082DB}"/>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COMPOSANTS DU DIAGRAMME DE CLASSE</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0E286A5-F0DF-40DC-9B33-4BE875536E51}"/>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3</a:t>
            </a:r>
            <a:endParaRPr lang="en-US" dirty="0">
              <a:latin typeface="Rockwell" panose="02060603020205020403" pitchFamily="18" charset="0"/>
            </a:endParaRPr>
          </a:p>
        </p:txBody>
      </p:sp>
      <p:sp>
        <p:nvSpPr>
          <p:cNvPr id="24" name="Oval 23">
            <a:extLst>
              <a:ext uri="{FF2B5EF4-FFF2-40B4-BE49-F238E27FC236}">
                <a16:creationId xmlns:a16="http://schemas.microsoft.com/office/drawing/2014/main" id="{92E313D7-BA46-4091-9E4B-3394AB454EFF}"/>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4</a:t>
            </a:r>
            <a:endParaRPr lang="en-US" dirty="0">
              <a:latin typeface="Amasis MT Pro Medium" panose="02040604050005020304" pitchFamily="18" charset="0"/>
            </a:endParaRPr>
          </a:p>
        </p:txBody>
      </p:sp>
      <p:pic>
        <p:nvPicPr>
          <p:cNvPr id="29" name="Picture 21568"/>
          <p:cNvPicPr/>
          <p:nvPr/>
        </p:nvPicPr>
        <p:blipFill>
          <a:blip r:embed="rId3">
            <a:extLst>
              <a:ext uri="{28A0092B-C50C-407E-A947-70E740481C1C}">
                <a14:useLocalDpi xmlns:a14="http://schemas.microsoft.com/office/drawing/2010/main" val="0"/>
              </a:ext>
            </a:extLst>
          </a:blip>
          <a:srcRect/>
          <a:stretch/>
        </p:blipFill>
        <p:spPr>
          <a:xfrm>
            <a:off x="394596" y="1664475"/>
            <a:ext cx="3091374" cy="822052"/>
          </a:xfrm>
          <a:prstGeom prst="rect">
            <a:avLst/>
          </a:prstGeom>
        </p:spPr>
      </p:pic>
      <p:pic>
        <p:nvPicPr>
          <p:cNvPr id="32" name="Image 31"/>
          <p:cNvPicPr>
            <a:picLocks noChangeAspect="1"/>
          </p:cNvPicPr>
          <p:nvPr/>
        </p:nvPicPr>
        <p:blipFill>
          <a:blip r:embed="rId4">
            <a:extLst>
              <a:ext uri="{28A0092B-C50C-407E-A947-70E740481C1C}">
                <a14:useLocalDpi xmlns:a14="http://schemas.microsoft.com/office/drawing/2010/main" val="0"/>
              </a:ext>
            </a:extLst>
          </a:blip>
          <a:srcRect/>
          <a:stretch/>
        </p:blipFill>
        <p:spPr>
          <a:xfrm>
            <a:off x="7921004" y="4520347"/>
            <a:ext cx="2149783" cy="1764443"/>
          </a:xfrm>
          <a:prstGeom prst="rect">
            <a:avLst/>
          </a:prstGeom>
        </p:spPr>
      </p:pic>
      <p:pic>
        <p:nvPicPr>
          <p:cNvPr id="9" name="Image 8">
            <a:extLst>
              <a:ext uri="{FF2B5EF4-FFF2-40B4-BE49-F238E27FC236}">
                <a16:creationId xmlns:a16="http://schemas.microsoft.com/office/drawing/2014/main" id="{5C162BD8-724F-0A3E-F745-DF82010F504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473242" y="2853293"/>
            <a:ext cx="1235332" cy="2549276"/>
          </a:xfrm>
          <a:prstGeom prst="rect">
            <a:avLst/>
          </a:prstGeom>
        </p:spPr>
      </p:pic>
      <p:sp>
        <p:nvSpPr>
          <p:cNvPr id="8" name="ZoneTexte 7">
            <a:extLst>
              <a:ext uri="{FF2B5EF4-FFF2-40B4-BE49-F238E27FC236}">
                <a16:creationId xmlns:a16="http://schemas.microsoft.com/office/drawing/2014/main" id="{250A2710-4DF5-8F8A-7441-FA0FC4947594}"/>
              </a:ext>
            </a:extLst>
          </p:cNvPr>
          <p:cNvSpPr txBox="1"/>
          <p:nvPr/>
        </p:nvSpPr>
        <p:spPr>
          <a:xfrm>
            <a:off x="1554065" y="1175657"/>
            <a:ext cx="2468880" cy="369332"/>
          </a:xfrm>
          <a:prstGeom prst="rect">
            <a:avLst/>
          </a:prstGeom>
          <a:noFill/>
        </p:spPr>
        <p:txBody>
          <a:bodyPr wrap="square" rtlCol="0">
            <a:spAutoFit/>
          </a:bodyPr>
          <a:lstStyle/>
          <a:p>
            <a:r>
              <a:rPr lang="fr-FR" dirty="0">
                <a:latin typeface="Rockwell" panose="02060603020205020403" pitchFamily="18" charset="0"/>
              </a:rPr>
              <a:t>Association</a:t>
            </a:r>
          </a:p>
        </p:txBody>
      </p:sp>
      <p:sp>
        <p:nvSpPr>
          <p:cNvPr id="10" name="ZoneTexte 9">
            <a:extLst>
              <a:ext uri="{FF2B5EF4-FFF2-40B4-BE49-F238E27FC236}">
                <a16:creationId xmlns:a16="http://schemas.microsoft.com/office/drawing/2014/main" id="{61AE01B0-119C-12E3-C7DD-ADE955F4CE7E}"/>
              </a:ext>
            </a:extLst>
          </p:cNvPr>
          <p:cNvSpPr txBox="1"/>
          <p:nvPr/>
        </p:nvSpPr>
        <p:spPr>
          <a:xfrm>
            <a:off x="4733666" y="2435536"/>
            <a:ext cx="2468880" cy="369332"/>
          </a:xfrm>
          <a:prstGeom prst="rect">
            <a:avLst/>
          </a:prstGeom>
          <a:noFill/>
        </p:spPr>
        <p:txBody>
          <a:bodyPr wrap="square" rtlCol="0">
            <a:spAutoFit/>
          </a:bodyPr>
          <a:lstStyle/>
          <a:p>
            <a:r>
              <a:rPr lang="fr-FR" dirty="0">
                <a:latin typeface="Rockwell" panose="02060603020205020403" pitchFamily="18" charset="0"/>
              </a:rPr>
              <a:t>classe</a:t>
            </a:r>
          </a:p>
        </p:txBody>
      </p:sp>
      <p:sp>
        <p:nvSpPr>
          <p:cNvPr id="12" name="ZoneTexte 11">
            <a:extLst>
              <a:ext uri="{FF2B5EF4-FFF2-40B4-BE49-F238E27FC236}">
                <a16:creationId xmlns:a16="http://schemas.microsoft.com/office/drawing/2014/main" id="{4B12B982-868D-5278-1A8A-E9B5110FC74E}"/>
              </a:ext>
            </a:extLst>
          </p:cNvPr>
          <p:cNvSpPr txBox="1"/>
          <p:nvPr/>
        </p:nvSpPr>
        <p:spPr>
          <a:xfrm>
            <a:off x="8836347" y="3758599"/>
            <a:ext cx="2468880" cy="369332"/>
          </a:xfrm>
          <a:prstGeom prst="rect">
            <a:avLst/>
          </a:prstGeom>
          <a:noFill/>
        </p:spPr>
        <p:txBody>
          <a:bodyPr wrap="square" rtlCol="0">
            <a:spAutoFit/>
          </a:bodyPr>
          <a:lstStyle/>
          <a:p>
            <a:r>
              <a:rPr lang="fr-FR" dirty="0">
                <a:latin typeface="Rockwell" panose="02060603020205020403" pitchFamily="18" charset="0"/>
              </a:rPr>
              <a:t>Héritage</a:t>
            </a:r>
          </a:p>
        </p:txBody>
      </p:sp>
    </p:spTree>
    <p:extLst>
      <p:ext uri="{BB962C8B-B14F-4D97-AF65-F5344CB8AC3E}">
        <p14:creationId xmlns:p14="http://schemas.microsoft.com/office/powerpoint/2010/main" val="19588541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F8486-969E-0699-1DF1-7084DE799A2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8B6176D-C394-CCBE-9F10-C1D34ADA4430}"/>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a:t>
            </a:r>
            <a:r>
              <a:rPr lang="en-US" dirty="0" err="1">
                <a:latin typeface="Rockwell" panose="02060603020205020403" pitchFamily="18" charset="0"/>
              </a:rPr>
              <a:t>Diagramme</a:t>
            </a:r>
            <a:r>
              <a:rPr lang="en-US" dirty="0">
                <a:latin typeface="Rockwell" panose="02060603020205020403" pitchFamily="18" charset="0"/>
              </a:rPr>
              <a:t> de </a:t>
            </a:r>
            <a:r>
              <a:rPr lang="en-US" dirty="0" err="1">
                <a:latin typeface="Rockwell" panose="02060603020205020403" pitchFamily="18" charset="0"/>
              </a:rPr>
              <a:t>classe</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68C7C35B-A636-9249-84D2-09E7B120C7B5}"/>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4</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C9E40DD8-CD7D-C73A-5823-64C8DB6B6C57}"/>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pic>
        <p:nvPicPr>
          <p:cNvPr id="9" name="Image 8">
            <a:extLst>
              <a:ext uri="{FF2B5EF4-FFF2-40B4-BE49-F238E27FC236}">
                <a16:creationId xmlns:a16="http://schemas.microsoft.com/office/drawing/2014/main" id="{4F731ABE-C496-BDA9-281B-D8DE2FDAC9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25435" y="1248162"/>
            <a:ext cx="6297166" cy="4824320"/>
          </a:xfrm>
          <a:prstGeom prst="rect">
            <a:avLst/>
          </a:prstGeom>
        </p:spPr>
      </p:pic>
      <p:sp>
        <p:nvSpPr>
          <p:cNvPr id="8" name="Oval 2">
            <a:extLst>
              <a:ext uri="{FF2B5EF4-FFF2-40B4-BE49-F238E27FC236}">
                <a16:creationId xmlns:a16="http://schemas.microsoft.com/office/drawing/2014/main" id="{B6788494-0090-CD61-0F64-3FB4AED71E16}"/>
              </a:ext>
            </a:extLst>
          </p:cNvPr>
          <p:cNvSpPr/>
          <p:nvPr/>
        </p:nvSpPr>
        <p:spPr>
          <a:xfrm>
            <a:off x="11482316" y="6455228"/>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Tree>
    <p:extLst>
      <p:ext uri="{BB962C8B-B14F-4D97-AF65-F5344CB8AC3E}">
        <p14:creationId xmlns:p14="http://schemas.microsoft.com/office/powerpoint/2010/main" val="338885710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F8486-969E-0699-1DF1-7084DE799A2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8B6176D-C394-CCBE-9F10-C1D34ADA4430}"/>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diagramme de Sequence</a:t>
            </a:r>
          </a:p>
        </p:txBody>
      </p:sp>
      <p:sp>
        <p:nvSpPr>
          <p:cNvPr id="3" name="Oval 2">
            <a:extLst>
              <a:ext uri="{FF2B5EF4-FFF2-40B4-BE49-F238E27FC236}">
                <a16:creationId xmlns:a16="http://schemas.microsoft.com/office/drawing/2014/main" id="{68C7C35B-A636-9249-84D2-09E7B120C7B5}"/>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23</a:t>
            </a:r>
            <a:endParaRPr lang="en-US" dirty="0">
              <a:latin typeface="Rockwell" panose="02060603020205020403" pitchFamily="18" charset="0"/>
            </a:endParaRPr>
          </a:p>
        </p:txBody>
      </p:sp>
      <p:grpSp>
        <p:nvGrpSpPr>
          <p:cNvPr id="7" name="Group 6">
            <a:extLst>
              <a:ext uri="{FF2B5EF4-FFF2-40B4-BE49-F238E27FC236}">
                <a16:creationId xmlns:a16="http://schemas.microsoft.com/office/drawing/2014/main" id="{B5DF5BDF-A87A-200E-9ECE-7538D9318570}"/>
              </a:ext>
            </a:extLst>
          </p:cNvPr>
          <p:cNvGrpSpPr/>
          <p:nvPr/>
        </p:nvGrpSpPr>
        <p:grpSpPr>
          <a:xfrm>
            <a:off x="94011" y="531380"/>
            <a:ext cx="2316352" cy="2897620"/>
            <a:chOff x="94011" y="531380"/>
            <a:chExt cx="2316352" cy="2897620"/>
          </a:xfrm>
          <a:solidFill>
            <a:schemeClr val="accent1"/>
          </a:solidFill>
        </p:grpSpPr>
        <p:cxnSp>
          <p:nvCxnSpPr>
            <p:cNvPr id="4" name="Straight Connector 3">
              <a:extLst>
                <a:ext uri="{FF2B5EF4-FFF2-40B4-BE49-F238E27FC236}">
                  <a16:creationId xmlns:a16="http://schemas.microsoft.com/office/drawing/2014/main" id="{4D83CFB1-DF88-B779-CB22-B67F61825858}"/>
                </a:ext>
              </a:extLst>
            </p:cNvPr>
            <p:cNvCxnSpPr>
              <a:cxnSpLocks/>
            </p:cNvCxnSpPr>
            <p:nvPr/>
          </p:nvCxnSpPr>
          <p:spPr>
            <a:xfrm flipH="1">
              <a:off x="1252188" y="53138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5" name="Rectangle: Rounded Corners 4">
              <a:extLst>
                <a:ext uri="{FF2B5EF4-FFF2-40B4-BE49-F238E27FC236}">
                  <a16:creationId xmlns:a16="http://schemas.microsoft.com/office/drawing/2014/main" id="{1A01669D-6DC1-9E12-2DC5-AC006F283DF8}"/>
                </a:ext>
              </a:extLst>
            </p:cNvPr>
            <p:cNvSpPr/>
            <p:nvPr/>
          </p:nvSpPr>
          <p:spPr>
            <a:xfrm>
              <a:off x="94012" y="754211"/>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6" name="Rectangle: Rounded Corners 5">
              <a:extLst>
                <a:ext uri="{FF2B5EF4-FFF2-40B4-BE49-F238E27FC236}">
                  <a16:creationId xmlns:a16="http://schemas.microsoft.com/office/drawing/2014/main" id="{ED2C0071-4E38-0765-4749-E59BAD09F1CE}"/>
                </a:ext>
              </a:extLst>
            </p:cNvPr>
            <p:cNvSpPr/>
            <p:nvPr/>
          </p:nvSpPr>
          <p:spPr>
            <a:xfrm>
              <a:off x="94011" y="149544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grpSp>
      <p:sp>
        <p:nvSpPr>
          <p:cNvPr id="12" name="Rectangle 11">
            <a:extLst>
              <a:ext uri="{FF2B5EF4-FFF2-40B4-BE49-F238E27FC236}">
                <a16:creationId xmlns:a16="http://schemas.microsoft.com/office/drawing/2014/main" id="{C9E40DD8-CD7D-C73A-5823-64C8DB6B6C57}"/>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013BA06E-DD33-68B5-9671-57A51B42B51F}"/>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DIAGRAMME DE CAS S’authentifier</a:t>
            </a:r>
            <a:endParaRPr lang="en-US" dirty="0">
              <a:solidFill>
                <a:schemeClr val="bg1"/>
              </a:solidFill>
              <a:latin typeface="Rockwell" panose="02060603020205020403" pitchFamily="18" charset="0"/>
            </a:endParaRPr>
          </a:p>
        </p:txBody>
      </p:sp>
      <p:pic>
        <p:nvPicPr>
          <p:cNvPr id="9" name="Image 8">
            <a:extLst>
              <a:ext uri="{FF2B5EF4-FFF2-40B4-BE49-F238E27FC236}">
                <a16:creationId xmlns:a16="http://schemas.microsoft.com/office/drawing/2014/main" id="{4F731ABE-C496-BDA9-281B-D8DE2FDAC93D}"/>
              </a:ext>
            </a:extLst>
          </p:cNvPr>
          <p:cNvPicPr>
            <a:picLocks noChangeAspect="1"/>
          </p:cNvPicPr>
          <p:nvPr/>
        </p:nvPicPr>
        <p:blipFill>
          <a:blip r:embed="rId3"/>
          <a:stretch>
            <a:fillRect/>
          </a:stretch>
        </p:blipFill>
        <p:spPr>
          <a:xfrm>
            <a:off x="4025435" y="402772"/>
            <a:ext cx="6297166" cy="6515100"/>
          </a:xfrm>
          <a:prstGeom prst="rect">
            <a:avLst/>
          </a:prstGeom>
        </p:spPr>
      </p:pic>
      <p:sp>
        <p:nvSpPr>
          <p:cNvPr id="8" name="Oval 2">
            <a:extLst>
              <a:ext uri="{FF2B5EF4-FFF2-40B4-BE49-F238E27FC236}">
                <a16:creationId xmlns:a16="http://schemas.microsoft.com/office/drawing/2014/main" id="{B6788494-0090-CD61-0F64-3FB4AED71E16}"/>
              </a:ext>
            </a:extLst>
          </p:cNvPr>
          <p:cNvSpPr/>
          <p:nvPr/>
        </p:nvSpPr>
        <p:spPr>
          <a:xfrm>
            <a:off x="11482316" y="6455228"/>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24</a:t>
            </a:r>
            <a:endParaRPr lang="en-US" dirty="0">
              <a:latin typeface="Rockwell" panose="02060603020205020403" pitchFamily="18" charset="0"/>
            </a:endParaRPr>
          </a:p>
        </p:txBody>
      </p:sp>
    </p:spTree>
    <p:extLst>
      <p:ext uri="{BB962C8B-B14F-4D97-AF65-F5344CB8AC3E}">
        <p14:creationId xmlns:p14="http://schemas.microsoft.com/office/powerpoint/2010/main" val="320554078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65D85-2B56-F55E-3085-A9C23B6A765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D12A972-0079-656A-971B-F976989FBF96}"/>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diagramme de Sequence</a:t>
            </a:r>
          </a:p>
        </p:txBody>
      </p:sp>
      <p:sp>
        <p:nvSpPr>
          <p:cNvPr id="3" name="Oval 2">
            <a:extLst>
              <a:ext uri="{FF2B5EF4-FFF2-40B4-BE49-F238E27FC236}">
                <a16:creationId xmlns:a16="http://schemas.microsoft.com/office/drawing/2014/main" id="{45C977C6-A7D6-BB45-0E51-3EA9BC69304C}"/>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24</a:t>
            </a:r>
            <a:endParaRPr lang="en-US" dirty="0">
              <a:latin typeface="Rockwell" panose="02060603020205020403" pitchFamily="18" charset="0"/>
            </a:endParaRPr>
          </a:p>
        </p:txBody>
      </p:sp>
      <p:grpSp>
        <p:nvGrpSpPr>
          <p:cNvPr id="7" name="Group 6">
            <a:extLst>
              <a:ext uri="{FF2B5EF4-FFF2-40B4-BE49-F238E27FC236}">
                <a16:creationId xmlns:a16="http://schemas.microsoft.com/office/drawing/2014/main" id="{A046B728-D534-BBC0-4377-61AB03071D87}"/>
              </a:ext>
            </a:extLst>
          </p:cNvPr>
          <p:cNvGrpSpPr/>
          <p:nvPr/>
        </p:nvGrpSpPr>
        <p:grpSpPr>
          <a:xfrm>
            <a:off x="94011" y="531380"/>
            <a:ext cx="2316352" cy="2897620"/>
            <a:chOff x="94011" y="531380"/>
            <a:chExt cx="2316352" cy="2897620"/>
          </a:xfrm>
          <a:solidFill>
            <a:schemeClr val="accent1"/>
          </a:solidFill>
        </p:grpSpPr>
        <p:cxnSp>
          <p:nvCxnSpPr>
            <p:cNvPr id="4" name="Straight Connector 3">
              <a:extLst>
                <a:ext uri="{FF2B5EF4-FFF2-40B4-BE49-F238E27FC236}">
                  <a16:creationId xmlns:a16="http://schemas.microsoft.com/office/drawing/2014/main" id="{353D7B66-1FD2-B061-973D-3501B93D8DC7}"/>
                </a:ext>
              </a:extLst>
            </p:cNvPr>
            <p:cNvCxnSpPr>
              <a:cxnSpLocks/>
            </p:cNvCxnSpPr>
            <p:nvPr/>
          </p:nvCxnSpPr>
          <p:spPr>
            <a:xfrm flipH="1">
              <a:off x="1252188" y="53138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5" name="Rectangle: Rounded Corners 4">
              <a:extLst>
                <a:ext uri="{FF2B5EF4-FFF2-40B4-BE49-F238E27FC236}">
                  <a16:creationId xmlns:a16="http://schemas.microsoft.com/office/drawing/2014/main" id="{08379504-1202-2376-7183-0B2234A337FC}"/>
                </a:ext>
              </a:extLst>
            </p:cNvPr>
            <p:cNvSpPr/>
            <p:nvPr/>
          </p:nvSpPr>
          <p:spPr>
            <a:xfrm>
              <a:off x="94012" y="754211"/>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6" name="Rectangle: Rounded Corners 5">
              <a:extLst>
                <a:ext uri="{FF2B5EF4-FFF2-40B4-BE49-F238E27FC236}">
                  <a16:creationId xmlns:a16="http://schemas.microsoft.com/office/drawing/2014/main" id="{BD840BFF-8AED-857B-ACBE-412CD4C19AAF}"/>
                </a:ext>
              </a:extLst>
            </p:cNvPr>
            <p:cNvSpPr/>
            <p:nvPr/>
          </p:nvSpPr>
          <p:spPr>
            <a:xfrm>
              <a:off x="94011" y="149544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grpSp>
      <p:sp>
        <p:nvSpPr>
          <p:cNvPr id="12" name="Rectangle 11">
            <a:extLst>
              <a:ext uri="{FF2B5EF4-FFF2-40B4-BE49-F238E27FC236}">
                <a16:creationId xmlns:a16="http://schemas.microsoft.com/office/drawing/2014/main" id="{46AC1FC9-2931-73F9-337E-2AF0AD3128EF}"/>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6" name="Oval 15">
            <a:extLst>
              <a:ext uri="{FF2B5EF4-FFF2-40B4-BE49-F238E27FC236}">
                <a16:creationId xmlns:a16="http://schemas.microsoft.com/office/drawing/2014/main" id="{5B05F9DD-36AE-EE8E-0345-891E23672287}"/>
              </a:ext>
            </a:extLst>
          </p:cNvPr>
          <p:cNvSpPr/>
          <p:nvPr/>
        </p:nvSpPr>
        <p:spPr>
          <a:xfrm>
            <a:off x="11484391" y="6405351"/>
            <a:ext cx="643538"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25</a:t>
            </a:r>
            <a:endParaRPr lang="en-US" dirty="0">
              <a:latin typeface="Amasis MT Pro Medium" panose="02040604050005020304" pitchFamily="18" charset="0"/>
            </a:endParaRPr>
          </a:p>
        </p:txBody>
      </p:sp>
      <p:sp>
        <p:nvSpPr>
          <p:cNvPr id="137" name="Rectangle: Rounded Corners 4">
            <a:extLst>
              <a:ext uri="{FF2B5EF4-FFF2-40B4-BE49-F238E27FC236}">
                <a16:creationId xmlns:a16="http://schemas.microsoft.com/office/drawing/2014/main" id="{B050A382-9E2C-9A62-E4E3-D1370A68FABE}"/>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DIAGRAMME DE CAS Démarrer monitoring</a:t>
            </a:r>
            <a:endParaRPr lang="en-US" dirty="0">
              <a:solidFill>
                <a:schemeClr val="bg1"/>
              </a:solidFill>
              <a:latin typeface="Rockwell" panose="02060603020205020403" pitchFamily="18" charset="0"/>
            </a:endParaRPr>
          </a:p>
        </p:txBody>
      </p:sp>
      <p:pic>
        <p:nvPicPr>
          <p:cNvPr id="10" name="Image 9">
            <a:extLst>
              <a:ext uri="{FF2B5EF4-FFF2-40B4-BE49-F238E27FC236}">
                <a16:creationId xmlns:a16="http://schemas.microsoft.com/office/drawing/2014/main" id="{8E550A1D-D0CA-F66E-C309-C05EE2564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68802" y="794982"/>
            <a:ext cx="6071010" cy="5873960"/>
          </a:xfrm>
          <a:prstGeom prst="rect">
            <a:avLst/>
          </a:prstGeom>
        </p:spPr>
      </p:pic>
    </p:spTree>
    <p:extLst>
      <p:ext uri="{BB962C8B-B14F-4D97-AF65-F5344CB8AC3E}">
        <p14:creationId xmlns:p14="http://schemas.microsoft.com/office/powerpoint/2010/main" val="4267459819"/>
      </p:ext>
    </p:extLst>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C13B-348D-3964-1E68-D0AF64FC82F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D5824D6-DC08-9B03-7E1B-10B9981EDBC7}"/>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diagramme de Sequence</a:t>
            </a:r>
          </a:p>
        </p:txBody>
      </p:sp>
      <p:sp>
        <p:nvSpPr>
          <p:cNvPr id="3" name="Oval 2">
            <a:extLst>
              <a:ext uri="{FF2B5EF4-FFF2-40B4-BE49-F238E27FC236}">
                <a16:creationId xmlns:a16="http://schemas.microsoft.com/office/drawing/2014/main" id="{C6D9C8E6-3674-709C-71EB-3171E94FD1A9}"/>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25</a:t>
            </a:r>
            <a:endParaRPr lang="en-US" dirty="0">
              <a:latin typeface="Rockwell" panose="02060603020205020403" pitchFamily="18" charset="0"/>
            </a:endParaRPr>
          </a:p>
        </p:txBody>
      </p:sp>
      <p:grpSp>
        <p:nvGrpSpPr>
          <p:cNvPr id="7" name="Group 6">
            <a:extLst>
              <a:ext uri="{FF2B5EF4-FFF2-40B4-BE49-F238E27FC236}">
                <a16:creationId xmlns:a16="http://schemas.microsoft.com/office/drawing/2014/main" id="{54B18BCF-5C7C-DED4-D860-FD1A22B855EB}"/>
              </a:ext>
            </a:extLst>
          </p:cNvPr>
          <p:cNvGrpSpPr/>
          <p:nvPr/>
        </p:nvGrpSpPr>
        <p:grpSpPr>
          <a:xfrm>
            <a:off x="94011" y="531380"/>
            <a:ext cx="2316352" cy="2897620"/>
            <a:chOff x="94011" y="531380"/>
            <a:chExt cx="2316352" cy="2897620"/>
          </a:xfrm>
          <a:solidFill>
            <a:schemeClr val="accent1"/>
          </a:solidFill>
        </p:grpSpPr>
        <p:cxnSp>
          <p:nvCxnSpPr>
            <p:cNvPr id="4" name="Straight Connector 3">
              <a:extLst>
                <a:ext uri="{FF2B5EF4-FFF2-40B4-BE49-F238E27FC236}">
                  <a16:creationId xmlns:a16="http://schemas.microsoft.com/office/drawing/2014/main" id="{4890334B-0250-E556-3998-313851129651}"/>
                </a:ext>
              </a:extLst>
            </p:cNvPr>
            <p:cNvCxnSpPr>
              <a:cxnSpLocks/>
            </p:cNvCxnSpPr>
            <p:nvPr/>
          </p:nvCxnSpPr>
          <p:spPr>
            <a:xfrm flipH="1">
              <a:off x="1252188" y="53138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5" name="Rectangle: Rounded Corners 4">
              <a:extLst>
                <a:ext uri="{FF2B5EF4-FFF2-40B4-BE49-F238E27FC236}">
                  <a16:creationId xmlns:a16="http://schemas.microsoft.com/office/drawing/2014/main" id="{00D36814-295C-BC64-4480-D635E9AD4CB1}"/>
                </a:ext>
              </a:extLst>
            </p:cNvPr>
            <p:cNvSpPr/>
            <p:nvPr/>
          </p:nvSpPr>
          <p:spPr>
            <a:xfrm>
              <a:off x="94012" y="754211"/>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6" name="Rectangle: Rounded Corners 5">
              <a:extLst>
                <a:ext uri="{FF2B5EF4-FFF2-40B4-BE49-F238E27FC236}">
                  <a16:creationId xmlns:a16="http://schemas.microsoft.com/office/drawing/2014/main" id="{2D7A3D28-988E-BF69-9DFE-9D0E4881A61F}"/>
                </a:ext>
              </a:extLst>
            </p:cNvPr>
            <p:cNvSpPr/>
            <p:nvPr/>
          </p:nvSpPr>
          <p:spPr>
            <a:xfrm>
              <a:off x="94011" y="149544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grpSp>
      <p:sp>
        <p:nvSpPr>
          <p:cNvPr id="12" name="Rectangle 11">
            <a:extLst>
              <a:ext uri="{FF2B5EF4-FFF2-40B4-BE49-F238E27FC236}">
                <a16:creationId xmlns:a16="http://schemas.microsoft.com/office/drawing/2014/main" id="{7585D5E5-0A71-20FA-86AA-571AB6A5B825}"/>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6" name="Oval 15">
            <a:extLst>
              <a:ext uri="{FF2B5EF4-FFF2-40B4-BE49-F238E27FC236}">
                <a16:creationId xmlns:a16="http://schemas.microsoft.com/office/drawing/2014/main" id="{5EBB1D78-E758-A7E3-E1C7-40C289A5C39B}"/>
              </a:ext>
            </a:extLst>
          </p:cNvPr>
          <p:cNvSpPr/>
          <p:nvPr/>
        </p:nvSpPr>
        <p:spPr>
          <a:xfrm>
            <a:off x="11450473" y="6405351"/>
            <a:ext cx="67745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26</a:t>
            </a:r>
            <a:endParaRPr lang="en-US" dirty="0">
              <a:latin typeface="Amasis MT Pro Medium" panose="02040604050005020304" pitchFamily="18" charset="0"/>
            </a:endParaRPr>
          </a:p>
        </p:txBody>
      </p:sp>
      <p:sp>
        <p:nvSpPr>
          <p:cNvPr id="137" name="Rectangle: Rounded Corners 4">
            <a:extLst>
              <a:ext uri="{FF2B5EF4-FFF2-40B4-BE49-F238E27FC236}">
                <a16:creationId xmlns:a16="http://schemas.microsoft.com/office/drawing/2014/main" id="{F49C1204-9F92-0B5C-1761-22220E7DDC41}"/>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DIAGRAMME DE CAS Arrêter monitoring</a:t>
            </a:r>
            <a:endParaRPr lang="en-US" dirty="0">
              <a:solidFill>
                <a:schemeClr val="bg1"/>
              </a:solidFill>
              <a:latin typeface="Rockwell" panose="02060603020205020403" pitchFamily="18" charset="0"/>
            </a:endParaRPr>
          </a:p>
        </p:txBody>
      </p:sp>
      <p:pic>
        <p:nvPicPr>
          <p:cNvPr id="9" name="Image 8">
            <a:extLst>
              <a:ext uri="{FF2B5EF4-FFF2-40B4-BE49-F238E27FC236}">
                <a16:creationId xmlns:a16="http://schemas.microsoft.com/office/drawing/2014/main" id="{92AB27E6-6B77-7CB1-7F90-28E3612A2C8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79296" y="754211"/>
            <a:ext cx="5966598" cy="5644359"/>
          </a:xfrm>
          <a:prstGeom prst="rect">
            <a:avLst/>
          </a:prstGeom>
        </p:spPr>
      </p:pic>
    </p:spTree>
    <p:extLst>
      <p:ext uri="{BB962C8B-B14F-4D97-AF65-F5344CB8AC3E}">
        <p14:creationId xmlns:p14="http://schemas.microsoft.com/office/powerpoint/2010/main" val="1812821823"/>
      </p:ext>
    </p:ext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B4802-56A2-9453-1A64-ABFBA4C69FB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E2A0844-E7C1-C43D-FE48-AA33BD62DF28}"/>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diagramme de Sequence</a:t>
            </a:r>
          </a:p>
        </p:txBody>
      </p:sp>
      <p:sp>
        <p:nvSpPr>
          <p:cNvPr id="3" name="Oval 2">
            <a:extLst>
              <a:ext uri="{FF2B5EF4-FFF2-40B4-BE49-F238E27FC236}">
                <a16:creationId xmlns:a16="http://schemas.microsoft.com/office/drawing/2014/main" id="{007443EE-4CB0-FEA8-A5B3-AD97FD947982}"/>
              </a:ext>
            </a:extLst>
          </p:cNvPr>
          <p:cNvSpPr/>
          <p:nvPr/>
        </p:nvSpPr>
        <p:spPr>
          <a:xfrm>
            <a:off x="0" y="0"/>
            <a:ext cx="69603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26</a:t>
            </a:r>
            <a:endParaRPr lang="en-US" dirty="0">
              <a:latin typeface="Rockwell" panose="02060603020205020403" pitchFamily="18" charset="0"/>
            </a:endParaRPr>
          </a:p>
        </p:txBody>
      </p:sp>
      <p:grpSp>
        <p:nvGrpSpPr>
          <p:cNvPr id="7" name="Group 6">
            <a:extLst>
              <a:ext uri="{FF2B5EF4-FFF2-40B4-BE49-F238E27FC236}">
                <a16:creationId xmlns:a16="http://schemas.microsoft.com/office/drawing/2014/main" id="{927A981C-AE62-0602-A95E-AF43B3A8F0B3}"/>
              </a:ext>
            </a:extLst>
          </p:cNvPr>
          <p:cNvGrpSpPr/>
          <p:nvPr/>
        </p:nvGrpSpPr>
        <p:grpSpPr>
          <a:xfrm>
            <a:off x="94011" y="531380"/>
            <a:ext cx="2316352" cy="2897620"/>
            <a:chOff x="94011" y="531380"/>
            <a:chExt cx="2316352" cy="2897620"/>
          </a:xfrm>
          <a:solidFill>
            <a:schemeClr val="accent1"/>
          </a:solidFill>
        </p:grpSpPr>
        <p:cxnSp>
          <p:nvCxnSpPr>
            <p:cNvPr id="4" name="Straight Connector 3">
              <a:extLst>
                <a:ext uri="{FF2B5EF4-FFF2-40B4-BE49-F238E27FC236}">
                  <a16:creationId xmlns:a16="http://schemas.microsoft.com/office/drawing/2014/main" id="{DAF22CA5-5233-7144-4E02-05F17547963D}"/>
                </a:ext>
              </a:extLst>
            </p:cNvPr>
            <p:cNvCxnSpPr>
              <a:cxnSpLocks/>
            </p:cNvCxnSpPr>
            <p:nvPr/>
          </p:nvCxnSpPr>
          <p:spPr>
            <a:xfrm flipH="1">
              <a:off x="1252188" y="53138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5" name="Rectangle: Rounded Corners 4">
              <a:extLst>
                <a:ext uri="{FF2B5EF4-FFF2-40B4-BE49-F238E27FC236}">
                  <a16:creationId xmlns:a16="http://schemas.microsoft.com/office/drawing/2014/main" id="{957B8CC6-3584-6DD4-9766-64E3ED43EF94}"/>
                </a:ext>
              </a:extLst>
            </p:cNvPr>
            <p:cNvSpPr/>
            <p:nvPr/>
          </p:nvSpPr>
          <p:spPr>
            <a:xfrm>
              <a:off x="94012" y="754211"/>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6" name="Rectangle: Rounded Corners 5">
              <a:extLst>
                <a:ext uri="{FF2B5EF4-FFF2-40B4-BE49-F238E27FC236}">
                  <a16:creationId xmlns:a16="http://schemas.microsoft.com/office/drawing/2014/main" id="{78B46696-70E5-403E-A6E2-50C6B8238755}"/>
                </a:ext>
              </a:extLst>
            </p:cNvPr>
            <p:cNvSpPr/>
            <p:nvPr/>
          </p:nvSpPr>
          <p:spPr>
            <a:xfrm>
              <a:off x="94011" y="149544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grpSp>
      <p:sp>
        <p:nvSpPr>
          <p:cNvPr id="12" name="Rectangle 11">
            <a:extLst>
              <a:ext uri="{FF2B5EF4-FFF2-40B4-BE49-F238E27FC236}">
                <a16:creationId xmlns:a16="http://schemas.microsoft.com/office/drawing/2014/main" id="{7CD7429A-046F-E192-A570-F7616B5849F4}"/>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6" name="Oval 15">
            <a:extLst>
              <a:ext uri="{FF2B5EF4-FFF2-40B4-BE49-F238E27FC236}">
                <a16:creationId xmlns:a16="http://schemas.microsoft.com/office/drawing/2014/main" id="{0F570A0C-7836-C2A4-DC5A-4AD8AFB046B0}"/>
              </a:ext>
            </a:extLst>
          </p:cNvPr>
          <p:cNvSpPr/>
          <p:nvPr/>
        </p:nvSpPr>
        <p:spPr>
          <a:xfrm>
            <a:off x="11477767" y="6405351"/>
            <a:ext cx="65016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27</a:t>
            </a:r>
            <a:endParaRPr lang="en-US" dirty="0">
              <a:latin typeface="Amasis MT Pro Medium" panose="02040604050005020304" pitchFamily="18" charset="0"/>
            </a:endParaRPr>
          </a:p>
        </p:txBody>
      </p:sp>
      <p:sp>
        <p:nvSpPr>
          <p:cNvPr id="137" name="Rectangle: Rounded Corners 4">
            <a:extLst>
              <a:ext uri="{FF2B5EF4-FFF2-40B4-BE49-F238E27FC236}">
                <a16:creationId xmlns:a16="http://schemas.microsoft.com/office/drawing/2014/main" id="{00E0D59A-106D-BDF5-F762-42A4892BCD4E}"/>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DIAGRAMME DE CAS Visualiser évolution I/O</a:t>
            </a:r>
            <a:endParaRPr lang="en-US" dirty="0">
              <a:solidFill>
                <a:schemeClr val="bg1"/>
              </a:solidFill>
              <a:latin typeface="Rockwell" panose="02060603020205020403" pitchFamily="18" charset="0"/>
            </a:endParaRPr>
          </a:p>
        </p:txBody>
      </p:sp>
      <p:pic>
        <p:nvPicPr>
          <p:cNvPr id="10" name="Image 9">
            <a:extLst>
              <a:ext uri="{FF2B5EF4-FFF2-40B4-BE49-F238E27FC236}">
                <a16:creationId xmlns:a16="http://schemas.microsoft.com/office/drawing/2014/main" id="{B179802D-2AD5-660F-C174-4E73FD56228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54377" y="754211"/>
            <a:ext cx="7560408" cy="5422690"/>
          </a:xfrm>
          <a:prstGeom prst="rect">
            <a:avLst/>
          </a:prstGeom>
        </p:spPr>
      </p:pic>
    </p:spTree>
    <p:extLst>
      <p:ext uri="{BB962C8B-B14F-4D97-AF65-F5344CB8AC3E}">
        <p14:creationId xmlns:p14="http://schemas.microsoft.com/office/powerpoint/2010/main" val="1221081334"/>
      </p:ext>
    </p:extLst>
  </p:cSld>
  <p:clrMapOvr>
    <a:masterClrMapping/>
  </p:clrMapOvr>
  <p:transition spd="slow">
    <p:wheel spokes="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DC5CA-CB85-D2FC-3E50-F32210719EA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834E558-5B15-41F0-1EFD-4C7AC1AC1993}"/>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a:t>
            </a:r>
            <a:r>
              <a:rPr lang="en-US" dirty="0" err="1">
                <a:latin typeface="Rockwell" panose="02060603020205020403" pitchFamily="18" charset="0"/>
              </a:rPr>
              <a:t>diagramme</a:t>
            </a:r>
            <a:r>
              <a:rPr lang="en-US" dirty="0">
                <a:latin typeface="Rockwell" panose="02060603020205020403" pitchFamily="18" charset="0"/>
              </a:rPr>
              <a:t> </a:t>
            </a:r>
            <a:r>
              <a:rPr lang="en-US" dirty="0" err="1">
                <a:latin typeface="Rockwell" panose="02060603020205020403" pitchFamily="18" charset="0"/>
              </a:rPr>
              <a:t>d’Activité</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F9B157-AC94-0225-39DD-895A6C7970E0}"/>
              </a:ext>
            </a:extLst>
          </p:cNvPr>
          <p:cNvSpPr/>
          <p:nvPr/>
        </p:nvSpPr>
        <p:spPr>
          <a:xfrm>
            <a:off x="0" y="0"/>
            <a:ext cx="69603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31</a:t>
            </a:r>
            <a:endParaRPr lang="en-US" dirty="0">
              <a:latin typeface="Rockwell" panose="02060603020205020403" pitchFamily="18" charset="0"/>
            </a:endParaRPr>
          </a:p>
        </p:txBody>
      </p:sp>
      <p:grpSp>
        <p:nvGrpSpPr>
          <p:cNvPr id="7" name="Group 6">
            <a:extLst>
              <a:ext uri="{FF2B5EF4-FFF2-40B4-BE49-F238E27FC236}">
                <a16:creationId xmlns:a16="http://schemas.microsoft.com/office/drawing/2014/main" id="{E12B3EE3-45FF-E447-003C-04F7FD80AD2F}"/>
              </a:ext>
            </a:extLst>
          </p:cNvPr>
          <p:cNvGrpSpPr/>
          <p:nvPr/>
        </p:nvGrpSpPr>
        <p:grpSpPr>
          <a:xfrm>
            <a:off x="94011" y="531380"/>
            <a:ext cx="2316352" cy="2897620"/>
            <a:chOff x="94011" y="531380"/>
            <a:chExt cx="2316352" cy="2897620"/>
          </a:xfrm>
          <a:solidFill>
            <a:schemeClr val="accent1"/>
          </a:solidFill>
        </p:grpSpPr>
        <p:cxnSp>
          <p:nvCxnSpPr>
            <p:cNvPr id="4" name="Straight Connector 3">
              <a:extLst>
                <a:ext uri="{FF2B5EF4-FFF2-40B4-BE49-F238E27FC236}">
                  <a16:creationId xmlns:a16="http://schemas.microsoft.com/office/drawing/2014/main" id="{0E369F11-E162-D286-8A72-62AB8563F450}"/>
                </a:ext>
              </a:extLst>
            </p:cNvPr>
            <p:cNvCxnSpPr>
              <a:cxnSpLocks/>
            </p:cNvCxnSpPr>
            <p:nvPr/>
          </p:nvCxnSpPr>
          <p:spPr>
            <a:xfrm flipH="1">
              <a:off x="1252188" y="53138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5" name="Rectangle: Rounded Corners 4">
              <a:extLst>
                <a:ext uri="{FF2B5EF4-FFF2-40B4-BE49-F238E27FC236}">
                  <a16:creationId xmlns:a16="http://schemas.microsoft.com/office/drawing/2014/main" id="{27725991-FE90-02D6-2CDC-00E240BC5A5F}"/>
                </a:ext>
              </a:extLst>
            </p:cNvPr>
            <p:cNvSpPr/>
            <p:nvPr/>
          </p:nvSpPr>
          <p:spPr>
            <a:xfrm>
              <a:off x="94012" y="754211"/>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6" name="Rectangle: Rounded Corners 5">
              <a:extLst>
                <a:ext uri="{FF2B5EF4-FFF2-40B4-BE49-F238E27FC236}">
                  <a16:creationId xmlns:a16="http://schemas.microsoft.com/office/drawing/2014/main" id="{62A59677-E3EA-0F32-E9EB-8C3C41D968C2}"/>
                </a:ext>
              </a:extLst>
            </p:cNvPr>
            <p:cNvSpPr/>
            <p:nvPr/>
          </p:nvSpPr>
          <p:spPr>
            <a:xfrm>
              <a:off x="94011" y="149544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grpSp>
      <p:sp>
        <p:nvSpPr>
          <p:cNvPr id="12" name="Rectangle 11">
            <a:extLst>
              <a:ext uri="{FF2B5EF4-FFF2-40B4-BE49-F238E27FC236}">
                <a16:creationId xmlns:a16="http://schemas.microsoft.com/office/drawing/2014/main" id="{7935CAE9-CE39-6755-F2F9-EA8BC8B2C140}"/>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6" name="Oval 15">
            <a:extLst>
              <a:ext uri="{FF2B5EF4-FFF2-40B4-BE49-F238E27FC236}">
                <a16:creationId xmlns:a16="http://schemas.microsoft.com/office/drawing/2014/main" id="{102AC4A5-C986-78F8-1A1C-8593103B5B10}"/>
              </a:ext>
            </a:extLst>
          </p:cNvPr>
          <p:cNvSpPr/>
          <p:nvPr/>
        </p:nvSpPr>
        <p:spPr>
          <a:xfrm>
            <a:off x="11477767" y="6405351"/>
            <a:ext cx="65016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32</a:t>
            </a:r>
            <a:endParaRPr lang="en-US" dirty="0">
              <a:latin typeface="Amasis MT Pro Medium" panose="02040604050005020304" pitchFamily="18" charset="0"/>
            </a:endParaRPr>
          </a:p>
        </p:txBody>
      </p:sp>
      <p:sp>
        <p:nvSpPr>
          <p:cNvPr id="137" name="Rectangle: Rounded Corners 4">
            <a:extLst>
              <a:ext uri="{FF2B5EF4-FFF2-40B4-BE49-F238E27FC236}">
                <a16:creationId xmlns:a16="http://schemas.microsoft.com/office/drawing/2014/main" id="{6BC92D44-709C-6A86-EBAA-25C053F8BADA}"/>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CAS S’authentifier</a:t>
            </a:r>
            <a:endParaRPr lang="en-US" dirty="0">
              <a:solidFill>
                <a:schemeClr val="bg1"/>
              </a:solidFill>
              <a:latin typeface="Rockwell" panose="02060603020205020403" pitchFamily="18" charset="0"/>
            </a:endParaRPr>
          </a:p>
        </p:txBody>
      </p:sp>
      <p:pic>
        <p:nvPicPr>
          <p:cNvPr id="10" name="Image 9">
            <a:extLst>
              <a:ext uri="{FF2B5EF4-FFF2-40B4-BE49-F238E27FC236}">
                <a16:creationId xmlns:a16="http://schemas.microsoft.com/office/drawing/2014/main" id="{D4C2D40A-7A57-B802-02D4-EEF5713B8C9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93082" y="683094"/>
            <a:ext cx="5082998" cy="6074568"/>
          </a:xfrm>
          <a:prstGeom prst="rect">
            <a:avLst/>
          </a:prstGeom>
        </p:spPr>
      </p:pic>
    </p:spTree>
    <p:extLst>
      <p:ext uri="{BB962C8B-B14F-4D97-AF65-F5344CB8AC3E}">
        <p14:creationId xmlns:p14="http://schemas.microsoft.com/office/powerpoint/2010/main" val="2520628303"/>
      </p:ext>
    </p:extLst>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AD8D6-25A5-1B8F-548D-2A4FBD04BB9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BA3EC6A-B807-B1D4-41B3-2775BFFA123A}"/>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PAQUETAGE</a:t>
            </a:r>
          </a:p>
          <a:p>
            <a:pPr algn="ct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961BDBE0-357A-0D5A-E52B-0B6FCF2AEF99}"/>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A3CFF57-8E05-5C6C-0FA8-FE02283B8737}"/>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6</a:t>
            </a:r>
            <a:endParaRPr lang="en-US" dirty="0">
              <a:latin typeface="Rockwell" panose="02060603020205020403" pitchFamily="18" charset="0"/>
            </a:endParaRPr>
          </a:p>
        </p:txBody>
      </p:sp>
      <p:sp>
        <p:nvSpPr>
          <p:cNvPr id="8" name="ZoneTexte 7">
            <a:extLst>
              <a:ext uri="{FF2B5EF4-FFF2-40B4-BE49-F238E27FC236}">
                <a16:creationId xmlns:a16="http://schemas.microsoft.com/office/drawing/2014/main" id="{BB28221B-531C-ABDF-2D3E-85F6385B174A}"/>
              </a:ext>
            </a:extLst>
          </p:cNvPr>
          <p:cNvSpPr txBox="1"/>
          <p:nvPr/>
        </p:nvSpPr>
        <p:spPr>
          <a:xfrm>
            <a:off x="1512277" y="682130"/>
            <a:ext cx="8884693" cy="3781869"/>
          </a:xfrm>
          <a:prstGeom prst="rect">
            <a:avLst/>
          </a:prstGeom>
          <a:noFill/>
        </p:spPr>
        <p:txBody>
          <a:bodyPr wrap="square">
            <a:spAutoFit/>
          </a:bodyPr>
          <a:lstStyle/>
          <a:p>
            <a:pPr algn="just">
              <a:lnSpc>
                <a:spcPct val="150000"/>
              </a:lnSpc>
            </a:pPr>
            <a:r>
              <a:rPr lang="fr-FR" b="1" dirty="0">
                <a:latin typeface="Rockwell" panose="02060603020205020403" pitchFamily="18" charset="0"/>
              </a:rPr>
              <a:t> 	</a:t>
            </a:r>
            <a:r>
              <a:rPr lang="fr-FR" dirty="0"/>
              <a:t> </a:t>
            </a:r>
            <a:r>
              <a:rPr lang="fr-FR" dirty="0">
                <a:latin typeface="Rockwell" panose="02060603020205020403" pitchFamily="18" charset="0"/>
              </a:rPr>
              <a:t>Lorsque nous sommes en présence d’un système de grande taille, il peut être intéressant de le décomposer en plusieurs parties (appelées paquetage).</a:t>
            </a:r>
            <a:r>
              <a:rPr lang="fr-FR" b="1" dirty="0">
                <a:latin typeface="Rockwell" panose="02060603020205020403" pitchFamily="18" charset="0"/>
              </a:rPr>
              <a:t> Le diagramme de paquetage</a:t>
            </a:r>
            <a:r>
              <a:rPr lang="fr-FR" dirty="0">
                <a:latin typeface="Rockwell" panose="02060603020205020403" pitchFamily="18" charset="0"/>
              </a:rPr>
              <a:t> est donc un type de diagramme structurel (statique)UML qui représente l’organisation modulaire d’un système logiciel. Il est utilisé pour visualiser la structure hiérarchique des packages, les relations entre les packages et les dépendances entre les différents éléments logiciels. </a:t>
            </a:r>
          </a:p>
          <a:p>
            <a:pPr algn="just">
              <a:lnSpc>
                <a:spcPct val="150000"/>
              </a:lnSpc>
            </a:pPr>
            <a:r>
              <a:rPr lang="fr-FR" dirty="0">
                <a:latin typeface="Rockwell" panose="02060603020205020403" pitchFamily="18" charset="0"/>
              </a:rPr>
              <a:t>      Dans un diagramme de paquetage, les packages sont représentés par des boites rectangulaires contenant le nom du package. Les dépendances entre les packages sont représentés par des flèches ou des lignes pointillées.  </a:t>
            </a:r>
          </a:p>
        </p:txBody>
      </p:sp>
    </p:spTree>
    <p:extLst>
      <p:ext uri="{BB962C8B-B14F-4D97-AF65-F5344CB8AC3E}">
        <p14:creationId xmlns:p14="http://schemas.microsoft.com/office/powerpoint/2010/main" val="458321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582E4-A8D2-0A1D-31DE-953527902AE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1A8557E-23C6-70C4-948F-27A3441FDE8B}"/>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a:t>
            </a:r>
            <a:r>
              <a:rPr lang="en-US" dirty="0" err="1">
                <a:latin typeface="Rockwell" panose="02060603020205020403" pitchFamily="18" charset="0"/>
              </a:rPr>
              <a:t>Diagramme</a:t>
            </a:r>
            <a:r>
              <a:rPr lang="en-US" dirty="0">
                <a:latin typeface="Rockwell" panose="02060603020205020403" pitchFamily="18" charset="0"/>
              </a:rPr>
              <a:t> de </a:t>
            </a:r>
            <a:r>
              <a:rPr lang="en-US" dirty="0" err="1">
                <a:latin typeface="Rockwell" panose="02060603020205020403" pitchFamily="18" charset="0"/>
              </a:rPr>
              <a:t>classe</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E5171497-DB61-570E-58FB-E001DD86AF42}"/>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6</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8EFB563E-C8FA-A326-4CBD-36A60A4880A0}"/>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8" name="Oval 2">
            <a:extLst>
              <a:ext uri="{FF2B5EF4-FFF2-40B4-BE49-F238E27FC236}">
                <a16:creationId xmlns:a16="http://schemas.microsoft.com/office/drawing/2014/main" id="{A2259CCC-340F-8F67-20DC-CB2B2E907078}"/>
              </a:ext>
            </a:extLst>
          </p:cNvPr>
          <p:cNvSpPr/>
          <p:nvPr/>
        </p:nvSpPr>
        <p:spPr>
          <a:xfrm>
            <a:off x="11482316" y="6455228"/>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11" name="Rectangle 11">
            <a:extLst>
              <a:ext uri="{FF2B5EF4-FFF2-40B4-BE49-F238E27FC236}">
                <a16:creationId xmlns:a16="http://schemas.microsoft.com/office/drawing/2014/main" id="{01447E27-5F7A-B0E8-BA12-0FD5D21CC3F0}"/>
              </a:ext>
            </a:extLst>
          </p:cNvPr>
          <p:cNvSpPr>
            <a:spLocks noChangeArrowheads="1"/>
          </p:cNvSpPr>
          <p:nvPr/>
        </p:nvSpPr>
        <p:spPr bwMode="auto">
          <a:xfrm>
            <a:off x="642057" y="498166"/>
            <a:ext cx="10907885"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2000" b="1" i="1"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Un paquetage </a:t>
            </a:r>
            <a:r>
              <a:rPr kumimoji="0" lang="fr-FR" altLang="fr-FR" sz="2000"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est donc un regroupement de différents éléments d’un système (regroupement de classes, diagrammes, fonctions, interfaces…).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fr-FR" altLang="fr-FR" sz="2000"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Cela permet de clarifier le modèle en l’organisant. Il est représenté par un dossier avec son nom à l’intérieur : </a:t>
            </a:r>
            <a:endParaRPr kumimoji="0" lang="fr-FR" altLang="fr-FR"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sng"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Formalisme :</a:t>
            </a:r>
            <a:r>
              <a:rPr kumimoji="0" lang="fr-FR" altLang="fr-FR" sz="1200"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a:t>
            </a:r>
            <a:endParaRPr kumimoji="0" lang="fr-FR" altLang="fr-FR" sz="1100"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34" name="Picture 25521">
            <a:extLst>
              <a:ext uri="{FF2B5EF4-FFF2-40B4-BE49-F238E27FC236}">
                <a16:creationId xmlns:a16="http://schemas.microsoft.com/office/drawing/2014/main" id="{C8FFC9EC-A219-DD53-2209-6EFD20207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084" y="2576584"/>
            <a:ext cx="1333500" cy="6000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FDA5043B-0AF9-EF98-4E7E-AD2932868A94}"/>
              </a:ext>
            </a:extLst>
          </p:cNvPr>
          <p:cNvSpPr>
            <a:spLocks noChangeArrowheads="1"/>
          </p:cNvSpPr>
          <p:nvPr/>
        </p:nvSpPr>
        <p:spPr bwMode="auto">
          <a:xfrm>
            <a:off x="709328" y="2180839"/>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fr-FR" altLang="fr-FR" sz="1100" b="0" i="0" u="none" strike="noStrike" cap="none" normalizeH="0" baseline="0" dirty="0">
              <a:ln>
                <a:noFill/>
              </a:ln>
              <a:solidFill>
                <a:schemeClr val="tx1"/>
              </a:solidFill>
              <a:effectLst/>
              <a:latin typeface="Arial" panose="020B0604020202020204" pitchFamily="34" charset="0"/>
            </a:endParaRPr>
          </a:p>
        </p:txBody>
      </p:sp>
      <p:sp>
        <p:nvSpPr>
          <p:cNvPr id="14" name="Rectangle 14">
            <a:extLst>
              <a:ext uri="{FF2B5EF4-FFF2-40B4-BE49-F238E27FC236}">
                <a16:creationId xmlns:a16="http://schemas.microsoft.com/office/drawing/2014/main" id="{8BEE9569-8EA6-AD0A-8C4C-FC1664019C7F}"/>
              </a:ext>
            </a:extLst>
          </p:cNvPr>
          <p:cNvSpPr>
            <a:spLocks noChangeArrowheads="1"/>
          </p:cNvSpPr>
          <p:nvPr/>
        </p:nvSpPr>
        <p:spPr bwMode="auto">
          <a:xfrm>
            <a:off x="572084" y="2990339"/>
            <a:ext cx="11080654"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1pPr>
            <a:lvl2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2pPr>
            <a:lvl3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3pPr>
            <a:lvl4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4pPr>
            <a:lvl5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5pPr>
            <a:lvl6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6pPr>
            <a:lvl7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7pPr>
            <a:lvl8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8pPr>
            <a:lvl9pPr eaLnBrk="0" fontAlgn="base" hangingPunct="0">
              <a:spcBef>
                <a:spcPct val="0"/>
              </a:spcBef>
              <a:spcAft>
                <a:spcPct val="0"/>
              </a:spcAft>
              <a:tabLst>
                <a:tab pos="833438" algn="ctr"/>
                <a:tab pos="1758950" algn="ct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833438" algn="ctr"/>
                <a:tab pos="1758950" algn="ctr"/>
              </a:tabLst>
            </a:pPr>
            <a:r>
              <a:rPr kumimoji="0" lang="fr-FR" altLang="fr-FR" sz="1400" b="0" i="1" u="none" strike="noStrike" cap="none" normalizeH="0" baseline="0" dirty="0">
                <a:ln>
                  <a:noFill/>
                </a:ln>
                <a:solidFill>
                  <a:srgbClr val="2E74B5"/>
                </a:solidFill>
                <a:effectLst/>
                <a:latin typeface="Arial" panose="020B0604020202020204" pitchFamily="34" charset="0"/>
                <a:ea typeface="Times New Roman" panose="02020603050405020304" pitchFamily="18" charset="0"/>
              </a:rPr>
              <a:t>Visibilité </a:t>
            </a:r>
            <a:endParaRPr kumimoji="0" lang="fr-FR" altLang="fr-FR"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833438" algn="ctr"/>
                <a:tab pos="1758950" algn="ctr"/>
              </a:tabLst>
            </a:pPr>
            <a:r>
              <a:rPr kumimoji="0" lang="fr-FR" altLang="fr-FR"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fr-FR" altLang="fr-FR"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tab pos="833438" algn="ctr"/>
                <a:tab pos="1758950" algn="ctr"/>
              </a:tabLst>
            </a:pPr>
            <a:r>
              <a:rPr kumimoji="0" lang="fr-FR" altLang="fr-FR"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Chaque élément d’un paquetage est soit :  </a:t>
            </a:r>
            <a:endParaRPr kumimoji="0" lang="fr-FR" altLang="fr-FR"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tab pos="833438" algn="ctr"/>
                <a:tab pos="1758950" algn="ctr"/>
              </a:tabLst>
            </a:pPr>
            <a:r>
              <a:rPr kumimoji="0" lang="fr-FR" altLang="fr-FR" b="1" i="0" u="sng"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Privé</a:t>
            </a:r>
            <a:r>
              <a:rPr kumimoji="0" lang="fr-FR" altLang="fr-FR"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c'est-à-dire encapsulé dans le paquetage et invisible à l’extérieur de celui-ci. Un élément privé est désigné par un signe </a:t>
            </a:r>
            <a:r>
              <a:rPr kumimoji="0" lang="fr-FR" altLang="fr-FR" b="1" i="0" u="none" strike="noStrike" cap="none" normalizeH="0" baseline="0" dirty="0">
                <a:ln>
                  <a:noFill/>
                </a:ln>
                <a:solidFill>
                  <a:srgbClr val="C5000B"/>
                </a:solidFill>
                <a:effectLst/>
                <a:latin typeface="Rockwell" panose="02060603020205020403" pitchFamily="18" charset="0"/>
                <a:ea typeface="Times New Roman" panose="02020603050405020304" pitchFamily="18" charset="0"/>
              </a:rPr>
              <a:t>–</a:t>
            </a:r>
            <a:r>
              <a:rPr kumimoji="0" lang="fr-FR" altLang="fr-FR"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devant lui. </a:t>
            </a:r>
            <a:endParaRPr kumimoji="0" lang="fr-FR" altLang="fr-FR"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tab pos="833438" algn="ctr"/>
                <a:tab pos="1758950" algn="ctr"/>
              </a:tabLst>
            </a:pPr>
            <a:r>
              <a:rPr kumimoji="0" lang="fr-FR" altLang="fr-FR" b="1" i="0" u="sng"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Public</a:t>
            </a:r>
            <a:r>
              <a:rPr kumimoji="0" lang="fr-FR" altLang="fr-FR"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c'est-à-dire visible et accessible de l’extérieur du paquetage. Un élément public est désigné par un signe </a:t>
            </a:r>
            <a:r>
              <a:rPr kumimoji="0" lang="fr-FR" altLang="fr-FR" b="1" i="0" u="none" strike="noStrike" cap="none" normalizeH="0" baseline="0" dirty="0">
                <a:ln>
                  <a:noFill/>
                </a:ln>
                <a:solidFill>
                  <a:srgbClr val="C5000B"/>
                </a:solidFill>
                <a:effectLst/>
                <a:latin typeface="Rockwell" panose="02060603020205020403" pitchFamily="18" charset="0"/>
                <a:ea typeface="Times New Roman" panose="02020603050405020304" pitchFamily="18" charset="0"/>
              </a:rPr>
              <a:t>+</a:t>
            </a:r>
            <a:r>
              <a:rPr kumimoji="0" lang="fr-FR" altLang="fr-FR" b="0" i="0" u="none" strike="noStrike" cap="none" normalizeH="0" baseline="0" dirty="0">
                <a:ln>
                  <a:noFill/>
                </a:ln>
                <a:solidFill>
                  <a:srgbClr val="000000"/>
                </a:solidFill>
                <a:effectLst/>
                <a:latin typeface="Rockwell" panose="02060603020205020403" pitchFamily="18" charset="0"/>
                <a:ea typeface="Times New Roman" panose="02020603050405020304" pitchFamily="18" charset="0"/>
              </a:rPr>
              <a:t> devant lui. </a:t>
            </a:r>
            <a:endParaRPr kumimoji="0" lang="fr-FR" altLang="fr-FR"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833438" algn="ctr"/>
                <a:tab pos="1758950" algn="ct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37" name="Picture 25858">
            <a:extLst>
              <a:ext uri="{FF2B5EF4-FFF2-40B4-BE49-F238E27FC236}">
                <a16:creationId xmlns:a16="http://schemas.microsoft.com/office/drawing/2014/main" id="{CFAD59D0-E516-6DDC-23B0-A49B58C57A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328" y="5635562"/>
            <a:ext cx="3095625" cy="82867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5">
            <a:extLst>
              <a:ext uri="{FF2B5EF4-FFF2-40B4-BE49-F238E27FC236}">
                <a16:creationId xmlns:a16="http://schemas.microsoft.com/office/drawing/2014/main" id="{DB8BC379-DEAD-28A0-770B-57EA694CADB4}"/>
              </a:ext>
            </a:extLst>
          </p:cNvPr>
          <p:cNvSpPr>
            <a:spLocks noChangeArrowheads="1"/>
          </p:cNvSpPr>
          <p:nvPr/>
        </p:nvSpPr>
        <p:spPr bwMode="auto">
          <a:xfrm>
            <a:off x="0" y="128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1" u="none" strike="noStrike" cap="none" normalizeH="0" baseline="0">
                <a:ln>
                  <a:noFill/>
                </a:ln>
                <a:solidFill>
                  <a:srgbClr val="44546A"/>
                </a:solidFill>
                <a:effectLst/>
                <a:latin typeface="Arial" panose="020B0604020202020204" pitchFamily="34" charset="0"/>
                <a:ea typeface="Times New Roman" panose="02020603050405020304" pitchFamily="18"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0976720"/>
      </p:ext>
    </p:extLst>
  </p:cSld>
  <p:clrMapOvr>
    <a:masterClrMapping/>
  </p:clrMapOvr>
  <p:transition spd="slow">
    <p:wheel spokes="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863E-3A68-9FAA-1649-6FBE3111D02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CD7B89B-DB5E-2037-80DA-1027FAA60D38}"/>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a:t>
            </a:r>
            <a:r>
              <a:rPr lang="en-US" dirty="0" err="1">
                <a:latin typeface="Rockwell" panose="02060603020205020403" pitchFamily="18" charset="0"/>
              </a:rPr>
              <a:t>Diagramme</a:t>
            </a:r>
            <a:r>
              <a:rPr lang="en-US" dirty="0">
                <a:latin typeface="Rockwell" panose="02060603020205020403" pitchFamily="18" charset="0"/>
              </a:rPr>
              <a:t> de PAQUETAGE: </a:t>
            </a:r>
            <a:r>
              <a:rPr lang="en-US" dirty="0" err="1">
                <a:latin typeface="Rockwell" panose="02060603020205020403" pitchFamily="18" charset="0"/>
              </a:rPr>
              <a:t>Visibilité</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AD5C5691-DB77-A47D-951C-EEAC6DF6DCCF}"/>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86B5E769-FD4A-A98F-7C75-6C264F04D0FF}"/>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8" name="Oval 2">
            <a:extLst>
              <a:ext uri="{FF2B5EF4-FFF2-40B4-BE49-F238E27FC236}">
                <a16:creationId xmlns:a16="http://schemas.microsoft.com/office/drawing/2014/main" id="{2F89BFB7-6A5E-4B3F-7A3A-C53285AFE90B}"/>
              </a:ext>
            </a:extLst>
          </p:cNvPr>
          <p:cNvSpPr/>
          <p:nvPr/>
        </p:nvSpPr>
        <p:spPr>
          <a:xfrm>
            <a:off x="11482316" y="6455228"/>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8</a:t>
            </a:r>
            <a:endParaRPr lang="en-US" dirty="0">
              <a:latin typeface="Rockwell" panose="02060603020205020403" pitchFamily="18" charset="0"/>
            </a:endParaRPr>
          </a:p>
        </p:txBody>
      </p:sp>
      <p:sp>
        <p:nvSpPr>
          <p:cNvPr id="13" name="Rectangle 12">
            <a:extLst>
              <a:ext uri="{FF2B5EF4-FFF2-40B4-BE49-F238E27FC236}">
                <a16:creationId xmlns:a16="http://schemas.microsoft.com/office/drawing/2014/main" id="{8ED7C6B3-C2D8-584F-A2E2-1578FBB5E125}"/>
              </a:ext>
            </a:extLst>
          </p:cNvPr>
          <p:cNvSpPr>
            <a:spLocks noChangeArrowheads="1"/>
          </p:cNvSpPr>
          <p:nvPr/>
        </p:nvSpPr>
        <p:spPr bwMode="auto">
          <a:xfrm>
            <a:off x="709328" y="2180839"/>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fr-FR" altLang="fr-FR" sz="1100" b="0" i="0" u="none" strike="noStrike" cap="none" normalizeH="0" baseline="0" dirty="0">
              <a:ln>
                <a:noFill/>
              </a:ln>
              <a:solidFill>
                <a:schemeClr val="tx1"/>
              </a:solidFill>
              <a:effectLst/>
              <a:latin typeface="Arial" panose="020B0604020202020204" pitchFamily="34" charset="0"/>
            </a:endParaRPr>
          </a:p>
        </p:txBody>
      </p:sp>
      <p:sp>
        <p:nvSpPr>
          <p:cNvPr id="15" name="Rectangle 15">
            <a:extLst>
              <a:ext uri="{FF2B5EF4-FFF2-40B4-BE49-F238E27FC236}">
                <a16:creationId xmlns:a16="http://schemas.microsoft.com/office/drawing/2014/main" id="{D20C4840-85F1-9673-0109-0A610CC8E1EA}"/>
              </a:ext>
            </a:extLst>
          </p:cNvPr>
          <p:cNvSpPr>
            <a:spLocks noChangeArrowheads="1"/>
          </p:cNvSpPr>
          <p:nvPr/>
        </p:nvSpPr>
        <p:spPr bwMode="auto">
          <a:xfrm>
            <a:off x="0" y="128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1" u="none" strike="noStrike" cap="none" normalizeH="0" baseline="0">
                <a:ln>
                  <a:noFill/>
                </a:ln>
                <a:solidFill>
                  <a:srgbClr val="44546A"/>
                </a:solidFill>
                <a:effectLst/>
                <a:latin typeface="Arial" panose="020B0604020202020204" pitchFamily="34" charset="0"/>
                <a:ea typeface="Times New Roman" panose="02020603050405020304" pitchFamily="18"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4" name="Picture 261242">
            <a:extLst>
              <a:ext uri="{FF2B5EF4-FFF2-40B4-BE49-F238E27FC236}">
                <a16:creationId xmlns:a16="http://schemas.microsoft.com/office/drawing/2014/main" id="{C5E544DD-8822-3D01-7F20-20418DEC422C}"/>
              </a:ext>
            </a:extLst>
          </p:cNvPr>
          <p:cNvPicPr/>
          <p:nvPr/>
        </p:nvPicPr>
        <p:blipFill>
          <a:blip r:embed="rId3"/>
          <a:stretch>
            <a:fillRect/>
          </a:stretch>
        </p:blipFill>
        <p:spPr>
          <a:xfrm>
            <a:off x="2379027" y="1107922"/>
            <a:ext cx="5909945" cy="3822065"/>
          </a:xfrm>
          <a:prstGeom prst="rect">
            <a:avLst/>
          </a:prstGeom>
          <a:noFill/>
          <a:ln>
            <a:noFill/>
            <a:prstDash/>
          </a:ln>
        </p:spPr>
      </p:pic>
    </p:spTree>
    <p:extLst>
      <p:ext uri="{BB962C8B-B14F-4D97-AF65-F5344CB8AC3E}">
        <p14:creationId xmlns:p14="http://schemas.microsoft.com/office/powerpoint/2010/main" val="3472849696"/>
      </p:ext>
    </p:extLst>
  </p:cSld>
  <p:clrMapOvr>
    <a:masterClrMapping/>
  </p:clrMapOvr>
  <p:transition spd="slow">
    <p:wheel spokes="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C4930-F6B6-0BC9-CE40-CBAD60E99BF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3433266-9C10-3B30-31AE-9DA2666AA25C}"/>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a:t>
            </a:r>
            <a:r>
              <a:rPr lang="en-US" dirty="0">
                <a:latin typeface="Rockwell" panose="02060603020205020403" pitchFamily="18" charset="0"/>
              </a:rPr>
              <a:t> </a:t>
            </a:r>
            <a:r>
              <a:rPr lang="en-US" dirty="0" err="1">
                <a:latin typeface="Rockwell" panose="02060603020205020403" pitchFamily="18" charset="0"/>
              </a:rPr>
              <a:t>Diagramme</a:t>
            </a:r>
            <a:r>
              <a:rPr lang="en-US" dirty="0">
                <a:latin typeface="Rockwell" panose="02060603020205020403" pitchFamily="18" charset="0"/>
              </a:rPr>
              <a:t> de  </a:t>
            </a:r>
            <a:r>
              <a:rPr lang="en-US" dirty="0" err="1">
                <a:latin typeface="Rockwell" panose="02060603020205020403" pitchFamily="18" charset="0"/>
              </a:rPr>
              <a:t>paquetage</a:t>
            </a:r>
            <a:r>
              <a:rPr lang="en-US" dirty="0">
                <a:latin typeface="Rockwell" panose="02060603020205020403" pitchFamily="18" charset="0"/>
              </a:rPr>
              <a:t> de la solution </a:t>
            </a:r>
            <a:r>
              <a:rPr lang="en-US" dirty="0" err="1">
                <a:latin typeface="Rockwell" panose="02060603020205020403" pitchFamily="18" charset="0"/>
              </a:rPr>
              <a:t>Diskmontor</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2CA650B3-9A4F-B6F4-6008-2E7A97DC8993}"/>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8</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38AA9537-9809-63DB-F726-15E3D6F45CB6}"/>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8" name="Oval 2">
            <a:extLst>
              <a:ext uri="{FF2B5EF4-FFF2-40B4-BE49-F238E27FC236}">
                <a16:creationId xmlns:a16="http://schemas.microsoft.com/office/drawing/2014/main" id="{047F4B70-DBD4-AD6A-E0AA-E926EB940EBF}"/>
              </a:ext>
            </a:extLst>
          </p:cNvPr>
          <p:cNvSpPr/>
          <p:nvPr/>
        </p:nvSpPr>
        <p:spPr>
          <a:xfrm>
            <a:off x="11482316" y="6455228"/>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9</a:t>
            </a:r>
            <a:endParaRPr lang="en-US" dirty="0">
              <a:latin typeface="Rockwell" panose="02060603020205020403" pitchFamily="18" charset="0"/>
            </a:endParaRPr>
          </a:p>
        </p:txBody>
      </p:sp>
      <p:sp>
        <p:nvSpPr>
          <p:cNvPr id="13" name="Rectangle 12">
            <a:extLst>
              <a:ext uri="{FF2B5EF4-FFF2-40B4-BE49-F238E27FC236}">
                <a16:creationId xmlns:a16="http://schemas.microsoft.com/office/drawing/2014/main" id="{9B474160-51A5-CD89-43C2-F2138E8B12F1}"/>
              </a:ext>
            </a:extLst>
          </p:cNvPr>
          <p:cNvSpPr>
            <a:spLocks noChangeArrowheads="1"/>
          </p:cNvSpPr>
          <p:nvPr/>
        </p:nvSpPr>
        <p:spPr bwMode="auto">
          <a:xfrm>
            <a:off x="709328" y="2180839"/>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fr-FR" altLang="fr-FR" sz="1100" b="0" i="0" u="none" strike="noStrike" cap="none" normalizeH="0" baseline="0" dirty="0">
              <a:ln>
                <a:noFill/>
              </a:ln>
              <a:solidFill>
                <a:schemeClr val="tx1"/>
              </a:solidFill>
              <a:effectLst/>
              <a:latin typeface="Arial" panose="020B0604020202020204" pitchFamily="34" charset="0"/>
            </a:endParaRPr>
          </a:p>
        </p:txBody>
      </p:sp>
      <p:sp>
        <p:nvSpPr>
          <p:cNvPr id="15" name="Rectangle 15">
            <a:extLst>
              <a:ext uri="{FF2B5EF4-FFF2-40B4-BE49-F238E27FC236}">
                <a16:creationId xmlns:a16="http://schemas.microsoft.com/office/drawing/2014/main" id="{D39FB97F-F1A5-A93B-FCCB-7071D2B9AFBB}"/>
              </a:ext>
            </a:extLst>
          </p:cNvPr>
          <p:cNvSpPr>
            <a:spLocks noChangeArrowheads="1"/>
          </p:cNvSpPr>
          <p:nvPr/>
        </p:nvSpPr>
        <p:spPr bwMode="auto">
          <a:xfrm>
            <a:off x="0" y="128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1" u="none" strike="noStrike" cap="none" normalizeH="0" baseline="0">
                <a:ln>
                  <a:noFill/>
                </a:ln>
                <a:solidFill>
                  <a:srgbClr val="44546A"/>
                </a:solidFill>
                <a:effectLst/>
                <a:latin typeface="Arial" panose="020B0604020202020204" pitchFamily="34" charset="0"/>
                <a:ea typeface="Times New Roman" panose="02020603050405020304" pitchFamily="18" charset="0"/>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6" name="Image 5">
            <a:extLst>
              <a:ext uri="{FF2B5EF4-FFF2-40B4-BE49-F238E27FC236}">
                <a16:creationId xmlns:a16="http://schemas.microsoft.com/office/drawing/2014/main" id="{8149CEF2-B2EE-EE9D-B65D-6FB72801EA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15603" y="978020"/>
            <a:ext cx="8560794" cy="5313598"/>
          </a:xfrm>
          <a:prstGeom prst="rect">
            <a:avLst/>
          </a:prstGeom>
        </p:spPr>
      </p:pic>
    </p:spTree>
    <p:extLst>
      <p:ext uri="{BB962C8B-B14F-4D97-AF65-F5344CB8AC3E}">
        <p14:creationId xmlns:p14="http://schemas.microsoft.com/office/powerpoint/2010/main" val="2678899211"/>
      </p:ext>
    </p:extLst>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E867E-88D0-8941-C266-8194B73E908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32D13E6-C827-14C2-1D55-CCCC139A56E6}"/>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Rockwell" panose="02060603020205020403" pitchFamily="18" charset="0"/>
            </a:endParaRPr>
          </a:p>
          <a:p>
            <a:pPr algn="ctr"/>
            <a:r>
              <a:rPr lang="fr-FR" dirty="0">
                <a:latin typeface="Rockwell" panose="02060603020205020403" pitchFamily="18" charset="0"/>
              </a:rPr>
              <a:t>DIAGRAMME D’ETAT-TRANSITION</a:t>
            </a:r>
          </a:p>
          <a:p>
            <a:pPr algn="ct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FE7E7BDF-30C2-19DF-7657-0C3A80B51CC7}"/>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9</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EA411123-ADCD-46A9-83BA-ACA3E1711653}"/>
              </a:ext>
            </a:extLst>
          </p:cNvPr>
          <p:cNvSpPr/>
          <p:nvPr/>
        </p:nvSpPr>
        <p:spPr>
          <a:xfrm>
            <a:off x="11495315" y="6405351"/>
            <a:ext cx="63261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10</a:t>
            </a:r>
            <a:endParaRPr lang="en-US" dirty="0">
              <a:latin typeface="Rockwell" panose="02060603020205020403" pitchFamily="18" charset="0"/>
            </a:endParaRPr>
          </a:p>
        </p:txBody>
      </p:sp>
      <p:sp>
        <p:nvSpPr>
          <p:cNvPr id="8" name="ZoneTexte 7">
            <a:extLst>
              <a:ext uri="{FF2B5EF4-FFF2-40B4-BE49-F238E27FC236}">
                <a16:creationId xmlns:a16="http://schemas.microsoft.com/office/drawing/2014/main" id="{71EEA85C-A3CB-E904-9D36-7B8548285079}"/>
              </a:ext>
            </a:extLst>
          </p:cNvPr>
          <p:cNvSpPr txBox="1"/>
          <p:nvPr/>
        </p:nvSpPr>
        <p:spPr>
          <a:xfrm>
            <a:off x="1512277" y="682130"/>
            <a:ext cx="8884693" cy="5443863"/>
          </a:xfrm>
          <a:prstGeom prst="rect">
            <a:avLst/>
          </a:prstGeom>
          <a:noFill/>
        </p:spPr>
        <p:txBody>
          <a:bodyPr wrap="square">
            <a:spAutoFit/>
          </a:bodyPr>
          <a:lstStyle/>
          <a:p>
            <a:pPr algn="just">
              <a:lnSpc>
                <a:spcPct val="150000"/>
              </a:lnSpc>
            </a:pPr>
            <a:r>
              <a:rPr lang="fr-FR" b="1" dirty="0">
                <a:latin typeface="Rockwell" panose="02060603020205020403" pitchFamily="18" charset="0"/>
              </a:rPr>
              <a:t> 	Les diagrammes d'états-transitions d'UML</a:t>
            </a:r>
            <a:r>
              <a:rPr lang="fr-FR" dirty="0">
                <a:latin typeface="Rockwell" panose="02060603020205020403" pitchFamily="18" charset="0"/>
              </a:rPr>
              <a:t> décrivent le comportement interne d'un objet à l'aide d'un automate à états finis. Ils présentent les séquences possibles d'états et d'actions qu'une instance de classe peut traiter au cours de son cycle de vie en réaction à des événements discrets (invocations de méthode). Ils spécifient habituellement le comportement d'une instance de classe ou composant, mais parfois aussi le comportement interne d'autres éléments tels que les cas d'utilisation, les sous-systèmes, les méthodes. Le diagramme d'</a:t>
            </a:r>
            <a:r>
              <a:rPr lang="fr-FR" dirty="0" err="1">
                <a:latin typeface="Rockwell" panose="02060603020205020403" pitchFamily="18" charset="0"/>
              </a:rPr>
              <a:t>étatstransitions</a:t>
            </a:r>
            <a:r>
              <a:rPr lang="fr-FR" dirty="0">
                <a:latin typeface="Rockwell" panose="02060603020205020403" pitchFamily="18" charset="0"/>
              </a:rPr>
              <a:t> est le seul diagramme, de la norme UML, à offrir une vision complète et non ambiguë de l'ensemble des comportements de l'élément auquel il est attaché.  </a:t>
            </a:r>
          </a:p>
          <a:p>
            <a:pPr algn="just">
              <a:lnSpc>
                <a:spcPct val="150000"/>
              </a:lnSpc>
            </a:pPr>
            <a:r>
              <a:rPr lang="fr-FR" b="1" u="sng" dirty="0">
                <a:latin typeface="Rockwell" panose="02060603020205020403" pitchFamily="18" charset="0"/>
              </a:rPr>
              <a:t>Automate</a:t>
            </a:r>
            <a:r>
              <a:rPr lang="fr-FR" dirty="0">
                <a:latin typeface="Rockwell" panose="02060603020205020403" pitchFamily="18" charset="0"/>
              </a:rPr>
              <a:t> : représentation d’un comportement ou d’un système qui peut être dans différents états et qui change d’un état à un autre en réponse à des évènements. </a:t>
            </a:r>
          </a:p>
          <a:p>
            <a:pPr algn="just">
              <a:lnSpc>
                <a:spcPct val="150000"/>
              </a:lnSpc>
            </a:pPr>
            <a:r>
              <a:rPr lang="fr-FR" dirty="0">
                <a:latin typeface="Rockwell" panose="02060603020205020403" pitchFamily="18" charset="0"/>
              </a:rPr>
              <a:t> </a:t>
            </a:r>
          </a:p>
        </p:txBody>
      </p:sp>
    </p:spTree>
    <p:extLst>
      <p:ext uri="{BB962C8B-B14F-4D97-AF65-F5344CB8AC3E}">
        <p14:creationId xmlns:p14="http://schemas.microsoft.com/office/powerpoint/2010/main" val="431572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E4686B1-AEAA-4384-BF64-82972045774D}"/>
              </a:ext>
            </a:extLst>
          </p:cNvPr>
          <p:cNvSpPr/>
          <p:nvPr/>
        </p:nvSpPr>
        <p:spPr>
          <a:xfrm>
            <a:off x="6324600" y="-1"/>
            <a:ext cx="5867400" cy="513063"/>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DEMARCHE D’ANANLYSE</a:t>
            </a:r>
          </a:p>
          <a:p>
            <a:pPr algn="ctr"/>
            <a:r>
              <a:rPr lang="fr-FR" dirty="0">
                <a:latin typeface="Rockwell" panose="02060603020205020403" pitchFamily="18" charset="0"/>
              </a:rPr>
              <a:t>DIAGRAMME   D’ETAT   TRANSITION</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585E6CF-2F87-49D2-B370-F3C0D5FC127E}"/>
              </a:ext>
            </a:extLst>
          </p:cNvPr>
          <p:cNvSpPr/>
          <p:nvPr/>
        </p:nvSpPr>
        <p:spPr>
          <a:xfrm>
            <a:off x="0" y="0"/>
            <a:ext cx="627017" cy="3918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10</a:t>
            </a:r>
            <a:endParaRPr lang="en-US" dirty="0">
              <a:latin typeface="Rockwell" panose="02060603020205020403" pitchFamily="18" charset="0"/>
            </a:endParaRPr>
          </a:p>
        </p:txBody>
      </p:sp>
      <p:grpSp>
        <p:nvGrpSpPr>
          <p:cNvPr id="13" name="Group 12">
            <a:extLst>
              <a:ext uri="{FF2B5EF4-FFF2-40B4-BE49-F238E27FC236}">
                <a16:creationId xmlns:a16="http://schemas.microsoft.com/office/drawing/2014/main" id="{93D1AE60-B21E-4730-A868-C18A17571A5A}"/>
              </a:ext>
            </a:extLst>
          </p:cNvPr>
          <p:cNvGrpSpPr/>
          <p:nvPr/>
        </p:nvGrpSpPr>
        <p:grpSpPr>
          <a:xfrm>
            <a:off x="3106616" y="1457130"/>
            <a:ext cx="6037384" cy="4169947"/>
            <a:chOff x="264368" y="-531724"/>
            <a:chExt cx="4930065" cy="3552817"/>
          </a:xfrm>
        </p:grpSpPr>
        <p:pic>
          <p:nvPicPr>
            <p:cNvPr id="11" name="Graphic 10">
              <a:extLst>
                <a:ext uri="{FF2B5EF4-FFF2-40B4-BE49-F238E27FC236}">
                  <a16:creationId xmlns:a16="http://schemas.microsoft.com/office/drawing/2014/main" id="{876B5352-B2DF-437D-87EF-CD9D28A1E45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2926" y="-531724"/>
              <a:ext cx="4831507" cy="3552817"/>
            </a:xfrm>
            <a:prstGeom prst="rect">
              <a:avLst/>
            </a:prstGeom>
          </p:spPr>
        </p:pic>
        <p:sp>
          <p:nvSpPr>
            <p:cNvPr id="12" name="Rectangle 11">
              <a:extLst>
                <a:ext uri="{FF2B5EF4-FFF2-40B4-BE49-F238E27FC236}">
                  <a16:creationId xmlns:a16="http://schemas.microsoft.com/office/drawing/2014/main" id="{FC768240-BBF8-42A7-8DE7-AD4738C0D423}"/>
                </a:ext>
              </a:extLst>
            </p:cNvPr>
            <p:cNvSpPr/>
            <p:nvPr/>
          </p:nvSpPr>
          <p:spPr>
            <a:xfrm>
              <a:off x="264368" y="2272654"/>
              <a:ext cx="1988393" cy="607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2">
                    <a:lumMod val="75000"/>
                  </a:schemeClr>
                </a:solidFill>
                <a:latin typeface="Rockwell" panose="02060603020205020403" pitchFamily="18" charset="0"/>
              </a:endParaRPr>
            </a:p>
          </p:txBody>
        </p:sp>
      </p:grpSp>
      <p:sp>
        <p:nvSpPr>
          <p:cNvPr id="14" name="Oval 13">
            <a:extLst>
              <a:ext uri="{FF2B5EF4-FFF2-40B4-BE49-F238E27FC236}">
                <a16:creationId xmlns:a16="http://schemas.microsoft.com/office/drawing/2014/main" id="{313DB825-6F3C-4760-A6F5-5A00DDD96141}"/>
              </a:ext>
            </a:extLst>
          </p:cNvPr>
          <p:cNvSpPr/>
          <p:nvPr/>
        </p:nvSpPr>
        <p:spPr>
          <a:xfrm>
            <a:off x="11469189" y="6413863"/>
            <a:ext cx="658739" cy="3942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11</a:t>
            </a:r>
            <a:endParaRPr lang="en-US" dirty="0">
              <a:latin typeface="Amasis MT Pro Medium" panose="02040604050005020304" pitchFamily="18" charset="0"/>
            </a:endParaRPr>
          </a:p>
        </p:txBody>
      </p:sp>
    </p:spTree>
    <p:extLst>
      <p:ext uri="{BB962C8B-B14F-4D97-AF65-F5344CB8AC3E}">
        <p14:creationId xmlns:p14="http://schemas.microsoft.com/office/powerpoint/2010/main" val="38167837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F2274-038B-AD86-46A3-3759358CC2FA}"/>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1D80665C-4677-F78B-A076-14A02A1DCEEE}"/>
              </a:ext>
            </a:extLst>
          </p:cNvPr>
          <p:cNvSpPr/>
          <p:nvPr/>
        </p:nvSpPr>
        <p:spPr>
          <a:xfrm>
            <a:off x="0" y="-1"/>
            <a:ext cx="613954" cy="4049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11</a:t>
            </a:r>
            <a:endParaRPr lang="en-US" dirty="0">
              <a:latin typeface="Rockwell" panose="02060603020205020403" pitchFamily="18" charset="0"/>
            </a:endParaRPr>
          </a:p>
        </p:txBody>
      </p:sp>
      <p:grpSp>
        <p:nvGrpSpPr>
          <p:cNvPr id="13" name="Group 12">
            <a:extLst>
              <a:ext uri="{FF2B5EF4-FFF2-40B4-BE49-F238E27FC236}">
                <a16:creationId xmlns:a16="http://schemas.microsoft.com/office/drawing/2014/main" id="{2A9F250F-5315-BEB1-25FC-F17497C6DBB4}"/>
              </a:ext>
            </a:extLst>
          </p:cNvPr>
          <p:cNvGrpSpPr/>
          <p:nvPr/>
        </p:nvGrpSpPr>
        <p:grpSpPr>
          <a:xfrm>
            <a:off x="2485292" y="944067"/>
            <a:ext cx="6178061" cy="4838162"/>
            <a:chOff x="264368" y="-531724"/>
            <a:chExt cx="4392143" cy="3552817"/>
          </a:xfrm>
        </p:grpSpPr>
        <p:pic>
          <p:nvPicPr>
            <p:cNvPr id="11" name="Graphic 10">
              <a:extLst>
                <a:ext uri="{FF2B5EF4-FFF2-40B4-BE49-F238E27FC236}">
                  <a16:creationId xmlns:a16="http://schemas.microsoft.com/office/drawing/2014/main" id="{128EF0FA-96BA-CD68-4E8A-4825799054A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847" y="-531724"/>
              <a:ext cx="3755664" cy="3552817"/>
            </a:xfrm>
            <a:prstGeom prst="rect">
              <a:avLst/>
            </a:prstGeom>
          </p:spPr>
        </p:pic>
        <p:sp>
          <p:nvSpPr>
            <p:cNvPr id="12" name="Rectangle 11">
              <a:extLst>
                <a:ext uri="{FF2B5EF4-FFF2-40B4-BE49-F238E27FC236}">
                  <a16:creationId xmlns:a16="http://schemas.microsoft.com/office/drawing/2014/main" id="{4D16FAF3-E053-79C8-7197-18742EAEEC00}"/>
                </a:ext>
              </a:extLst>
            </p:cNvPr>
            <p:cNvSpPr/>
            <p:nvPr/>
          </p:nvSpPr>
          <p:spPr>
            <a:xfrm>
              <a:off x="264368" y="2272654"/>
              <a:ext cx="1988393" cy="607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2">
                    <a:lumMod val="75000"/>
                  </a:schemeClr>
                </a:solidFill>
                <a:latin typeface="Rockwell" panose="02060603020205020403" pitchFamily="18" charset="0"/>
              </a:endParaRPr>
            </a:p>
          </p:txBody>
        </p:sp>
      </p:grpSp>
      <p:sp>
        <p:nvSpPr>
          <p:cNvPr id="14" name="Oval 13">
            <a:extLst>
              <a:ext uri="{FF2B5EF4-FFF2-40B4-BE49-F238E27FC236}">
                <a16:creationId xmlns:a16="http://schemas.microsoft.com/office/drawing/2014/main" id="{4D225FF9-F84C-A3BE-224B-12A833444AAD}"/>
              </a:ext>
            </a:extLst>
          </p:cNvPr>
          <p:cNvSpPr/>
          <p:nvPr/>
        </p:nvSpPr>
        <p:spPr>
          <a:xfrm>
            <a:off x="11495315" y="6413863"/>
            <a:ext cx="632614" cy="3942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4" name="Rectangle: Rounded Corners 1">
            <a:extLst>
              <a:ext uri="{FF2B5EF4-FFF2-40B4-BE49-F238E27FC236}">
                <a16:creationId xmlns:a16="http://schemas.microsoft.com/office/drawing/2014/main" id="{77601941-3DA7-4A36-710A-1E173E8FD473}"/>
              </a:ext>
            </a:extLst>
          </p:cNvPr>
          <p:cNvSpPr/>
          <p:nvPr/>
        </p:nvSpPr>
        <p:spPr>
          <a:xfrm>
            <a:off x="6324600" y="-1"/>
            <a:ext cx="5867400" cy="513063"/>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DEMARCHE D’ANANLYSE</a:t>
            </a:r>
          </a:p>
          <a:p>
            <a:pPr algn="ctr"/>
            <a:r>
              <a:rPr lang="fr-FR" dirty="0">
                <a:latin typeface="Rockwell" panose="02060603020205020403" pitchFamily="18" charset="0"/>
              </a:rPr>
              <a:t>DIAGRAMME   D’ETAT   TRANSITION</a:t>
            </a:r>
            <a:endParaRPr lang="en-US" dirty="0">
              <a:latin typeface="Rockwell" panose="02060603020205020403" pitchFamily="18" charset="0"/>
            </a:endParaRPr>
          </a:p>
        </p:txBody>
      </p:sp>
    </p:spTree>
    <p:extLst>
      <p:ext uri="{BB962C8B-B14F-4D97-AF65-F5344CB8AC3E}">
        <p14:creationId xmlns:p14="http://schemas.microsoft.com/office/powerpoint/2010/main" val="33815570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7D36F2-D1E7-4044-9FBC-538C2FAF5E4A}"/>
              </a:ext>
            </a:extLst>
          </p:cNvPr>
          <p:cNvSpPr/>
          <p:nvPr/>
        </p:nvSpPr>
        <p:spPr>
          <a:xfrm>
            <a:off x="6324600" y="0"/>
            <a:ext cx="5867400" cy="770164"/>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D’ETAT   TRANSITION:  Cas  Gérer   Monitoring</a:t>
            </a:r>
          </a:p>
        </p:txBody>
      </p:sp>
      <p:sp>
        <p:nvSpPr>
          <p:cNvPr id="3" name="Oval 2">
            <a:extLst>
              <a:ext uri="{FF2B5EF4-FFF2-40B4-BE49-F238E27FC236}">
                <a16:creationId xmlns:a16="http://schemas.microsoft.com/office/drawing/2014/main" id="{8246A108-FBC6-42F9-A757-D613DDDC264D}"/>
              </a:ext>
            </a:extLst>
          </p:cNvPr>
          <p:cNvSpPr/>
          <p:nvPr/>
        </p:nvSpPr>
        <p:spPr>
          <a:xfrm>
            <a:off x="0" y="0"/>
            <a:ext cx="640080" cy="4310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12</a:t>
            </a:r>
            <a:endParaRPr lang="en-US" dirty="0">
              <a:latin typeface="Rockwell" panose="02060603020205020403" pitchFamily="18" charset="0"/>
            </a:endParaRPr>
          </a:p>
        </p:txBody>
      </p:sp>
      <p:sp>
        <p:nvSpPr>
          <p:cNvPr id="39" name="Oval 38">
            <a:extLst>
              <a:ext uri="{FF2B5EF4-FFF2-40B4-BE49-F238E27FC236}">
                <a16:creationId xmlns:a16="http://schemas.microsoft.com/office/drawing/2014/main" id="{6EA3DCE9-CCA8-40D3-B47E-732155CD4EB7}"/>
              </a:ext>
            </a:extLst>
          </p:cNvPr>
          <p:cNvSpPr/>
          <p:nvPr/>
        </p:nvSpPr>
        <p:spPr>
          <a:xfrm>
            <a:off x="11456127" y="6413863"/>
            <a:ext cx="671802" cy="3942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13</a:t>
            </a:r>
            <a:endParaRPr lang="en-US" dirty="0">
              <a:latin typeface="Amasis MT Pro Medium" panose="02040604050005020304" pitchFamily="18" charset="0"/>
            </a:endParaRPr>
          </a:p>
        </p:txBody>
      </p:sp>
      <p:pic>
        <p:nvPicPr>
          <p:cNvPr id="8" name="Image 7">
            <a:extLst>
              <a:ext uri="{FF2B5EF4-FFF2-40B4-BE49-F238E27FC236}">
                <a16:creationId xmlns:a16="http://schemas.microsoft.com/office/drawing/2014/main" id="{BB87A0DB-986C-B935-E0E9-873025F97B76}"/>
              </a:ext>
            </a:extLst>
          </p:cNvPr>
          <p:cNvPicPr>
            <a:picLocks noChangeAspect="1"/>
          </p:cNvPicPr>
          <p:nvPr/>
        </p:nvPicPr>
        <p:blipFill>
          <a:blip r:embed="rId3"/>
          <a:stretch>
            <a:fillRect/>
          </a:stretch>
        </p:blipFill>
        <p:spPr>
          <a:xfrm>
            <a:off x="2017259" y="1308463"/>
            <a:ext cx="6981825" cy="5105400"/>
          </a:xfrm>
          <a:prstGeom prst="rect">
            <a:avLst/>
          </a:prstGeom>
        </p:spPr>
      </p:pic>
    </p:spTree>
    <p:extLst>
      <p:ext uri="{BB962C8B-B14F-4D97-AF65-F5344CB8AC3E}">
        <p14:creationId xmlns:p14="http://schemas.microsoft.com/office/powerpoint/2010/main" val="42609679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6A48FB-DE92-4796-BD37-FB6C50002C72}"/>
              </a:ext>
            </a:extLst>
          </p:cNvPr>
          <p:cNvSpPr/>
          <p:nvPr/>
        </p:nvSpPr>
        <p:spPr>
          <a:xfrm>
            <a:off x="7402286" y="0"/>
            <a:ext cx="47897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RESULTATS ET COMMENTAIRES</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8A2D519-CF20-4648-AB69-D16A31E337F9}"/>
              </a:ext>
            </a:extLst>
          </p:cNvPr>
          <p:cNvSpPr/>
          <p:nvPr/>
        </p:nvSpPr>
        <p:spPr>
          <a:xfrm>
            <a:off x="0" y="0"/>
            <a:ext cx="67926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13</a:t>
            </a:r>
            <a:endParaRPr lang="en-US" dirty="0">
              <a:latin typeface="Rockwell" panose="02060603020205020403" pitchFamily="18" charset="0"/>
            </a:endParaRPr>
          </a:p>
        </p:txBody>
      </p:sp>
      <p:sp>
        <p:nvSpPr>
          <p:cNvPr id="4" name="Rectangle: Rounded Corners 3">
            <a:extLst>
              <a:ext uri="{FF2B5EF4-FFF2-40B4-BE49-F238E27FC236}">
                <a16:creationId xmlns:a16="http://schemas.microsoft.com/office/drawing/2014/main" id="{3F5D5923-C3D0-4E7A-B3AD-C326A6F2EBB2}"/>
              </a:ext>
            </a:extLst>
          </p:cNvPr>
          <p:cNvSpPr/>
          <p:nvPr/>
        </p:nvSpPr>
        <p:spPr>
          <a:xfrm>
            <a:off x="3465576" y="2311353"/>
            <a:ext cx="5221224" cy="218541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latin typeface="Amasis MT Pro Medium" panose="02040604050005020304" pitchFamily="18" charset="0"/>
              </a:rPr>
              <a:t>CONCLUSION</a:t>
            </a:r>
            <a:endParaRPr lang="en-US" sz="4000" dirty="0">
              <a:latin typeface="Amasis MT Pro Medium" panose="02040604050005020304" pitchFamily="18" charset="0"/>
            </a:endParaRPr>
          </a:p>
        </p:txBody>
      </p:sp>
      <p:sp>
        <p:nvSpPr>
          <p:cNvPr id="5" name="Oval 4">
            <a:extLst>
              <a:ext uri="{FF2B5EF4-FFF2-40B4-BE49-F238E27FC236}">
                <a16:creationId xmlns:a16="http://schemas.microsoft.com/office/drawing/2014/main" id="{965266D7-A1B0-4763-BD1D-E24DBBE54E4A}"/>
              </a:ext>
            </a:extLst>
          </p:cNvPr>
          <p:cNvSpPr/>
          <p:nvPr/>
        </p:nvSpPr>
        <p:spPr>
          <a:xfrm>
            <a:off x="11491415" y="6291618"/>
            <a:ext cx="636513" cy="5165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14</a:t>
            </a:r>
            <a:endParaRPr lang="en-US" dirty="0">
              <a:latin typeface="Amasis MT Pro Medium" panose="02040604050005020304" pitchFamily="18" charset="0"/>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827" y="402772"/>
            <a:ext cx="2209801" cy="2117504"/>
          </a:xfrm>
          <a:prstGeom prst="rect">
            <a:avLst/>
          </a:prstGeom>
          <a:solidFill>
            <a:schemeClr val="accent1"/>
          </a:solidFill>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2493" y="4051446"/>
            <a:ext cx="2636008" cy="2135844"/>
          </a:xfrm>
          <a:prstGeom prst="rect">
            <a:avLst/>
          </a:prstGeom>
          <a:solidFill>
            <a:schemeClr val="accent1"/>
          </a:solidFill>
        </p:spPr>
      </p:pic>
    </p:spTree>
    <p:extLst>
      <p:ext uri="{BB962C8B-B14F-4D97-AF65-F5344CB8AC3E}">
        <p14:creationId xmlns:p14="http://schemas.microsoft.com/office/powerpoint/2010/main" val="462068916"/>
      </p:ext>
    </p:extLst>
  </p:cSld>
  <p:clrMapOvr>
    <a:masterClrMapping/>
  </p:clrMapOvr>
  <mc:AlternateContent xmlns:mc="http://schemas.openxmlformats.org/markup-compatibility/2006" xmlns:p14="http://schemas.microsoft.com/office/powerpoint/2010/main">
    <mc:Choice Requires="p14">
      <p:transition spd="med">
        <p14:honeycomb/>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repeatCount="indefinite" fill="hold" grpId="0" nodeType="afterEffect">
                                  <p:stCondLst>
                                    <p:cond delay="0"/>
                                  </p:stCondLst>
                                  <p:endCondLst>
                                    <p:cond evt="onNext" delay="0">
                                      <p:tgtEl>
                                        <p:sldTgt/>
                                      </p:tgtEl>
                                    </p:cond>
                                  </p:endCondLst>
                                  <p:childTnLst>
                                    <p:animClr clrSpc="hsl" dir="cw">
                                      <p:cBhvr override="childStyle">
                                        <p:cTn id="6" dur="500" fill="hold"/>
                                        <p:tgtEl>
                                          <p:spTgt spid="4"/>
                                        </p:tgtEl>
                                        <p:attrNameLst>
                                          <p:attrName>style.color</p:attrName>
                                        </p:attrNameLst>
                                      </p:cBhvr>
                                      <p:by>
                                        <p:hsl h="7200000" s="0" l="0"/>
                                      </p:by>
                                    </p:animClr>
                                    <p:animClr clrSpc="hsl" dir="cw">
                                      <p:cBhvr>
                                        <p:cTn id="7" dur="500" fill="hold"/>
                                        <p:tgtEl>
                                          <p:spTgt spid="4"/>
                                        </p:tgtEl>
                                        <p:attrNameLst>
                                          <p:attrName>fillcolor</p:attrName>
                                        </p:attrNameLst>
                                      </p:cBhvr>
                                      <p:by>
                                        <p:hsl h="7200000" s="0" l="0"/>
                                      </p:by>
                                    </p:animClr>
                                    <p:animClr clrSpc="hsl" dir="cw">
                                      <p:cBhvr>
                                        <p:cTn id="8" dur="500" fill="hold"/>
                                        <p:tgtEl>
                                          <p:spTgt spid="4"/>
                                        </p:tgtEl>
                                        <p:attrNameLst>
                                          <p:attrName>stroke.color</p:attrName>
                                        </p:attrNameLst>
                                      </p:cBhvr>
                                      <p:by>
                                        <p:hsl h="7200000" s="0" l="0"/>
                                      </p:by>
                                    </p:animClr>
                                    <p:set>
                                      <p:cBhvr>
                                        <p:cTn id="9" dur="500" fill="hold"/>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88D1ED-4D15-4B60-B181-089874231C3D}"/>
              </a:ext>
            </a:extLst>
          </p:cNvPr>
          <p:cNvSpPr/>
          <p:nvPr/>
        </p:nvSpPr>
        <p:spPr>
          <a:xfrm>
            <a:off x="8773887" y="6433457"/>
            <a:ext cx="3418114" cy="424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Rockwell" panose="02060603020205020403" pitchFamily="18" charset="0"/>
              </a:rPr>
              <a:t>présenté par Ekosso</a:t>
            </a:r>
            <a:endParaRPr lang="en-US" sz="2400" dirty="0">
              <a:solidFill>
                <a:schemeClr val="tx1"/>
              </a:solidFill>
              <a:latin typeface="Rockwell" panose="02060603020205020403"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01" y="341194"/>
            <a:ext cx="10986448" cy="5909481"/>
          </a:xfrm>
          <a:prstGeom prst="rect">
            <a:avLst/>
          </a:prstGeom>
        </p:spPr>
      </p:pic>
    </p:spTree>
    <p:extLst>
      <p:ext uri="{BB962C8B-B14F-4D97-AF65-F5344CB8AC3E}">
        <p14:creationId xmlns:p14="http://schemas.microsoft.com/office/powerpoint/2010/main" val="3760948058"/>
      </p:ext>
    </p:extLst>
  </p:cSld>
  <p:clrMapOvr>
    <a:masterClrMapping/>
  </p:clrMapOvr>
  <p:transition spd="slow">
    <p:comb/>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C5C724C7-BACD-3A61-5787-54A7D22DBB01}"/>
              </a:ext>
            </a:extLst>
          </p:cNvPr>
          <p:cNvSpPr txBox="1"/>
          <p:nvPr/>
        </p:nvSpPr>
        <p:spPr>
          <a:xfrm>
            <a:off x="3049191" y="1329809"/>
            <a:ext cx="6093618" cy="369332"/>
          </a:xfrm>
          <a:prstGeom prst="rect">
            <a:avLst/>
          </a:prstGeom>
          <a:noFill/>
        </p:spPr>
        <p:txBody>
          <a:bodyPr wrap="square">
            <a:spAutoFit/>
          </a:bodyPr>
          <a:lstStyle/>
          <a:p>
            <a:r>
              <a:rPr lang="fr-FR" dirty="0"/>
              <a:t>Simplifier le processus d'obtention </a:t>
            </a:r>
          </a:p>
        </p:txBody>
      </p:sp>
      <p:sp>
        <p:nvSpPr>
          <p:cNvPr id="11" name="ZoneTexte 10">
            <a:extLst>
              <a:ext uri="{FF2B5EF4-FFF2-40B4-BE49-F238E27FC236}">
                <a16:creationId xmlns:a16="http://schemas.microsoft.com/office/drawing/2014/main" id="{EC42B4D4-B51B-37D2-EBEA-14393565EF75}"/>
              </a:ext>
            </a:extLst>
          </p:cNvPr>
          <p:cNvSpPr txBox="1"/>
          <p:nvPr/>
        </p:nvSpPr>
        <p:spPr>
          <a:xfrm>
            <a:off x="3046810" y="3244334"/>
            <a:ext cx="6093618" cy="369332"/>
          </a:xfrm>
          <a:prstGeom prst="rect">
            <a:avLst/>
          </a:prstGeom>
          <a:noFill/>
        </p:spPr>
        <p:txBody>
          <a:bodyPr wrap="square">
            <a:spAutoFit/>
          </a:bodyPr>
          <a:lstStyle/>
          <a:p>
            <a:r>
              <a:rPr lang="fr-FR" dirty="0"/>
              <a:t>Améliorer l'accessibilité </a:t>
            </a:r>
          </a:p>
        </p:txBody>
      </p:sp>
      <p:sp>
        <p:nvSpPr>
          <p:cNvPr id="15" name="ZoneTexte 14">
            <a:extLst>
              <a:ext uri="{FF2B5EF4-FFF2-40B4-BE49-F238E27FC236}">
                <a16:creationId xmlns:a16="http://schemas.microsoft.com/office/drawing/2014/main" id="{897CCE75-DA73-F8CF-F977-103CBDDBC62C}"/>
              </a:ext>
            </a:extLst>
          </p:cNvPr>
          <p:cNvSpPr txBox="1"/>
          <p:nvPr/>
        </p:nvSpPr>
        <p:spPr>
          <a:xfrm>
            <a:off x="3046810" y="2102405"/>
            <a:ext cx="6093618" cy="369332"/>
          </a:xfrm>
          <a:prstGeom prst="rect">
            <a:avLst/>
          </a:prstGeom>
          <a:noFill/>
        </p:spPr>
        <p:txBody>
          <a:bodyPr wrap="square">
            <a:spAutoFit/>
          </a:bodyPr>
          <a:lstStyle/>
          <a:p>
            <a:r>
              <a:rPr lang="fr-FR" dirty="0"/>
              <a:t>Assurer la sécurité des données</a:t>
            </a:r>
          </a:p>
        </p:txBody>
      </p:sp>
      <p:sp>
        <p:nvSpPr>
          <p:cNvPr id="19" name="ZoneTexte 18">
            <a:extLst>
              <a:ext uri="{FF2B5EF4-FFF2-40B4-BE49-F238E27FC236}">
                <a16:creationId xmlns:a16="http://schemas.microsoft.com/office/drawing/2014/main" id="{B2092593-A14C-282C-5561-9269E46D19C8}"/>
              </a:ext>
            </a:extLst>
          </p:cNvPr>
          <p:cNvSpPr txBox="1"/>
          <p:nvPr/>
        </p:nvSpPr>
        <p:spPr>
          <a:xfrm>
            <a:off x="3046810" y="2690335"/>
            <a:ext cx="6093618" cy="369332"/>
          </a:xfrm>
          <a:prstGeom prst="rect">
            <a:avLst/>
          </a:prstGeom>
          <a:noFill/>
        </p:spPr>
        <p:txBody>
          <a:bodyPr wrap="square">
            <a:spAutoFit/>
          </a:bodyPr>
          <a:lstStyle/>
          <a:p>
            <a:r>
              <a:rPr lang="fr-FR" dirty="0"/>
              <a:t>Garantir l'exactitude et l'authenticité des documents </a:t>
            </a:r>
          </a:p>
        </p:txBody>
      </p:sp>
    </p:spTree>
    <p:extLst>
      <p:ext uri="{BB962C8B-B14F-4D97-AF65-F5344CB8AC3E}">
        <p14:creationId xmlns:p14="http://schemas.microsoft.com/office/powerpoint/2010/main" val="552951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7275</TotalTime>
  <Words>1591</Words>
  <Application>Microsoft Office PowerPoint</Application>
  <PresentationFormat>Grand écran</PresentationFormat>
  <Paragraphs>195</Paragraphs>
  <Slides>22</Slides>
  <Notes>15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Amasis MT Pro Medium</vt:lpstr>
      <vt:lpstr>Arial</vt:lpstr>
      <vt:lpstr>Calibri</vt:lpstr>
      <vt:lpstr>Calibri Light</vt:lpstr>
      <vt:lpstr>Rockwell</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sylvain ekosso</cp:lastModifiedBy>
  <cp:revision>284</cp:revision>
  <dcterms:created xsi:type="dcterms:W3CDTF">2021-09-26T17:03:00Z</dcterms:created>
  <dcterms:modified xsi:type="dcterms:W3CDTF">2026-01-24T11:33:44Z</dcterms:modified>
</cp:coreProperties>
</file>